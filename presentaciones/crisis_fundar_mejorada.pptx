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f4540468-2e92-7f6d-c0c6-b270b9cc4590}">
          <p14:sldIdLst>
            <p14:sldId id="256"/>
          </p14:sldIdLst>
        </p14:section>
        <p14:section name="Resumen" id="{eb210b88-5c41-1ef1-102b-18eb37e10fc4}">
          <p14:sldIdLst>
            <p14:sldId id="257"/>
          </p14:sldIdLst>
        </p14:section>
        <p14:section name="Diagnóstico" id="{4d8a5886-758f-d8e9-4364-ca4cecc0cadc}">
          <p14:sldIdLst>
            <p14:sldId id="258"/>
            <p14:sldId id="259"/>
            <p14:sldId id="260"/>
          </p14:sldIdLst>
        </p14:section>
        <p14:section name="Mora" id="{21dc7088-b180-cba9-647c-8b38dc56d9ff}">
          <p14:sldIdLst>
            <p14:sldId id="261"/>
          </p14:sldIdLst>
        </p14:section>
        <p14:section name="Propuestas" id="{8f4d3d8c-9c1b-0821-a625-bca0cade4fdc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212121"/>
                </a:solidFill>
                <a:latin typeface="+mn-lt"/>
              </a:rPr>
              <a:t>Crecimiento real del crédito a las familias (dic. contra dic.,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7A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6BF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9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0097A7"/>
            </a:solidFill>
            <a:ln w="25400" cap="flat">
              <a:solidFill>
                <a:srgbClr val="0097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7A7"/>
              </a:solidFill>
              <a:ln w="9525" cap="flat">
                <a:solidFill>
                  <a:srgbClr val="0097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212121"/>
                </a:solidFill>
                <a:latin typeface="+mn-lt"/>
              </a:rPr>
              <a:t>Mora de las familias (% de la cartera, mayo)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B3B3B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May-2024</c:v>
                  </c:pt>
                  <c:pt idx="1">
                    <c:v>May-2025</c:v>
                  </c:pt>
                  <c:pt idx="2">
                    <c:v>May-2026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212121"/>
                </a:solidFill>
                <a:latin typeface="+mn-lt"/>
              </a:rPr>
              <a:t>Mora por línea de crédito (%, mayo de 2026)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B3B3B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53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de dónde viene,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números que resumen la crisis. El resto de la presentación recorre cada eslabón de la cadena: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06440"/>
            <a:ext cx="749808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887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15468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127" y="384048"/>
            <a:ext cx="566928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fundar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1887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La crisis de endeudamiento de los hogares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154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Ingresos, crédito y mora: diagnóstico y propuestas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0271455" y="5852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 síntesis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dos años, el crédito pasó de parche a problema</a:t>
            </a:r>
            <a:endParaRPr lang="en-US" sz="3000" dirty="0"/>
          </a:p>
        </p:txBody>
      </p:sp>
      <p:sp>
        <p:nvSpPr>
          <p:cNvPr id="4" name="Tarjeta dato 1"/>
          <p:cNvSpPr/>
          <p:nvPr/>
        </p:nvSpPr>
        <p:spPr>
          <a:xfrm>
            <a:off x="548640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Crédito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+58%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creció en términos reales el crédito a las familias en 2024</a:t>
            </a:r>
            <a:endParaRPr lang="en-US" sz="1500" dirty="0"/>
          </a:p>
        </p:txBody>
      </p:sp>
      <p:sp>
        <p:nvSpPr>
          <p:cNvPr id="8" name="Tarjeta dato 2"/>
          <p:cNvSpPr/>
          <p:nvPr/>
        </p:nvSpPr>
        <p:spPr>
          <a:xfrm>
            <a:off x="3390824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Tasas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32→60%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BADLAR nominal: de 32% en julio a casi 60% en agosto de 2025</a:t>
            </a:r>
            <a:endParaRPr lang="en-US" sz="1500" dirty="0"/>
          </a:p>
        </p:txBody>
      </p:sp>
      <p:sp>
        <p:nvSpPr>
          <p:cNvPr id="12" name="Tarjeta dato 3"/>
          <p:cNvSpPr/>
          <p:nvPr/>
        </p:nvSpPr>
        <p:spPr>
          <a:xfrm>
            <a:off x="6233008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7328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Mora (I)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12,8%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mora de las familias en mayo de 2026, desde 2,8% en 2024</a:t>
            </a:r>
            <a:endParaRPr lang="en-US" sz="1500" dirty="0"/>
          </a:p>
        </p:txBody>
      </p:sp>
      <p:sp>
        <p:nvSpPr>
          <p:cNvPr id="16" name="Tarjeta dato 4"/>
          <p:cNvSpPr/>
          <p:nvPr/>
        </p:nvSpPr>
        <p:spPr>
          <a:xfrm>
            <a:off x="9075191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49511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Mora (II)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349511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15,9%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9349511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mora en préstamos personales, la línea más castigada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El diagnóstico: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 ingreso real cayó, las familias se endeudaron para sostener el consumo y, con las tasas liberadas y la incertidumbre electoral de 2025, esas deudas se volvieron impagables.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 Un nuevo piso de ingresos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ingreso de los hogares dejó de cubrir sus gastos fijos</a:t>
            </a:r>
            <a:endParaRPr lang="en-US" sz="3000" dirty="0"/>
          </a:p>
        </p:txBody>
      </p:sp>
      <p:sp>
        <p:nvSpPr>
          <p:cNvPr id="4" name="Paso 1"/>
          <p:cNvSpPr/>
          <p:nvPr/>
        </p:nvSpPr>
        <p:spPr>
          <a:xfrm>
            <a:off x="548640" y="2011680"/>
            <a:ext cx="333237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423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El aju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62432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47472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El ajuste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7764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Licuó salarios y jubilaciones, y el consumo cayó.</a:t>
            </a:r>
            <a:endParaRPr lang="en-US" sz="17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466" y="3538728"/>
            <a:ext cx="237744" cy="237744"/>
          </a:xfrm>
          <a:prstGeom prst="rect">
            <a:avLst/>
          </a:prstGeom>
        </p:spPr>
      </p:pic>
      <p:sp>
        <p:nvSpPr>
          <p:cNvPr id="10" name="Paso 2"/>
          <p:cNvSpPr/>
          <p:nvPr/>
        </p:nvSpPr>
        <p:spPr>
          <a:xfrm>
            <a:off x="4429658" y="2011680"/>
            <a:ext cx="333237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4795418" y="2423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La brech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586" y="2624328"/>
            <a:ext cx="374904" cy="3749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95418" y="347472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La brecha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795418" y="397764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ingreso disponible de los hogares quedó por debajo de sus gastos fijos.</a:t>
            </a:r>
            <a:endParaRPr lang="en-US" sz="17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7485" y="3538728"/>
            <a:ext cx="237744" cy="237744"/>
          </a:xfrm>
          <a:prstGeom prst="rect">
            <a:avLst/>
          </a:prstGeom>
        </p:spPr>
      </p:pic>
      <p:sp>
        <p:nvSpPr>
          <p:cNvPr id="16" name="Paso 3"/>
          <p:cNvSpPr/>
          <p:nvPr/>
        </p:nvSpPr>
        <p:spPr>
          <a:xfrm>
            <a:off x="8310677" y="2011680"/>
            <a:ext cx="3332378" cy="329184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/>
        </p:spPr>
      </p:sp>
      <p:sp>
        <p:nvSpPr>
          <p:cNvPr id="17" name="Shape 11"/>
          <p:cNvSpPr/>
          <p:nvPr/>
        </p:nvSpPr>
        <p:spPr>
          <a:xfrm>
            <a:off x="8676437" y="2423160"/>
            <a:ext cx="777240" cy="7772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8" name="Image 4" descr="El diagnóstic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605" y="2624328"/>
            <a:ext cx="374904" cy="37490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676437" y="347472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El diagnóstico</a:t>
            </a:r>
            <a:endParaRPr lang="en-US" sz="2200" dirty="0"/>
          </a:p>
        </p:txBody>
      </p:sp>
      <p:sp>
        <p:nvSpPr>
          <p:cNvPr id="20" name="Text 13"/>
          <p:cNvSpPr txBox="1"/>
          <p:nvPr/>
        </p:nvSpPr>
        <p:spPr>
          <a:xfrm>
            <a:off x="8676437" y="397764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No fue un shock transitorio: es un problema estructural.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 El crédito como parche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Las familias se endeudaron para sostener el consumo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anel lectura"/>
          <p:cNvSpPr/>
          <p:nvPr/>
        </p:nvSpPr>
        <p:spPr>
          <a:xfrm>
            <a:off x="8001000" y="1828800"/>
            <a:ext cx="3642055" cy="4023360"/>
          </a:xfrm>
          <a:prstGeom prst="roundRect">
            <a:avLst>
              <a:gd name="adj" fmla="val 301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21040" y="210312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+58%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9260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creció en términos reales el crédito total a las familias en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379476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+134%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61772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los préstamos personales, la línea que más se expandió</a:t>
            </a:r>
            <a:endParaRPr lang="en-US" sz="15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First Capital Group en base a BCRA e INDEC.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 El quiebre: 2025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Tasas libres y elecciones dispararon el costo del crédito</a:t>
            </a:r>
            <a:endParaRPr lang="en-US" sz="3000" dirty="0"/>
          </a:p>
        </p:txBody>
      </p:sp>
      <p:sp>
        <p:nvSpPr>
          <p:cNvPr id="4" name="Período tasas altas"/>
          <p:cNvSpPr/>
          <p:nvPr/>
        </p:nvSpPr>
        <p:spPr>
          <a:xfrm>
            <a:off x="3048742" y="2180844"/>
            <a:ext cx="1094368" cy="3182112"/>
          </a:xfrm>
          <a:prstGeom prst="rect">
            <a:avLst/>
          </a:prstGeom>
          <a:solidFill>
            <a:schemeClr val="bg2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je x ene-25"/>
          <p:cNvSpPr txBox="1"/>
          <p:nvPr/>
        </p:nvSpPr>
        <p:spPr>
          <a:xfrm>
            <a:off x="824055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7" name="Eje x mar-25"/>
          <p:cNvSpPr txBox="1"/>
          <p:nvPr/>
        </p:nvSpPr>
        <p:spPr>
          <a:xfrm>
            <a:off x="1453691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8" name="Eje x may-25"/>
          <p:cNvSpPr txBox="1"/>
          <p:nvPr/>
        </p:nvSpPr>
        <p:spPr>
          <a:xfrm>
            <a:off x="2008371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9" name="Eje x jul-25"/>
          <p:cNvSpPr txBox="1"/>
          <p:nvPr/>
        </p:nvSpPr>
        <p:spPr>
          <a:xfrm>
            <a:off x="2593034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0" name="Eje x sep-25"/>
          <p:cNvSpPr txBox="1"/>
          <p:nvPr/>
        </p:nvSpPr>
        <p:spPr>
          <a:xfrm>
            <a:off x="3222670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1" name="Eje x nov-25"/>
          <p:cNvSpPr txBox="1"/>
          <p:nvPr/>
        </p:nvSpPr>
        <p:spPr>
          <a:xfrm>
            <a:off x="3882290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2" name="Eje x ene-26"/>
          <p:cNvSpPr txBox="1"/>
          <p:nvPr/>
        </p:nvSpPr>
        <p:spPr>
          <a:xfrm>
            <a:off x="4421978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3" name="Eje x mar-26"/>
          <p:cNvSpPr txBox="1"/>
          <p:nvPr/>
        </p:nvSpPr>
        <p:spPr>
          <a:xfrm>
            <a:off x="5006641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4" name="Eje x may-26"/>
          <p:cNvSpPr txBox="1"/>
          <p:nvPr/>
        </p:nvSpPr>
        <p:spPr>
          <a:xfrm>
            <a:off x="5606295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5" name="Eje x jul-26"/>
          <p:cNvSpPr txBox="1"/>
          <p:nvPr/>
        </p:nvSpPr>
        <p:spPr>
          <a:xfrm>
            <a:off x="6205949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16" name="Eje x sep-26"/>
          <p:cNvSpPr txBox="1"/>
          <p:nvPr/>
        </p:nvSpPr>
        <p:spPr>
          <a:xfrm>
            <a:off x="6820594" y="54178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17" name="Evento 1"/>
          <p:cNvSpPr/>
          <p:nvPr/>
        </p:nvSpPr>
        <p:spPr>
          <a:xfrm>
            <a:off x="2194235" y="2363724"/>
            <a:ext cx="0" cy="2999232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18" name="Marca evento 1"/>
          <p:cNvSpPr/>
          <p:nvPr/>
        </p:nvSpPr>
        <p:spPr>
          <a:xfrm>
            <a:off x="2075363" y="2107692"/>
            <a:ext cx="237744" cy="23774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75363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20" name="Evento 2"/>
          <p:cNvSpPr/>
          <p:nvPr/>
        </p:nvSpPr>
        <p:spPr>
          <a:xfrm>
            <a:off x="3048742" y="2363724"/>
            <a:ext cx="0" cy="2999232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21" name="Marca evento 2"/>
          <p:cNvSpPr/>
          <p:nvPr/>
        </p:nvSpPr>
        <p:spPr>
          <a:xfrm>
            <a:off x="2929870" y="2107692"/>
            <a:ext cx="237744" cy="23774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929870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23" name="Evento 3"/>
          <p:cNvSpPr/>
          <p:nvPr/>
        </p:nvSpPr>
        <p:spPr>
          <a:xfrm>
            <a:off x="3663387" y="2363724"/>
            <a:ext cx="0" cy="2999232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24" name="Marca evento 3"/>
          <p:cNvSpPr/>
          <p:nvPr/>
        </p:nvSpPr>
        <p:spPr>
          <a:xfrm>
            <a:off x="3544515" y="2107692"/>
            <a:ext cx="237744" cy="23774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544515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26" name="Evento 4"/>
          <p:cNvSpPr/>
          <p:nvPr/>
        </p:nvSpPr>
        <p:spPr>
          <a:xfrm>
            <a:off x="4143110" y="2363724"/>
            <a:ext cx="0" cy="2999232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27" name="Marca evento 4"/>
          <p:cNvSpPr/>
          <p:nvPr/>
        </p:nvSpPr>
        <p:spPr>
          <a:xfrm>
            <a:off x="4024238" y="2107692"/>
            <a:ext cx="237744" cy="23774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024238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1600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Tasa BADLAR real anualizada, serie diaria (%)</a:t>
            </a:r>
            <a:endParaRPr lang="en-US" sz="1100" dirty="0"/>
          </a:p>
        </p:txBody>
      </p:sp>
      <p:sp>
        <p:nvSpPr>
          <p:cNvPr id="30" name="Panel hitos"/>
          <p:cNvSpPr/>
          <p:nvPr/>
        </p:nvSpPr>
        <p:spPr>
          <a:xfrm>
            <a:off x="8001000" y="1691640"/>
            <a:ext cx="3642055" cy="4251960"/>
          </a:xfrm>
          <a:prstGeom prst="roundRect">
            <a:avLst>
              <a:gd name="adj" fmla="val 3013"/>
            </a:avLst>
          </a:prstGeom>
          <a:solidFill>
            <a:schemeClr val="bg2"/>
          </a:solidFill>
          <a:ln/>
        </p:spPr>
      </p:sp>
      <p:sp>
        <p:nvSpPr>
          <p:cNvPr id="31" name="Shape 28"/>
          <p:cNvSpPr/>
          <p:nvPr/>
        </p:nvSpPr>
        <p:spPr>
          <a:xfrm>
            <a:off x="8275320" y="1920240"/>
            <a:ext cx="274320" cy="2743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7532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86800" y="1901952"/>
            <a:ext cx="2727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Abr-25 · Acuerdo con el FMI y salida del cepo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 dólar flota dentro de bandas y el BCRA pasa a un esquema de agregados monetarios.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8275320" y="2907792"/>
            <a:ext cx="274320" cy="2743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75320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686800" y="2889504"/>
            <a:ext cx="2727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Jul-25 · Fin de las LEFIs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 Gobierno deja de fijar la tasa: la BADLAR nominal pasa de 32% a casi 60% en agosto.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275320" y="3895344"/>
            <a:ext cx="274320" cy="2743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27532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8686800" y="3877056"/>
            <a:ext cx="2727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Sep-25 · Elecciones bonaerenses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La incertidumbre electoral lleva la tasa real a casi 40% anual.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8275320" y="4882896"/>
            <a:ext cx="274320" cy="2743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27532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686800" y="4864608"/>
            <a:ext cx="2727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Oct-25 · Swap con EE.UU. y legislativas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Tras el 20 y el 26 de octubre, las tasas bajan.</a:t>
            </a:r>
            <a:endParaRPr lang="en-US" sz="1200" dirty="0"/>
          </a:p>
        </p:txBody>
      </p:sp>
      <p:sp>
        <p:nvSpPr>
          <p:cNvPr id="43" name="Fuente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BCRA (BADLAR bancos privados) e INDEC. Sombreado: tasas altas, entre el fin de las LEFIs y las elecciones legislativas.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  La mora hoy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 mora familiar se multiplicó por 4,6 en dos años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5318608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24448" y="1737360"/>
          <a:ext cx="5318608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uente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 Recomendaciones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Regular, transparentar, aliviar y proteger</a:t>
            </a:r>
            <a:endParaRPr lang="en-US" sz="3000" dirty="0"/>
          </a:p>
        </p:txBody>
      </p:sp>
      <p:sp>
        <p:nvSpPr>
          <p:cNvPr id="4" name="Recomendación 1"/>
          <p:cNvSpPr/>
          <p:nvPr/>
        </p:nvSpPr>
        <p:spPr>
          <a:xfrm>
            <a:off x="548640" y="1783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Regular el precio del crédi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22199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57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Regular el precio del crédito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441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NACIÓN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2770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Restituir los topes a las tasas y a los punitorios, incluidas las billeteras y los proveedores no financieros.</a:t>
            </a:r>
            <a:endParaRPr lang="en-US" sz="1400" dirty="0"/>
          </a:p>
        </p:txBody>
      </p:sp>
      <p:sp>
        <p:nvSpPr>
          <p:cNvPr id="10" name="Recomendación 2"/>
          <p:cNvSpPr/>
          <p:nvPr/>
        </p:nvSpPr>
        <p:spPr>
          <a:xfrm>
            <a:off x="6233008" y="1783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507328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Transpar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920" y="22219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30288" y="2057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Transparencia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30288" y="2441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NACIÓN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7330288" y="2770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las fintechs reporten a la Central de Deudores y que todas las entidades informen costos y condiciones con la máxima claridad.</a:t>
            </a:r>
            <a:endParaRPr lang="en-US" sz="1400" dirty="0"/>
          </a:p>
        </p:txBody>
      </p:sp>
      <p:sp>
        <p:nvSpPr>
          <p:cNvPr id="16" name="Recomendación 3"/>
          <p:cNvSpPr/>
          <p:nvPr/>
        </p:nvSpPr>
        <p:spPr>
          <a:xfrm>
            <a:off x="548640" y="4069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822960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Alivio a deud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50799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343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deudores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727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NACIÓN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645920" y="5056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régimen de reestructuración para hogares sobreendeudados y una reclasificación temporal de deudores, como en la pandemia.</a:t>
            </a:r>
            <a:endParaRPr lang="en-US" sz="1400" dirty="0"/>
          </a:p>
        </p:txBody>
      </p:sp>
      <p:sp>
        <p:nvSpPr>
          <p:cNvPr id="22" name="Recomendación 4"/>
          <p:cNvSpPr/>
          <p:nvPr/>
        </p:nvSpPr>
        <p:spPr>
          <a:xfrm>
            <a:off x="6233008" y="4069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43434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Rol de la provinci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20" y="450799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30288" y="4343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 de la provincia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330288" y="4727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PROVINCIA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7330288" y="5056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Defensa del consumidor financiero con mediación y capacidad de sancionar, y una campaña sobre el costo real de endeudarse.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 fondo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Sin recuperación del ingreso real, ninguna solución financiera alcanza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11887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3154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Hogares">
  <a:themeElements>
    <a:clrScheme name="Fundar Hogares">
      <a:dk1>
        <a:srgbClr val="212121"/>
      </a:dk1>
      <a:lt1>
        <a:srgbClr val="FFFFFF"/>
      </a:lt1>
      <a:dk2>
        <a:srgbClr val="595959"/>
      </a:dk2>
      <a:lt2>
        <a:srgbClr val="EEF5F7"/>
      </a:lt2>
      <a:accent1>
        <a:srgbClr val="0097A7"/>
      </a:accent1>
      <a:accent2>
        <a:srgbClr val="76BFDD"/>
      </a:accent2>
      <a:accent3>
        <a:srgbClr val="C8E5F1"/>
      </a:accent3>
      <a:accent4>
        <a:srgbClr val="8C92E0"/>
      </a:accent4>
      <a:accent5>
        <a:srgbClr val="D9533C"/>
      </a:accent5>
      <a:accent6>
        <a:srgbClr val="B3B3B3"/>
      </a:accent6>
      <a:hlink>
        <a:srgbClr val="0097A7"/>
      </a:hlink>
      <a:folHlink>
        <a:srgbClr val="8C92E0"/>
      </a:folHlink>
    </a:clrScheme>
    <a:fontScheme name="Fundar Hogar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2026-10-12T19:10:15Z</dcterms:created>
  <dcterms:modified xsi:type="dcterms:W3CDTF">2026-10-12T19:10:15Z</dcterms:modified>
</cp:coreProperties>
</file>