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a6b33d0b-6ccb-6878-9545-888f4e9c847d}">
          <p14:sldIdLst>
            <p14:sldId id="256"/>
          </p14:sldIdLst>
        </p14:section>
        <p14:section name="Resumen" id="{fa201db4-d2a4-eaf2-58d1-1174891ca921}">
          <p14:sldIdLst>
            <p14:sldId id="257"/>
            <p14:sldId id="258"/>
            <p14:sldId id="259"/>
            <p14:sldId id="260"/>
          </p14:sldIdLst>
        </p14:section>
        <p14:section name="Cómo se armó" id="{9bb2d8a4-f621-e459-90de-dc46fa9e459b}">
          <p14:sldIdLst>
            <p14:sldId id="261"/>
            <p14:sldId id="262"/>
            <p14:sldId id="263"/>
            <p14:sldId id="264"/>
          </p14:sldIdLst>
        </p14:section>
        <p14:section name="Qué hacer" id="{3cb2e1ab-0d26-68f7-6056-db180c67767c}">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1F24"/>
                </a:solidFill>
                <a:latin typeface="+mn-lt"/>
              </a:defRPr>
            </a:pPr>
            <a:r>
              <a:rPr sz="1400" b="1" i="0" u="none" strike="noStrike">
                <a:solidFill>
                  <a:srgbClr val="1D1F24"/>
                </a:solidFill>
                <a:latin typeface="+mn-lt"/>
              </a:rPr>
              <a:t>Cuánto creció el crédito, descontada la inflación</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F1B20C"/>
            </a:solidFill>
            <a:effectLst/>
          </c:spPr>
          <c:invertIfNegative val="0"/>
          <c:dLbls>
            <c:numFmt formatCode="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Préstamos personales</c:v>
                  </c:pt>
                  <c:pt idx="1">
                    <c:v>Tarjetas de crédito</c:v>
                  </c:pt>
                </c:lvl>
              </c:multiLvlStrCache>
            </c:multiLvlStrRef>
          </c:cat>
          <c:val>
            <c:numRef>
              <c:f>Sheet1!$B$2:$B$3</c:f>
              <c:numCache>
                <c:formatCode>General</c:formatCode>
                <c:ptCount val="2"/>
                <c:pt idx="0">
                  <c:v>134</c:v>
                </c:pt>
                <c:pt idx="1">
                  <c:v>31</c:v>
                </c:pt>
              </c:numCache>
            </c:numRef>
          </c:val>
        </c:ser>
        <c:ser>
          <c:idx val="1"/>
          <c:order val="1"/>
          <c:tx>
            <c:strRef>
              <c:f>Sheet1!$C$1</c:f>
              <c:strCache>
                <c:ptCount val="1"/>
                <c:pt idx="0">
                  <c:v>2025</c:v>
                </c:pt>
              </c:strCache>
            </c:strRef>
          </c:tx>
          <c:spPr>
            <a:solidFill>
              <a:srgbClr val="F7D985"/>
            </a:solidFill>
            <a:effectLst/>
          </c:spPr>
          <c:invertIfNegative val="0"/>
          <c:dLbls>
            <c:numFmt formatCode="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Préstamos personales</c:v>
                  </c:pt>
                  <c:pt idx="1">
                    <c:v>Tarjetas de crédito</c:v>
                  </c:pt>
                </c:lvl>
              </c:multiLvlStrCache>
            </c:multiLvlStrRef>
          </c:cat>
          <c:val>
            <c:numRef>
              <c:f>Sheet1!$C$2:$C$3</c:f>
              <c:numCache>
                <c:formatCode>General</c:formatCode>
                <c:ptCount val="2"/>
                <c:pt idx="0">
                  <c:v>44.3</c:v>
                </c:pt>
                <c:pt idx="1">
                  <c:v>16.6</c:v>
                </c:pt>
              </c:numCache>
            </c:numRef>
          </c:val>
        </c:ser>
        <c:dLbls>
          <c:numFmt formatCode="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DCDCD6"/>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4A4E5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1"/>
          <c:w val="0.88"/>
          <c:h val="0.8"/>
        </c:manualLayout>
      </c:layout>
      <c:lineChart>
        <c:varyColors val="0"/>
        <c:ser>
          <c:idx val="0"/>
          <c:order val="0"/>
          <c:tx>
            <c:strRef>
              <c:f>Sheet1!$B$1</c:f>
              <c:strCache>
                <c:ptCount val="1"/>
                <c:pt idx="0">
                  <c:v>BADLAR real anualizada</c:v>
                </c:pt>
              </c:strCache>
            </c:strRef>
          </c:tx>
          <c:spPr>
            <a:solidFill>
              <a:srgbClr val="D23A2F"/>
            </a:solidFill>
            <a:ln w="25400" cap="flat">
              <a:solidFill>
                <a:srgbClr val="D23A2F"/>
              </a:solidFill>
              <a:prstDash val="solid"/>
              <a:round/>
            </a:ln>
            <a:effectLst/>
          </c:spPr>
          <c:invertIfNegative val="0"/>
          <c:dLbls>
            <c:numFmt formatCode="#,##0" sourceLinked="0"/>
            <c:txPr>
              <a:bodyPr/>
              <a:lstStyle/>
              <a:p>
                <a:pPr>
                  <a:defRPr b="1" i="0" strike="noStrike" sz="1300" u="none">
                    <a:solidFill>
                      <a:srgbClr val="1D1F24"/>
                    </a:solidFill>
                    <a:latin typeface="+mn-lt"/>
                  </a:defRPr>
                </a:pPr>
              </a:p>
            </c:txPr>
            <c:showLegendKey val="0"/>
            <c:showVal val="0"/>
            <c:showCatName val="0"/>
            <c:showSerName val="0"/>
            <c:showPercent val="0"/>
            <c:showBubbleSize val="0"/>
            <c:showLeaderLines val="0"/>
          </c:dLbls>
          <c:marker>
            <c:symbol val="none"/>
            <c:size val="6"/>
            <c:spPr>
              <a:solidFill>
                <a:srgbClr val="D23A2F"/>
              </a:solidFill>
              <a:ln w="9525" cap="flat">
                <a:solidFill>
                  <a:srgbClr val="D23A2F"/>
                </a:solidFill>
                <a:prstDash val="solid"/>
                <a:round/>
              </a:ln>
              <a:effectLst/>
            </c:spPr>
          </c:marker>
          <c:cat>
            <c:multiLvlStrRef>
              <c:f>Sheet1!$A$2:$A$419</c:f>
              <c:multiLvlStrCache>
                <c:ptCount val="418"/>
                <c:lvl>
                  <c:pt idx="0">
                    <c:v>ene-25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mar-25</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may-25</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jul-25</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sep-25</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nov-25</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ene-26</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mar-26</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may-26</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jul-26</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sep-26</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lvl>
              </c:multiLvlStrCache>
            </c:multiLvlStrRef>
          </c:cat>
          <c:val>
            <c:numRef>
              <c:f>Sheet1!$B$2:$B$419</c:f>
              <c:numCache>
                <c:formatCode>General</c:formatCode>
                <c:ptCount val="418"/>
                <c:pt idx="0">
                  <c:v>2.2</c:v>
                </c:pt>
                <c:pt idx="1">
                  <c:v>2.9</c:v>
                </c:pt>
                <c:pt idx="2">
                  <c:v>4.1</c:v>
                </c:pt>
                <c:pt idx="3">
                  <c:v>4</c:v>
                </c:pt>
                <c:pt idx="4">
                  <c:v>2.8</c:v>
                </c:pt>
                <c:pt idx="5">
                  <c:v>3.3</c:v>
                </c:pt>
                <c:pt idx="6">
                  <c:v>3.4</c:v>
                </c:pt>
                <c:pt idx="7">
                  <c:v>4.4</c:v>
                </c:pt>
                <c:pt idx="8">
                  <c:v>5.6</c:v>
                </c:pt>
                <c:pt idx="9">
                  <c:v>4.9</c:v>
                </c:pt>
                <c:pt idx="10">
                  <c:v>3.8</c:v>
                </c:pt>
                <c:pt idx="11">
                  <c:v>4.3</c:v>
                </c:pt>
                <c:pt idx="12">
                  <c:v>3.6</c:v>
                </c:pt>
                <c:pt idx="13">
                  <c:v>4.3</c:v>
                </c:pt>
                <c:pt idx="14">
                  <c:v>3.9</c:v>
                </c:pt>
                <c:pt idx="15">
                  <c:v>3.8</c:v>
                </c:pt>
                <c:pt idx="16">
                  <c:v>5.1</c:v>
                </c:pt>
                <c:pt idx="17">
                  <c:v>2.7</c:v>
                </c:pt>
                <c:pt idx="18">
                  <c:v>4.4</c:v>
                </c:pt>
                <c:pt idx="19">
                  <c:v>3.6</c:v>
                </c:pt>
                <c:pt idx="20">
                  <c:v>3.4</c:v>
                </c:pt>
                <c:pt idx="21">
                  <c:v>1.3</c:v>
                </c:pt>
                <c:pt idx="22">
                  <c:v>0.2</c:v>
                </c:pt>
                <c:pt idx="23">
                  <c:v>1.1</c:v>
                </c:pt>
                <c:pt idx="24">
                  <c:v>1.2</c:v>
                </c:pt>
                <c:pt idx="25">
                  <c:v>0.9</c:v>
                </c:pt>
                <c:pt idx="26">
                  <c:v>0.2</c:v>
                </c:pt>
                <c:pt idx="27">
                  <c:v>-0.3</c:v>
                </c:pt>
                <c:pt idx="28">
                  <c:v>0.3</c:v>
                </c:pt>
                <c:pt idx="29">
                  <c:v>-0.3</c:v>
                </c:pt>
                <c:pt idx="30">
                  <c:v>-0.9</c:v>
                </c:pt>
                <c:pt idx="31">
                  <c:v>-0.1</c:v>
                </c:pt>
                <c:pt idx="32">
                  <c:v>-1.8</c:v>
                </c:pt>
                <c:pt idx="33">
                  <c:v>-2.7</c:v>
                </c:pt>
                <c:pt idx="34">
                  <c:v>-3.4</c:v>
                </c:pt>
                <c:pt idx="35">
                  <c:v>-4.3</c:v>
                </c:pt>
                <c:pt idx="36">
                  <c:v>-4.2</c:v>
                </c:pt>
                <c:pt idx="37">
                  <c:v>-5.9</c:v>
                </c:pt>
                <c:pt idx="38">
                  <c:v>-5.9</c:v>
                </c:pt>
                <c:pt idx="39">
                  <c:v>-7.3</c:v>
                </c:pt>
                <c:pt idx="40">
                  <c:v>-7.4</c:v>
                </c:pt>
                <c:pt idx="41">
                  <c:v>-7.7</c:v>
                </c:pt>
                <c:pt idx="42">
                  <c:v>-10.6</c:v>
                </c:pt>
                <c:pt idx="43">
                  <c:v>-10.1</c:v>
                </c:pt>
                <c:pt idx="44">
                  <c:v>-10.6</c:v>
                </c:pt>
                <c:pt idx="45">
                  <c:v>-12.4</c:v>
                </c:pt>
                <c:pt idx="46">
                  <c:v>-12.3</c:v>
                </c:pt>
                <c:pt idx="47">
                  <c:v>-12.9</c:v>
                </c:pt>
                <c:pt idx="48">
                  <c:v>-13.4</c:v>
                </c:pt>
                <c:pt idx="49">
                  <c:v>-13.5</c:v>
                </c:pt>
                <c:pt idx="50">
                  <c:v>-13.4</c:v>
                </c:pt>
                <c:pt idx="51">
                  <c:v>-12.3</c:v>
                </c:pt>
                <c:pt idx="52">
                  <c:v>-11.9</c:v>
                </c:pt>
                <c:pt idx="53">
                  <c:v>-11.4</c:v>
                </c:pt>
                <c:pt idx="54">
                  <c:v>-11.5</c:v>
                </c:pt>
                <c:pt idx="55">
                  <c:v>-10.7</c:v>
                </c:pt>
                <c:pt idx="56">
                  <c:v>-9.7</c:v>
                </c:pt>
                <c:pt idx="57">
                  <c:v>-9.4</c:v>
                </c:pt>
                <c:pt idx="58">
                  <c:v>-9.6</c:v>
                </c:pt>
                <c:pt idx="59">
                  <c:v>-8.4</c:v>
                </c:pt>
                <c:pt idx="60">
                  <c:v>-7.3</c:v>
                </c:pt>
                <c:pt idx="61">
                  <c:v>-6.7</c:v>
                </c:pt>
                <c:pt idx="62">
                  <c:v>-7.3</c:v>
                </c:pt>
                <c:pt idx="63">
                  <c:v>-5.2</c:v>
                </c:pt>
                <c:pt idx="64">
                  <c:v>-4.4</c:v>
                </c:pt>
                <c:pt idx="65">
                  <c:v>-5.2</c:v>
                </c:pt>
                <c:pt idx="66">
                  <c:v>-3.6</c:v>
                </c:pt>
                <c:pt idx="67">
                  <c:v>-3.2</c:v>
                </c:pt>
                <c:pt idx="68">
                  <c:v>1.8</c:v>
                </c:pt>
                <c:pt idx="69">
                  <c:v>1.5</c:v>
                </c:pt>
                <c:pt idx="70">
                  <c:v>3.6</c:v>
                </c:pt>
                <c:pt idx="71">
                  <c:v>4</c:v>
                </c:pt>
                <c:pt idx="72">
                  <c:v>4</c:v>
                </c:pt>
                <c:pt idx="73">
                  <c:v>4.7</c:v>
                </c:pt>
                <c:pt idx="74">
                  <c:v>4.2</c:v>
                </c:pt>
                <c:pt idx="75">
                  <c:v>4.8</c:v>
                </c:pt>
                <c:pt idx="76">
                  <c:v>5.8</c:v>
                </c:pt>
                <c:pt idx="77">
                  <c:v>6.5</c:v>
                </c:pt>
                <c:pt idx="78">
                  <c:v>6.8</c:v>
                </c:pt>
                <c:pt idx="79">
                  <c:v>8.7</c:v>
                </c:pt>
                <c:pt idx="80">
                  <c:v>10.8</c:v>
                </c:pt>
                <c:pt idx="81">
                  <c:v>10.8</c:v>
                </c:pt>
                <c:pt idx="82">
                  <c:v>11.6</c:v>
                </c:pt>
                <c:pt idx="83">
                  <c:v>11.2</c:v>
                </c:pt>
                <c:pt idx="84">
                  <c:v>12.7</c:v>
                </c:pt>
                <c:pt idx="85">
                  <c:v>14.8</c:v>
                </c:pt>
                <c:pt idx="86">
                  <c:v>14.5</c:v>
                </c:pt>
                <c:pt idx="87">
                  <c:v>15.7</c:v>
                </c:pt>
                <c:pt idx="88">
                  <c:v>14</c:v>
                </c:pt>
                <c:pt idx="89">
                  <c:v>15.8</c:v>
                </c:pt>
                <c:pt idx="90">
                  <c:v>15.9</c:v>
                </c:pt>
                <c:pt idx="91">
                  <c:v>14.2</c:v>
                </c:pt>
                <c:pt idx="92">
                  <c:v>14.5</c:v>
                </c:pt>
                <c:pt idx="93">
                  <c:v>15.5</c:v>
                </c:pt>
                <c:pt idx="94">
                  <c:v>13.6</c:v>
                </c:pt>
                <c:pt idx="95">
                  <c:v>14.8</c:v>
                </c:pt>
                <c:pt idx="96">
                  <c:v>13.6</c:v>
                </c:pt>
                <c:pt idx="97">
                  <c:v>13.9</c:v>
                </c:pt>
                <c:pt idx="98">
                  <c:v>13.4</c:v>
                </c:pt>
                <c:pt idx="99">
                  <c:v>14.2</c:v>
                </c:pt>
                <c:pt idx="100">
                  <c:v>13.9</c:v>
                </c:pt>
                <c:pt idx="101">
                  <c:v>12.7</c:v>
                </c:pt>
                <c:pt idx="102">
                  <c:v>13</c:v>
                </c:pt>
                <c:pt idx="103">
                  <c:v>13.2</c:v>
                </c:pt>
                <c:pt idx="104">
                  <c:v>12.4</c:v>
                </c:pt>
                <c:pt idx="105">
                  <c:v>13.2</c:v>
                </c:pt>
                <c:pt idx="106">
                  <c:v>13</c:v>
                </c:pt>
                <c:pt idx="107">
                  <c:v>13.2</c:v>
                </c:pt>
                <c:pt idx="108">
                  <c:v>12.8</c:v>
                </c:pt>
                <c:pt idx="109">
                  <c:v>12.9</c:v>
                </c:pt>
                <c:pt idx="110">
                  <c:v>12.4</c:v>
                </c:pt>
                <c:pt idx="111">
                  <c:v>13.5</c:v>
                </c:pt>
                <c:pt idx="112">
                  <c:v>11.8</c:v>
                </c:pt>
                <c:pt idx="113">
                  <c:v>12.7</c:v>
                </c:pt>
                <c:pt idx="114">
                  <c:v>11.9</c:v>
                </c:pt>
                <c:pt idx="115">
                  <c:v>11.7</c:v>
                </c:pt>
                <c:pt idx="116">
                  <c:v>11.8</c:v>
                </c:pt>
                <c:pt idx="117">
                  <c:v>10.9</c:v>
                </c:pt>
                <c:pt idx="118">
                  <c:v>11.5</c:v>
                </c:pt>
                <c:pt idx="119">
                  <c:v>11.1</c:v>
                </c:pt>
                <c:pt idx="120">
                  <c:v>11</c:v>
                </c:pt>
                <c:pt idx="121">
                  <c:v>10</c:v>
                </c:pt>
                <c:pt idx="122">
                  <c:v>9.7</c:v>
                </c:pt>
                <c:pt idx="123">
                  <c:v>10.3</c:v>
                </c:pt>
                <c:pt idx="124">
                  <c:v>8.9</c:v>
                </c:pt>
                <c:pt idx="125">
                  <c:v>7.8</c:v>
                </c:pt>
                <c:pt idx="126">
                  <c:v>5.8</c:v>
                </c:pt>
                <c:pt idx="127">
                  <c:v>5.6</c:v>
                </c:pt>
                <c:pt idx="128">
                  <c:v>6.9</c:v>
                </c:pt>
                <c:pt idx="129">
                  <c:v>7.1</c:v>
                </c:pt>
                <c:pt idx="130">
                  <c:v>8.4</c:v>
                </c:pt>
                <c:pt idx="131">
                  <c:v>9.1</c:v>
                </c:pt>
                <c:pt idx="132">
                  <c:v>11.5</c:v>
                </c:pt>
                <c:pt idx="133">
                  <c:v>11.7</c:v>
                </c:pt>
                <c:pt idx="134">
                  <c:v>11.8</c:v>
                </c:pt>
                <c:pt idx="135">
                  <c:v>10.9</c:v>
                </c:pt>
                <c:pt idx="136">
                  <c:v>10.2</c:v>
                </c:pt>
                <c:pt idx="137">
                  <c:v>12.6</c:v>
                </c:pt>
                <c:pt idx="138">
                  <c:v>12.5</c:v>
                </c:pt>
                <c:pt idx="139">
                  <c:v>14.1</c:v>
                </c:pt>
                <c:pt idx="140">
                  <c:v>15.4</c:v>
                </c:pt>
                <c:pt idx="141">
                  <c:v>16.3</c:v>
                </c:pt>
                <c:pt idx="142">
                  <c:v>16.9</c:v>
                </c:pt>
                <c:pt idx="143">
                  <c:v>15.6</c:v>
                </c:pt>
                <c:pt idx="144">
                  <c:v>17</c:v>
                </c:pt>
                <c:pt idx="145">
                  <c:v>18.5</c:v>
                </c:pt>
                <c:pt idx="146">
                  <c:v>19.7</c:v>
                </c:pt>
                <c:pt idx="147">
                  <c:v>24.5</c:v>
                </c:pt>
                <c:pt idx="148">
                  <c:v>22.6</c:v>
                </c:pt>
                <c:pt idx="149">
                  <c:v>25.4</c:v>
                </c:pt>
                <c:pt idx="150">
                  <c:v>28.7</c:v>
                </c:pt>
                <c:pt idx="151">
                  <c:v>34.1</c:v>
                </c:pt>
                <c:pt idx="152">
                  <c:v>33.1</c:v>
                </c:pt>
                <c:pt idx="153">
                  <c:v>33.5</c:v>
                </c:pt>
                <c:pt idx="154">
                  <c:v>32.5</c:v>
                </c:pt>
                <c:pt idx="155">
                  <c:v>31.1</c:v>
                </c:pt>
                <c:pt idx="156">
                  <c:v>38.8</c:v>
                </c:pt>
                <c:pt idx="157">
                  <c:v>34.9</c:v>
                </c:pt>
                <c:pt idx="158">
                  <c:v>39.5</c:v>
                </c:pt>
                <c:pt idx="159">
                  <c:v>38</c:v>
                </c:pt>
                <c:pt idx="160">
                  <c:v>38</c:v>
                </c:pt>
                <c:pt idx="161">
                  <c:v>34.7</c:v>
                </c:pt>
                <c:pt idx="162">
                  <c:v>35.7</c:v>
                </c:pt>
                <c:pt idx="163">
                  <c:v>36.4</c:v>
                </c:pt>
                <c:pt idx="164">
                  <c:v>33.8</c:v>
                </c:pt>
                <c:pt idx="165">
                  <c:v>35.1</c:v>
                </c:pt>
                <c:pt idx="166">
                  <c:v>38.2</c:v>
                </c:pt>
                <c:pt idx="167">
                  <c:v>31.3</c:v>
                </c:pt>
                <c:pt idx="168">
                  <c:v>27.9</c:v>
                </c:pt>
                <c:pt idx="169">
                  <c:v>22.1</c:v>
                </c:pt>
                <c:pt idx="170">
                  <c:v>20.1</c:v>
                </c:pt>
                <c:pt idx="171">
                  <c:v>18.6</c:v>
                </c:pt>
                <c:pt idx="172">
                  <c:v>18.3</c:v>
                </c:pt>
                <c:pt idx="173">
                  <c:v>19.4</c:v>
                </c:pt>
                <c:pt idx="174">
                  <c:v>20.4</c:v>
                </c:pt>
                <c:pt idx="175">
                  <c:v>20.3</c:v>
                </c:pt>
                <c:pt idx="176">
                  <c:v>21.4</c:v>
                </c:pt>
                <c:pt idx="177">
                  <c:v>18</c:v>
                </c:pt>
                <c:pt idx="178">
                  <c:v>14.4</c:v>
                </c:pt>
                <c:pt idx="179">
                  <c:v>13.1</c:v>
                </c:pt>
                <c:pt idx="180">
                  <c:v>13.2</c:v>
                </c:pt>
                <c:pt idx="181">
                  <c:v>14.6</c:v>
                </c:pt>
                <c:pt idx="182">
                  <c:v>14.1</c:v>
                </c:pt>
                <c:pt idx="183">
                  <c:v>13.8</c:v>
                </c:pt>
                <c:pt idx="184">
                  <c:v>14.2</c:v>
                </c:pt>
                <c:pt idx="185">
                  <c:v>13.9</c:v>
                </c:pt>
                <c:pt idx="186">
                  <c:v>17.5</c:v>
                </c:pt>
                <c:pt idx="187">
                  <c:v>17.6</c:v>
                </c:pt>
                <c:pt idx="188">
                  <c:v>23.5</c:v>
                </c:pt>
                <c:pt idx="189">
                  <c:v>19.6</c:v>
                </c:pt>
                <c:pt idx="190">
                  <c:v>25.8</c:v>
                </c:pt>
                <c:pt idx="191">
                  <c:v>30.9</c:v>
                </c:pt>
                <c:pt idx="192">
                  <c:v>32.1</c:v>
                </c:pt>
                <c:pt idx="193">
                  <c:v>26.9</c:v>
                </c:pt>
                <c:pt idx="194">
                  <c:v>22.2</c:v>
                </c:pt>
                <c:pt idx="195">
                  <c:v>21.4</c:v>
                </c:pt>
                <c:pt idx="196">
                  <c:v>20.6</c:v>
                </c:pt>
                <c:pt idx="197">
                  <c:v>21.1</c:v>
                </c:pt>
                <c:pt idx="198">
                  <c:v>21.9</c:v>
                </c:pt>
                <c:pt idx="199">
                  <c:v>13.1</c:v>
                </c:pt>
                <c:pt idx="200">
                  <c:v>16</c:v>
                </c:pt>
                <c:pt idx="201">
                  <c:v>12.3</c:v>
                </c:pt>
                <c:pt idx="202">
                  <c:v>12</c:v>
                </c:pt>
                <c:pt idx="203">
                  <c:v>7.9</c:v>
                </c:pt>
                <c:pt idx="204">
                  <c:v>5.2</c:v>
                </c:pt>
                <c:pt idx="205">
                  <c:v>5.4</c:v>
                </c:pt>
                <c:pt idx="206">
                  <c:v>4.4</c:v>
                </c:pt>
                <c:pt idx="207">
                  <c:v>3.1</c:v>
                </c:pt>
                <c:pt idx="208">
                  <c:v>2.4</c:v>
                </c:pt>
                <c:pt idx="209">
                  <c:v>3.2</c:v>
                </c:pt>
                <c:pt idx="210">
                  <c:v>1.1</c:v>
                </c:pt>
                <c:pt idx="211">
                  <c:v>1.3</c:v>
                </c:pt>
                <c:pt idx="212">
                  <c:v>1.7</c:v>
                </c:pt>
                <c:pt idx="213">
                  <c:v>0.4</c:v>
                </c:pt>
                <c:pt idx="214">
                  <c:v>1.6</c:v>
                </c:pt>
                <c:pt idx="215">
                  <c:v>1.2</c:v>
                </c:pt>
                <c:pt idx="216">
                  <c:v>0</c:v>
                </c:pt>
                <c:pt idx="217">
                  <c:v>-1.4</c:v>
                </c:pt>
                <c:pt idx="218">
                  <c:v>-1.9</c:v>
                </c:pt>
                <c:pt idx="219">
                  <c:v>-1.6</c:v>
                </c:pt>
                <c:pt idx="220">
                  <c:v>-2</c:v>
                </c:pt>
                <c:pt idx="221">
                  <c:v>-2.8</c:v>
                </c:pt>
                <c:pt idx="222">
                  <c:v>-3.8</c:v>
                </c:pt>
                <c:pt idx="223">
                  <c:v>-5.7</c:v>
                </c:pt>
                <c:pt idx="224">
                  <c:v>-6.3</c:v>
                </c:pt>
                <c:pt idx="225">
                  <c:v>-6.6</c:v>
                </c:pt>
                <c:pt idx="226">
                  <c:v>-7.5</c:v>
                </c:pt>
                <c:pt idx="227">
                  <c:v>-7.4</c:v>
                </c:pt>
                <c:pt idx="228">
                  <c:v>-7.3</c:v>
                </c:pt>
                <c:pt idx="229">
                  <c:v>-8.1</c:v>
                </c:pt>
                <c:pt idx="230">
                  <c:v>-8.1</c:v>
                </c:pt>
                <c:pt idx="231">
                  <c:v>-7.7</c:v>
                </c:pt>
                <c:pt idx="232">
                  <c:v>-7.7</c:v>
                </c:pt>
                <c:pt idx="233">
                  <c:v>-7.4</c:v>
                </c:pt>
                <c:pt idx="234">
                  <c:v>-6.7</c:v>
                </c:pt>
                <c:pt idx="235">
                  <c:v>-6.9</c:v>
                </c:pt>
                <c:pt idx="236">
                  <c:v>-5.4</c:v>
                </c:pt>
                <c:pt idx="237">
                  <c:v>-7.1</c:v>
                </c:pt>
                <c:pt idx="238">
                  <c:v>-7.9</c:v>
                </c:pt>
                <c:pt idx="239">
                  <c:v>-7.4</c:v>
                </c:pt>
                <c:pt idx="240">
                  <c:v>-7.5</c:v>
                </c:pt>
                <c:pt idx="241">
                  <c:v>-7.4</c:v>
                </c:pt>
                <c:pt idx="242">
                  <c:v>-6.4</c:v>
                </c:pt>
                <c:pt idx="243">
                  <c:v>-4.7</c:v>
                </c:pt>
                <c:pt idx="244">
                  <c:v>-4.5</c:v>
                </c:pt>
                <c:pt idx="245">
                  <c:v>-5.2</c:v>
                </c:pt>
                <c:pt idx="246">
                  <c:v>-7.2</c:v>
                </c:pt>
                <c:pt idx="247">
                  <c:v>-5.6</c:v>
                </c:pt>
                <c:pt idx="248">
                  <c:v>-3.8</c:v>
                </c:pt>
                <c:pt idx="249">
                  <c:v>-3.2</c:v>
                </c:pt>
                <c:pt idx="250">
                  <c:v>-2.3</c:v>
                </c:pt>
                <c:pt idx="251">
                  <c:v>-2.4</c:v>
                </c:pt>
                <c:pt idx="252">
                  <c:v>-0.4</c:v>
                </c:pt>
                <c:pt idx="253">
                  <c:v>-0.6</c:v>
                </c:pt>
                <c:pt idx="254">
                  <c:v>0.3</c:v>
                </c:pt>
                <c:pt idx="255">
                  <c:v>1.1</c:v>
                </c:pt>
                <c:pt idx="256">
                  <c:v>-3.1</c:v>
                </c:pt>
                <c:pt idx="257">
                  <c:v>-2.2</c:v>
                </c:pt>
                <c:pt idx="258">
                  <c:v>-4.3</c:v>
                </c:pt>
                <c:pt idx="259">
                  <c:v>-4.8</c:v>
                </c:pt>
                <c:pt idx="260">
                  <c:v>-3.9</c:v>
                </c:pt>
                <c:pt idx="261">
                  <c:v>-5.5</c:v>
                </c:pt>
                <c:pt idx="262">
                  <c:v>-3.5</c:v>
                </c:pt>
                <c:pt idx="263">
                  <c:v>-4.5</c:v>
                </c:pt>
                <c:pt idx="264">
                  <c:v>-4.7</c:v>
                </c:pt>
                <c:pt idx="265">
                  <c:v>-4.5</c:v>
                </c:pt>
                <c:pt idx="266">
                  <c:v>-5.7</c:v>
                </c:pt>
                <c:pt idx="267">
                  <c:v>-4.9</c:v>
                </c:pt>
                <c:pt idx="268">
                  <c:v>-6.1</c:v>
                </c:pt>
                <c:pt idx="269">
                  <c:v>-5.1</c:v>
                </c:pt>
                <c:pt idx="270">
                  <c:v>-3.7</c:v>
                </c:pt>
                <c:pt idx="271">
                  <c:v>-5.1</c:v>
                </c:pt>
                <c:pt idx="272">
                  <c:v>-4.1</c:v>
                </c:pt>
                <c:pt idx="273">
                  <c:v>-3.5</c:v>
                </c:pt>
                <c:pt idx="274">
                  <c:v>-3.7</c:v>
                </c:pt>
                <c:pt idx="275">
                  <c:v>-2.8</c:v>
                </c:pt>
                <c:pt idx="276">
                  <c:v>-6.2</c:v>
                </c:pt>
                <c:pt idx="277">
                  <c:v>-6.9</c:v>
                </c:pt>
                <c:pt idx="278">
                  <c:v>-7.7</c:v>
                </c:pt>
                <c:pt idx="279">
                  <c:v>-8.8</c:v>
                </c:pt>
                <c:pt idx="280">
                  <c:v>-8.5</c:v>
                </c:pt>
                <c:pt idx="281">
                  <c:v>-9.6</c:v>
                </c:pt>
                <c:pt idx="282">
                  <c:v>-8.9</c:v>
                </c:pt>
                <c:pt idx="283">
                  <c:v>-10.1</c:v>
                </c:pt>
                <c:pt idx="284">
                  <c:v>-10.5</c:v>
                </c:pt>
                <c:pt idx="285">
                  <c:v>-10</c:v>
                </c:pt>
                <c:pt idx="286">
                  <c:v>-10.4</c:v>
                </c:pt>
                <c:pt idx="287">
                  <c:v>-10.3</c:v>
                </c:pt>
                <c:pt idx="288">
                  <c:v>-11.2</c:v>
                </c:pt>
                <c:pt idx="289">
                  <c:v>-11.3</c:v>
                </c:pt>
                <c:pt idx="290">
                  <c:v>-11.3</c:v>
                </c:pt>
                <c:pt idx="291">
                  <c:v>-12.2</c:v>
                </c:pt>
                <c:pt idx="292">
                  <c:v>-12.5</c:v>
                </c:pt>
                <c:pt idx="293">
                  <c:v>-12.7</c:v>
                </c:pt>
                <c:pt idx="294">
                  <c:v>-11.6</c:v>
                </c:pt>
                <c:pt idx="295">
                  <c:v>-11.1</c:v>
                </c:pt>
                <c:pt idx="296">
                  <c:v>-11.6</c:v>
                </c:pt>
                <c:pt idx="297">
                  <c:v>-10.6</c:v>
                </c:pt>
                <c:pt idx="298">
                  <c:v>-10</c:v>
                </c:pt>
                <c:pt idx="299">
                  <c:v>-9.9</c:v>
                </c:pt>
                <c:pt idx="300">
                  <c:v>-9.2</c:v>
                </c:pt>
                <c:pt idx="301">
                  <c:v>-8.2</c:v>
                </c:pt>
                <c:pt idx="302">
                  <c:v>-8.2</c:v>
                </c:pt>
                <c:pt idx="303">
                  <c:v>-9.4</c:v>
                </c:pt>
                <c:pt idx="304">
                  <c:v>-9.9</c:v>
                </c:pt>
                <c:pt idx="305">
                  <c:v>-9.7</c:v>
                </c:pt>
                <c:pt idx="306">
                  <c:v>-8.7</c:v>
                </c:pt>
                <c:pt idx="307">
                  <c:v>-8.8</c:v>
                </c:pt>
                <c:pt idx="308">
                  <c:v>-8.3</c:v>
                </c:pt>
                <c:pt idx="309">
                  <c:v>-8.2</c:v>
                </c:pt>
                <c:pt idx="310">
                  <c:v>-8.6</c:v>
                </c:pt>
                <c:pt idx="311">
                  <c:v>-8</c:v>
                </c:pt>
                <c:pt idx="312">
                  <c:v>-7.6</c:v>
                </c:pt>
                <c:pt idx="313">
                  <c:v>-7.4</c:v>
                </c:pt>
                <c:pt idx="314">
                  <c:v>-7.9</c:v>
                </c:pt>
                <c:pt idx="315">
                  <c:v>-8.2</c:v>
                </c:pt>
                <c:pt idx="316">
                  <c:v>-6.9</c:v>
                </c:pt>
                <c:pt idx="317">
                  <c:v>-7.3</c:v>
                </c:pt>
                <c:pt idx="318">
                  <c:v>-7.2</c:v>
                </c:pt>
                <c:pt idx="319">
                  <c:v>-5.9</c:v>
                </c:pt>
                <c:pt idx="320">
                  <c:v>-5</c:v>
                </c:pt>
                <c:pt idx="321">
                  <c:v>-6</c:v>
                </c:pt>
                <c:pt idx="322">
                  <c:v>-5.5</c:v>
                </c:pt>
                <c:pt idx="323">
                  <c:v>-5.7</c:v>
                </c:pt>
                <c:pt idx="324">
                  <c:v>-5.2</c:v>
                </c:pt>
                <c:pt idx="325">
                  <c:v>-4.3</c:v>
                </c:pt>
                <c:pt idx="326">
                  <c:v>-5.4</c:v>
                </c:pt>
                <c:pt idx="327">
                  <c:v>-4.3</c:v>
                </c:pt>
                <c:pt idx="328">
                  <c:v>-4.2</c:v>
                </c:pt>
                <c:pt idx="329">
                  <c:v>-3.6</c:v>
                </c:pt>
                <c:pt idx="330">
                  <c:v>-3.1</c:v>
                </c:pt>
                <c:pt idx="331">
                  <c:v>-3.7</c:v>
                </c:pt>
                <c:pt idx="332">
                  <c:v>-2.9</c:v>
                </c:pt>
                <c:pt idx="333">
                  <c:v>-2.9</c:v>
                </c:pt>
                <c:pt idx="334">
                  <c:v>-3</c:v>
                </c:pt>
                <c:pt idx="335">
                  <c:v>-3.7</c:v>
                </c:pt>
                <c:pt idx="336">
                  <c:v>-2.5</c:v>
                </c:pt>
                <c:pt idx="337">
                  <c:v>-3.6</c:v>
                </c:pt>
                <c:pt idx="338">
                  <c:v>-3.2</c:v>
                </c:pt>
                <c:pt idx="339">
                  <c:v>-2.3</c:v>
                </c:pt>
                <c:pt idx="340">
                  <c:v>-2.9</c:v>
                </c:pt>
                <c:pt idx="341">
                  <c:v>-2.8</c:v>
                </c:pt>
                <c:pt idx="342">
                  <c:v>-3.9</c:v>
                </c:pt>
                <c:pt idx="343">
                  <c:v>-3.6</c:v>
                </c:pt>
                <c:pt idx="344">
                  <c:v>-3.1</c:v>
                </c:pt>
                <c:pt idx="345">
                  <c:v>-3.6</c:v>
                </c:pt>
                <c:pt idx="346">
                  <c:v>-3.1</c:v>
                </c:pt>
                <c:pt idx="347">
                  <c:v>-3.2</c:v>
                </c:pt>
                <c:pt idx="348">
                  <c:v>-3.1</c:v>
                </c:pt>
                <c:pt idx="349">
                  <c:v>-2.4</c:v>
                </c:pt>
                <c:pt idx="350">
                  <c:v>-2.3</c:v>
                </c:pt>
                <c:pt idx="351">
                  <c:v>-2.6</c:v>
                </c:pt>
                <c:pt idx="352">
                  <c:v>-2.7</c:v>
                </c:pt>
                <c:pt idx="353">
                  <c:v>-2</c:v>
                </c:pt>
                <c:pt idx="354">
                  <c:v>-2.2</c:v>
                </c:pt>
                <c:pt idx="355">
                  <c:v>-2.6</c:v>
                </c:pt>
                <c:pt idx="356">
                  <c:v>-3.6</c:v>
                </c:pt>
                <c:pt idx="357">
                  <c:v>-3.1</c:v>
                </c:pt>
                <c:pt idx="358">
                  <c:v>-3.2</c:v>
                </c:pt>
                <c:pt idx="359">
                  <c:v>-3.3</c:v>
                </c:pt>
                <c:pt idx="360">
                  <c:v>-3</c:v>
                </c:pt>
                <c:pt idx="361">
                  <c:v>-3.6</c:v>
                </c:pt>
                <c:pt idx="362">
                  <c:v>-4.3</c:v>
                </c:pt>
                <c:pt idx="363">
                  <c:v>-3.7</c:v>
                </c:pt>
                <c:pt idx="364">
                  <c:v>-4.2</c:v>
                </c:pt>
                <c:pt idx="365">
                  <c:v>-5.1</c:v>
                </c:pt>
                <c:pt idx="366">
                  <c:v>-3.9</c:v>
                </c:pt>
                <c:pt idx="367">
                  <c:v>-3.5</c:v>
                </c:pt>
                <c:pt idx="368">
                  <c:v>-4.2</c:v>
                </c:pt>
                <c:pt idx="369">
                  <c:v>-3.4</c:v>
                </c:pt>
                <c:pt idx="370">
                  <c:v>-3.5</c:v>
                </c:pt>
                <c:pt idx="371">
                  <c:v>-2.6</c:v>
                </c:pt>
                <c:pt idx="372">
                  <c:v>-2.3</c:v>
                </c:pt>
                <c:pt idx="373">
                  <c:v>-2</c:v>
                </c:pt>
                <c:pt idx="374">
                  <c:v>-2</c:v>
                </c:pt>
                <c:pt idx="375">
                  <c:v>-2.6</c:v>
                </c:pt>
                <c:pt idx="376">
                  <c:v>-1.5</c:v>
                </c:pt>
                <c:pt idx="377">
                  <c:v>-2</c:v>
                </c:pt>
                <c:pt idx="378">
                  <c:v>-1.2</c:v>
                </c:pt>
                <c:pt idx="379">
                  <c:v>-1.4</c:v>
                </c:pt>
                <c:pt idx="380">
                  <c:v>-1.1</c:v>
                </c:pt>
                <c:pt idx="381">
                  <c:v>-0.1</c:v>
                </c:pt>
                <c:pt idx="382">
                  <c:v>-1.3</c:v>
                </c:pt>
                <c:pt idx="383">
                  <c:v>-0.1</c:v>
                </c:pt>
                <c:pt idx="384">
                  <c:v>-0.4</c:v>
                </c:pt>
                <c:pt idx="385">
                  <c:v>0.2</c:v>
                </c:pt>
                <c:pt idx="386">
                  <c:v>1.5</c:v>
                </c:pt>
                <c:pt idx="387">
                  <c:v>-0.1</c:v>
                </c:pt>
                <c:pt idx="388">
                  <c:v>1.5</c:v>
                </c:pt>
                <c:pt idx="389">
                  <c:v>2.4</c:v>
                </c:pt>
                <c:pt idx="390">
                  <c:v>1.5</c:v>
                </c:pt>
                <c:pt idx="391">
                  <c:v>2.3</c:v>
                </c:pt>
                <c:pt idx="392">
                  <c:v>3.6</c:v>
                </c:pt>
                <c:pt idx="393">
                  <c:v>3.4</c:v>
                </c:pt>
                <c:pt idx="394">
                  <c:v>2.9</c:v>
                </c:pt>
                <c:pt idx="395">
                  <c:v>3.6</c:v>
                </c:pt>
                <c:pt idx="396">
                  <c:v>2.5</c:v>
                </c:pt>
                <c:pt idx="397">
                  <c:v>3.2</c:v>
                </c:pt>
                <c:pt idx="398">
                  <c:v>2.5</c:v>
                </c:pt>
                <c:pt idx="399">
                  <c:v>2.3</c:v>
                </c:pt>
                <c:pt idx="400">
                  <c:v>2.3</c:v>
                </c:pt>
                <c:pt idx="401">
                  <c:v>2.4</c:v>
                </c:pt>
                <c:pt idx="402">
                  <c:v>2.5</c:v>
                </c:pt>
                <c:pt idx="403">
                  <c:v>1.3</c:v>
                </c:pt>
                <c:pt idx="404">
                  <c:v>1.4</c:v>
                </c:pt>
                <c:pt idx="405">
                  <c:v>2</c:v>
                </c:pt>
                <c:pt idx="406">
                  <c:v>1.7</c:v>
                </c:pt>
                <c:pt idx="407">
                  <c:v>1.6</c:v>
                </c:pt>
                <c:pt idx="408">
                  <c:v>0.7</c:v>
                </c:pt>
                <c:pt idx="409">
                  <c:v>1.4</c:v>
                </c:pt>
                <c:pt idx="410">
                  <c:v>1.8</c:v>
                </c:pt>
                <c:pt idx="411">
                  <c:v>2</c:v>
                </c:pt>
                <c:pt idx="412">
                  <c:v>1.3</c:v>
                </c:pt>
                <c:pt idx="413">
                  <c:v>1.3</c:v>
                </c:pt>
                <c:pt idx="414">
                  <c:v>1.3</c:v>
                </c:pt>
                <c:pt idx="415">
                  <c:v>1.8</c:v>
                </c:pt>
                <c:pt idx="416">
                  <c:v>1.8</c:v>
                </c:pt>
                <c:pt idx="417">
                  <c:v>2.3</c:v>
                </c:pt>
              </c:numCache>
            </c:numRef>
          </c:val>
          <c:smooth val="0"/>
        </c:ser>
        <c:dLbls>
          <c:numFmt formatCode="#,##0" sourceLinked="0"/>
          <c:txPr>
            <a:bodyPr/>
            <a:lstStyle/>
            <a:p>
              <a:pPr>
                <a:defRPr b="1" i="0" strike="noStrike" sz="1300" u="none">
                  <a:solidFill>
                    <a:srgbClr val="1D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none"/>
        <c:minorTickMark val="none"/>
        <c:tickLblPos val="low"/>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50"/>
          <c:min val="-20"/>
        </c:scaling>
        <c:delete val="0"/>
        <c:axPos val="l"/>
        <c:majorGridlines>
          <c:spPr>
            <a:ln w="9525" cap="flat">
              <a:solidFill>
                <a:srgbClr val="DCDCD6"/>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10"/>
      </c:valAx>
      <c:spPr>
        <a:solidFill>
          <a:srgbClr val="FFFFFF">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1F24"/>
                </a:solidFill>
                <a:latin typeface="+mn-lt"/>
              </a:defRPr>
            </a:pPr>
            <a:r>
              <a:rPr sz="1400" b="1" i="0" u="none" strike="noStrike">
                <a:solidFill>
                  <a:srgbClr val="1D1F24"/>
                </a:solidFill>
                <a:latin typeface="+mn-lt"/>
              </a:rPr>
              <a:t>Mora de las familias con bancos (%)</a:t>
            </a:r>
          </a:p>
        </c:rich>
      </c:tx>
      <c:layout/>
      <c:overlay val="0"/>
    </c:title>
    <c:autoTitleDeleted val="0"/>
    <c:plotArea>
      <c:layout/>
      <c:barChart>
        <c:barDir val="col"/>
        <c:grouping val="clustered"/>
        <c:varyColors val="0"/>
        <c:ser>
          <c:idx val="0"/>
          <c:order val="0"/>
          <c:tx>
            <c:strRef>
              <c:f>Sheet1!$B$1</c:f>
              <c:strCache>
                <c:ptCount val="1"/>
                <c:pt idx="0">
                  <c:v>Mora de las familias</c:v>
                </c:pt>
              </c:strCache>
            </c:strRef>
          </c:tx>
          <c:spPr>
            <a:solidFill>
              <a:srgbClr val="9A9EA6"/>
            </a:solidFill>
            <a:effectLst/>
          </c:spPr>
          <c:invertIfNegative val="0"/>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dPt>
            <c:idx val="0"/>
            <c:invertIfNegative val="0"/>
            <c:bubble3D val="0"/>
            <c:spPr>
              <a:solidFill>
                <a:srgbClr val="9A9EA6"/>
              </a:solidFill>
              <a:effectLst/>
            </c:spPr>
          </c:dPt>
          <c:dPt>
            <c:idx val="1"/>
            <c:invertIfNegative val="0"/>
            <c:bubble3D val="0"/>
            <c:spPr>
              <a:solidFill>
                <a:srgbClr val="9A9EA6"/>
              </a:solidFill>
              <a:effectLst/>
            </c:spPr>
          </c:dPt>
          <c:dPt>
            <c:idx val="2"/>
            <c:invertIfNegative val="0"/>
            <c:bubble3D val="0"/>
            <c:spPr>
              <a:solidFill>
                <a:srgbClr val="D23A2F"/>
              </a:solidFill>
              <a:effectLst/>
            </c:spPr>
          </c:dPt>
          <c:cat>
            <c:multiLvlStrRef>
              <c:f>Sheet1!$A$2:$A$4</c:f>
              <c:multiLvlStrCache>
                <c:ptCount val="3"/>
                <c:lvl>
                  <c:pt idx="0">
                    <c:v>Mayo 2024</c:v>
                  </c:pt>
                  <c:pt idx="1">
                    <c:v>Mayo 2025</c:v>
                  </c:pt>
                  <c:pt idx="2">
                    <c:v>Mayo 2026</c:v>
                  </c:pt>
                </c:lvl>
              </c:multiLvlStrCache>
            </c:multiLvlStrRef>
          </c:cat>
          <c:val>
            <c:numRef>
              <c:f>Sheet1!$B$2:$B$4</c:f>
              <c:numCache>
                <c:formatCode>General</c:formatCode>
                <c:ptCount val="3"/>
                <c:pt idx="0">
                  <c:v>2.8</c:v>
                </c:pt>
                <c:pt idx="1">
                  <c:v>4.5</c:v>
                </c:pt>
                <c:pt idx="2">
                  <c:v>12.8</c:v>
                </c:pt>
              </c:numCache>
            </c:numRef>
          </c:val>
        </c:ser>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DCDCD6"/>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1F24"/>
                </a:solidFill>
                <a:latin typeface="+mn-lt"/>
              </a:defRPr>
            </a:pPr>
            <a:r>
              <a:rPr sz="1400" b="1" i="0" u="none" strike="noStrike">
                <a:solidFill>
                  <a:srgbClr val="1D1F24"/>
                </a:solidFill>
                <a:latin typeface="+mn-lt"/>
              </a:rPr>
              <a:t>Mora por tipo de préstamo, mayo 2026 (%)</a:t>
            </a:r>
          </a:p>
        </c:rich>
      </c:tx>
      <c:layout/>
      <c:overlay val="0"/>
    </c:title>
    <c:autoTitleDeleted val="0"/>
    <c:plotArea>
      <c:layout/>
      <c:barChart>
        <c:barDir val="bar"/>
        <c:grouping val="clustered"/>
        <c:varyColors val="0"/>
        <c:ser>
          <c:idx val="0"/>
          <c:order val="0"/>
          <c:tx>
            <c:strRef>
              <c:f>Sheet1!$B$1</c:f>
              <c:strCache>
                <c:ptCount val="1"/>
                <c:pt idx="0">
                  <c:v>Mora por línea</c:v>
                </c:pt>
              </c:strCache>
            </c:strRef>
          </c:tx>
          <c:spPr>
            <a:solidFill>
              <a:srgbClr val="9A9EA6"/>
            </a:solidFill>
            <a:effectLst/>
          </c:spPr>
          <c:invertIfNegative val="0"/>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dPt>
            <c:idx val="0"/>
            <c:invertIfNegative val="0"/>
            <c:bubble3D val="0"/>
            <c:spPr>
              <a:solidFill>
                <a:srgbClr val="9A9EA6"/>
              </a:solidFill>
              <a:effectLst/>
            </c:spPr>
          </c:dPt>
          <c:dPt>
            <c:idx val="1"/>
            <c:invertIfNegative val="0"/>
            <c:bubble3D val="0"/>
            <c:spPr>
              <a:solidFill>
                <a:srgbClr val="9A9EA6"/>
              </a:solidFill>
              <a:effectLst/>
            </c:spPr>
          </c:dPt>
          <c:dPt>
            <c:idx val="2"/>
            <c:invertIfNegative val="0"/>
            <c:bubble3D val="0"/>
            <c:spPr>
              <a:solidFill>
                <a:srgbClr val="D23A2F"/>
              </a:solidFill>
              <a:effectLst/>
            </c:spPr>
          </c:dPt>
          <c:dPt>
            <c:idx val="3"/>
            <c:invertIfNegative val="0"/>
            <c:bubble3D val="0"/>
            <c:spPr>
              <a:solidFill>
                <a:srgbClr val="D23A2F"/>
              </a:solidFill>
              <a:effectLst/>
            </c:spPr>
          </c:dPt>
          <c:cat>
            <c:multiLvlStrRef>
              <c:f>Sheet1!$A$2:$A$5</c:f>
              <c:multiLvlStrCache>
                <c:ptCount val="4"/>
                <c:lvl>
                  <c:pt idx="0">
                    <c:v>Hipotecarios</c:v>
                  </c:pt>
                  <c:pt idx="1">
                    <c:v>Prendarios</c:v>
                  </c:pt>
                  <c:pt idx="2">
                    <c:v>Tarjetas</c:v>
                  </c:pt>
                  <c:pt idx="3">
                    <c:v>Personales</c:v>
                  </c:pt>
                </c:lvl>
              </c:multiLvlStrCache>
            </c:multiLvlStrRef>
          </c:cat>
          <c:val>
            <c:numRef>
              <c:f>Sheet1!$B$2:$B$5</c:f>
              <c:numCache>
                <c:formatCode>General</c:formatCode>
                <c:ptCount val="4"/>
                <c:pt idx="0">
                  <c:v>1.6</c:v>
                </c:pt>
                <c:pt idx="1">
                  <c:v>7.7</c:v>
                </c:pt>
                <c:pt idx="2">
                  <c:v>13.1</c:v>
                </c:pt>
                <c:pt idx="3">
                  <c:v>15.9</c:v>
                </c:pt>
              </c:numCache>
            </c:numRef>
          </c:val>
        </c:ser>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b"/>
        <c:majorGridlines>
          <c:spPr>
            <a:ln w="9525" cap="flat">
              <a:solidFill>
                <a:srgbClr val="DCDCD6"/>
              </a:solidFill>
              <a:prstDash val="solid"/>
              <a:round/>
            </a:ln>
          </c:spPr>
        </c:majorGridlines>
        <c:numFmt formatCode="0&quot;%&quot;" sourceLinked="0"/>
        <c:majorTickMark val="none"/>
        <c:minorTickMark val="none"/>
        <c:tickLblPos val="low"/>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Fundar sobre el sobreendeudamiento de las familias: cómo se armó, qué tan grave es y qué se puede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final: en 18 meses la mora del crédito a personas (bancos, fintech y billeteras) pasó de 3,6% a 17,5% de lo prestado. Antes era uno de cada 40 pesos; hoy, más de uno de cada seis. Una sola serie (EcoGo y Universidad Austral), así que los tres momentos son comparables. El resto de la presentación muestra cómo se llegó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5,86 millones de personas tenían al menos una deuda en mora en junio de 2026: uno de cada ocho habitantes y el 27% de quienes tienen deudas registradas en la Central de Deudores. Deben $17,8 billones. No hay un dato público de hogares en mora; sí sabemos que 6 de cada 10 hogares usan alguna forma de financiamiento (IPYPP, EPH).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billeteras y fintech concentran 4 de cada 10 personas en mora, pero solo 1 de cada 10 pesos en mora: son muchas deudas chicas. Los bancos privados tienen el 27% de los morosos y el 45% de la plata. La tasa de mora en fintech (31%) duplica la del sistema financiero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piezas de la crisis, en el orden en que se apilaron: ingresos, crédito, tasas y mora.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la caída del ingreso real. Cuando el ingreso no alcanza para los gastos fijos, el crédito se vuelve la vía para cerrar el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2024 el crédito creció 58% real y los préstamos personales más de 130%. En 2025 siguió creciendo, a menor ritmo: 44% en personales y 17% en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2025 el Gobierno liberó las tasas. Con el acuerdo con el FMI salió el cepo (abril) y con el fin de las LEFIs (julio) el BCRA dejó de fijar una tasa de referencia: la BADLAR nominal pasó de 32% a casi 60% en agosto. La incertidumbre electoral (bonaerenses en septiembre, legislativas en octubre) llevó la tasa real a casi 40%; recién bajó con el swap con EE.UU. y después de las legislativas.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mora de las familias pasó de 2,8% en mayo de 2024 a 12,8% en mayo de 2026. Los préstamos personales (15,9%) y las tarjetas (13,1%) concentran el problema; la mora hipotecaria sigue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propuestas de alcance nacional —precio, transparencia y alivio— y una agenda propia para la provincia en defensa del consumidor financiero.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Santa Fe tenía 412.845 personas en mora en julio de 2026, el 25% de sus 1,63 millones de deudores. Por tasa está entre las más bajas (22 de 24), pero por cantidad es la tercera del país. 264.770 están en situación 5, irrecuperable. La mora en billeteras virtuales (31,2%) triplica la de los bancos (9,6%). Dato extra: el departamento Rosario es el más afectado de la provincia (17,1% según CEC, junio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Santa Fe ya tiene un plan en marcha para unificar deudas (Plan de Protección de los Ingresos, con el Banco Santa Fe) y tres proyectos en la Legislatura. El Código de Implementación de los Derechos de las Personas Consumidoras y Usuarias es el que más se parece a nuestra recomendación provincial: préstamo responsable para todo el que preste (regulado o no por el BCRA), límites a la cobranza y una oficina de renegociación con audiencia única, plan de hasta 5 años y piso de un salario mínimo. Verificar si el plan siguió abierto después del 30 de septiembre.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 cierre: las medidas financieras alivian, pero el problema de fondo es el ingreso. La pieza azul, la primera, es la que sostiene todo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2"/>
        </a:solidFill>
      </p:bgPr>
    </p:bg>
    <p:spTree>
      <p:nvGrpSpPr>
        <p:cNvPr id="1" name=""/>
        <p:cNvGrpSpPr/>
        <p:nvPr/>
      </p:nvGrpSpPr>
      <p:grpSpPr>
        <a:xfrm>
          <a:off x="0" y="0"/>
          <a:ext cx="0" cy="0"/>
          <a:chOff x="0" y="0"/>
          <a:chExt cx="0" cy="0"/>
        </a:xfrm>
      </p:grpSpPr>
      <p:pic>
        <p:nvPicPr>
          <p:cNvPr id="2" name="Image 0" descr="logo_dark.png">    </p:cNvPr>
          <p:cNvPicPr>
            <a:picLocks noChangeAspect="1"/>
          </p:cNvPicPr>
          <p:nvPr/>
        </p:nvPicPr>
        <p:blipFill>
          <a:blip r:embed="rId1"/>
          <a:stretch>
            <a:fillRect/>
          </a:stretch>
        </p:blipFill>
        <p:spPr>
          <a:xfrm>
            <a:off x="548640" y="5989320"/>
            <a:ext cx="658368" cy="3200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JA">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Fundar · La crisis de endeudamiento de los hogares</a:t>
            </a:r>
            <a:endParaRPr lang="en-US" sz="1000" dirty="0"/>
          </a:p>
        </p:txBody>
      </p:sp>
      <p:sp>
        <p:nvSpPr>
          <p:cNvPr id="3" name="Text 1"/>
          <p:cNvSpPr/>
          <p:nvPr>
            <p:ph idx="101" type="body" hasCustomPrompt="1"/>
          </p:nvPr>
        </p:nvSpPr>
        <p:spPr>
          <a:xfrm>
            <a:off x="548640" y="457200"/>
            <a:ext cx="9144000" cy="274320"/>
          </a:xfrm>
          <a:prstGeom prst="rect">
            <a:avLst/>
          </a:prstGeom>
          <a:noFill/>
          <a:ln/>
        </p:spPr>
        <p:txBody>
          <a:bodyPr wrap="square" rtlCol="0"/>
          <a:lstStyle>
            <a:lvl1pPr algn="l" indent="0" marL="0">
              <a:buNone/>
              <a:defRPr lang="en-US" sz="1200" b="1" spc="15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SO">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Fundar · La crisis de endeudamiento de los hogares</a:t>
            </a:r>
            <a:endParaRPr lang="en-US" sz="1000" dirty="0"/>
          </a:p>
        </p:txBody>
      </p:sp>
      <p:sp>
        <p:nvSpPr>
          <p:cNvPr id="3" name="Text 1"/>
          <p:cNvSpPr/>
          <p:nvPr>
            <p:ph idx="101" type="body" hasCustomPrompt="1"/>
          </p:nvPr>
        </p:nvSpPr>
        <p:spPr>
          <a:xfrm>
            <a:off x="1463040" y="457200"/>
            <a:ext cx="9144000" cy="274320"/>
          </a:xfrm>
          <a:prstGeom prst="rect">
            <a:avLst/>
          </a:prstGeom>
          <a:noFill/>
          <a:ln/>
        </p:spPr>
        <p:txBody>
          <a:bodyPr wrap="square" rtlCol="0"/>
          <a:lstStyle>
            <a:lvl1pPr algn="l" indent="0" marL="0">
              <a:buNone/>
              <a:defRPr lang="en-US" sz="1200" b="1" spc="15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1463040" y="749808"/>
            <a:ext cx="101800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7315200" cy="274320"/>
          </a:xfrm>
          <a:prstGeom prst="rect">
            <a:avLst/>
          </a:prstGeom>
          <a:noFill/>
          <a:ln/>
        </p:spPr>
        <p:txBody>
          <a:bodyPr wrap="square" lIns="0" tIns="0" rIns="0" bIns="0" rtlCol="0" anchor="ctr"/>
          <a:lstStyle/>
          <a:p>
            <a:pPr indent="0" marL="0">
              <a:buNone/>
            </a:pPr>
            <a:r>
              <a:rPr lang="en-US" sz="1300" b="1" spc="150" kern="0" dirty="0">
                <a:solidFill>
                  <a:schemeClr val="accent5"/>
                </a:solidFill>
              </a:rPr>
              <a:t>FUNDAR · DIAGNÓSTICO Y PROPUESTAS</a:t>
            </a:r>
            <a:endParaRPr lang="en-US" sz="1300" dirty="0"/>
          </a:p>
        </p:txBody>
      </p:sp>
      <p:sp>
        <p:nvSpPr>
          <p:cNvPr id="3" name="Text 1"/>
          <p:cNvSpPr txBox="1"/>
          <p:nvPr/>
        </p:nvSpPr>
        <p:spPr>
          <a:xfrm>
            <a:off x="548640" y="1600200"/>
            <a:ext cx="7863840" cy="2103120"/>
          </a:xfrm>
          <a:prstGeom prst="rect">
            <a:avLst/>
          </a:prstGeom>
          <a:noFill/>
          <a:ln/>
        </p:spPr>
        <p:txBody>
          <a:bodyPr wrap="square" lIns="0" tIns="0" rIns="0" bIns="0" rtlCol="0" anchor="t"/>
          <a:lstStyle/>
          <a:p>
            <a:pPr indent="0" marL="0">
              <a:buNone/>
            </a:pPr>
            <a:r>
              <a:rPr lang="en-US" sz="4200" b="1" dirty="0">
                <a:solidFill>
                  <a:schemeClr val="tx1"/>
                </a:solidFill>
              </a:rPr>
              <a:t>La crisis de endeudamiento de los hogares, pieza por pieza</a:t>
            </a:r>
            <a:endParaRPr lang="en-US" sz="4200" dirty="0"/>
          </a:p>
        </p:txBody>
      </p:sp>
      <p:sp>
        <p:nvSpPr>
          <p:cNvPr id="4" name="Text 2"/>
          <p:cNvSpPr txBox="1"/>
          <p:nvPr/>
        </p:nvSpPr>
        <p:spPr>
          <a:xfrm>
            <a:off x="548640" y="3977640"/>
            <a:ext cx="6949440" cy="1005840"/>
          </a:xfrm>
          <a:prstGeom prst="rect">
            <a:avLst/>
          </a:prstGeom>
          <a:noFill/>
          <a:ln/>
        </p:spPr>
        <p:txBody>
          <a:bodyPr wrap="square" lIns="0" tIns="0" rIns="0" bIns="0" rtlCol="0" anchor="t"/>
          <a:lstStyle/>
          <a:p>
            <a:pPr indent="0" marL="0">
              <a:buNone/>
            </a:pPr>
            <a:r>
              <a:rPr lang="en-US" sz="2000" dirty="0">
                <a:solidFill>
                  <a:schemeClr val="tx2"/>
                </a:solidFill>
              </a:rPr>
              <a:t>Muchas familias deben más de lo que pueden pagar. Acá va cómo se armó el problema, en cuatro pasos, y qué se puede hacer para desarmarlo.</a:t>
            </a:r>
            <a:endParaRPr lang="en-US" sz="2000" dirty="0"/>
          </a:p>
        </p:txBody>
      </p:sp>
      <p:sp>
        <p:nvSpPr>
          <p:cNvPr id="5" name="Shape 3"/>
          <p:cNvSpPr/>
          <p:nvPr/>
        </p:nvSpPr>
        <p:spPr>
          <a:xfrm>
            <a:off x="9177528" y="4096512"/>
            <a:ext cx="164592" cy="73152"/>
          </a:xfrm>
          <a:prstGeom prst="roundRect">
            <a:avLst>
              <a:gd name="adj" fmla="val 37500"/>
            </a:avLst>
          </a:prstGeom>
          <a:solidFill>
            <a:schemeClr val="accent1"/>
          </a:solidFill>
          <a:ln/>
        </p:spPr>
      </p:sp>
      <p:sp>
        <p:nvSpPr>
          <p:cNvPr id="6" name="Shape 4"/>
          <p:cNvSpPr/>
          <p:nvPr/>
        </p:nvSpPr>
        <p:spPr>
          <a:xfrm>
            <a:off x="9445752" y="4096512"/>
            <a:ext cx="164592" cy="73152"/>
          </a:xfrm>
          <a:prstGeom prst="roundRect">
            <a:avLst>
              <a:gd name="adj" fmla="val 37500"/>
            </a:avLst>
          </a:prstGeom>
          <a:solidFill>
            <a:schemeClr val="accent1"/>
          </a:solidFill>
          <a:ln/>
        </p:spPr>
      </p:sp>
      <p:sp>
        <p:nvSpPr>
          <p:cNvPr id="7" name="Shape 5"/>
          <p:cNvSpPr/>
          <p:nvPr/>
        </p:nvSpPr>
        <p:spPr>
          <a:xfrm>
            <a:off x="9713976" y="4096512"/>
            <a:ext cx="164592" cy="73152"/>
          </a:xfrm>
          <a:prstGeom prst="roundRect">
            <a:avLst>
              <a:gd name="adj" fmla="val 37500"/>
            </a:avLst>
          </a:prstGeom>
          <a:solidFill>
            <a:schemeClr val="accent1"/>
          </a:solidFill>
          <a:ln/>
        </p:spPr>
      </p:sp>
      <p:sp>
        <p:nvSpPr>
          <p:cNvPr id="8" name="Shape 6"/>
          <p:cNvSpPr/>
          <p:nvPr/>
        </p:nvSpPr>
        <p:spPr>
          <a:xfrm>
            <a:off x="9982200" y="4096512"/>
            <a:ext cx="164592" cy="73152"/>
          </a:xfrm>
          <a:prstGeom prst="roundRect">
            <a:avLst>
              <a:gd name="adj" fmla="val 37500"/>
            </a:avLst>
          </a:prstGeom>
          <a:solidFill>
            <a:schemeClr val="accent1"/>
          </a:solidFill>
          <a:ln/>
        </p:spPr>
      </p:sp>
      <p:sp>
        <p:nvSpPr>
          <p:cNvPr id="9" name="Shape 7"/>
          <p:cNvSpPr/>
          <p:nvPr/>
        </p:nvSpPr>
        <p:spPr>
          <a:xfrm>
            <a:off x="10250424" y="4096512"/>
            <a:ext cx="164592" cy="73152"/>
          </a:xfrm>
          <a:prstGeom prst="roundRect">
            <a:avLst>
              <a:gd name="adj" fmla="val 37500"/>
            </a:avLst>
          </a:prstGeom>
          <a:solidFill>
            <a:schemeClr val="accent1"/>
          </a:solidFill>
          <a:ln/>
        </p:spPr>
      </p:sp>
      <p:sp>
        <p:nvSpPr>
          <p:cNvPr id="10" name="Shape 8"/>
          <p:cNvSpPr/>
          <p:nvPr/>
        </p:nvSpPr>
        <p:spPr>
          <a:xfrm>
            <a:off x="10518648" y="4096512"/>
            <a:ext cx="164592" cy="73152"/>
          </a:xfrm>
          <a:prstGeom prst="roundRect">
            <a:avLst>
              <a:gd name="adj" fmla="val 37500"/>
            </a:avLst>
          </a:prstGeom>
          <a:solidFill>
            <a:schemeClr val="accent1"/>
          </a:solidFill>
          <a:ln/>
        </p:spPr>
      </p:sp>
      <p:sp>
        <p:nvSpPr>
          <p:cNvPr id="11" name="Shape 9"/>
          <p:cNvSpPr/>
          <p:nvPr/>
        </p:nvSpPr>
        <p:spPr>
          <a:xfrm>
            <a:off x="10786872" y="4096512"/>
            <a:ext cx="164592" cy="73152"/>
          </a:xfrm>
          <a:prstGeom prst="roundRect">
            <a:avLst>
              <a:gd name="adj" fmla="val 37500"/>
            </a:avLst>
          </a:prstGeom>
          <a:solidFill>
            <a:schemeClr val="accent1"/>
          </a:solidFill>
          <a:ln/>
        </p:spPr>
      </p:sp>
      <p:sp>
        <p:nvSpPr>
          <p:cNvPr id="12" name="Shape 10"/>
          <p:cNvSpPr/>
          <p:nvPr/>
        </p:nvSpPr>
        <p:spPr>
          <a:xfrm>
            <a:off x="11055096" y="4096512"/>
            <a:ext cx="164592" cy="73152"/>
          </a:xfrm>
          <a:prstGeom prst="roundRect">
            <a:avLst>
              <a:gd name="adj" fmla="val 37500"/>
            </a:avLst>
          </a:prstGeom>
          <a:solidFill>
            <a:schemeClr val="accent1"/>
          </a:solidFill>
          <a:ln/>
        </p:spPr>
      </p:sp>
      <p:sp>
        <p:nvSpPr>
          <p:cNvPr id="13" name="Shape 11"/>
          <p:cNvSpPr/>
          <p:nvPr/>
        </p:nvSpPr>
        <p:spPr>
          <a:xfrm>
            <a:off x="11323320" y="4096512"/>
            <a:ext cx="164592" cy="73152"/>
          </a:xfrm>
          <a:prstGeom prst="roundRect">
            <a:avLst>
              <a:gd name="adj" fmla="val 37500"/>
            </a:avLst>
          </a:prstGeom>
          <a:solidFill>
            <a:schemeClr val="accent1"/>
          </a:solidFill>
          <a:ln/>
        </p:spPr>
      </p:sp>
      <p:sp>
        <p:nvSpPr>
          <p:cNvPr id="14" name="Shape 12"/>
          <p:cNvSpPr/>
          <p:nvPr/>
        </p:nvSpPr>
        <p:spPr>
          <a:xfrm>
            <a:off x="9052560" y="4160520"/>
            <a:ext cx="2560320" cy="548640"/>
          </a:xfrm>
          <a:prstGeom prst="roundRect">
            <a:avLst>
              <a:gd name="adj" fmla="val 8333"/>
            </a:avLst>
          </a:prstGeom>
          <a:solidFill>
            <a:schemeClr val="accent1"/>
          </a:solidFill>
          <a:ln/>
        </p:spPr>
      </p:sp>
      <p:sp>
        <p:nvSpPr>
          <p:cNvPr id="15" name="Shape 13"/>
          <p:cNvSpPr/>
          <p:nvPr/>
        </p:nvSpPr>
        <p:spPr>
          <a:xfrm>
            <a:off x="9079992" y="4636008"/>
            <a:ext cx="2505456" cy="73152"/>
          </a:xfrm>
          <a:prstGeom prst="rect">
            <a:avLst/>
          </a:prstGeom>
          <a:solidFill>
            <a:srgbClr val="A92E25"/>
          </a:solidFill>
          <a:ln/>
        </p:spPr>
      </p:sp>
      <p:sp>
        <p:nvSpPr>
          <p:cNvPr id="16" name="Shape 14"/>
          <p:cNvSpPr/>
          <p:nvPr/>
        </p:nvSpPr>
        <p:spPr>
          <a:xfrm>
            <a:off x="9179270" y="3456432"/>
            <a:ext cx="164592" cy="73152"/>
          </a:xfrm>
          <a:prstGeom prst="roundRect">
            <a:avLst>
              <a:gd name="adj" fmla="val 37500"/>
            </a:avLst>
          </a:prstGeom>
          <a:solidFill>
            <a:schemeClr val="accent2"/>
          </a:solidFill>
          <a:ln/>
        </p:spPr>
      </p:sp>
      <p:sp>
        <p:nvSpPr>
          <p:cNvPr id="17" name="Shape 15"/>
          <p:cNvSpPr/>
          <p:nvPr/>
        </p:nvSpPr>
        <p:spPr>
          <a:xfrm>
            <a:off x="9450977" y="3456432"/>
            <a:ext cx="164592" cy="73152"/>
          </a:xfrm>
          <a:prstGeom prst="roundRect">
            <a:avLst>
              <a:gd name="adj" fmla="val 37500"/>
            </a:avLst>
          </a:prstGeom>
          <a:solidFill>
            <a:schemeClr val="accent2"/>
          </a:solidFill>
          <a:ln/>
        </p:spPr>
      </p:sp>
      <p:sp>
        <p:nvSpPr>
          <p:cNvPr id="18" name="Shape 16"/>
          <p:cNvSpPr/>
          <p:nvPr/>
        </p:nvSpPr>
        <p:spPr>
          <a:xfrm>
            <a:off x="9722685" y="3456432"/>
            <a:ext cx="164592" cy="73152"/>
          </a:xfrm>
          <a:prstGeom prst="roundRect">
            <a:avLst>
              <a:gd name="adj" fmla="val 37500"/>
            </a:avLst>
          </a:prstGeom>
          <a:solidFill>
            <a:schemeClr val="accent2"/>
          </a:solidFill>
          <a:ln/>
        </p:spPr>
      </p:sp>
      <p:sp>
        <p:nvSpPr>
          <p:cNvPr id="19" name="Shape 17"/>
          <p:cNvSpPr/>
          <p:nvPr/>
        </p:nvSpPr>
        <p:spPr>
          <a:xfrm>
            <a:off x="9994392" y="3456432"/>
            <a:ext cx="164592" cy="73152"/>
          </a:xfrm>
          <a:prstGeom prst="roundRect">
            <a:avLst>
              <a:gd name="adj" fmla="val 37500"/>
            </a:avLst>
          </a:prstGeom>
          <a:solidFill>
            <a:schemeClr val="accent2"/>
          </a:solidFill>
          <a:ln/>
        </p:spPr>
      </p:sp>
      <p:sp>
        <p:nvSpPr>
          <p:cNvPr id="20" name="Shape 18"/>
          <p:cNvSpPr/>
          <p:nvPr/>
        </p:nvSpPr>
        <p:spPr>
          <a:xfrm>
            <a:off x="10266099" y="3456432"/>
            <a:ext cx="164592" cy="73152"/>
          </a:xfrm>
          <a:prstGeom prst="roundRect">
            <a:avLst>
              <a:gd name="adj" fmla="val 37500"/>
            </a:avLst>
          </a:prstGeom>
          <a:solidFill>
            <a:schemeClr val="accent2"/>
          </a:solidFill>
          <a:ln/>
        </p:spPr>
      </p:sp>
      <p:sp>
        <p:nvSpPr>
          <p:cNvPr id="21" name="Shape 19"/>
          <p:cNvSpPr/>
          <p:nvPr/>
        </p:nvSpPr>
        <p:spPr>
          <a:xfrm>
            <a:off x="10537807" y="3456432"/>
            <a:ext cx="164592" cy="73152"/>
          </a:xfrm>
          <a:prstGeom prst="roundRect">
            <a:avLst>
              <a:gd name="adj" fmla="val 37500"/>
            </a:avLst>
          </a:prstGeom>
          <a:solidFill>
            <a:schemeClr val="accent2"/>
          </a:solidFill>
          <a:ln/>
        </p:spPr>
      </p:sp>
      <p:sp>
        <p:nvSpPr>
          <p:cNvPr id="22" name="Shape 20"/>
          <p:cNvSpPr/>
          <p:nvPr/>
        </p:nvSpPr>
        <p:spPr>
          <a:xfrm>
            <a:off x="10809514" y="3456432"/>
            <a:ext cx="164592" cy="73152"/>
          </a:xfrm>
          <a:prstGeom prst="roundRect">
            <a:avLst>
              <a:gd name="adj" fmla="val 37500"/>
            </a:avLst>
          </a:prstGeom>
          <a:solidFill>
            <a:schemeClr val="accent2"/>
          </a:solidFill>
          <a:ln/>
        </p:spPr>
      </p:sp>
      <p:sp>
        <p:nvSpPr>
          <p:cNvPr id="23" name="Shape 21"/>
          <p:cNvSpPr/>
          <p:nvPr/>
        </p:nvSpPr>
        <p:spPr>
          <a:xfrm>
            <a:off x="9052560" y="3520440"/>
            <a:ext cx="2048256" cy="548640"/>
          </a:xfrm>
          <a:prstGeom prst="roundRect">
            <a:avLst>
              <a:gd name="adj" fmla="val 8333"/>
            </a:avLst>
          </a:prstGeom>
          <a:solidFill>
            <a:schemeClr val="accent2"/>
          </a:solidFill>
          <a:ln/>
        </p:spPr>
      </p:sp>
      <p:sp>
        <p:nvSpPr>
          <p:cNvPr id="24" name="Shape 22"/>
          <p:cNvSpPr/>
          <p:nvPr/>
        </p:nvSpPr>
        <p:spPr>
          <a:xfrm>
            <a:off x="9079992" y="3995928"/>
            <a:ext cx="1993392" cy="73152"/>
          </a:xfrm>
          <a:prstGeom prst="rect">
            <a:avLst/>
          </a:prstGeom>
          <a:solidFill>
            <a:srgbClr val="C28F09"/>
          </a:solidFill>
          <a:ln/>
        </p:spPr>
      </p:sp>
      <p:sp>
        <p:nvSpPr>
          <p:cNvPr id="25" name="Shape 23"/>
          <p:cNvSpPr/>
          <p:nvPr/>
        </p:nvSpPr>
        <p:spPr>
          <a:xfrm>
            <a:off x="9182405" y="2816352"/>
            <a:ext cx="164592" cy="73152"/>
          </a:xfrm>
          <a:prstGeom prst="roundRect">
            <a:avLst>
              <a:gd name="adj" fmla="val 37500"/>
            </a:avLst>
          </a:prstGeom>
          <a:solidFill>
            <a:schemeClr val="accent3"/>
          </a:solidFill>
          <a:ln/>
        </p:spPr>
      </p:sp>
      <p:sp>
        <p:nvSpPr>
          <p:cNvPr id="26" name="Shape 24"/>
          <p:cNvSpPr/>
          <p:nvPr/>
        </p:nvSpPr>
        <p:spPr>
          <a:xfrm>
            <a:off x="9460382" y="2816352"/>
            <a:ext cx="164592" cy="73152"/>
          </a:xfrm>
          <a:prstGeom prst="roundRect">
            <a:avLst>
              <a:gd name="adj" fmla="val 37500"/>
            </a:avLst>
          </a:prstGeom>
          <a:solidFill>
            <a:schemeClr val="accent3"/>
          </a:solidFill>
          <a:ln/>
        </p:spPr>
      </p:sp>
      <p:sp>
        <p:nvSpPr>
          <p:cNvPr id="27" name="Shape 25"/>
          <p:cNvSpPr/>
          <p:nvPr/>
        </p:nvSpPr>
        <p:spPr>
          <a:xfrm>
            <a:off x="9738360" y="2816352"/>
            <a:ext cx="164592" cy="73152"/>
          </a:xfrm>
          <a:prstGeom prst="roundRect">
            <a:avLst>
              <a:gd name="adj" fmla="val 37500"/>
            </a:avLst>
          </a:prstGeom>
          <a:solidFill>
            <a:schemeClr val="accent3"/>
          </a:solidFill>
          <a:ln/>
        </p:spPr>
      </p:sp>
      <p:sp>
        <p:nvSpPr>
          <p:cNvPr id="28" name="Shape 26"/>
          <p:cNvSpPr/>
          <p:nvPr/>
        </p:nvSpPr>
        <p:spPr>
          <a:xfrm>
            <a:off x="10016338" y="2816352"/>
            <a:ext cx="164592" cy="73152"/>
          </a:xfrm>
          <a:prstGeom prst="roundRect">
            <a:avLst>
              <a:gd name="adj" fmla="val 37500"/>
            </a:avLst>
          </a:prstGeom>
          <a:solidFill>
            <a:schemeClr val="accent3"/>
          </a:solidFill>
          <a:ln/>
        </p:spPr>
      </p:sp>
      <p:sp>
        <p:nvSpPr>
          <p:cNvPr id="29" name="Shape 27"/>
          <p:cNvSpPr/>
          <p:nvPr/>
        </p:nvSpPr>
        <p:spPr>
          <a:xfrm>
            <a:off x="10294315" y="2816352"/>
            <a:ext cx="164592" cy="73152"/>
          </a:xfrm>
          <a:prstGeom prst="roundRect">
            <a:avLst>
              <a:gd name="adj" fmla="val 37500"/>
            </a:avLst>
          </a:prstGeom>
          <a:solidFill>
            <a:schemeClr val="accent3"/>
          </a:solidFill>
          <a:ln/>
        </p:spPr>
      </p:sp>
      <p:sp>
        <p:nvSpPr>
          <p:cNvPr id="30" name="Shape 28"/>
          <p:cNvSpPr/>
          <p:nvPr/>
        </p:nvSpPr>
        <p:spPr>
          <a:xfrm>
            <a:off x="9052560" y="2880360"/>
            <a:ext cx="1536192" cy="548640"/>
          </a:xfrm>
          <a:prstGeom prst="roundRect">
            <a:avLst>
              <a:gd name="adj" fmla="val 8333"/>
            </a:avLst>
          </a:prstGeom>
          <a:solidFill>
            <a:schemeClr val="accent3"/>
          </a:solidFill>
          <a:ln/>
        </p:spPr>
      </p:sp>
      <p:sp>
        <p:nvSpPr>
          <p:cNvPr id="31" name="Shape 29"/>
          <p:cNvSpPr/>
          <p:nvPr/>
        </p:nvSpPr>
        <p:spPr>
          <a:xfrm>
            <a:off x="9079992" y="3355848"/>
            <a:ext cx="1481328" cy="73152"/>
          </a:xfrm>
          <a:prstGeom prst="rect">
            <a:avLst/>
          </a:prstGeom>
          <a:solidFill>
            <a:srgbClr val="1F4E9E"/>
          </a:solidFill>
          <a:ln/>
        </p:spPr>
      </p:sp>
      <p:sp>
        <p:nvSpPr>
          <p:cNvPr id="32" name="Text 30"/>
          <p:cNvSpPr txBox="1"/>
          <p:nvPr/>
        </p:nvSpPr>
        <p:spPr>
          <a:xfrm>
            <a:off x="10271455" y="6035040"/>
            <a:ext cx="1371600" cy="274320"/>
          </a:xfrm>
          <a:prstGeom prst="rect">
            <a:avLst/>
          </a:prstGeom>
          <a:noFill/>
          <a:ln/>
        </p:spPr>
        <p:txBody>
          <a:bodyPr wrap="square" lIns="0" tIns="0" rIns="0" bIns="0" rtlCol="0" anchor="ctr"/>
          <a:lstStyle/>
          <a:p>
            <a:pPr algn="r" indent="0" marL="0">
              <a:buNone/>
            </a:pPr>
            <a:r>
              <a:rPr lang="en-US" sz="1300" dirty="0">
                <a:solidFill>
                  <a:schemeClr val="accent5"/>
                </a:solidFill>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LO QUE SE ARMÓ</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Hoy, más de 1 de cada 6 pesos prestados está en mora</a:t>
            </a:r>
            <a:endParaRPr lang="en-US" sz="3200" dirty="0"/>
          </a:p>
        </p:txBody>
      </p:sp>
      <p:sp>
        <p:nvSpPr>
          <p:cNvPr id="4" name="Text 2"/>
          <p:cNvSpPr txBox="1"/>
          <p:nvPr/>
        </p:nvSpPr>
        <p:spPr>
          <a:xfrm>
            <a:off x="548640" y="1554480"/>
            <a:ext cx="10058400" cy="594360"/>
          </a:xfrm>
          <a:prstGeom prst="rect">
            <a:avLst/>
          </a:prstGeom>
          <a:noFill/>
          <a:ln/>
        </p:spPr>
        <p:txBody>
          <a:bodyPr wrap="square" lIns="0" tIns="0" rIns="0" bIns="0" rtlCol="0" anchor="t"/>
          <a:lstStyle/>
          <a:p>
            <a:pPr indent="0" marL="0">
              <a:buNone/>
            </a:pPr>
            <a:r>
              <a:rPr lang="en-US" sz="1600" dirty="0">
                <a:solidFill>
                  <a:schemeClr val="tx2"/>
                </a:solidFill>
              </a:rPr>
              <a:t>La mora es la parte de lo prestado que no se paga hace más de 90 días. Cada fila es toda la deuda de las personas con bancos, fintech y billeteras, partida en 40 ladrillos iguales.</a:t>
            </a:r>
            <a:endParaRPr lang="en-US" sz="1600" dirty="0"/>
          </a:p>
        </p:txBody>
      </p:sp>
      <p:sp>
        <p:nvSpPr>
          <p:cNvPr id="5" name="Panel filas"/>
          <p:cNvSpPr/>
          <p:nvPr/>
        </p:nvSpPr>
        <p:spPr>
          <a:xfrm>
            <a:off x="548640" y="2286000"/>
            <a:ext cx="11094415" cy="3611880"/>
          </a:xfrm>
          <a:prstGeom prst="roundRect">
            <a:avLst>
              <a:gd name="adj" fmla="val 4051"/>
            </a:avLst>
          </a:prstGeom>
          <a:solidFill>
            <a:schemeClr val="bg1"/>
          </a:solidFill>
          <a:ln w="12700">
            <a:solidFill>
              <a:schemeClr val="accent6"/>
            </a:solidFill>
            <a:prstDash val="solid"/>
          </a:ln>
        </p:spPr>
      </p:sp>
      <p:sp>
        <p:nvSpPr>
          <p:cNvPr id="6" name="Text 4"/>
          <p:cNvSpPr txBox="1"/>
          <p:nvPr/>
        </p:nvSpPr>
        <p:spPr>
          <a:xfrm>
            <a:off x="868680" y="2468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Diciembre de 2024</a:t>
            </a:r>
            <a:pPr indent="0" marL="0">
              <a:buNone/>
            </a:pPr>
            <a:r>
              <a:rPr lang="en-US" sz="1500" dirty="0">
                <a:solidFill>
                  <a:schemeClr val="tx2"/>
                </a:solidFill>
              </a:rPr>
              <a:t>   3,6% en mora: 1 ladrillo de cada 40</a:t>
            </a:r>
            <a:endParaRPr lang="en-US" sz="1500" dirty="0"/>
          </a:p>
        </p:txBody>
      </p:sp>
      <p:sp>
        <p:nvSpPr>
          <p:cNvPr id="7" name="Shape 5"/>
          <p:cNvSpPr/>
          <p:nvPr/>
        </p:nvSpPr>
        <p:spPr>
          <a:xfrm>
            <a:off x="955223" y="2862072"/>
            <a:ext cx="43696" cy="73152"/>
          </a:xfrm>
          <a:prstGeom prst="roundRect">
            <a:avLst>
              <a:gd name="adj" fmla="val 62779"/>
            </a:avLst>
          </a:prstGeom>
          <a:solidFill>
            <a:schemeClr val="accent1"/>
          </a:solidFill>
          <a:ln/>
        </p:spPr>
      </p:sp>
      <p:sp>
        <p:nvSpPr>
          <p:cNvPr id="8" name="Shape 6"/>
          <p:cNvSpPr/>
          <p:nvPr/>
        </p:nvSpPr>
        <p:spPr>
          <a:xfrm>
            <a:off x="868680" y="2926080"/>
            <a:ext cx="216781" cy="384048"/>
          </a:xfrm>
          <a:prstGeom prst="roundRect">
            <a:avLst>
              <a:gd name="adj" fmla="val 21090"/>
            </a:avLst>
          </a:prstGeom>
          <a:solidFill>
            <a:schemeClr val="accent1"/>
          </a:solidFill>
          <a:ln/>
        </p:spPr>
      </p:sp>
      <p:sp>
        <p:nvSpPr>
          <p:cNvPr id="9" name="Shape 7"/>
          <p:cNvSpPr/>
          <p:nvPr/>
        </p:nvSpPr>
        <p:spPr>
          <a:xfrm>
            <a:off x="896112" y="3240999"/>
            <a:ext cx="161917" cy="69129"/>
          </a:xfrm>
          <a:prstGeom prst="rect">
            <a:avLst/>
          </a:prstGeom>
          <a:solidFill>
            <a:srgbClr val="A92E25"/>
          </a:solidFill>
          <a:ln/>
        </p:spPr>
      </p:sp>
      <p:sp>
        <p:nvSpPr>
          <p:cNvPr id="10" name="Shape 8"/>
          <p:cNvSpPr/>
          <p:nvPr/>
        </p:nvSpPr>
        <p:spPr>
          <a:xfrm>
            <a:off x="1217724" y="2862072"/>
            <a:ext cx="43696" cy="73152"/>
          </a:xfrm>
          <a:prstGeom prst="roundRect">
            <a:avLst>
              <a:gd name="adj" fmla="val 62779"/>
            </a:avLst>
          </a:prstGeom>
          <a:solidFill>
            <a:schemeClr val="accent4"/>
          </a:solidFill>
          <a:ln/>
        </p:spPr>
      </p:sp>
      <p:sp>
        <p:nvSpPr>
          <p:cNvPr id="11" name="Shape 9"/>
          <p:cNvSpPr/>
          <p:nvPr/>
        </p:nvSpPr>
        <p:spPr>
          <a:xfrm>
            <a:off x="1131181" y="2926080"/>
            <a:ext cx="216781" cy="384048"/>
          </a:xfrm>
          <a:prstGeom prst="roundRect">
            <a:avLst>
              <a:gd name="adj" fmla="val 21090"/>
            </a:avLst>
          </a:prstGeom>
          <a:solidFill>
            <a:schemeClr val="accent4"/>
          </a:solidFill>
          <a:ln/>
        </p:spPr>
      </p:sp>
      <p:sp>
        <p:nvSpPr>
          <p:cNvPr id="12" name="Shape 10"/>
          <p:cNvSpPr/>
          <p:nvPr/>
        </p:nvSpPr>
        <p:spPr>
          <a:xfrm>
            <a:off x="1158613" y="3240999"/>
            <a:ext cx="161917" cy="69129"/>
          </a:xfrm>
          <a:prstGeom prst="rect">
            <a:avLst/>
          </a:prstGeom>
          <a:solidFill>
            <a:srgbClr val="7D818A"/>
          </a:solidFill>
          <a:ln/>
        </p:spPr>
      </p:sp>
      <p:sp>
        <p:nvSpPr>
          <p:cNvPr id="13" name="Shape 11"/>
          <p:cNvSpPr/>
          <p:nvPr/>
        </p:nvSpPr>
        <p:spPr>
          <a:xfrm>
            <a:off x="1480225" y="2862072"/>
            <a:ext cx="43696" cy="73152"/>
          </a:xfrm>
          <a:prstGeom prst="roundRect">
            <a:avLst>
              <a:gd name="adj" fmla="val 62779"/>
            </a:avLst>
          </a:prstGeom>
          <a:solidFill>
            <a:schemeClr val="accent4"/>
          </a:solidFill>
          <a:ln/>
        </p:spPr>
      </p:sp>
      <p:sp>
        <p:nvSpPr>
          <p:cNvPr id="14" name="Shape 12"/>
          <p:cNvSpPr/>
          <p:nvPr/>
        </p:nvSpPr>
        <p:spPr>
          <a:xfrm>
            <a:off x="1393683" y="2926080"/>
            <a:ext cx="216781" cy="384048"/>
          </a:xfrm>
          <a:prstGeom prst="roundRect">
            <a:avLst>
              <a:gd name="adj" fmla="val 21090"/>
            </a:avLst>
          </a:prstGeom>
          <a:solidFill>
            <a:schemeClr val="accent4"/>
          </a:solidFill>
          <a:ln/>
        </p:spPr>
      </p:sp>
      <p:sp>
        <p:nvSpPr>
          <p:cNvPr id="15" name="Shape 13"/>
          <p:cNvSpPr/>
          <p:nvPr/>
        </p:nvSpPr>
        <p:spPr>
          <a:xfrm>
            <a:off x="1421115" y="3240999"/>
            <a:ext cx="161917" cy="69129"/>
          </a:xfrm>
          <a:prstGeom prst="rect">
            <a:avLst/>
          </a:prstGeom>
          <a:solidFill>
            <a:srgbClr val="7D818A"/>
          </a:solidFill>
          <a:ln/>
        </p:spPr>
      </p:sp>
      <p:sp>
        <p:nvSpPr>
          <p:cNvPr id="16" name="Shape 14"/>
          <p:cNvSpPr/>
          <p:nvPr/>
        </p:nvSpPr>
        <p:spPr>
          <a:xfrm>
            <a:off x="1742727" y="2862072"/>
            <a:ext cx="43696" cy="73152"/>
          </a:xfrm>
          <a:prstGeom prst="roundRect">
            <a:avLst>
              <a:gd name="adj" fmla="val 62779"/>
            </a:avLst>
          </a:prstGeom>
          <a:solidFill>
            <a:schemeClr val="accent4"/>
          </a:solidFill>
          <a:ln/>
        </p:spPr>
      </p:sp>
      <p:sp>
        <p:nvSpPr>
          <p:cNvPr id="17" name="Shape 15"/>
          <p:cNvSpPr/>
          <p:nvPr/>
        </p:nvSpPr>
        <p:spPr>
          <a:xfrm>
            <a:off x="1656184" y="2926080"/>
            <a:ext cx="216781" cy="384048"/>
          </a:xfrm>
          <a:prstGeom prst="roundRect">
            <a:avLst>
              <a:gd name="adj" fmla="val 21090"/>
            </a:avLst>
          </a:prstGeom>
          <a:solidFill>
            <a:schemeClr val="accent4"/>
          </a:solidFill>
          <a:ln/>
        </p:spPr>
      </p:sp>
      <p:sp>
        <p:nvSpPr>
          <p:cNvPr id="18" name="Shape 16"/>
          <p:cNvSpPr/>
          <p:nvPr/>
        </p:nvSpPr>
        <p:spPr>
          <a:xfrm>
            <a:off x="1683616" y="3240999"/>
            <a:ext cx="161917" cy="69129"/>
          </a:xfrm>
          <a:prstGeom prst="rect">
            <a:avLst/>
          </a:prstGeom>
          <a:solidFill>
            <a:srgbClr val="7D818A"/>
          </a:solidFill>
          <a:ln/>
        </p:spPr>
      </p:sp>
      <p:sp>
        <p:nvSpPr>
          <p:cNvPr id="19" name="Shape 17"/>
          <p:cNvSpPr/>
          <p:nvPr/>
        </p:nvSpPr>
        <p:spPr>
          <a:xfrm>
            <a:off x="2005228" y="2862072"/>
            <a:ext cx="43696" cy="73152"/>
          </a:xfrm>
          <a:prstGeom prst="roundRect">
            <a:avLst>
              <a:gd name="adj" fmla="val 62779"/>
            </a:avLst>
          </a:prstGeom>
          <a:solidFill>
            <a:schemeClr val="accent4"/>
          </a:solidFill>
          <a:ln/>
        </p:spPr>
      </p:sp>
      <p:sp>
        <p:nvSpPr>
          <p:cNvPr id="20" name="Shape 18"/>
          <p:cNvSpPr/>
          <p:nvPr/>
        </p:nvSpPr>
        <p:spPr>
          <a:xfrm>
            <a:off x="1918686" y="2926080"/>
            <a:ext cx="216781" cy="384048"/>
          </a:xfrm>
          <a:prstGeom prst="roundRect">
            <a:avLst>
              <a:gd name="adj" fmla="val 21090"/>
            </a:avLst>
          </a:prstGeom>
          <a:solidFill>
            <a:schemeClr val="accent4"/>
          </a:solidFill>
          <a:ln/>
        </p:spPr>
      </p:sp>
      <p:sp>
        <p:nvSpPr>
          <p:cNvPr id="21" name="Shape 19"/>
          <p:cNvSpPr/>
          <p:nvPr/>
        </p:nvSpPr>
        <p:spPr>
          <a:xfrm>
            <a:off x="1946118" y="3240999"/>
            <a:ext cx="161917" cy="69129"/>
          </a:xfrm>
          <a:prstGeom prst="rect">
            <a:avLst/>
          </a:prstGeom>
          <a:solidFill>
            <a:srgbClr val="7D818A"/>
          </a:solidFill>
          <a:ln/>
        </p:spPr>
      </p:sp>
      <p:sp>
        <p:nvSpPr>
          <p:cNvPr id="22" name="Shape 20"/>
          <p:cNvSpPr/>
          <p:nvPr/>
        </p:nvSpPr>
        <p:spPr>
          <a:xfrm>
            <a:off x="2267730" y="2862072"/>
            <a:ext cx="43696" cy="73152"/>
          </a:xfrm>
          <a:prstGeom prst="roundRect">
            <a:avLst>
              <a:gd name="adj" fmla="val 62779"/>
            </a:avLst>
          </a:prstGeom>
          <a:solidFill>
            <a:schemeClr val="accent4"/>
          </a:solidFill>
          <a:ln/>
        </p:spPr>
      </p:sp>
      <p:sp>
        <p:nvSpPr>
          <p:cNvPr id="23" name="Shape 21"/>
          <p:cNvSpPr/>
          <p:nvPr/>
        </p:nvSpPr>
        <p:spPr>
          <a:xfrm>
            <a:off x="2181187" y="2926080"/>
            <a:ext cx="216781" cy="384048"/>
          </a:xfrm>
          <a:prstGeom prst="roundRect">
            <a:avLst>
              <a:gd name="adj" fmla="val 21090"/>
            </a:avLst>
          </a:prstGeom>
          <a:solidFill>
            <a:schemeClr val="accent4"/>
          </a:solidFill>
          <a:ln/>
        </p:spPr>
      </p:sp>
      <p:sp>
        <p:nvSpPr>
          <p:cNvPr id="24" name="Shape 22"/>
          <p:cNvSpPr/>
          <p:nvPr/>
        </p:nvSpPr>
        <p:spPr>
          <a:xfrm>
            <a:off x="2208619" y="3240999"/>
            <a:ext cx="161917" cy="69129"/>
          </a:xfrm>
          <a:prstGeom prst="rect">
            <a:avLst/>
          </a:prstGeom>
          <a:solidFill>
            <a:srgbClr val="7D818A"/>
          </a:solidFill>
          <a:ln/>
        </p:spPr>
      </p:sp>
      <p:sp>
        <p:nvSpPr>
          <p:cNvPr id="25" name="Shape 23"/>
          <p:cNvSpPr/>
          <p:nvPr/>
        </p:nvSpPr>
        <p:spPr>
          <a:xfrm>
            <a:off x="2530231" y="2862072"/>
            <a:ext cx="43696" cy="73152"/>
          </a:xfrm>
          <a:prstGeom prst="roundRect">
            <a:avLst>
              <a:gd name="adj" fmla="val 62779"/>
            </a:avLst>
          </a:prstGeom>
          <a:solidFill>
            <a:schemeClr val="accent4"/>
          </a:solidFill>
          <a:ln/>
        </p:spPr>
      </p:sp>
      <p:sp>
        <p:nvSpPr>
          <p:cNvPr id="26" name="Shape 24"/>
          <p:cNvSpPr/>
          <p:nvPr/>
        </p:nvSpPr>
        <p:spPr>
          <a:xfrm>
            <a:off x="2443688" y="2926080"/>
            <a:ext cx="216781" cy="384048"/>
          </a:xfrm>
          <a:prstGeom prst="roundRect">
            <a:avLst>
              <a:gd name="adj" fmla="val 21090"/>
            </a:avLst>
          </a:prstGeom>
          <a:solidFill>
            <a:schemeClr val="accent4"/>
          </a:solidFill>
          <a:ln/>
        </p:spPr>
      </p:sp>
      <p:sp>
        <p:nvSpPr>
          <p:cNvPr id="27" name="Shape 25"/>
          <p:cNvSpPr/>
          <p:nvPr/>
        </p:nvSpPr>
        <p:spPr>
          <a:xfrm>
            <a:off x="2471120" y="3240999"/>
            <a:ext cx="161917" cy="69129"/>
          </a:xfrm>
          <a:prstGeom prst="rect">
            <a:avLst/>
          </a:prstGeom>
          <a:solidFill>
            <a:srgbClr val="7D818A"/>
          </a:solidFill>
          <a:ln/>
        </p:spPr>
      </p:sp>
      <p:sp>
        <p:nvSpPr>
          <p:cNvPr id="28" name="Shape 26"/>
          <p:cNvSpPr/>
          <p:nvPr/>
        </p:nvSpPr>
        <p:spPr>
          <a:xfrm>
            <a:off x="2792732" y="2862072"/>
            <a:ext cx="43696" cy="73152"/>
          </a:xfrm>
          <a:prstGeom prst="roundRect">
            <a:avLst>
              <a:gd name="adj" fmla="val 62779"/>
            </a:avLst>
          </a:prstGeom>
          <a:solidFill>
            <a:schemeClr val="accent4"/>
          </a:solidFill>
          <a:ln/>
        </p:spPr>
      </p:sp>
      <p:sp>
        <p:nvSpPr>
          <p:cNvPr id="29" name="Shape 27"/>
          <p:cNvSpPr/>
          <p:nvPr/>
        </p:nvSpPr>
        <p:spPr>
          <a:xfrm>
            <a:off x="2706190" y="2926080"/>
            <a:ext cx="216781" cy="384048"/>
          </a:xfrm>
          <a:prstGeom prst="roundRect">
            <a:avLst>
              <a:gd name="adj" fmla="val 21090"/>
            </a:avLst>
          </a:prstGeom>
          <a:solidFill>
            <a:schemeClr val="accent4"/>
          </a:solidFill>
          <a:ln/>
        </p:spPr>
      </p:sp>
      <p:sp>
        <p:nvSpPr>
          <p:cNvPr id="30" name="Shape 28"/>
          <p:cNvSpPr/>
          <p:nvPr/>
        </p:nvSpPr>
        <p:spPr>
          <a:xfrm>
            <a:off x="2733622" y="3240999"/>
            <a:ext cx="161917" cy="69129"/>
          </a:xfrm>
          <a:prstGeom prst="rect">
            <a:avLst/>
          </a:prstGeom>
          <a:solidFill>
            <a:srgbClr val="7D818A"/>
          </a:solidFill>
          <a:ln/>
        </p:spPr>
      </p:sp>
      <p:sp>
        <p:nvSpPr>
          <p:cNvPr id="31" name="Shape 29"/>
          <p:cNvSpPr/>
          <p:nvPr/>
        </p:nvSpPr>
        <p:spPr>
          <a:xfrm>
            <a:off x="3055234" y="2862072"/>
            <a:ext cx="43696" cy="73152"/>
          </a:xfrm>
          <a:prstGeom prst="roundRect">
            <a:avLst>
              <a:gd name="adj" fmla="val 62779"/>
            </a:avLst>
          </a:prstGeom>
          <a:solidFill>
            <a:schemeClr val="accent4"/>
          </a:solidFill>
          <a:ln/>
        </p:spPr>
      </p:sp>
      <p:sp>
        <p:nvSpPr>
          <p:cNvPr id="32" name="Shape 30"/>
          <p:cNvSpPr/>
          <p:nvPr/>
        </p:nvSpPr>
        <p:spPr>
          <a:xfrm>
            <a:off x="2968691" y="2926080"/>
            <a:ext cx="216781" cy="384048"/>
          </a:xfrm>
          <a:prstGeom prst="roundRect">
            <a:avLst>
              <a:gd name="adj" fmla="val 21090"/>
            </a:avLst>
          </a:prstGeom>
          <a:solidFill>
            <a:schemeClr val="accent4"/>
          </a:solidFill>
          <a:ln/>
        </p:spPr>
      </p:sp>
      <p:sp>
        <p:nvSpPr>
          <p:cNvPr id="33" name="Shape 31"/>
          <p:cNvSpPr/>
          <p:nvPr/>
        </p:nvSpPr>
        <p:spPr>
          <a:xfrm>
            <a:off x="2996123" y="3240999"/>
            <a:ext cx="161917" cy="69129"/>
          </a:xfrm>
          <a:prstGeom prst="rect">
            <a:avLst/>
          </a:prstGeom>
          <a:solidFill>
            <a:srgbClr val="7D818A"/>
          </a:solidFill>
          <a:ln/>
        </p:spPr>
      </p:sp>
      <p:sp>
        <p:nvSpPr>
          <p:cNvPr id="34" name="Shape 32"/>
          <p:cNvSpPr/>
          <p:nvPr/>
        </p:nvSpPr>
        <p:spPr>
          <a:xfrm>
            <a:off x="3317735" y="2862072"/>
            <a:ext cx="43696" cy="73152"/>
          </a:xfrm>
          <a:prstGeom prst="roundRect">
            <a:avLst>
              <a:gd name="adj" fmla="val 62779"/>
            </a:avLst>
          </a:prstGeom>
          <a:solidFill>
            <a:schemeClr val="accent4"/>
          </a:solidFill>
          <a:ln/>
        </p:spPr>
      </p:sp>
      <p:sp>
        <p:nvSpPr>
          <p:cNvPr id="35" name="Shape 33"/>
          <p:cNvSpPr/>
          <p:nvPr/>
        </p:nvSpPr>
        <p:spPr>
          <a:xfrm>
            <a:off x="3231192" y="2926080"/>
            <a:ext cx="216781" cy="384048"/>
          </a:xfrm>
          <a:prstGeom prst="roundRect">
            <a:avLst>
              <a:gd name="adj" fmla="val 21090"/>
            </a:avLst>
          </a:prstGeom>
          <a:solidFill>
            <a:schemeClr val="accent4"/>
          </a:solidFill>
          <a:ln/>
        </p:spPr>
      </p:sp>
      <p:sp>
        <p:nvSpPr>
          <p:cNvPr id="36" name="Shape 34"/>
          <p:cNvSpPr/>
          <p:nvPr/>
        </p:nvSpPr>
        <p:spPr>
          <a:xfrm>
            <a:off x="3258624" y="3240999"/>
            <a:ext cx="161917" cy="69129"/>
          </a:xfrm>
          <a:prstGeom prst="rect">
            <a:avLst/>
          </a:prstGeom>
          <a:solidFill>
            <a:srgbClr val="7D818A"/>
          </a:solidFill>
          <a:ln/>
        </p:spPr>
      </p:sp>
      <p:sp>
        <p:nvSpPr>
          <p:cNvPr id="37" name="Shape 35"/>
          <p:cNvSpPr/>
          <p:nvPr/>
        </p:nvSpPr>
        <p:spPr>
          <a:xfrm>
            <a:off x="3580237" y="2862072"/>
            <a:ext cx="43696" cy="73152"/>
          </a:xfrm>
          <a:prstGeom prst="roundRect">
            <a:avLst>
              <a:gd name="adj" fmla="val 62779"/>
            </a:avLst>
          </a:prstGeom>
          <a:solidFill>
            <a:schemeClr val="accent4"/>
          </a:solidFill>
          <a:ln/>
        </p:spPr>
      </p:sp>
      <p:sp>
        <p:nvSpPr>
          <p:cNvPr id="38" name="Shape 36"/>
          <p:cNvSpPr/>
          <p:nvPr/>
        </p:nvSpPr>
        <p:spPr>
          <a:xfrm>
            <a:off x="3493694" y="2926080"/>
            <a:ext cx="216781" cy="384048"/>
          </a:xfrm>
          <a:prstGeom prst="roundRect">
            <a:avLst>
              <a:gd name="adj" fmla="val 21090"/>
            </a:avLst>
          </a:prstGeom>
          <a:solidFill>
            <a:schemeClr val="accent4"/>
          </a:solidFill>
          <a:ln/>
        </p:spPr>
      </p:sp>
      <p:sp>
        <p:nvSpPr>
          <p:cNvPr id="39" name="Shape 37"/>
          <p:cNvSpPr/>
          <p:nvPr/>
        </p:nvSpPr>
        <p:spPr>
          <a:xfrm>
            <a:off x="3521126" y="3240999"/>
            <a:ext cx="161917" cy="69129"/>
          </a:xfrm>
          <a:prstGeom prst="rect">
            <a:avLst/>
          </a:prstGeom>
          <a:solidFill>
            <a:srgbClr val="7D818A"/>
          </a:solidFill>
          <a:ln/>
        </p:spPr>
      </p:sp>
      <p:sp>
        <p:nvSpPr>
          <p:cNvPr id="40" name="Shape 38"/>
          <p:cNvSpPr/>
          <p:nvPr/>
        </p:nvSpPr>
        <p:spPr>
          <a:xfrm>
            <a:off x="3842738" y="2862072"/>
            <a:ext cx="43696" cy="73152"/>
          </a:xfrm>
          <a:prstGeom prst="roundRect">
            <a:avLst>
              <a:gd name="adj" fmla="val 62779"/>
            </a:avLst>
          </a:prstGeom>
          <a:solidFill>
            <a:schemeClr val="accent4"/>
          </a:solidFill>
          <a:ln/>
        </p:spPr>
      </p:sp>
      <p:sp>
        <p:nvSpPr>
          <p:cNvPr id="41" name="Shape 39"/>
          <p:cNvSpPr/>
          <p:nvPr/>
        </p:nvSpPr>
        <p:spPr>
          <a:xfrm>
            <a:off x="3756195" y="2926080"/>
            <a:ext cx="216781" cy="384048"/>
          </a:xfrm>
          <a:prstGeom prst="roundRect">
            <a:avLst>
              <a:gd name="adj" fmla="val 21090"/>
            </a:avLst>
          </a:prstGeom>
          <a:solidFill>
            <a:schemeClr val="accent4"/>
          </a:solidFill>
          <a:ln/>
        </p:spPr>
      </p:sp>
      <p:sp>
        <p:nvSpPr>
          <p:cNvPr id="42" name="Shape 40"/>
          <p:cNvSpPr/>
          <p:nvPr/>
        </p:nvSpPr>
        <p:spPr>
          <a:xfrm>
            <a:off x="3783627" y="3240999"/>
            <a:ext cx="161917" cy="69129"/>
          </a:xfrm>
          <a:prstGeom prst="rect">
            <a:avLst/>
          </a:prstGeom>
          <a:solidFill>
            <a:srgbClr val="7D818A"/>
          </a:solidFill>
          <a:ln/>
        </p:spPr>
      </p:sp>
      <p:sp>
        <p:nvSpPr>
          <p:cNvPr id="43" name="Shape 41"/>
          <p:cNvSpPr/>
          <p:nvPr/>
        </p:nvSpPr>
        <p:spPr>
          <a:xfrm>
            <a:off x="4105239" y="2862072"/>
            <a:ext cx="43696" cy="73152"/>
          </a:xfrm>
          <a:prstGeom prst="roundRect">
            <a:avLst>
              <a:gd name="adj" fmla="val 62779"/>
            </a:avLst>
          </a:prstGeom>
          <a:solidFill>
            <a:schemeClr val="accent4"/>
          </a:solidFill>
          <a:ln/>
        </p:spPr>
      </p:sp>
      <p:sp>
        <p:nvSpPr>
          <p:cNvPr id="44" name="Shape 42"/>
          <p:cNvSpPr/>
          <p:nvPr/>
        </p:nvSpPr>
        <p:spPr>
          <a:xfrm>
            <a:off x="4018697" y="2926080"/>
            <a:ext cx="216781" cy="384048"/>
          </a:xfrm>
          <a:prstGeom prst="roundRect">
            <a:avLst>
              <a:gd name="adj" fmla="val 21090"/>
            </a:avLst>
          </a:prstGeom>
          <a:solidFill>
            <a:schemeClr val="accent4"/>
          </a:solidFill>
          <a:ln/>
        </p:spPr>
      </p:sp>
      <p:sp>
        <p:nvSpPr>
          <p:cNvPr id="45" name="Shape 43"/>
          <p:cNvSpPr/>
          <p:nvPr/>
        </p:nvSpPr>
        <p:spPr>
          <a:xfrm>
            <a:off x="4046129" y="3240999"/>
            <a:ext cx="161917" cy="69129"/>
          </a:xfrm>
          <a:prstGeom prst="rect">
            <a:avLst/>
          </a:prstGeom>
          <a:solidFill>
            <a:srgbClr val="7D818A"/>
          </a:solidFill>
          <a:ln/>
        </p:spPr>
      </p:sp>
      <p:sp>
        <p:nvSpPr>
          <p:cNvPr id="46" name="Shape 44"/>
          <p:cNvSpPr/>
          <p:nvPr/>
        </p:nvSpPr>
        <p:spPr>
          <a:xfrm>
            <a:off x="4367741" y="2862072"/>
            <a:ext cx="43696" cy="73152"/>
          </a:xfrm>
          <a:prstGeom prst="roundRect">
            <a:avLst>
              <a:gd name="adj" fmla="val 62779"/>
            </a:avLst>
          </a:prstGeom>
          <a:solidFill>
            <a:schemeClr val="accent4"/>
          </a:solidFill>
          <a:ln/>
        </p:spPr>
      </p:sp>
      <p:sp>
        <p:nvSpPr>
          <p:cNvPr id="47" name="Shape 45"/>
          <p:cNvSpPr/>
          <p:nvPr/>
        </p:nvSpPr>
        <p:spPr>
          <a:xfrm>
            <a:off x="4281198" y="2926080"/>
            <a:ext cx="216781" cy="384048"/>
          </a:xfrm>
          <a:prstGeom prst="roundRect">
            <a:avLst>
              <a:gd name="adj" fmla="val 21090"/>
            </a:avLst>
          </a:prstGeom>
          <a:solidFill>
            <a:schemeClr val="accent4"/>
          </a:solidFill>
          <a:ln/>
        </p:spPr>
      </p:sp>
      <p:sp>
        <p:nvSpPr>
          <p:cNvPr id="48" name="Shape 46"/>
          <p:cNvSpPr/>
          <p:nvPr/>
        </p:nvSpPr>
        <p:spPr>
          <a:xfrm>
            <a:off x="4308630" y="3240999"/>
            <a:ext cx="161917" cy="69129"/>
          </a:xfrm>
          <a:prstGeom prst="rect">
            <a:avLst/>
          </a:prstGeom>
          <a:solidFill>
            <a:srgbClr val="7D818A"/>
          </a:solidFill>
          <a:ln/>
        </p:spPr>
      </p:sp>
      <p:sp>
        <p:nvSpPr>
          <p:cNvPr id="49" name="Shape 47"/>
          <p:cNvSpPr/>
          <p:nvPr/>
        </p:nvSpPr>
        <p:spPr>
          <a:xfrm>
            <a:off x="4630242" y="2862072"/>
            <a:ext cx="43696" cy="73152"/>
          </a:xfrm>
          <a:prstGeom prst="roundRect">
            <a:avLst>
              <a:gd name="adj" fmla="val 62779"/>
            </a:avLst>
          </a:prstGeom>
          <a:solidFill>
            <a:schemeClr val="accent4"/>
          </a:solidFill>
          <a:ln/>
        </p:spPr>
      </p:sp>
      <p:sp>
        <p:nvSpPr>
          <p:cNvPr id="50" name="Shape 48"/>
          <p:cNvSpPr/>
          <p:nvPr/>
        </p:nvSpPr>
        <p:spPr>
          <a:xfrm>
            <a:off x="4543699" y="2926080"/>
            <a:ext cx="216781" cy="384048"/>
          </a:xfrm>
          <a:prstGeom prst="roundRect">
            <a:avLst>
              <a:gd name="adj" fmla="val 21090"/>
            </a:avLst>
          </a:prstGeom>
          <a:solidFill>
            <a:schemeClr val="accent4"/>
          </a:solidFill>
          <a:ln/>
        </p:spPr>
      </p:sp>
      <p:sp>
        <p:nvSpPr>
          <p:cNvPr id="51" name="Shape 49"/>
          <p:cNvSpPr/>
          <p:nvPr/>
        </p:nvSpPr>
        <p:spPr>
          <a:xfrm>
            <a:off x="4571131" y="3240999"/>
            <a:ext cx="161917" cy="69129"/>
          </a:xfrm>
          <a:prstGeom prst="rect">
            <a:avLst/>
          </a:prstGeom>
          <a:solidFill>
            <a:srgbClr val="7D818A"/>
          </a:solidFill>
          <a:ln/>
        </p:spPr>
      </p:sp>
      <p:sp>
        <p:nvSpPr>
          <p:cNvPr id="52" name="Shape 50"/>
          <p:cNvSpPr/>
          <p:nvPr/>
        </p:nvSpPr>
        <p:spPr>
          <a:xfrm>
            <a:off x="4892743" y="2862072"/>
            <a:ext cx="43696" cy="73152"/>
          </a:xfrm>
          <a:prstGeom prst="roundRect">
            <a:avLst>
              <a:gd name="adj" fmla="val 62779"/>
            </a:avLst>
          </a:prstGeom>
          <a:solidFill>
            <a:schemeClr val="accent4"/>
          </a:solidFill>
          <a:ln/>
        </p:spPr>
      </p:sp>
      <p:sp>
        <p:nvSpPr>
          <p:cNvPr id="53" name="Shape 51"/>
          <p:cNvSpPr/>
          <p:nvPr/>
        </p:nvSpPr>
        <p:spPr>
          <a:xfrm>
            <a:off x="4806201" y="2926080"/>
            <a:ext cx="216781" cy="384048"/>
          </a:xfrm>
          <a:prstGeom prst="roundRect">
            <a:avLst>
              <a:gd name="adj" fmla="val 21090"/>
            </a:avLst>
          </a:prstGeom>
          <a:solidFill>
            <a:schemeClr val="accent4"/>
          </a:solidFill>
          <a:ln/>
        </p:spPr>
      </p:sp>
      <p:sp>
        <p:nvSpPr>
          <p:cNvPr id="54" name="Shape 52"/>
          <p:cNvSpPr/>
          <p:nvPr/>
        </p:nvSpPr>
        <p:spPr>
          <a:xfrm>
            <a:off x="4833633" y="3240999"/>
            <a:ext cx="161917" cy="69129"/>
          </a:xfrm>
          <a:prstGeom prst="rect">
            <a:avLst/>
          </a:prstGeom>
          <a:solidFill>
            <a:srgbClr val="7D818A"/>
          </a:solidFill>
          <a:ln/>
        </p:spPr>
      </p:sp>
      <p:sp>
        <p:nvSpPr>
          <p:cNvPr id="55" name="Shape 53"/>
          <p:cNvSpPr/>
          <p:nvPr/>
        </p:nvSpPr>
        <p:spPr>
          <a:xfrm>
            <a:off x="5155245" y="2862072"/>
            <a:ext cx="43696" cy="73152"/>
          </a:xfrm>
          <a:prstGeom prst="roundRect">
            <a:avLst>
              <a:gd name="adj" fmla="val 62779"/>
            </a:avLst>
          </a:prstGeom>
          <a:solidFill>
            <a:schemeClr val="accent4"/>
          </a:solidFill>
          <a:ln/>
        </p:spPr>
      </p:sp>
      <p:sp>
        <p:nvSpPr>
          <p:cNvPr id="56" name="Shape 54"/>
          <p:cNvSpPr/>
          <p:nvPr/>
        </p:nvSpPr>
        <p:spPr>
          <a:xfrm>
            <a:off x="5068702" y="2926080"/>
            <a:ext cx="216781" cy="384048"/>
          </a:xfrm>
          <a:prstGeom prst="roundRect">
            <a:avLst>
              <a:gd name="adj" fmla="val 21090"/>
            </a:avLst>
          </a:prstGeom>
          <a:solidFill>
            <a:schemeClr val="accent4"/>
          </a:solidFill>
          <a:ln/>
        </p:spPr>
      </p:sp>
      <p:sp>
        <p:nvSpPr>
          <p:cNvPr id="57" name="Shape 55"/>
          <p:cNvSpPr/>
          <p:nvPr/>
        </p:nvSpPr>
        <p:spPr>
          <a:xfrm>
            <a:off x="5096134" y="3240999"/>
            <a:ext cx="161917" cy="69129"/>
          </a:xfrm>
          <a:prstGeom prst="rect">
            <a:avLst/>
          </a:prstGeom>
          <a:solidFill>
            <a:srgbClr val="7D818A"/>
          </a:solidFill>
          <a:ln/>
        </p:spPr>
      </p:sp>
      <p:sp>
        <p:nvSpPr>
          <p:cNvPr id="58" name="Shape 56"/>
          <p:cNvSpPr/>
          <p:nvPr/>
        </p:nvSpPr>
        <p:spPr>
          <a:xfrm>
            <a:off x="5417746" y="2862072"/>
            <a:ext cx="43696" cy="73152"/>
          </a:xfrm>
          <a:prstGeom prst="roundRect">
            <a:avLst>
              <a:gd name="adj" fmla="val 62779"/>
            </a:avLst>
          </a:prstGeom>
          <a:solidFill>
            <a:schemeClr val="accent4"/>
          </a:solidFill>
          <a:ln/>
        </p:spPr>
      </p:sp>
      <p:sp>
        <p:nvSpPr>
          <p:cNvPr id="59" name="Shape 57"/>
          <p:cNvSpPr/>
          <p:nvPr/>
        </p:nvSpPr>
        <p:spPr>
          <a:xfrm>
            <a:off x="5331203" y="2926080"/>
            <a:ext cx="216781" cy="384048"/>
          </a:xfrm>
          <a:prstGeom prst="roundRect">
            <a:avLst>
              <a:gd name="adj" fmla="val 21090"/>
            </a:avLst>
          </a:prstGeom>
          <a:solidFill>
            <a:schemeClr val="accent4"/>
          </a:solidFill>
          <a:ln/>
        </p:spPr>
      </p:sp>
      <p:sp>
        <p:nvSpPr>
          <p:cNvPr id="60" name="Shape 58"/>
          <p:cNvSpPr/>
          <p:nvPr/>
        </p:nvSpPr>
        <p:spPr>
          <a:xfrm>
            <a:off x="5358635" y="3240999"/>
            <a:ext cx="161917" cy="69129"/>
          </a:xfrm>
          <a:prstGeom prst="rect">
            <a:avLst/>
          </a:prstGeom>
          <a:solidFill>
            <a:srgbClr val="7D818A"/>
          </a:solidFill>
          <a:ln/>
        </p:spPr>
      </p:sp>
      <p:sp>
        <p:nvSpPr>
          <p:cNvPr id="61" name="Shape 59"/>
          <p:cNvSpPr/>
          <p:nvPr/>
        </p:nvSpPr>
        <p:spPr>
          <a:xfrm>
            <a:off x="5680248" y="2862072"/>
            <a:ext cx="43696" cy="73152"/>
          </a:xfrm>
          <a:prstGeom prst="roundRect">
            <a:avLst>
              <a:gd name="adj" fmla="val 62779"/>
            </a:avLst>
          </a:prstGeom>
          <a:solidFill>
            <a:schemeClr val="accent4"/>
          </a:solidFill>
          <a:ln/>
        </p:spPr>
      </p:sp>
      <p:sp>
        <p:nvSpPr>
          <p:cNvPr id="62" name="Shape 60"/>
          <p:cNvSpPr/>
          <p:nvPr/>
        </p:nvSpPr>
        <p:spPr>
          <a:xfrm>
            <a:off x="5593705" y="2926080"/>
            <a:ext cx="216781" cy="384048"/>
          </a:xfrm>
          <a:prstGeom prst="roundRect">
            <a:avLst>
              <a:gd name="adj" fmla="val 21090"/>
            </a:avLst>
          </a:prstGeom>
          <a:solidFill>
            <a:schemeClr val="accent4"/>
          </a:solidFill>
          <a:ln/>
        </p:spPr>
      </p:sp>
      <p:sp>
        <p:nvSpPr>
          <p:cNvPr id="63" name="Shape 61"/>
          <p:cNvSpPr/>
          <p:nvPr/>
        </p:nvSpPr>
        <p:spPr>
          <a:xfrm>
            <a:off x="5621137" y="3240999"/>
            <a:ext cx="161917" cy="69129"/>
          </a:xfrm>
          <a:prstGeom prst="rect">
            <a:avLst/>
          </a:prstGeom>
          <a:solidFill>
            <a:srgbClr val="7D818A"/>
          </a:solidFill>
          <a:ln/>
        </p:spPr>
      </p:sp>
      <p:sp>
        <p:nvSpPr>
          <p:cNvPr id="64" name="Shape 62"/>
          <p:cNvSpPr/>
          <p:nvPr/>
        </p:nvSpPr>
        <p:spPr>
          <a:xfrm>
            <a:off x="5942749" y="2862072"/>
            <a:ext cx="43696" cy="73152"/>
          </a:xfrm>
          <a:prstGeom prst="roundRect">
            <a:avLst>
              <a:gd name="adj" fmla="val 62779"/>
            </a:avLst>
          </a:prstGeom>
          <a:solidFill>
            <a:schemeClr val="accent4"/>
          </a:solidFill>
          <a:ln/>
        </p:spPr>
      </p:sp>
      <p:sp>
        <p:nvSpPr>
          <p:cNvPr id="65" name="Shape 63"/>
          <p:cNvSpPr/>
          <p:nvPr/>
        </p:nvSpPr>
        <p:spPr>
          <a:xfrm>
            <a:off x="5856206" y="2926080"/>
            <a:ext cx="216781" cy="384048"/>
          </a:xfrm>
          <a:prstGeom prst="roundRect">
            <a:avLst>
              <a:gd name="adj" fmla="val 21090"/>
            </a:avLst>
          </a:prstGeom>
          <a:solidFill>
            <a:schemeClr val="accent4"/>
          </a:solidFill>
          <a:ln/>
        </p:spPr>
      </p:sp>
      <p:sp>
        <p:nvSpPr>
          <p:cNvPr id="66" name="Shape 64"/>
          <p:cNvSpPr/>
          <p:nvPr/>
        </p:nvSpPr>
        <p:spPr>
          <a:xfrm>
            <a:off x="5883638" y="3240999"/>
            <a:ext cx="161917" cy="69129"/>
          </a:xfrm>
          <a:prstGeom prst="rect">
            <a:avLst/>
          </a:prstGeom>
          <a:solidFill>
            <a:srgbClr val="7D818A"/>
          </a:solidFill>
          <a:ln/>
        </p:spPr>
      </p:sp>
      <p:sp>
        <p:nvSpPr>
          <p:cNvPr id="67" name="Shape 65"/>
          <p:cNvSpPr/>
          <p:nvPr/>
        </p:nvSpPr>
        <p:spPr>
          <a:xfrm>
            <a:off x="6205250" y="2862072"/>
            <a:ext cx="43696" cy="73152"/>
          </a:xfrm>
          <a:prstGeom prst="roundRect">
            <a:avLst>
              <a:gd name="adj" fmla="val 62779"/>
            </a:avLst>
          </a:prstGeom>
          <a:solidFill>
            <a:schemeClr val="accent4"/>
          </a:solidFill>
          <a:ln/>
        </p:spPr>
      </p:sp>
      <p:sp>
        <p:nvSpPr>
          <p:cNvPr id="68" name="Shape 66"/>
          <p:cNvSpPr/>
          <p:nvPr/>
        </p:nvSpPr>
        <p:spPr>
          <a:xfrm>
            <a:off x="6118708" y="2926080"/>
            <a:ext cx="216781" cy="384048"/>
          </a:xfrm>
          <a:prstGeom prst="roundRect">
            <a:avLst>
              <a:gd name="adj" fmla="val 21090"/>
            </a:avLst>
          </a:prstGeom>
          <a:solidFill>
            <a:schemeClr val="accent4"/>
          </a:solidFill>
          <a:ln/>
        </p:spPr>
      </p:sp>
      <p:sp>
        <p:nvSpPr>
          <p:cNvPr id="69" name="Shape 67"/>
          <p:cNvSpPr/>
          <p:nvPr/>
        </p:nvSpPr>
        <p:spPr>
          <a:xfrm>
            <a:off x="6146140" y="3240999"/>
            <a:ext cx="161917" cy="69129"/>
          </a:xfrm>
          <a:prstGeom prst="rect">
            <a:avLst/>
          </a:prstGeom>
          <a:solidFill>
            <a:srgbClr val="7D818A"/>
          </a:solidFill>
          <a:ln/>
        </p:spPr>
      </p:sp>
      <p:sp>
        <p:nvSpPr>
          <p:cNvPr id="70" name="Shape 68"/>
          <p:cNvSpPr/>
          <p:nvPr/>
        </p:nvSpPr>
        <p:spPr>
          <a:xfrm>
            <a:off x="6467752" y="2862072"/>
            <a:ext cx="43696" cy="73152"/>
          </a:xfrm>
          <a:prstGeom prst="roundRect">
            <a:avLst>
              <a:gd name="adj" fmla="val 62779"/>
            </a:avLst>
          </a:prstGeom>
          <a:solidFill>
            <a:schemeClr val="accent4"/>
          </a:solidFill>
          <a:ln/>
        </p:spPr>
      </p:sp>
      <p:sp>
        <p:nvSpPr>
          <p:cNvPr id="71" name="Shape 69"/>
          <p:cNvSpPr/>
          <p:nvPr/>
        </p:nvSpPr>
        <p:spPr>
          <a:xfrm>
            <a:off x="6381209" y="2926080"/>
            <a:ext cx="216781" cy="384048"/>
          </a:xfrm>
          <a:prstGeom prst="roundRect">
            <a:avLst>
              <a:gd name="adj" fmla="val 21090"/>
            </a:avLst>
          </a:prstGeom>
          <a:solidFill>
            <a:schemeClr val="accent4"/>
          </a:solidFill>
          <a:ln/>
        </p:spPr>
      </p:sp>
      <p:sp>
        <p:nvSpPr>
          <p:cNvPr id="72" name="Shape 70"/>
          <p:cNvSpPr/>
          <p:nvPr/>
        </p:nvSpPr>
        <p:spPr>
          <a:xfrm>
            <a:off x="6408641" y="3240999"/>
            <a:ext cx="161917" cy="69129"/>
          </a:xfrm>
          <a:prstGeom prst="rect">
            <a:avLst/>
          </a:prstGeom>
          <a:solidFill>
            <a:srgbClr val="7D818A"/>
          </a:solidFill>
          <a:ln/>
        </p:spPr>
      </p:sp>
      <p:sp>
        <p:nvSpPr>
          <p:cNvPr id="73" name="Shape 71"/>
          <p:cNvSpPr/>
          <p:nvPr/>
        </p:nvSpPr>
        <p:spPr>
          <a:xfrm>
            <a:off x="6730253" y="2862072"/>
            <a:ext cx="43696" cy="73152"/>
          </a:xfrm>
          <a:prstGeom prst="roundRect">
            <a:avLst>
              <a:gd name="adj" fmla="val 62779"/>
            </a:avLst>
          </a:prstGeom>
          <a:solidFill>
            <a:schemeClr val="accent4"/>
          </a:solidFill>
          <a:ln/>
        </p:spPr>
      </p:sp>
      <p:sp>
        <p:nvSpPr>
          <p:cNvPr id="74" name="Shape 72"/>
          <p:cNvSpPr/>
          <p:nvPr/>
        </p:nvSpPr>
        <p:spPr>
          <a:xfrm>
            <a:off x="6643710" y="2926080"/>
            <a:ext cx="216781" cy="384048"/>
          </a:xfrm>
          <a:prstGeom prst="roundRect">
            <a:avLst>
              <a:gd name="adj" fmla="val 21090"/>
            </a:avLst>
          </a:prstGeom>
          <a:solidFill>
            <a:schemeClr val="accent4"/>
          </a:solidFill>
          <a:ln/>
        </p:spPr>
      </p:sp>
      <p:sp>
        <p:nvSpPr>
          <p:cNvPr id="75" name="Shape 73"/>
          <p:cNvSpPr/>
          <p:nvPr/>
        </p:nvSpPr>
        <p:spPr>
          <a:xfrm>
            <a:off x="6671142" y="3240999"/>
            <a:ext cx="161917" cy="69129"/>
          </a:xfrm>
          <a:prstGeom prst="rect">
            <a:avLst/>
          </a:prstGeom>
          <a:solidFill>
            <a:srgbClr val="7D818A"/>
          </a:solidFill>
          <a:ln/>
        </p:spPr>
      </p:sp>
      <p:sp>
        <p:nvSpPr>
          <p:cNvPr id="76" name="Shape 74"/>
          <p:cNvSpPr/>
          <p:nvPr/>
        </p:nvSpPr>
        <p:spPr>
          <a:xfrm>
            <a:off x="6992754" y="2862072"/>
            <a:ext cx="43696" cy="73152"/>
          </a:xfrm>
          <a:prstGeom prst="roundRect">
            <a:avLst>
              <a:gd name="adj" fmla="val 62779"/>
            </a:avLst>
          </a:prstGeom>
          <a:solidFill>
            <a:schemeClr val="accent4"/>
          </a:solidFill>
          <a:ln/>
        </p:spPr>
      </p:sp>
      <p:sp>
        <p:nvSpPr>
          <p:cNvPr id="77" name="Shape 75"/>
          <p:cNvSpPr/>
          <p:nvPr/>
        </p:nvSpPr>
        <p:spPr>
          <a:xfrm>
            <a:off x="6906212" y="2926080"/>
            <a:ext cx="216781" cy="384048"/>
          </a:xfrm>
          <a:prstGeom prst="roundRect">
            <a:avLst>
              <a:gd name="adj" fmla="val 21090"/>
            </a:avLst>
          </a:prstGeom>
          <a:solidFill>
            <a:schemeClr val="accent4"/>
          </a:solidFill>
          <a:ln/>
        </p:spPr>
      </p:sp>
      <p:sp>
        <p:nvSpPr>
          <p:cNvPr id="78" name="Shape 76"/>
          <p:cNvSpPr/>
          <p:nvPr/>
        </p:nvSpPr>
        <p:spPr>
          <a:xfrm>
            <a:off x="6933644" y="3240999"/>
            <a:ext cx="161917" cy="69129"/>
          </a:xfrm>
          <a:prstGeom prst="rect">
            <a:avLst/>
          </a:prstGeom>
          <a:solidFill>
            <a:srgbClr val="7D818A"/>
          </a:solidFill>
          <a:ln/>
        </p:spPr>
      </p:sp>
      <p:sp>
        <p:nvSpPr>
          <p:cNvPr id="79" name="Shape 77"/>
          <p:cNvSpPr/>
          <p:nvPr/>
        </p:nvSpPr>
        <p:spPr>
          <a:xfrm>
            <a:off x="7255256" y="2862072"/>
            <a:ext cx="43696" cy="73152"/>
          </a:xfrm>
          <a:prstGeom prst="roundRect">
            <a:avLst>
              <a:gd name="adj" fmla="val 62779"/>
            </a:avLst>
          </a:prstGeom>
          <a:solidFill>
            <a:schemeClr val="accent4"/>
          </a:solidFill>
          <a:ln/>
        </p:spPr>
      </p:sp>
      <p:sp>
        <p:nvSpPr>
          <p:cNvPr id="80" name="Shape 78"/>
          <p:cNvSpPr/>
          <p:nvPr/>
        </p:nvSpPr>
        <p:spPr>
          <a:xfrm>
            <a:off x="7168713" y="2926080"/>
            <a:ext cx="216781" cy="384048"/>
          </a:xfrm>
          <a:prstGeom prst="roundRect">
            <a:avLst>
              <a:gd name="adj" fmla="val 21090"/>
            </a:avLst>
          </a:prstGeom>
          <a:solidFill>
            <a:schemeClr val="accent4"/>
          </a:solidFill>
          <a:ln/>
        </p:spPr>
      </p:sp>
      <p:sp>
        <p:nvSpPr>
          <p:cNvPr id="81" name="Shape 79"/>
          <p:cNvSpPr/>
          <p:nvPr/>
        </p:nvSpPr>
        <p:spPr>
          <a:xfrm>
            <a:off x="7196145" y="3240999"/>
            <a:ext cx="161917" cy="69129"/>
          </a:xfrm>
          <a:prstGeom prst="rect">
            <a:avLst/>
          </a:prstGeom>
          <a:solidFill>
            <a:srgbClr val="7D818A"/>
          </a:solidFill>
          <a:ln/>
        </p:spPr>
      </p:sp>
      <p:sp>
        <p:nvSpPr>
          <p:cNvPr id="82" name="Shape 80"/>
          <p:cNvSpPr/>
          <p:nvPr/>
        </p:nvSpPr>
        <p:spPr>
          <a:xfrm>
            <a:off x="7517757" y="2862072"/>
            <a:ext cx="43696" cy="73152"/>
          </a:xfrm>
          <a:prstGeom prst="roundRect">
            <a:avLst>
              <a:gd name="adj" fmla="val 62779"/>
            </a:avLst>
          </a:prstGeom>
          <a:solidFill>
            <a:schemeClr val="accent4"/>
          </a:solidFill>
          <a:ln/>
        </p:spPr>
      </p:sp>
      <p:sp>
        <p:nvSpPr>
          <p:cNvPr id="83" name="Shape 81"/>
          <p:cNvSpPr/>
          <p:nvPr/>
        </p:nvSpPr>
        <p:spPr>
          <a:xfrm>
            <a:off x="7431215" y="2926080"/>
            <a:ext cx="216781" cy="384048"/>
          </a:xfrm>
          <a:prstGeom prst="roundRect">
            <a:avLst>
              <a:gd name="adj" fmla="val 21090"/>
            </a:avLst>
          </a:prstGeom>
          <a:solidFill>
            <a:schemeClr val="accent4"/>
          </a:solidFill>
          <a:ln/>
        </p:spPr>
      </p:sp>
      <p:sp>
        <p:nvSpPr>
          <p:cNvPr id="84" name="Shape 82"/>
          <p:cNvSpPr/>
          <p:nvPr/>
        </p:nvSpPr>
        <p:spPr>
          <a:xfrm>
            <a:off x="7458646" y="3240999"/>
            <a:ext cx="161917" cy="69129"/>
          </a:xfrm>
          <a:prstGeom prst="rect">
            <a:avLst/>
          </a:prstGeom>
          <a:solidFill>
            <a:srgbClr val="7D818A"/>
          </a:solidFill>
          <a:ln/>
        </p:spPr>
      </p:sp>
      <p:sp>
        <p:nvSpPr>
          <p:cNvPr id="85" name="Shape 83"/>
          <p:cNvSpPr/>
          <p:nvPr/>
        </p:nvSpPr>
        <p:spPr>
          <a:xfrm>
            <a:off x="7780259" y="2862072"/>
            <a:ext cx="43696" cy="73152"/>
          </a:xfrm>
          <a:prstGeom prst="roundRect">
            <a:avLst>
              <a:gd name="adj" fmla="val 62779"/>
            </a:avLst>
          </a:prstGeom>
          <a:solidFill>
            <a:schemeClr val="accent4"/>
          </a:solidFill>
          <a:ln/>
        </p:spPr>
      </p:sp>
      <p:sp>
        <p:nvSpPr>
          <p:cNvPr id="86" name="Shape 84"/>
          <p:cNvSpPr/>
          <p:nvPr/>
        </p:nvSpPr>
        <p:spPr>
          <a:xfrm>
            <a:off x="7693716" y="2926080"/>
            <a:ext cx="216781" cy="384048"/>
          </a:xfrm>
          <a:prstGeom prst="roundRect">
            <a:avLst>
              <a:gd name="adj" fmla="val 21090"/>
            </a:avLst>
          </a:prstGeom>
          <a:solidFill>
            <a:schemeClr val="accent4"/>
          </a:solidFill>
          <a:ln/>
        </p:spPr>
      </p:sp>
      <p:sp>
        <p:nvSpPr>
          <p:cNvPr id="87" name="Shape 85"/>
          <p:cNvSpPr/>
          <p:nvPr/>
        </p:nvSpPr>
        <p:spPr>
          <a:xfrm>
            <a:off x="7721148" y="3240999"/>
            <a:ext cx="161917" cy="69129"/>
          </a:xfrm>
          <a:prstGeom prst="rect">
            <a:avLst/>
          </a:prstGeom>
          <a:solidFill>
            <a:srgbClr val="7D818A"/>
          </a:solidFill>
          <a:ln/>
        </p:spPr>
      </p:sp>
      <p:sp>
        <p:nvSpPr>
          <p:cNvPr id="88" name="Shape 86"/>
          <p:cNvSpPr/>
          <p:nvPr/>
        </p:nvSpPr>
        <p:spPr>
          <a:xfrm>
            <a:off x="8042760" y="2862072"/>
            <a:ext cx="43696" cy="73152"/>
          </a:xfrm>
          <a:prstGeom prst="roundRect">
            <a:avLst>
              <a:gd name="adj" fmla="val 62779"/>
            </a:avLst>
          </a:prstGeom>
          <a:solidFill>
            <a:schemeClr val="accent4"/>
          </a:solidFill>
          <a:ln/>
        </p:spPr>
      </p:sp>
      <p:sp>
        <p:nvSpPr>
          <p:cNvPr id="89" name="Shape 87"/>
          <p:cNvSpPr/>
          <p:nvPr/>
        </p:nvSpPr>
        <p:spPr>
          <a:xfrm>
            <a:off x="7956217" y="2926080"/>
            <a:ext cx="216781" cy="384048"/>
          </a:xfrm>
          <a:prstGeom prst="roundRect">
            <a:avLst>
              <a:gd name="adj" fmla="val 21090"/>
            </a:avLst>
          </a:prstGeom>
          <a:solidFill>
            <a:schemeClr val="accent4"/>
          </a:solidFill>
          <a:ln/>
        </p:spPr>
      </p:sp>
      <p:sp>
        <p:nvSpPr>
          <p:cNvPr id="90" name="Shape 88"/>
          <p:cNvSpPr/>
          <p:nvPr/>
        </p:nvSpPr>
        <p:spPr>
          <a:xfrm>
            <a:off x="7983649" y="3240999"/>
            <a:ext cx="161917" cy="69129"/>
          </a:xfrm>
          <a:prstGeom prst="rect">
            <a:avLst/>
          </a:prstGeom>
          <a:solidFill>
            <a:srgbClr val="7D818A"/>
          </a:solidFill>
          <a:ln/>
        </p:spPr>
      </p:sp>
      <p:sp>
        <p:nvSpPr>
          <p:cNvPr id="91" name="Shape 89"/>
          <p:cNvSpPr/>
          <p:nvPr/>
        </p:nvSpPr>
        <p:spPr>
          <a:xfrm>
            <a:off x="8305261" y="2862072"/>
            <a:ext cx="43696" cy="73152"/>
          </a:xfrm>
          <a:prstGeom prst="roundRect">
            <a:avLst>
              <a:gd name="adj" fmla="val 62779"/>
            </a:avLst>
          </a:prstGeom>
          <a:solidFill>
            <a:schemeClr val="accent4"/>
          </a:solidFill>
          <a:ln/>
        </p:spPr>
      </p:sp>
      <p:sp>
        <p:nvSpPr>
          <p:cNvPr id="92" name="Shape 90"/>
          <p:cNvSpPr/>
          <p:nvPr/>
        </p:nvSpPr>
        <p:spPr>
          <a:xfrm>
            <a:off x="8218719" y="2926080"/>
            <a:ext cx="216781" cy="384048"/>
          </a:xfrm>
          <a:prstGeom prst="roundRect">
            <a:avLst>
              <a:gd name="adj" fmla="val 21090"/>
            </a:avLst>
          </a:prstGeom>
          <a:solidFill>
            <a:schemeClr val="accent4"/>
          </a:solidFill>
          <a:ln/>
        </p:spPr>
      </p:sp>
      <p:sp>
        <p:nvSpPr>
          <p:cNvPr id="93" name="Shape 91"/>
          <p:cNvSpPr/>
          <p:nvPr/>
        </p:nvSpPr>
        <p:spPr>
          <a:xfrm>
            <a:off x="8246151" y="3240999"/>
            <a:ext cx="161917" cy="69129"/>
          </a:xfrm>
          <a:prstGeom prst="rect">
            <a:avLst/>
          </a:prstGeom>
          <a:solidFill>
            <a:srgbClr val="7D818A"/>
          </a:solidFill>
          <a:ln/>
        </p:spPr>
      </p:sp>
      <p:sp>
        <p:nvSpPr>
          <p:cNvPr id="94" name="Shape 92"/>
          <p:cNvSpPr/>
          <p:nvPr/>
        </p:nvSpPr>
        <p:spPr>
          <a:xfrm>
            <a:off x="8567763" y="2862072"/>
            <a:ext cx="43696" cy="73152"/>
          </a:xfrm>
          <a:prstGeom prst="roundRect">
            <a:avLst>
              <a:gd name="adj" fmla="val 62779"/>
            </a:avLst>
          </a:prstGeom>
          <a:solidFill>
            <a:schemeClr val="accent4"/>
          </a:solidFill>
          <a:ln/>
        </p:spPr>
      </p:sp>
      <p:sp>
        <p:nvSpPr>
          <p:cNvPr id="95" name="Shape 93"/>
          <p:cNvSpPr/>
          <p:nvPr/>
        </p:nvSpPr>
        <p:spPr>
          <a:xfrm>
            <a:off x="8481220" y="2926080"/>
            <a:ext cx="216781" cy="384048"/>
          </a:xfrm>
          <a:prstGeom prst="roundRect">
            <a:avLst>
              <a:gd name="adj" fmla="val 21090"/>
            </a:avLst>
          </a:prstGeom>
          <a:solidFill>
            <a:schemeClr val="accent4"/>
          </a:solidFill>
          <a:ln/>
        </p:spPr>
      </p:sp>
      <p:sp>
        <p:nvSpPr>
          <p:cNvPr id="96" name="Shape 94"/>
          <p:cNvSpPr/>
          <p:nvPr/>
        </p:nvSpPr>
        <p:spPr>
          <a:xfrm>
            <a:off x="8508652" y="3240999"/>
            <a:ext cx="161917" cy="69129"/>
          </a:xfrm>
          <a:prstGeom prst="rect">
            <a:avLst/>
          </a:prstGeom>
          <a:solidFill>
            <a:srgbClr val="7D818A"/>
          </a:solidFill>
          <a:ln/>
        </p:spPr>
      </p:sp>
      <p:sp>
        <p:nvSpPr>
          <p:cNvPr id="97" name="Shape 95"/>
          <p:cNvSpPr/>
          <p:nvPr/>
        </p:nvSpPr>
        <p:spPr>
          <a:xfrm>
            <a:off x="8830264" y="2862072"/>
            <a:ext cx="43696" cy="73152"/>
          </a:xfrm>
          <a:prstGeom prst="roundRect">
            <a:avLst>
              <a:gd name="adj" fmla="val 62779"/>
            </a:avLst>
          </a:prstGeom>
          <a:solidFill>
            <a:schemeClr val="accent4"/>
          </a:solidFill>
          <a:ln/>
        </p:spPr>
      </p:sp>
      <p:sp>
        <p:nvSpPr>
          <p:cNvPr id="98" name="Shape 96"/>
          <p:cNvSpPr/>
          <p:nvPr/>
        </p:nvSpPr>
        <p:spPr>
          <a:xfrm>
            <a:off x="8743721" y="2926080"/>
            <a:ext cx="216781" cy="384048"/>
          </a:xfrm>
          <a:prstGeom prst="roundRect">
            <a:avLst>
              <a:gd name="adj" fmla="val 21090"/>
            </a:avLst>
          </a:prstGeom>
          <a:solidFill>
            <a:schemeClr val="accent4"/>
          </a:solidFill>
          <a:ln/>
        </p:spPr>
      </p:sp>
      <p:sp>
        <p:nvSpPr>
          <p:cNvPr id="99" name="Shape 97"/>
          <p:cNvSpPr/>
          <p:nvPr/>
        </p:nvSpPr>
        <p:spPr>
          <a:xfrm>
            <a:off x="8771153" y="3240999"/>
            <a:ext cx="161917" cy="69129"/>
          </a:xfrm>
          <a:prstGeom prst="rect">
            <a:avLst/>
          </a:prstGeom>
          <a:solidFill>
            <a:srgbClr val="7D818A"/>
          </a:solidFill>
          <a:ln/>
        </p:spPr>
      </p:sp>
      <p:sp>
        <p:nvSpPr>
          <p:cNvPr id="100" name="Shape 98"/>
          <p:cNvSpPr/>
          <p:nvPr/>
        </p:nvSpPr>
        <p:spPr>
          <a:xfrm>
            <a:off x="9092765" y="2862072"/>
            <a:ext cx="43696" cy="73152"/>
          </a:xfrm>
          <a:prstGeom prst="roundRect">
            <a:avLst>
              <a:gd name="adj" fmla="val 62779"/>
            </a:avLst>
          </a:prstGeom>
          <a:solidFill>
            <a:schemeClr val="accent4"/>
          </a:solidFill>
          <a:ln/>
        </p:spPr>
      </p:sp>
      <p:sp>
        <p:nvSpPr>
          <p:cNvPr id="101" name="Shape 99"/>
          <p:cNvSpPr/>
          <p:nvPr/>
        </p:nvSpPr>
        <p:spPr>
          <a:xfrm>
            <a:off x="9006223" y="2926080"/>
            <a:ext cx="216781" cy="384048"/>
          </a:xfrm>
          <a:prstGeom prst="roundRect">
            <a:avLst>
              <a:gd name="adj" fmla="val 21090"/>
            </a:avLst>
          </a:prstGeom>
          <a:solidFill>
            <a:schemeClr val="accent4"/>
          </a:solidFill>
          <a:ln/>
        </p:spPr>
      </p:sp>
      <p:sp>
        <p:nvSpPr>
          <p:cNvPr id="102" name="Shape 100"/>
          <p:cNvSpPr/>
          <p:nvPr/>
        </p:nvSpPr>
        <p:spPr>
          <a:xfrm>
            <a:off x="9033655" y="3240999"/>
            <a:ext cx="161917" cy="69129"/>
          </a:xfrm>
          <a:prstGeom prst="rect">
            <a:avLst/>
          </a:prstGeom>
          <a:solidFill>
            <a:srgbClr val="7D818A"/>
          </a:solidFill>
          <a:ln/>
        </p:spPr>
      </p:sp>
      <p:sp>
        <p:nvSpPr>
          <p:cNvPr id="103" name="Shape 101"/>
          <p:cNvSpPr/>
          <p:nvPr/>
        </p:nvSpPr>
        <p:spPr>
          <a:xfrm>
            <a:off x="9355267" y="2862072"/>
            <a:ext cx="43696" cy="73152"/>
          </a:xfrm>
          <a:prstGeom prst="roundRect">
            <a:avLst>
              <a:gd name="adj" fmla="val 62779"/>
            </a:avLst>
          </a:prstGeom>
          <a:solidFill>
            <a:schemeClr val="accent4"/>
          </a:solidFill>
          <a:ln/>
        </p:spPr>
      </p:sp>
      <p:sp>
        <p:nvSpPr>
          <p:cNvPr id="104" name="Shape 102"/>
          <p:cNvSpPr/>
          <p:nvPr/>
        </p:nvSpPr>
        <p:spPr>
          <a:xfrm>
            <a:off x="9268724" y="2926080"/>
            <a:ext cx="216781" cy="384048"/>
          </a:xfrm>
          <a:prstGeom prst="roundRect">
            <a:avLst>
              <a:gd name="adj" fmla="val 21090"/>
            </a:avLst>
          </a:prstGeom>
          <a:solidFill>
            <a:schemeClr val="accent4"/>
          </a:solidFill>
          <a:ln/>
        </p:spPr>
      </p:sp>
      <p:sp>
        <p:nvSpPr>
          <p:cNvPr id="105" name="Shape 103"/>
          <p:cNvSpPr/>
          <p:nvPr/>
        </p:nvSpPr>
        <p:spPr>
          <a:xfrm>
            <a:off x="9296156" y="3240999"/>
            <a:ext cx="161917" cy="69129"/>
          </a:xfrm>
          <a:prstGeom prst="rect">
            <a:avLst/>
          </a:prstGeom>
          <a:solidFill>
            <a:srgbClr val="7D818A"/>
          </a:solidFill>
          <a:ln/>
        </p:spPr>
      </p:sp>
      <p:sp>
        <p:nvSpPr>
          <p:cNvPr id="106" name="Shape 104"/>
          <p:cNvSpPr/>
          <p:nvPr/>
        </p:nvSpPr>
        <p:spPr>
          <a:xfrm>
            <a:off x="9617768" y="2862072"/>
            <a:ext cx="43696" cy="73152"/>
          </a:xfrm>
          <a:prstGeom prst="roundRect">
            <a:avLst>
              <a:gd name="adj" fmla="val 62779"/>
            </a:avLst>
          </a:prstGeom>
          <a:solidFill>
            <a:schemeClr val="accent4"/>
          </a:solidFill>
          <a:ln/>
        </p:spPr>
      </p:sp>
      <p:sp>
        <p:nvSpPr>
          <p:cNvPr id="107" name="Shape 105"/>
          <p:cNvSpPr/>
          <p:nvPr/>
        </p:nvSpPr>
        <p:spPr>
          <a:xfrm>
            <a:off x="9531226" y="2926080"/>
            <a:ext cx="216781" cy="384048"/>
          </a:xfrm>
          <a:prstGeom prst="roundRect">
            <a:avLst>
              <a:gd name="adj" fmla="val 21090"/>
            </a:avLst>
          </a:prstGeom>
          <a:solidFill>
            <a:schemeClr val="accent4"/>
          </a:solidFill>
          <a:ln/>
        </p:spPr>
      </p:sp>
      <p:sp>
        <p:nvSpPr>
          <p:cNvPr id="108" name="Shape 106"/>
          <p:cNvSpPr/>
          <p:nvPr/>
        </p:nvSpPr>
        <p:spPr>
          <a:xfrm>
            <a:off x="9558658" y="3240999"/>
            <a:ext cx="161917" cy="69129"/>
          </a:xfrm>
          <a:prstGeom prst="rect">
            <a:avLst/>
          </a:prstGeom>
          <a:solidFill>
            <a:srgbClr val="7D818A"/>
          </a:solidFill>
          <a:ln/>
        </p:spPr>
      </p:sp>
      <p:sp>
        <p:nvSpPr>
          <p:cNvPr id="109" name="Shape 107"/>
          <p:cNvSpPr/>
          <p:nvPr/>
        </p:nvSpPr>
        <p:spPr>
          <a:xfrm>
            <a:off x="9880270" y="2862072"/>
            <a:ext cx="43696" cy="73152"/>
          </a:xfrm>
          <a:prstGeom prst="roundRect">
            <a:avLst>
              <a:gd name="adj" fmla="val 62779"/>
            </a:avLst>
          </a:prstGeom>
          <a:solidFill>
            <a:schemeClr val="accent4"/>
          </a:solidFill>
          <a:ln/>
        </p:spPr>
      </p:sp>
      <p:sp>
        <p:nvSpPr>
          <p:cNvPr id="110" name="Shape 108"/>
          <p:cNvSpPr/>
          <p:nvPr/>
        </p:nvSpPr>
        <p:spPr>
          <a:xfrm>
            <a:off x="9793727" y="2926080"/>
            <a:ext cx="216781" cy="384048"/>
          </a:xfrm>
          <a:prstGeom prst="roundRect">
            <a:avLst>
              <a:gd name="adj" fmla="val 21090"/>
            </a:avLst>
          </a:prstGeom>
          <a:solidFill>
            <a:schemeClr val="accent4"/>
          </a:solidFill>
          <a:ln/>
        </p:spPr>
      </p:sp>
      <p:sp>
        <p:nvSpPr>
          <p:cNvPr id="111" name="Shape 109"/>
          <p:cNvSpPr/>
          <p:nvPr/>
        </p:nvSpPr>
        <p:spPr>
          <a:xfrm>
            <a:off x="9821159" y="3240999"/>
            <a:ext cx="161917" cy="69129"/>
          </a:xfrm>
          <a:prstGeom prst="rect">
            <a:avLst/>
          </a:prstGeom>
          <a:solidFill>
            <a:srgbClr val="7D818A"/>
          </a:solidFill>
          <a:ln/>
        </p:spPr>
      </p:sp>
      <p:sp>
        <p:nvSpPr>
          <p:cNvPr id="112" name="Shape 110"/>
          <p:cNvSpPr/>
          <p:nvPr/>
        </p:nvSpPr>
        <p:spPr>
          <a:xfrm>
            <a:off x="10142771" y="2862072"/>
            <a:ext cx="43696" cy="73152"/>
          </a:xfrm>
          <a:prstGeom prst="roundRect">
            <a:avLst>
              <a:gd name="adj" fmla="val 62779"/>
            </a:avLst>
          </a:prstGeom>
          <a:solidFill>
            <a:schemeClr val="accent4"/>
          </a:solidFill>
          <a:ln/>
        </p:spPr>
      </p:sp>
      <p:sp>
        <p:nvSpPr>
          <p:cNvPr id="113" name="Shape 111"/>
          <p:cNvSpPr/>
          <p:nvPr/>
        </p:nvSpPr>
        <p:spPr>
          <a:xfrm>
            <a:off x="10056228" y="2926080"/>
            <a:ext cx="216781" cy="384048"/>
          </a:xfrm>
          <a:prstGeom prst="roundRect">
            <a:avLst>
              <a:gd name="adj" fmla="val 21090"/>
            </a:avLst>
          </a:prstGeom>
          <a:solidFill>
            <a:schemeClr val="accent4"/>
          </a:solidFill>
          <a:ln/>
        </p:spPr>
      </p:sp>
      <p:sp>
        <p:nvSpPr>
          <p:cNvPr id="114" name="Shape 112"/>
          <p:cNvSpPr/>
          <p:nvPr/>
        </p:nvSpPr>
        <p:spPr>
          <a:xfrm>
            <a:off x="10083660" y="3240999"/>
            <a:ext cx="161917" cy="69129"/>
          </a:xfrm>
          <a:prstGeom prst="rect">
            <a:avLst/>
          </a:prstGeom>
          <a:solidFill>
            <a:srgbClr val="7D818A"/>
          </a:solidFill>
          <a:ln/>
        </p:spPr>
      </p:sp>
      <p:sp>
        <p:nvSpPr>
          <p:cNvPr id="115" name="Shape 113"/>
          <p:cNvSpPr/>
          <p:nvPr/>
        </p:nvSpPr>
        <p:spPr>
          <a:xfrm>
            <a:off x="10405272" y="2862072"/>
            <a:ext cx="43696" cy="73152"/>
          </a:xfrm>
          <a:prstGeom prst="roundRect">
            <a:avLst>
              <a:gd name="adj" fmla="val 62779"/>
            </a:avLst>
          </a:prstGeom>
          <a:solidFill>
            <a:schemeClr val="accent4"/>
          </a:solidFill>
          <a:ln/>
        </p:spPr>
      </p:sp>
      <p:sp>
        <p:nvSpPr>
          <p:cNvPr id="116" name="Shape 114"/>
          <p:cNvSpPr/>
          <p:nvPr/>
        </p:nvSpPr>
        <p:spPr>
          <a:xfrm>
            <a:off x="10318730" y="2926080"/>
            <a:ext cx="216781" cy="384048"/>
          </a:xfrm>
          <a:prstGeom prst="roundRect">
            <a:avLst>
              <a:gd name="adj" fmla="val 21090"/>
            </a:avLst>
          </a:prstGeom>
          <a:solidFill>
            <a:schemeClr val="accent4"/>
          </a:solidFill>
          <a:ln/>
        </p:spPr>
      </p:sp>
      <p:sp>
        <p:nvSpPr>
          <p:cNvPr id="117" name="Shape 115"/>
          <p:cNvSpPr/>
          <p:nvPr/>
        </p:nvSpPr>
        <p:spPr>
          <a:xfrm>
            <a:off x="10346162" y="3240999"/>
            <a:ext cx="161917" cy="69129"/>
          </a:xfrm>
          <a:prstGeom prst="rect">
            <a:avLst/>
          </a:prstGeom>
          <a:solidFill>
            <a:srgbClr val="7D818A"/>
          </a:solidFill>
          <a:ln/>
        </p:spPr>
      </p:sp>
      <p:sp>
        <p:nvSpPr>
          <p:cNvPr id="118" name="Shape 116"/>
          <p:cNvSpPr/>
          <p:nvPr/>
        </p:nvSpPr>
        <p:spPr>
          <a:xfrm>
            <a:off x="10667774" y="2862072"/>
            <a:ext cx="43696" cy="73152"/>
          </a:xfrm>
          <a:prstGeom prst="roundRect">
            <a:avLst>
              <a:gd name="adj" fmla="val 62779"/>
            </a:avLst>
          </a:prstGeom>
          <a:solidFill>
            <a:schemeClr val="accent4"/>
          </a:solidFill>
          <a:ln/>
        </p:spPr>
      </p:sp>
      <p:sp>
        <p:nvSpPr>
          <p:cNvPr id="119" name="Shape 117"/>
          <p:cNvSpPr/>
          <p:nvPr/>
        </p:nvSpPr>
        <p:spPr>
          <a:xfrm>
            <a:off x="10581231" y="2926080"/>
            <a:ext cx="216781" cy="384048"/>
          </a:xfrm>
          <a:prstGeom prst="roundRect">
            <a:avLst>
              <a:gd name="adj" fmla="val 21090"/>
            </a:avLst>
          </a:prstGeom>
          <a:solidFill>
            <a:schemeClr val="accent4"/>
          </a:solidFill>
          <a:ln/>
        </p:spPr>
      </p:sp>
      <p:sp>
        <p:nvSpPr>
          <p:cNvPr id="120" name="Shape 118"/>
          <p:cNvSpPr/>
          <p:nvPr/>
        </p:nvSpPr>
        <p:spPr>
          <a:xfrm>
            <a:off x="10608663" y="3240999"/>
            <a:ext cx="161917" cy="69129"/>
          </a:xfrm>
          <a:prstGeom prst="rect">
            <a:avLst/>
          </a:prstGeom>
          <a:solidFill>
            <a:srgbClr val="7D818A"/>
          </a:solidFill>
          <a:ln/>
        </p:spPr>
      </p:sp>
      <p:sp>
        <p:nvSpPr>
          <p:cNvPr id="121" name="Shape 119"/>
          <p:cNvSpPr/>
          <p:nvPr/>
        </p:nvSpPr>
        <p:spPr>
          <a:xfrm>
            <a:off x="10930275" y="2862072"/>
            <a:ext cx="43696" cy="73152"/>
          </a:xfrm>
          <a:prstGeom prst="roundRect">
            <a:avLst>
              <a:gd name="adj" fmla="val 62779"/>
            </a:avLst>
          </a:prstGeom>
          <a:solidFill>
            <a:schemeClr val="accent4"/>
          </a:solidFill>
          <a:ln/>
        </p:spPr>
      </p:sp>
      <p:sp>
        <p:nvSpPr>
          <p:cNvPr id="122" name="Shape 120"/>
          <p:cNvSpPr/>
          <p:nvPr/>
        </p:nvSpPr>
        <p:spPr>
          <a:xfrm>
            <a:off x="10843732" y="2926080"/>
            <a:ext cx="216781" cy="384048"/>
          </a:xfrm>
          <a:prstGeom prst="roundRect">
            <a:avLst>
              <a:gd name="adj" fmla="val 21090"/>
            </a:avLst>
          </a:prstGeom>
          <a:solidFill>
            <a:schemeClr val="accent4"/>
          </a:solidFill>
          <a:ln/>
        </p:spPr>
      </p:sp>
      <p:sp>
        <p:nvSpPr>
          <p:cNvPr id="123" name="Shape 121"/>
          <p:cNvSpPr/>
          <p:nvPr/>
        </p:nvSpPr>
        <p:spPr>
          <a:xfrm>
            <a:off x="10871164" y="3240999"/>
            <a:ext cx="161917" cy="69129"/>
          </a:xfrm>
          <a:prstGeom prst="rect">
            <a:avLst/>
          </a:prstGeom>
          <a:solidFill>
            <a:srgbClr val="7D818A"/>
          </a:solidFill>
          <a:ln/>
        </p:spPr>
      </p:sp>
      <p:sp>
        <p:nvSpPr>
          <p:cNvPr id="124" name="Shape 122"/>
          <p:cNvSpPr/>
          <p:nvPr/>
        </p:nvSpPr>
        <p:spPr>
          <a:xfrm>
            <a:off x="11192777" y="2862072"/>
            <a:ext cx="43696" cy="73152"/>
          </a:xfrm>
          <a:prstGeom prst="roundRect">
            <a:avLst>
              <a:gd name="adj" fmla="val 62779"/>
            </a:avLst>
          </a:prstGeom>
          <a:solidFill>
            <a:schemeClr val="accent4"/>
          </a:solidFill>
          <a:ln/>
        </p:spPr>
      </p:sp>
      <p:sp>
        <p:nvSpPr>
          <p:cNvPr id="125" name="Shape 123"/>
          <p:cNvSpPr/>
          <p:nvPr/>
        </p:nvSpPr>
        <p:spPr>
          <a:xfrm>
            <a:off x="11106234" y="2926080"/>
            <a:ext cx="216781" cy="384048"/>
          </a:xfrm>
          <a:prstGeom prst="roundRect">
            <a:avLst>
              <a:gd name="adj" fmla="val 21090"/>
            </a:avLst>
          </a:prstGeom>
          <a:solidFill>
            <a:schemeClr val="accent4"/>
          </a:solidFill>
          <a:ln/>
        </p:spPr>
      </p:sp>
      <p:sp>
        <p:nvSpPr>
          <p:cNvPr id="126" name="Shape 124"/>
          <p:cNvSpPr/>
          <p:nvPr/>
        </p:nvSpPr>
        <p:spPr>
          <a:xfrm>
            <a:off x="11133666" y="3240999"/>
            <a:ext cx="161917" cy="69129"/>
          </a:xfrm>
          <a:prstGeom prst="rect">
            <a:avLst/>
          </a:prstGeom>
          <a:solidFill>
            <a:srgbClr val="7D818A"/>
          </a:solidFill>
          <a:ln/>
        </p:spPr>
      </p:sp>
      <p:sp>
        <p:nvSpPr>
          <p:cNvPr id="127" name="Text 125"/>
          <p:cNvSpPr txBox="1"/>
          <p:nvPr/>
        </p:nvSpPr>
        <p:spPr>
          <a:xfrm>
            <a:off x="868680" y="3611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Diciembre de 2025</a:t>
            </a:r>
            <a:pPr indent="0" marL="0">
              <a:buNone/>
            </a:pPr>
            <a:r>
              <a:rPr lang="en-US" sz="1500" dirty="0">
                <a:solidFill>
                  <a:schemeClr val="tx2"/>
                </a:solidFill>
              </a:rPr>
              <a:t>   12,6% en mora: 5 de cada 40</a:t>
            </a:r>
            <a:endParaRPr lang="en-US" sz="1500" dirty="0"/>
          </a:p>
        </p:txBody>
      </p:sp>
      <p:sp>
        <p:nvSpPr>
          <p:cNvPr id="128" name="Shape 126"/>
          <p:cNvSpPr/>
          <p:nvPr/>
        </p:nvSpPr>
        <p:spPr>
          <a:xfrm>
            <a:off x="955223" y="4005072"/>
            <a:ext cx="43696" cy="73152"/>
          </a:xfrm>
          <a:prstGeom prst="roundRect">
            <a:avLst>
              <a:gd name="adj" fmla="val 62779"/>
            </a:avLst>
          </a:prstGeom>
          <a:solidFill>
            <a:schemeClr val="accent1"/>
          </a:solidFill>
          <a:ln/>
        </p:spPr>
      </p:sp>
      <p:sp>
        <p:nvSpPr>
          <p:cNvPr id="129" name="Shape 127"/>
          <p:cNvSpPr/>
          <p:nvPr/>
        </p:nvSpPr>
        <p:spPr>
          <a:xfrm>
            <a:off x="868680" y="4069080"/>
            <a:ext cx="216781" cy="384048"/>
          </a:xfrm>
          <a:prstGeom prst="roundRect">
            <a:avLst>
              <a:gd name="adj" fmla="val 21090"/>
            </a:avLst>
          </a:prstGeom>
          <a:solidFill>
            <a:schemeClr val="accent1"/>
          </a:solidFill>
          <a:ln/>
        </p:spPr>
      </p:sp>
      <p:sp>
        <p:nvSpPr>
          <p:cNvPr id="130" name="Shape 128"/>
          <p:cNvSpPr/>
          <p:nvPr/>
        </p:nvSpPr>
        <p:spPr>
          <a:xfrm>
            <a:off x="896112" y="4383999"/>
            <a:ext cx="161917" cy="69129"/>
          </a:xfrm>
          <a:prstGeom prst="rect">
            <a:avLst/>
          </a:prstGeom>
          <a:solidFill>
            <a:srgbClr val="A92E25"/>
          </a:solidFill>
          <a:ln/>
        </p:spPr>
      </p:sp>
      <p:sp>
        <p:nvSpPr>
          <p:cNvPr id="131" name="Shape 129"/>
          <p:cNvSpPr/>
          <p:nvPr/>
        </p:nvSpPr>
        <p:spPr>
          <a:xfrm>
            <a:off x="1217724" y="4005072"/>
            <a:ext cx="43696" cy="73152"/>
          </a:xfrm>
          <a:prstGeom prst="roundRect">
            <a:avLst>
              <a:gd name="adj" fmla="val 62779"/>
            </a:avLst>
          </a:prstGeom>
          <a:solidFill>
            <a:schemeClr val="accent1"/>
          </a:solidFill>
          <a:ln/>
        </p:spPr>
      </p:sp>
      <p:sp>
        <p:nvSpPr>
          <p:cNvPr id="132" name="Shape 130"/>
          <p:cNvSpPr/>
          <p:nvPr/>
        </p:nvSpPr>
        <p:spPr>
          <a:xfrm>
            <a:off x="1131181" y="4069080"/>
            <a:ext cx="216781" cy="384048"/>
          </a:xfrm>
          <a:prstGeom prst="roundRect">
            <a:avLst>
              <a:gd name="adj" fmla="val 21090"/>
            </a:avLst>
          </a:prstGeom>
          <a:solidFill>
            <a:schemeClr val="accent1"/>
          </a:solidFill>
          <a:ln/>
        </p:spPr>
      </p:sp>
      <p:sp>
        <p:nvSpPr>
          <p:cNvPr id="133" name="Shape 131"/>
          <p:cNvSpPr/>
          <p:nvPr/>
        </p:nvSpPr>
        <p:spPr>
          <a:xfrm>
            <a:off x="1158613" y="4383999"/>
            <a:ext cx="161917" cy="69129"/>
          </a:xfrm>
          <a:prstGeom prst="rect">
            <a:avLst/>
          </a:prstGeom>
          <a:solidFill>
            <a:srgbClr val="A92E25"/>
          </a:solidFill>
          <a:ln/>
        </p:spPr>
      </p:sp>
      <p:sp>
        <p:nvSpPr>
          <p:cNvPr id="134" name="Shape 132"/>
          <p:cNvSpPr/>
          <p:nvPr/>
        </p:nvSpPr>
        <p:spPr>
          <a:xfrm>
            <a:off x="1480225" y="4005072"/>
            <a:ext cx="43696" cy="73152"/>
          </a:xfrm>
          <a:prstGeom prst="roundRect">
            <a:avLst>
              <a:gd name="adj" fmla="val 62779"/>
            </a:avLst>
          </a:prstGeom>
          <a:solidFill>
            <a:schemeClr val="accent1"/>
          </a:solidFill>
          <a:ln/>
        </p:spPr>
      </p:sp>
      <p:sp>
        <p:nvSpPr>
          <p:cNvPr id="135" name="Shape 133"/>
          <p:cNvSpPr/>
          <p:nvPr/>
        </p:nvSpPr>
        <p:spPr>
          <a:xfrm>
            <a:off x="1393683" y="4069080"/>
            <a:ext cx="216781" cy="384048"/>
          </a:xfrm>
          <a:prstGeom prst="roundRect">
            <a:avLst>
              <a:gd name="adj" fmla="val 21090"/>
            </a:avLst>
          </a:prstGeom>
          <a:solidFill>
            <a:schemeClr val="accent1"/>
          </a:solidFill>
          <a:ln/>
        </p:spPr>
      </p:sp>
      <p:sp>
        <p:nvSpPr>
          <p:cNvPr id="136" name="Shape 134"/>
          <p:cNvSpPr/>
          <p:nvPr/>
        </p:nvSpPr>
        <p:spPr>
          <a:xfrm>
            <a:off x="1421115" y="4383999"/>
            <a:ext cx="161917" cy="69129"/>
          </a:xfrm>
          <a:prstGeom prst="rect">
            <a:avLst/>
          </a:prstGeom>
          <a:solidFill>
            <a:srgbClr val="A92E25"/>
          </a:solidFill>
          <a:ln/>
        </p:spPr>
      </p:sp>
      <p:sp>
        <p:nvSpPr>
          <p:cNvPr id="137" name="Shape 135"/>
          <p:cNvSpPr/>
          <p:nvPr/>
        </p:nvSpPr>
        <p:spPr>
          <a:xfrm>
            <a:off x="1742727" y="4005072"/>
            <a:ext cx="43696" cy="73152"/>
          </a:xfrm>
          <a:prstGeom prst="roundRect">
            <a:avLst>
              <a:gd name="adj" fmla="val 62779"/>
            </a:avLst>
          </a:prstGeom>
          <a:solidFill>
            <a:schemeClr val="accent1"/>
          </a:solidFill>
          <a:ln/>
        </p:spPr>
      </p:sp>
      <p:sp>
        <p:nvSpPr>
          <p:cNvPr id="138" name="Shape 136"/>
          <p:cNvSpPr/>
          <p:nvPr/>
        </p:nvSpPr>
        <p:spPr>
          <a:xfrm>
            <a:off x="1656184" y="4069080"/>
            <a:ext cx="216781" cy="384048"/>
          </a:xfrm>
          <a:prstGeom prst="roundRect">
            <a:avLst>
              <a:gd name="adj" fmla="val 21090"/>
            </a:avLst>
          </a:prstGeom>
          <a:solidFill>
            <a:schemeClr val="accent1"/>
          </a:solidFill>
          <a:ln/>
        </p:spPr>
      </p:sp>
      <p:sp>
        <p:nvSpPr>
          <p:cNvPr id="139" name="Shape 137"/>
          <p:cNvSpPr/>
          <p:nvPr/>
        </p:nvSpPr>
        <p:spPr>
          <a:xfrm>
            <a:off x="1683616" y="4383999"/>
            <a:ext cx="161917" cy="69129"/>
          </a:xfrm>
          <a:prstGeom prst="rect">
            <a:avLst/>
          </a:prstGeom>
          <a:solidFill>
            <a:srgbClr val="A92E25"/>
          </a:solidFill>
          <a:ln/>
        </p:spPr>
      </p:sp>
      <p:sp>
        <p:nvSpPr>
          <p:cNvPr id="140" name="Shape 138"/>
          <p:cNvSpPr/>
          <p:nvPr/>
        </p:nvSpPr>
        <p:spPr>
          <a:xfrm>
            <a:off x="2005228" y="4005072"/>
            <a:ext cx="43696" cy="73152"/>
          </a:xfrm>
          <a:prstGeom prst="roundRect">
            <a:avLst>
              <a:gd name="adj" fmla="val 62779"/>
            </a:avLst>
          </a:prstGeom>
          <a:solidFill>
            <a:schemeClr val="accent1"/>
          </a:solidFill>
          <a:ln/>
        </p:spPr>
      </p:sp>
      <p:sp>
        <p:nvSpPr>
          <p:cNvPr id="141" name="Shape 139"/>
          <p:cNvSpPr/>
          <p:nvPr/>
        </p:nvSpPr>
        <p:spPr>
          <a:xfrm>
            <a:off x="1918686" y="4069080"/>
            <a:ext cx="216781" cy="384048"/>
          </a:xfrm>
          <a:prstGeom prst="roundRect">
            <a:avLst>
              <a:gd name="adj" fmla="val 21090"/>
            </a:avLst>
          </a:prstGeom>
          <a:solidFill>
            <a:schemeClr val="accent1"/>
          </a:solidFill>
          <a:ln/>
        </p:spPr>
      </p:sp>
      <p:sp>
        <p:nvSpPr>
          <p:cNvPr id="142" name="Shape 140"/>
          <p:cNvSpPr/>
          <p:nvPr/>
        </p:nvSpPr>
        <p:spPr>
          <a:xfrm>
            <a:off x="1946118" y="4383999"/>
            <a:ext cx="161917" cy="69129"/>
          </a:xfrm>
          <a:prstGeom prst="rect">
            <a:avLst/>
          </a:prstGeom>
          <a:solidFill>
            <a:srgbClr val="A92E25"/>
          </a:solidFill>
          <a:ln/>
        </p:spPr>
      </p:sp>
      <p:sp>
        <p:nvSpPr>
          <p:cNvPr id="143" name="Shape 141"/>
          <p:cNvSpPr/>
          <p:nvPr/>
        </p:nvSpPr>
        <p:spPr>
          <a:xfrm>
            <a:off x="2267730" y="4005072"/>
            <a:ext cx="43696" cy="73152"/>
          </a:xfrm>
          <a:prstGeom prst="roundRect">
            <a:avLst>
              <a:gd name="adj" fmla="val 62779"/>
            </a:avLst>
          </a:prstGeom>
          <a:solidFill>
            <a:schemeClr val="accent4"/>
          </a:solidFill>
          <a:ln/>
        </p:spPr>
      </p:sp>
      <p:sp>
        <p:nvSpPr>
          <p:cNvPr id="144" name="Shape 142"/>
          <p:cNvSpPr/>
          <p:nvPr/>
        </p:nvSpPr>
        <p:spPr>
          <a:xfrm>
            <a:off x="2181187" y="4069080"/>
            <a:ext cx="216781" cy="384048"/>
          </a:xfrm>
          <a:prstGeom prst="roundRect">
            <a:avLst>
              <a:gd name="adj" fmla="val 21090"/>
            </a:avLst>
          </a:prstGeom>
          <a:solidFill>
            <a:schemeClr val="accent4"/>
          </a:solidFill>
          <a:ln/>
        </p:spPr>
      </p:sp>
      <p:sp>
        <p:nvSpPr>
          <p:cNvPr id="145" name="Shape 143"/>
          <p:cNvSpPr/>
          <p:nvPr/>
        </p:nvSpPr>
        <p:spPr>
          <a:xfrm>
            <a:off x="2208619" y="4383999"/>
            <a:ext cx="161917" cy="69129"/>
          </a:xfrm>
          <a:prstGeom prst="rect">
            <a:avLst/>
          </a:prstGeom>
          <a:solidFill>
            <a:srgbClr val="7D818A"/>
          </a:solidFill>
          <a:ln/>
        </p:spPr>
      </p:sp>
      <p:sp>
        <p:nvSpPr>
          <p:cNvPr id="146" name="Shape 144"/>
          <p:cNvSpPr/>
          <p:nvPr/>
        </p:nvSpPr>
        <p:spPr>
          <a:xfrm>
            <a:off x="2530231" y="4005072"/>
            <a:ext cx="43696" cy="73152"/>
          </a:xfrm>
          <a:prstGeom prst="roundRect">
            <a:avLst>
              <a:gd name="adj" fmla="val 62779"/>
            </a:avLst>
          </a:prstGeom>
          <a:solidFill>
            <a:schemeClr val="accent4"/>
          </a:solidFill>
          <a:ln/>
        </p:spPr>
      </p:sp>
      <p:sp>
        <p:nvSpPr>
          <p:cNvPr id="147" name="Shape 145"/>
          <p:cNvSpPr/>
          <p:nvPr/>
        </p:nvSpPr>
        <p:spPr>
          <a:xfrm>
            <a:off x="2443688" y="4069080"/>
            <a:ext cx="216781" cy="384048"/>
          </a:xfrm>
          <a:prstGeom prst="roundRect">
            <a:avLst>
              <a:gd name="adj" fmla="val 21090"/>
            </a:avLst>
          </a:prstGeom>
          <a:solidFill>
            <a:schemeClr val="accent4"/>
          </a:solidFill>
          <a:ln/>
        </p:spPr>
      </p:sp>
      <p:sp>
        <p:nvSpPr>
          <p:cNvPr id="148" name="Shape 146"/>
          <p:cNvSpPr/>
          <p:nvPr/>
        </p:nvSpPr>
        <p:spPr>
          <a:xfrm>
            <a:off x="2471120" y="4383999"/>
            <a:ext cx="161917" cy="69129"/>
          </a:xfrm>
          <a:prstGeom prst="rect">
            <a:avLst/>
          </a:prstGeom>
          <a:solidFill>
            <a:srgbClr val="7D818A"/>
          </a:solidFill>
          <a:ln/>
        </p:spPr>
      </p:sp>
      <p:sp>
        <p:nvSpPr>
          <p:cNvPr id="149" name="Shape 147"/>
          <p:cNvSpPr/>
          <p:nvPr/>
        </p:nvSpPr>
        <p:spPr>
          <a:xfrm>
            <a:off x="2792732" y="4005072"/>
            <a:ext cx="43696" cy="73152"/>
          </a:xfrm>
          <a:prstGeom prst="roundRect">
            <a:avLst>
              <a:gd name="adj" fmla="val 62779"/>
            </a:avLst>
          </a:prstGeom>
          <a:solidFill>
            <a:schemeClr val="accent4"/>
          </a:solidFill>
          <a:ln/>
        </p:spPr>
      </p:sp>
      <p:sp>
        <p:nvSpPr>
          <p:cNvPr id="150" name="Shape 148"/>
          <p:cNvSpPr/>
          <p:nvPr/>
        </p:nvSpPr>
        <p:spPr>
          <a:xfrm>
            <a:off x="2706190" y="4069080"/>
            <a:ext cx="216781" cy="384048"/>
          </a:xfrm>
          <a:prstGeom prst="roundRect">
            <a:avLst>
              <a:gd name="adj" fmla="val 21090"/>
            </a:avLst>
          </a:prstGeom>
          <a:solidFill>
            <a:schemeClr val="accent4"/>
          </a:solidFill>
          <a:ln/>
        </p:spPr>
      </p:sp>
      <p:sp>
        <p:nvSpPr>
          <p:cNvPr id="151" name="Shape 149"/>
          <p:cNvSpPr/>
          <p:nvPr/>
        </p:nvSpPr>
        <p:spPr>
          <a:xfrm>
            <a:off x="2733622" y="4383999"/>
            <a:ext cx="161917" cy="69129"/>
          </a:xfrm>
          <a:prstGeom prst="rect">
            <a:avLst/>
          </a:prstGeom>
          <a:solidFill>
            <a:srgbClr val="7D818A"/>
          </a:solidFill>
          <a:ln/>
        </p:spPr>
      </p:sp>
      <p:sp>
        <p:nvSpPr>
          <p:cNvPr id="152" name="Shape 150"/>
          <p:cNvSpPr/>
          <p:nvPr/>
        </p:nvSpPr>
        <p:spPr>
          <a:xfrm>
            <a:off x="3055234" y="4005072"/>
            <a:ext cx="43696" cy="73152"/>
          </a:xfrm>
          <a:prstGeom prst="roundRect">
            <a:avLst>
              <a:gd name="adj" fmla="val 62779"/>
            </a:avLst>
          </a:prstGeom>
          <a:solidFill>
            <a:schemeClr val="accent4"/>
          </a:solidFill>
          <a:ln/>
        </p:spPr>
      </p:sp>
      <p:sp>
        <p:nvSpPr>
          <p:cNvPr id="153" name="Shape 151"/>
          <p:cNvSpPr/>
          <p:nvPr/>
        </p:nvSpPr>
        <p:spPr>
          <a:xfrm>
            <a:off x="2968691" y="4069080"/>
            <a:ext cx="216781" cy="384048"/>
          </a:xfrm>
          <a:prstGeom prst="roundRect">
            <a:avLst>
              <a:gd name="adj" fmla="val 21090"/>
            </a:avLst>
          </a:prstGeom>
          <a:solidFill>
            <a:schemeClr val="accent4"/>
          </a:solidFill>
          <a:ln/>
        </p:spPr>
      </p:sp>
      <p:sp>
        <p:nvSpPr>
          <p:cNvPr id="154" name="Shape 152"/>
          <p:cNvSpPr/>
          <p:nvPr/>
        </p:nvSpPr>
        <p:spPr>
          <a:xfrm>
            <a:off x="2996123" y="4383999"/>
            <a:ext cx="161917" cy="69129"/>
          </a:xfrm>
          <a:prstGeom prst="rect">
            <a:avLst/>
          </a:prstGeom>
          <a:solidFill>
            <a:srgbClr val="7D818A"/>
          </a:solidFill>
          <a:ln/>
        </p:spPr>
      </p:sp>
      <p:sp>
        <p:nvSpPr>
          <p:cNvPr id="155" name="Shape 153"/>
          <p:cNvSpPr/>
          <p:nvPr/>
        </p:nvSpPr>
        <p:spPr>
          <a:xfrm>
            <a:off x="3317735" y="4005072"/>
            <a:ext cx="43696" cy="73152"/>
          </a:xfrm>
          <a:prstGeom prst="roundRect">
            <a:avLst>
              <a:gd name="adj" fmla="val 62779"/>
            </a:avLst>
          </a:prstGeom>
          <a:solidFill>
            <a:schemeClr val="accent4"/>
          </a:solidFill>
          <a:ln/>
        </p:spPr>
      </p:sp>
      <p:sp>
        <p:nvSpPr>
          <p:cNvPr id="156" name="Shape 154"/>
          <p:cNvSpPr/>
          <p:nvPr/>
        </p:nvSpPr>
        <p:spPr>
          <a:xfrm>
            <a:off x="3231192" y="4069080"/>
            <a:ext cx="216781" cy="384048"/>
          </a:xfrm>
          <a:prstGeom prst="roundRect">
            <a:avLst>
              <a:gd name="adj" fmla="val 21090"/>
            </a:avLst>
          </a:prstGeom>
          <a:solidFill>
            <a:schemeClr val="accent4"/>
          </a:solidFill>
          <a:ln/>
        </p:spPr>
      </p:sp>
      <p:sp>
        <p:nvSpPr>
          <p:cNvPr id="157" name="Shape 155"/>
          <p:cNvSpPr/>
          <p:nvPr/>
        </p:nvSpPr>
        <p:spPr>
          <a:xfrm>
            <a:off x="3258624" y="4383999"/>
            <a:ext cx="161917" cy="69129"/>
          </a:xfrm>
          <a:prstGeom prst="rect">
            <a:avLst/>
          </a:prstGeom>
          <a:solidFill>
            <a:srgbClr val="7D818A"/>
          </a:solidFill>
          <a:ln/>
        </p:spPr>
      </p:sp>
      <p:sp>
        <p:nvSpPr>
          <p:cNvPr id="158" name="Shape 156"/>
          <p:cNvSpPr/>
          <p:nvPr/>
        </p:nvSpPr>
        <p:spPr>
          <a:xfrm>
            <a:off x="3580237" y="4005072"/>
            <a:ext cx="43696" cy="73152"/>
          </a:xfrm>
          <a:prstGeom prst="roundRect">
            <a:avLst>
              <a:gd name="adj" fmla="val 62779"/>
            </a:avLst>
          </a:prstGeom>
          <a:solidFill>
            <a:schemeClr val="accent4"/>
          </a:solidFill>
          <a:ln/>
        </p:spPr>
      </p:sp>
      <p:sp>
        <p:nvSpPr>
          <p:cNvPr id="159" name="Shape 157"/>
          <p:cNvSpPr/>
          <p:nvPr/>
        </p:nvSpPr>
        <p:spPr>
          <a:xfrm>
            <a:off x="3493694" y="4069080"/>
            <a:ext cx="216781" cy="384048"/>
          </a:xfrm>
          <a:prstGeom prst="roundRect">
            <a:avLst>
              <a:gd name="adj" fmla="val 21090"/>
            </a:avLst>
          </a:prstGeom>
          <a:solidFill>
            <a:schemeClr val="accent4"/>
          </a:solidFill>
          <a:ln/>
        </p:spPr>
      </p:sp>
      <p:sp>
        <p:nvSpPr>
          <p:cNvPr id="160" name="Shape 158"/>
          <p:cNvSpPr/>
          <p:nvPr/>
        </p:nvSpPr>
        <p:spPr>
          <a:xfrm>
            <a:off x="3521126" y="4383999"/>
            <a:ext cx="161917" cy="69129"/>
          </a:xfrm>
          <a:prstGeom prst="rect">
            <a:avLst/>
          </a:prstGeom>
          <a:solidFill>
            <a:srgbClr val="7D818A"/>
          </a:solidFill>
          <a:ln/>
        </p:spPr>
      </p:sp>
      <p:sp>
        <p:nvSpPr>
          <p:cNvPr id="161" name="Shape 159"/>
          <p:cNvSpPr/>
          <p:nvPr/>
        </p:nvSpPr>
        <p:spPr>
          <a:xfrm>
            <a:off x="3842738" y="4005072"/>
            <a:ext cx="43696" cy="73152"/>
          </a:xfrm>
          <a:prstGeom prst="roundRect">
            <a:avLst>
              <a:gd name="adj" fmla="val 62779"/>
            </a:avLst>
          </a:prstGeom>
          <a:solidFill>
            <a:schemeClr val="accent4"/>
          </a:solidFill>
          <a:ln/>
        </p:spPr>
      </p:sp>
      <p:sp>
        <p:nvSpPr>
          <p:cNvPr id="162" name="Shape 160"/>
          <p:cNvSpPr/>
          <p:nvPr/>
        </p:nvSpPr>
        <p:spPr>
          <a:xfrm>
            <a:off x="3756195" y="4069080"/>
            <a:ext cx="216781" cy="384048"/>
          </a:xfrm>
          <a:prstGeom prst="roundRect">
            <a:avLst>
              <a:gd name="adj" fmla="val 21090"/>
            </a:avLst>
          </a:prstGeom>
          <a:solidFill>
            <a:schemeClr val="accent4"/>
          </a:solidFill>
          <a:ln/>
        </p:spPr>
      </p:sp>
      <p:sp>
        <p:nvSpPr>
          <p:cNvPr id="163" name="Shape 161"/>
          <p:cNvSpPr/>
          <p:nvPr/>
        </p:nvSpPr>
        <p:spPr>
          <a:xfrm>
            <a:off x="3783627" y="4383999"/>
            <a:ext cx="161917" cy="69129"/>
          </a:xfrm>
          <a:prstGeom prst="rect">
            <a:avLst/>
          </a:prstGeom>
          <a:solidFill>
            <a:srgbClr val="7D818A"/>
          </a:solidFill>
          <a:ln/>
        </p:spPr>
      </p:sp>
      <p:sp>
        <p:nvSpPr>
          <p:cNvPr id="164" name="Shape 162"/>
          <p:cNvSpPr/>
          <p:nvPr/>
        </p:nvSpPr>
        <p:spPr>
          <a:xfrm>
            <a:off x="4105239" y="4005072"/>
            <a:ext cx="43696" cy="73152"/>
          </a:xfrm>
          <a:prstGeom prst="roundRect">
            <a:avLst>
              <a:gd name="adj" fmla="val 62779"/>
            </a:avLst>
          </a:prstGeom>
          <a:solidFill>
            <a:schemeClr val="accent4"/>
          </a:solidFill>
          <a:ln/>
        </p:spPr>
      </p:sp>
      <p:sp>
        <p:nvSpPr>
          <p:cNvPr id="165" name="Shape 163"/>
          <p:cNvSpPr/>
          <p:nvPr/>
        </p:nvSpPr>
        <p:spPr>
          <a:xfrm>
            <a:off x="4018697" y="4069080"/>
            <a:ext cx="216781" cy="384048"/>
          </a:xfrm>
          <a:prstGeom prst="roundRect">
            <a:avLst>
              <a:gd name="adj" fmla="val 21090"/>
            </a:avLst>
          </a:prstGeom>
          <a:solidFill>
            <a:schemeClr val="accent4"/>
          </a:solidFill>
          <a:ln/>
        </p:spPr>
      </p:sp>
      <p:sp>
        <p:nvSpPr>
          <p:cNvPr id="166" name="Shape 164"/>
          <p:cNvSpPr/>
          <p:nvPr/>
        </p:nvSpPr>
        <p:spPr>
          <a:xfrm>
            <a:off x="4046129" y="4383999"/>
            <a:ext cx="161917" cy="69129"/>
          </a:xfrm>
          <a:prstGeom prst="rect">
            <a:avLst/>
          </a:prstGeom>
          <a:solidFill>
            <a:srgbClr val="7D818A"/>
          </a:solidFill>
          <a:ln/>
        </p:spPr>
      </p:sp>
      <p:sp>
        <p:nvSpPr>
          <p:cNvPr id="167" name="Shape 165"/>
          <p:cNvSpPr/>
          <p:nvPr/>
        </p:nvSpPr>
        <p:spPr>
          <a:xfrm>
            <a:off x="4367741" y="4005072"/>
            <a:ext cx="43696" cy="73152"/>
          </a:xfrm>
          <a:prstGeom prst="roundRect">
            <a:avLst>
              <a:gd name="adj" fmla="val 62779"/>
            </a:avLst>
          </a:prstGeom>
          <a:solidFill>
            <a:schemeClr val="accent4"/>
          </a:solidFill>
          <a:ln/>
        </p:spPr>
      </p:sp>
      <p:sp>
        <p:nvSpPr>
          <p:cNvPr id="168" name="Shape 166"/>
          <p:cNvSpPr/>
          <p:nvPr/>
        </p:nvSpPr>
        <p:spPr>
          <a:xfrm>
            <a:off x="4281198" y="4069080"/>
            <a:ext cx="216781" cy="384048"/>
          </a:xfrm>
          <a:prstGeom prst="roundRect">
            <a:avLst>
              <a:gd name="adj" fmla="val 21090"/>
            </a:avLst>
          </a:prstGeom>
          <a:solidFill>
            <a:schemeClr val="accent4"/>
          </a:solidFill>
          <a:ln/>
        </p:spPr>
      </p:sp>
      <p:sp>
        <p:nvSpPr>
          <p:cNvPr id="169" name="Shape 167"/>
          <p:cNvSpPr/>
          <p:nvPr/>
        </p:nvSpPr>
        <p:spPr>
          <a:xfrm>
            <a:off x="4308630" y="4383999"/>
            <a:ext cx="161917" cy="69129"/>
          </a:xfrm>
          <a:prstGeom prst="rect">
            <a:avLst/>
          </a:prstGeom>
          <a:solidFill>
            <a:srgbClr val="7D818A"/>
          </a:solidFill>
          <a:ln/>
        </p:spPr>
      </p:sp>
      <p:sp>
        <p:nvSpPr>
          <p:cNvPr id="170" name="Shape 168"/>
          <p:cNvSpPr/>
          <p:nvPr/>
        </p:nvSpPr>
        <p:spPr>
          <a:xfrm>
            <a:off x="4630242" y="4005072"/>
            <a:ext cx="43696" cy="73152"/>
          </a:xfrm>
          <a:prstGeom prst="roundRect">
            <a:avLst>
              <a:gd name="adj" fmla="val 62779"/>
            </a:avLst>
          </a:prstGeom>
          <a:solidFill>
            <a:schemeClr val="accent4"/>
          </a:solidFill>
          <a:ln/>
        </p:spPr>
      </p:sp>
      <p:sp>
        <p:nvSpPr>
          <p:cNvPr id="171" name="Shape 169"/>
          <p:cNvSpPr/>
          <p:nvPr/>
        </p:nvSpPr>
        <p:spPr>
          <a:xfrm>
            <a:off x="4543699" y="4069080"/>
            <a:ext cx="216781" cy="384048"/>
          </a:xfrm>
          <a:prstGeom prst="roundRect">
            <a:avLst>
              <a:gd name="adj" fmla="val 21090"/>
            </a:avLst>
          </a:prstGeom>
          <a:solidFill>
            <a:schemeClr val="accent4"/>
          </a:solidFill>
          <a:ln/>
        </p:spPr>
      </p:sp>
      <p:sp>
        <p:nvSpPr>
          <p:cNvPr id="172" name="Shape 170"/>
          <p:cNvSpPr/>
          <p:nvPr/>
        </p:nvSpPr>
        <p:spPr>
          <a:xfrm>
            <a:off x="4571131" y="4383999"/>
            <a:ext cx="161917" cy="69129"/>
          </a:xfrm>
          <a:prstGeom prst="rect">
            <a:avLst/>
          </a:prstGeom>
          <a:solidFill>
            <a:srgbClr val="7D818A"/>
          </a:solidFill>
          <a:ln/>
        </p:spPr>
      </p:sp>
      <p:sp>
        <p:nvSpPr>
          <p:cNvPr id="173" name="Shape 171"/>
          <p:cNvSpPr/>
          <p:nvPr/>
        </p:nvSpPr>
        <p:spPr>
          <a:xfrm>
            <a:off x="4892743" y="4005072"/>
            <a:ext cx="43696" cy="73152"/>
          </a:xfrm>
          <a:prstGeom prst="roundRect">
            <a:avLst>
              <a:gd name="adj" fmla="val 62779"/>
            </a:avLst>
          </a:prstGeom>
          <a:solidFill>
            <a:schemeClr val="accent4"/>
          </a:solidFill>
          <a:ln/>
        </p:spPr>
      </p:sp>
      <p:sp>
        <p:nvSpPr>
          <p:cNvPr id="174" name="Shape 172"/>
          <p:cNvSpPr/>
          <p:nvPr/>
        </p:nvSpPr>
        <p:spPr>
          <a:xfrm>
            <a:off x="4806201" y="4069080"/>
            <a:ext cx="216781" cy="384048"/>
          </a:xfrm>
          <a:prstGeom prst="roundRect">
            <a:avLst>
              <a:gd name="adj" fmla="val 21090"/>
            </a:avLst>
          </a:prstGeom>
          <a:solidFill>
            <a:schemeClr val="accent4"/>
          </a:solidFill>
          <a:ln/>
        </p:spPr>
      </p:sp>
      <p:sp>
        <p:nvSpPr>
          <p:cNvPr id="175" name="Shape 173"/>
          <p:cNvSpPr/>
          <p:nvPr/>
        </p:nvSpPr>
        <p:spPr>
          <a:xfrm>
            <a:off x="4833633" y="4383999"/>
            <a:ext cx="161917" cy="69129"/>
          </a:xfrm>
          <a:prstGeom prst="rect">
            <a:avLst/>
          </a:prstGeom>
          <a:solidFill>
            <a:srgbClr val="7D818A"/>
          </a:solidFill>
          <a:ln/>
        </p:spPr>
      </p:sp>
      <p:sp>
        <p:nvSpPr>
          <p:cNvPr id="176" name="Shape 174"/>
          <p:cNvSpPr/>
          <p:nvPr/>
        </p:nvSpPr>
        <p:spPr>
          <a:xfrm>
            <a:off x="5155245" y="4005072"/>
            <a:ext cx="43696" cy="73152"/>
          </a:xfrm>
          <a:prstGeom prst="roundRect">
            <a:avLst>
              <a:gd name="adj" fmla="val 62779"/>
            </a:avLst>
          </a:prstGeom>
          <a:solidFill>
            <a:schemeClr val="accent4"/>
          </a:solidFill>
          <a:ln/>
        </p:spPr>
      </p:sp>
      <p:sp>
        <p:nvSpPr>
          <p:cNvPr id="177" name="Shape 175"/>
          <p:cNvSpPr/>
          <p:nvPr/>
        </p:nvSpPr>
        <p:spPr>
          <a:xfrm>
            <a:off x="5068702" y="4069080"/>
            <a:ext cx="216781" cy="384048"/>
          </a:xfrm>
          <a:prstGeom prst="roundRect">
            <a:avLst>
              <a:gd name="adj" fmla="val 21090"/>
            </a:avLst>
          </a:prstGeom>
          <a:solidFill>
            <a:schemeClr val="accent4"/>
          </a:solidFill>
          <a:ln/>
        </p:spPr>
      </p:sp>
      <p:sp>
        <p:nvSpPr>
          <p:cNvPr id="178" name="Shape 176"/>
          <p:cNvSpPr/>
          <p:nvPr/>
        </p:nvSpPr>
        <p:spPr>
          <a:xfrm>
            <a:off x="5096134" y="4383999"/>
            <a:ext cx="161917" cy="69129"/>
          </a:xfrm>
          <a:prstGeom prst="rect">
            <a:avLst/>
          </a:prstGeom>
          <a:solidFill>
            <a:srgbClr val="7D818A"/>
          </a:solidFill>
          <a:ln/>
        </p:spPr>
      </p:sp>
      <p:sp>
        <p:nvSpPr>
          <p:cNvPr id="179" name="Shape 177"/>
          <p:cNvSpPr/>
          <p:nvPr/>
        </p:nvSpPr>
        <p:spPr>
          <a:xfrm>
            <a:off x="5417746" y="4005072"/>
            <a:ext cx="43696" cy="73152"/>
          </a:xfrm>
          <a:prstGeom prst="roundRect">
            <a:avLst>
              <a:gd name="adj" fmla="val 62779"/>
            </a:avLst>
          </a:prstGeom>
          <a:solidFill>
            <a:schemeClr val="accent4"/>
          </a:solidFill>
          <a:ln/>
        </p:spPr>
      </p:sp>
      <p:sp>
        <p:nvSpPr>
          <p:cNvPr id="180" name="Shape 178"/>
          <p:cNvSpPr/>
          <p:nvPr/>
        </p:nvSpPr>
        <p:spPr>
          <a:xfrm>
            <a:off x="5331203" y="4069080"/>
            <a:ext cx="216781" cy="384048"/>
          </a:xfrm>
          <a:prstGeom prst="roundRect">
            <a:avLst>
              <a:gd name="adj" fmla="val 21090"/>
            </a:avLst>
          </a:prstGeom>
          <a:solidFill>
            <a:schemeClr val="accent4"/>
          </a:solidFill>
          <a:ln/>
        </p:spPr>
      </p:sp>
      <p:sp>
        <p:nvSpPr>
          <p:cNvPr id="181" name="Shape 179"/>
          <p:cNvSpPr/>
          <p:nvPr/>
        </p:nvSpPr>
        <p:spPr>
          <a:xfrm>
            <a:off x="5358635" y="4383999"/>
            <a:ext cx="161917" cy="69129"/>
          </a:xfrm>
          <a:prstGeom prst="rect">
            <a:avLst/>
          </a:prstGeom>
          <a:solidFill>
            <a:srgbClr val="7D818A"/>
          </a:solidFill>
          <a:ln/>
        </p:spPr>
      </p:sp>
      <p:sp>
        <p:nvSpPr>
          <p:cNvPr id="182" name="Shape 180"/>
          <p:cNvSpPr/>
          <p:nvPr/>
        </p:nvSpPr>
        <p:spPr>
          <a:xfrm>
            <a:off x="5680248" y="4005072"/>
            <a:ext cx="43696" cy="73152"/>
          </a:xfrm>
          <a:prstGeom prst="roundRect">
            <a:avLst>
              <a:gd name="adj" fmla="val 62779"/>
            </a:avLst>
          </a:prstGeom>
          <a:solidFill>
            <a:schemeClr val="accent4"/>
          </a:solidFill>
          <a:ln/>
        </p:spPr>
      </p:sp>
      <p:sp>
        <p:nvSpPr>
          <p:cNvPr id="183" name="Shape 181"/>
          <p:cNvSpPr/>
          <p:nvPr/>
        </p:nvSpPr>
        <p:spPr>
          <a:xfrm>
            <a:off x="5593705" y="4069080"/>
            <a:ext cx="216781" cy="384048"/>
          </a:xfrm>
          <a:prstGeom prst="roundRect">
            <a:avLst>
              <a:gd name="adj" fmla="val 21090"/>
            </a:avLst>
          </a:prstGeom>
          <a:solidFill>
            <a:schemeClr val="accent4"/>
          </a:solidFill>
          <a:ln/>
        </p:spPr>
      </p:sp>
      <p:sp>
        <p:nvSpPr>
          <p:cNvPr id="184" name="Shape 182"/>
          <p:cNvSpPr/>
          <p:nvPr/>
        </p:nvSpPr>
        <p:spPr>
          <a:xfrm>
            <a:off x="5621137" y="4383999"/>
            <a:ext cx="161917" cy="69129"/>
          </a:xfrm>
          <a:prstGeom prst="rect">
            <a:avLst/>
          </a:prstGeom>
          <a:solidFill>
            <a:srgbClr val="7D818A"/>
          </a:solidFill>
          <a:ln/>
        </p:spPr>
      </p:sp>
      <p:sp>
        <p:nvSpPr>
          <p:cNvPr id="185" name="Shape 183"/>
          <p:cNvSpPr/>
          <p:nvPr/>
        </p:nvSpPr>
        <p:spPr>
          <a:xfrm>
            <a:off x="5942749" y="4005072"/>
            <a:ext cx="43696" cy="73152"/>
          </a:xfrm>
          <a:prstGeom prst="roundRect">
            <a:avLst>
              <a:gd name="adj" fmla="val 62779"/>
            </a:avLst>
          </a:prstGeom>
          <a:solidFill>
            <a:schemeClr val="accent4"/>
          </a:solidFill>
          <a:ln/>
        </p:spPr>
      </p:sp>
      <p:sp>
        <p:nvSpPr>
          <p:cNvPr id="186" name="Shape 184"/>
          <p:cNvSpPr/>
          <p:nvPr/>
        </p:nvSpPr>
        <p:spPr>
          <a:xfrm>
            <a:off x="5856206" y="4069080"/>
            <a:ext cx="216781" cy="384048"/>
          </a:xfrm>
          <a:prstGeom prst="roundRect">
            <a:avLst>
              <a:gd name="adj" fmla="val 21090"/>
            </a:avLst>
          </a:prstGeom>
          <a:solidFill>
            <a:schemeClr val="accent4"/>
          </a:solidFill>
          <a:ln/>
        </p:spPr>
      </p:sp>
      <p:sp>
        <p:nvSpPr>
          <p:cNvPr id="187" name="Shape 185"/>
          <p:cNvSpPr/>
          <p:nvPr/>
        </p:nvSpPr>
        <p:spPr>
          <a:xfrm>
            <a:off x="5883638" y="4383999"/>
            <a:ext cx="161917" cy="69129"/>
          </a:xfrm>
          <a:prstGeom prst="rect">
            <a:avLst/>
          </a:prstGeom>
          <a:solidFill>
            <a:srgbClr val="7D818A"/>
          </a:solidFill>
          <a:ln/>
        </p:spPr>
      </p:sp>
      <p:sp>
        <p:nvSpPr>
          <p:cNvPr id="188" name="Shape 186"/>
          <p:cNvSpPr/>
          <p:nvPr/>
        </p:nvSpPr>
        <p:spPr>
          <a:xfrm>
            <a:off x="6205250" y="4005072"/>
            <a:ext cx="43696" cy="73152"/>
          </a:xfrm>
          <a:prstGeom prst="roundRect">
            <a:avLst>
              <a:gd name="adj" fmla="val 62779"/>
            </a:avLst>
          </a:prstGeom>
          <a:solidFill>
            <a:schemeClr val="accent4"/>
          </a:solidFill>
          <a:ln/>
        </p:spPr>
      </p:sp>
      <p:sp>
        <p:nvSpPr>
          <p:cNvPr id="189" name="Shape 187"/>
          <p:cNvSpPr/>
          <p:nvPr/>
        </p:nvSpPr>
        <p:spPr>
          <a:xfrm>
            <a:off x="6118708" y="4069080"/>
            <a:ext cx="216781" cy="384048"/>
          </a:xfrm>
          <a:prstGeom prst="roundRect">
            <a:avLst>
              <a:gd name="adj" fmla="val 21090"/>
            </a:avLst>
          </a:prstGeom>
          <a:solidFill>
            <a:schemeClr val="accent4"/>
          </a:solidFill>
          <a:ln/>
        </p:spPr>
      </p:sp>
      <p:sp>
        <p:nvSpPr>
          <p:cNvPr id="190" name="Shape 188"/>
          <p:cNvSpPr/>
          <p:nvPr/>
        </p:nvSpPr>
        <p:spPr>
          <a:xfrm>
            <a:off x="6146140" y="4383999"/>
            <a:ext cx="161917" cy="69129"/>
          </a:xfrm>
          <a:prstGeom prst="rect">
            <a:avLst/>
          </a:prstGeom>
          <a:solidFill>
            <a:srgbClr val="7D818A"/>
          </a:solidFill>
          <a:ln/>
        </p:spPr>
      </p:sp>
      <p:sp>
        <p:nvSpPr>
          <p:cNvPr id="191" name="Shape 189"/>
          <p:cNvSpPr/>
          <p:nvPr/>
        </p:nvSpPr>
        <p:spPr>
          <a:xfrm>
            <a:off x="6467752" y="4005072"/>
            <a:ext cx="43696" cy="73152"/>
          </a:xfrm>
          <a:prstGeom prst="roundRect">
            <a:avLst>
              <a:gd name="adj" fmla="val 62779"/>
            </a:avLst>
          </a:prstGeom>
          <a:solidFill>
            <a:schemeClr val="accent4"/>
          </a:solidFill>
          <a:ln/>
        </p:spPr>
      </p:sp>
      <p:sp>
        <p:nvSpPr>
          <p:cNvPr id="192" name="Shape 190"/>
          <p:cNvSpPr/>
          <p:nvPr/>
        </p:nvSpPr>
        <p:spPr>
          <a:xfrm>
            <a:off x="6381209" y="4069080"/>
            <a:ext cx="216781" cy="384048"/>
          </a:xfrm>
          <a:prstGeom prst="roundRect">
            <a:avLst>
              <a:gd name="adj" fmla="val 21090"/>
            </a:avLst>
          </a:prstGeom>
          <a:solidFill>
            <a:schemeClr val="accent4"/>
          </a:solidFill>
          <a:ln/>
        </p:spPr>
      </p:sp>
      <p:sp>
        <p:nvSpPr>
          <p:cNvPr id="193" name="Shape 191"/>
          <p:cNvSpPr/>
          <p:nvPr/>
        </p:nvSpPr>
        <p:spPr>
          <a:xfrm>
            <a:off x="6408641" y="4383999"/>
            <a:ext cx="161917" cy="69129"/>
          </a:xfrm>
          <a:prstGeom prst="rect">
            <a:avLst/>
          </a:prstGeom>
          <a:solidFill>
            <a:srgbClr val="7D818A"/>
          </a:solidFill>
          <a:ln/>
        </p:spPr>
      </p:sp>
      <p:sp>
        <p:nvSpPr>
          <p:cNvPr id="194" name="Shape 192"/>
          <p:cNvSpPr/>
          <p:nvPr/>
        </p:nvSpPr>
        <p:spPr>
          <a:xfrm>
            <a:off x="6730253" y="4005072"/>
            <a:ext cx="43696" cy="73152"/>
          </a:xfrm>
          <a:prstGeom prst="roundRect">
            <a:avLst>
              <a:gd name="adj" fmla="val 62779"/>
            </a:avLst>
          </a:prstGeom>
          <a:solidFill>
            <a:schemeClr val="accent4"/>
          </a:solidFill>
          <a:ln/>
        </p:spPr>
      </p:sp>
      <p:sp>
        <p:nvSpPr>
          <p:cNvPr id="195" name="Shape 193"/>
          <p:cNvSpPr/>
          <p:nvPr/>
        </p:nvSpPr>
        <p:spPr>
          <a:xfrm>
            <a:off x="6643710" y="4069080"/>
            <a:ext cx="216781" cy="384048"/>
          </a:xfrm>
          <a:prstGeom prst="roundRect">
            <a:avLst>
              <a:gd name="adj" fmla="val 21090"/>
            </a:avLst>
          </a:prstGeom>
          <a:solidFill>
            <a:schemeClr val="accent4"/>
          </a:solidFill>
          <a:ln/>
        </p:spPr>
      </p:sp>
      <p:sp>
        <p:nvSpPr>
          <p:cNvPr id="196" name="Shape 194"/>
          <p:cNvSpPr/>
          <p:nvPr/>
        </p:nvSpPr>
        <p:spPr>
          <a:xfrm>
            <a:off x="6671142" y="4383999"/>
            <a:ext cx="161917" cy="69129"/>
          </a:xfrm>
          <a:prstGeom prst="rect">
            <a:avLst/>
          </a:prstGeom>
          <a:solidFill>
            <a:srgbClr val="7D818A"/>
          </a:solidFill>
          <a:ln/>
        </p:spPr>
      </p:sp>
      <p:sp>
        <p:nvSpPr>
          <p:cNvPr id="197" name="Shape 195"/>
          <p:cNvSpPr/>
          <p:nvPr/>
        </p:nvSpPr>
        <p:spPr>
          <a:xfrm>
            <a:off x="6992754" y="4005072"/>
            <a:ext cx="43696" cy="73152"/>
          </a:xfrm>
          <a:prstGeom prst="roundRect">
            <a:avLst>
              <a:gd name="adj" fmla="val 62779"/>
            </a:avLst>
          </a:prstGeom>
          <a:solidFill>
            <a:schemeClr val="accent4"/>
          </a:solidFill>
          <a:ln/>
        </p:spPr>
      </p:sp>
      <p:sp>
        <p:nvSpPr>
          <p:cNvPr id="198" name="Shape 196"/>
          <p:cNvSpPr/>
          <p:nvPr/>
        </p:nvSpPr>
        <p:spPr>
          <a:xfrm>
            <a:off x="6906212" y="4069080"/>
            <a:ext cx="216781" cy="384048"/>
          </a:xfrm>
          <a:prstGeom prst="roundRect">
            <a:avLst>
              <a:gd name="adj" fmla="val 21090"/>
            </a:avLst>
          </a:prstGeom>
          <a:solidFill>
            <a:schemeClr val="accent4"/>
          </a:solidFill>
          <a:ln/>
        </p:spPr>
      </p:sp>
      <p:sp>
        <p:nvSpPr>
          <p:cNvPr id="199" name="Shape 197"/>
          <p:cNvSpPr/>
          <p:nvPr/>
        </p:nvSpPr>
        <p:spPr>
          <a:xfrm>
            <a:off x="6933644" y="4383999"/>
            <a:ext cx="161917" cy="69129"/>
          </a:xfrm>
          <a:prstGeom prst="rect">
            <a:avLst/>
          </a:prstGeom>
          <a:solidFill>
            <a:srgbClr val="7D818A"/>
          </a:solidFill>
          <a:ln/>
        </p:spPr>
      </p:sp>
      <p:sp>
        <p:nvSpPr>
          <p:cNvPr id="200" name="Shape 198"/>
          <p:cNvSpPr/>
          <p:nvPr/>
        </p:nvSpPr>
        <p:spPr>
          <a:xfrm>
            <a:off x="7255256" y="4005072"/>
            <a:ext cx="43696" cy="73152"/>
          </a:xfrm>
          <a:prstGeom prst="roundRect">
            <a:avLst>
              <a:gd name="adj" fmla="val 62779"/>
            </a:avLst>
          </a:prstGeom>
          <a:solidFill>
            <a:schemeClr val="accent4"/>
          </a:solidFill>
          <a:ln/>
        </p:spPr>
      </p:sp>
      <p:sp>
        <p:nvSpPr>
          <p:cNvPr id="201" name="Shape 199"/>
          <p:cNvSpPr/>
          <p:nvPr/>
        </p:nvSpPr>
        <p:spPr>
          <a:xfrm>
            <a:off x="7168713" y="4069080"/>
            <a:ext cx="216781" cy="384048"/>
          </a:xfrm>
          <a:prstGeom prst="roundRect">
            <a:avLst>
              <a:gd name="adj" fmla="val 21090"/>
            </a:avLst>
          </a:prstGeom>
          <a:solidFill>
            <a:schemeClr val="accent4"/>
          </a:solidFill>
          <a:ln/>
        </p:spPr>
      </p:sp>
      <p:sp>
        <p:nvSpPr>
          <p:cNvPr id="202" name="Shape 200"/>
          <p:cNvSpPr/>
          <p:nvPr/>
        </p:nvSpPr>
        <p:spPr>
          <a:xfrm>
            <a:off x="7196145" y="4383999"/>
            <a:ext cx="161917" cy="69129"/>
          </a:xfrm>
          <a:prstGeom prst="rect">
            <a:avLst/>
          </a:prstGeom>
          <a:solidFill>
            <a:srgbClr val="7D818A"/>
          </a:solidFill>
          <a:ln/>
        </p:spPr>
      </p:sp>
      <p:sp>
        <p:nvSpPr>
          <p:cNvPr id="203" name="Shape 201"/>
          <p:cNvSpPr/>
          <p:nvPr/>
        </p:nvSpPr>
        <p:spPr>
          <a:xfrm>
            <a:off x="7517757" y="4005072"/>
            <a:ext cx="43696" cy="73152"/>
          </a:xfrm>
          <a:prstGeom prst="roundRect">
            <a:avLst>
              <a:gd name="adj" fmla="val 62779"/>
            </a:avLst>
          </a:prstGeom>
          <a:solidFill>
            <a:schemeClr val="accent4"/>
          </a:solidFill>
          <a:ln/>
        </p:spPr>
      </p:sp>
      <p:sp>
        <p:nvSpPr>
          <p:cNvPr id="204" name="Shape 202"/>
          <p:cNvSpPr/>
          <p:nvPr/>
        </p:nvSpPr>
        <p:spPr>
          <a:xfrm>
            <a:off x="7431215" y="4069080"/>
            <a:ext cx="216781" cy="384048"/>
          </a:xfrm>
          <a:prstGeom prst="roundRect">
            <a:avLst>
              <a:gd name="adj" fmla="val 21090"/>
            </a:avLst>
          </a:prstGeom>
          <a:solidFill>
            <a:schemeClr val="accent4"/>
          </a:solidFill>
          <a:ln/>
        </p:spPr>
      </p:sp>
      <p:sp>
        <p:nvSpPr>
          <p:cNvPr id="205" name="Shape 203"/>
          <p:cNvSpPr/>
          <p:nvPr/>
        </p:nvSpPr>
        <p:spPr>
          <a:xfrm>
            <a:off x="7458646" y="4383999"/>
            <a:ext cx="161917" cy="69129"/>
          </a:xfrm>
          <a:prstGeom prst="rect">
            <a:avLst/>
          </a:prstGeom>
          <a:solidFill>
            <a:srgbClr val="7D818A"/>
          </a:solidFill>
          <a:ln/>
        </p:spPr>
      </p:sp>
      <p:sp>
        <p:nvSpPr>
          <p:cNvPr id="206" name="Shape 204"/>
          <p:cNvSpPr/>
          <p:nvPr/>
        </p:nvSpPr>
        <p:spPr>
          <a:xfrm>
            <a:off x="7780259" y="4005072"/>
            <a:ext cx="43696" cy="73152"/>
          </a:xfrm>
          <a:prstGeom prst="roundRect">
            <a:avLst>
              <a:gd name="adj" fmla="val 62779"/>
            </a:avLst>
          </a:prstGeom>
          <a:solidFill>
            <a:schemeClr val="accent4"/>
          </a:solidFill>
          <a:ln/>
        </p:spPr>
      </p:sp>
      <p:sp>
        <p:nvSpPr>
          <p:cNvPr id="207" name="Shape 205"/>
          <p:cNvSpPr/>
          <p:nvPr/>
        </p:nvSpPr>
        <p:spPr>
          <a:xfrm>
            <a:off x="7693716" y="4069080"/>
            <a:ext cx="216781" cy="384048"/>
          </a:xfrm>
          <a:prstGeom prst="roundRect">
            <a:avLst>
              <a:gd name="adj" fmla="val 21090"/>
            </a:avLst>
          </a:prstGeom>
          <a:solidFill>
            <a:schemeClr val="accent4"/>
          </a:solidFill>
          <a:ln/>
        </p:spPr>
      </p:sp>
      <p:sp>
        <p:nvSpPr>
          <p:cNvPr id="208" name="Shape 206"/>
          <p:cNvSpPr/>
          <p:nvPr/>
        </p:nvSpPr>
        <p:spPr>
          <a:xfrm>
            <a:off x="7721148" y="4383999"/>
            <a:ext cx="161917" cy="69129"/>
          </a:xfrm>
          <a:prstGeom prst="rect">
            <a:avLst/>
          </a:prstGeom>
          <a:solidFill>
            <a:srgbClr val="7D818A"/>
          </a:solidFill>
          <a:ln/>
        </p:spPr>
      </p:sp>
      <p:sp>
        <p:nvSpPr>
          <p:cNvPr id="209" name="Shape 207"/>
          <p:cNvSpPr/>
          <p:nvPr/>
        </p:nvSpPr>
        <p:spPr>
          <a:xfrm>
            <a:off x="8042760" y="4005072"/>
            <a:ext cx="43696" cy="73152"/>
          </a:xfrm>
          <a:prstGeom prst="roundRect">
            <a:avLst>
              <a:gd name="adj" fmla="val 62779"/>
            </a:avLst>
          </a:prstGeom>
          <a:solidFill>
            <a:schemeClr val="accent4"/>
          </a:solidFill>
          <a:ln/>
        </p:spPr>
      </p:sp>
      <p:sp>
        <p:nvSpPr>
          <p:cNvPr id="210" name="Shape 208"/>
          <p:cNvSpPr/>
          <p:nvPr/>
        </p:nvSpPr>
        <p:spPr>
          <a:xfrm>
            <a:off x="7956217" y="4069080"/>
            <a:ext cx="216781" cy="384048"/>
          </a:xfrm>
          <a:prstGeom prst="roundRect">
            <a:avLst>
              <a:gd name="adj" fmla="val 21090"/>
            </a:avLst>
          </a:prstGeom>
          <a:solidFill>
            <a:schemeClr val="accent4"/>
          </a:solidFill>
          <a:ln/>
        </p:spPr>
      </p:sp>
      <p:sp>
        <p:nvSpPr>
          <p:cNvPr id="211" name="Shape 209"/>
          <p:cNvSpPr/>
          <p:nvPr/>
        </p:nvSpPr>
        <p:spPr>
          <a:xfrm>
            <a:off x="7983649" y="4383999"/>
            <a:ext cx="161917" cy="69129"/>
          </a:xfrm>
          <a:prstGeom prst="rect">
            <a:avLst/>
          </a:prstGeom>
          <a:solidFill>
            <a:srgbClr val="7D818A"/>
          </a:solidFill>
          <a:ln/>
        </p:spPr>
      </p:sp>
      <p:sp>
        <p:nvSpPr>
          <p:cNvPr id="212" name="Shape 210"/>
          <p:cNvSpPr/>
          <p:nvPr/>
        </p:nvSpPr>
        <p:spPr>
          <a:xfrm>
            <a:off x="8305261" y="4005072"/>
            <a:ext cx="43696" cy="73152"/>
          </a:xfrm>
          <a:prstGeom prst="roundRect">
            <a:avLst>
              <a:gd name="adj" fmla="val 62779"/>
            </a:avLst>
          </a:prstGeom>
          <a:solidFill>
            <a:schemeClr val="accent4"/>
          </a:solidFill>
          <a:ln/>
        </p:spPr>
      </p:sp>
      <p:sp>
        <p:nvSpPr>
          <p:cNvPr id="213" name="Shape 211"/>
          <p:cNvSpPr/>
          <p:nvPr/>
        </p:nvSpPr>
        <p:spPr>
          <a:xfrm>
            <a:off x="8218719" y="4069080"/>
            <a:ext cx="216781" cy="384048"/>
          </a:xfrm>
          <a:prstGeom prst="roundRect">
            <a:avLst>
              <a:gd name="adj" fmla="val 21090"/>
            </a:avLst>
          </a:prstGeom>
          <a:solidFill>
            <a:schemeClr val="accent4"/>
          </a:solidFill>
          <a:ln/>
        </p:spPr>
      </p:sp>
      <p:sp>
        <p:nvSpPr>
          <p:cNvPr id="214" name="Shape 212"/>
          <p:cNvSpPr/>
          <p:nvPr/>
        </p:nvSpPr>
        <p:spPr>
          <a:xfrm>
            <a:off x="8246151" y="4383999"/>
            <a:ext cx="161917" cy="69129"/>
          </a:xfrm>
          <a:prstGeom prst="rect">
            <a:avLst/>
          </a:prstGeom>
          <a:solidFill>
            <a:srgbClr val="7D818A"/>
          </a:solidFill>
          <a:ln/>
        </p:spPr>
      </p:sp>
      <p:sp>
        <p:nvSpPr>
          <p:cNvPr id="215" name="Shape 213"/>
          <p:cNvSpPr/>
          <p:nvPr/>
        </p:nvSpPr>
        <p:spPr>
          <a:xfrm>
            <a:off x="8567763" y="4005072"/>
            <a:ext cx="43696" cy="73152"/>
          </a:xfrm>
          <a:prstGeom prst="roundRect">
            <a:avLst>
              <a:gd name="adj" fmla="val 62779"/>
            </a:avLst>
          </a:prstGeom>
          <a:solidFill>
            <a:schemeClr val="accent4"/>
          </a:solidFill>
          <a:ln/>
        </p:spPr>
      </p:sp>
      <p:sp>
        <p:nvSpPr>
          <p:cNvPr id="216" name="Shape 214"/>
          <p:cNvSpPr/>
          <p:nvPr/>
        </p:nvSpPr>
        <p:spPr>
          <a:xfrm>
            <a:off x="8481220" y="4069080"/>
            <a:ext cx="216781" cy="384048"/>
          </a:xfrm>
          <a:prstGeom prst="roundRect">
            <a:avLst>
              <a:gd name="adj" fmla="val 21090"/>
            </a:avLst>
          </a:prstGeom>
          <a:solidFill>
            <a:schemeClr val="accent4"/>
          </a:solidFill>
          <a:ln/>
        </p:spPr>
      </p:sp>
      <p:sp>
        <p:nvSpPr>
          <p:cNvPr id="217" name="Shape 215"/>
          <p:cNvSpPr/>
          <p:nvPr/>
        </p:nvSpPr>
        <p:spPr>
          <a:xfrm>
            <a:off x="8508652" y="4383999"/>
            <a:ext cx="161917" cy="69129"/>
          </a:xfrm>
          <a:prstGeom prst="rect">
            <a:avLst/>
          </a:prstGeom>
          <a:solidFill>
            <a:srgbClr val="7D818A"/>
          </a:solidFill>
          <a:ln/>
        </p:spPr>
      </p:sp>
      <p:sp>
        <p:nvSpPr>
          <p:cNvPr id="218" name="Shape 216"/>
          <p:cNvSpPr/>
          <p:nvPr/>
        </p:nvSpPr>
        <p:spPr>
          <a:xfrm>
            <a:off x="8830264" y="4005072"/>
            <a:ext cx="43696" cy="73152"/>
          </a:xfrm>
          <a:prstGeom prst="roundRect">
            <a:avLst>
              <a:gd name="adj" fmla="val 62779"/>
            </a:avLst>
          </a:prstGeom>
          <a:solidFill>
            <a:schemeClr val="accent4"/>
          </a:solidFill>
          <a:ln/>
        </p:spPr>
      </p:sp>
      <p:sp>
        <p:nvSpPr>
          <p:cNvPr id="219" name="Shape 217"/>
          <p:cNvSpPr/>
          <p:nvPr/>
        </p:nvSpPr>
        <p:spPr>
          <a:xfrm>
            <a:off x="8743721" y="4069080"/>
            <a:ext cx="216781" cy="384048"/>
          </a:xfrm>
          <a:prstGeom prst="roundRect">
            <a:avLst>
              <a:gd name="adj" fmla="val 21090"/>
            </a:avLst>
          </a:prstGeom>
          <a:solidFill>
            <a:schemeClr val="accent4"/>
          </a:solidFill>
          <a:ln/>
        </p:spPr>
      </p:sp>
      <p:sp>
        <p:nvSpPr>
          <p:cNvPr id="220" name="Shape 218"/>
          <p:cNvSpPr/>
          <p:nvPr/>
        </p:nvSpPr>
        <p:spPr>
          <a:xfrm>
            <a:off x="8771153" y="4383999"/>
            <a:ext cx="161917" cy="69129"/>
          </a:xfrm>
          <a:prstGeom prst="rect">
            <a:avLst/>
          </a:prstGeom>
          <a:solidFill>
            <a:srgbClr val="7D818A"/>
          </a:solidFill>
          <a:ln/>
        </p:spPr>
      </p:sp>
      <p:sp>
        <p:nvSpPr>
          <p:cNvPr id="221" name="Shape 219"/>
          <p:cNvSpPr/>
          <p:nvPr/>
        </p:nvSpPr>
        <p:spPr>
          <a:xfrm>
            <a:off x="9092765" y="4005072"/>
            <a:ext cx="43696" cy="73152"/>
          </a:xfrm>
          <a:prstGeom prst="roundRect">
            <a:avLst>
              <a:gd name="adj" fmla="val 62779"/>
            </a:avLst>
          </a:prstGeom>
          <a:solidFill>
            <a:schemeClr val="accent4"/>
          </a:solidFill>
          <a:ln/>
        </p:spPr>
      </p:sp>
      <p:sp>
        <p:nvSpPr>
          <p:cNvPr id="222" name="Shape 220"/>
          <p:cNvSpPr/>
          <p:nvPr/>
        </p:nvSpPr>
        <p:spPr>
          <a:xfrm>
            <a:off x="9006223" y="4069080"/>
            <a:ext cx="216781" cy="384048"/>
          </a:xfrm>
          <a:prstGeom prst="roundRect">
            <a:avLst>
              <a:gd name="adj" fmla="val 21090"/>
            </a:avLst>
          </a:prstGeom>
          <a:solidFill>
            <a:schemeClr val="accent4"/>
          </a:solidFill>
          <a:ln/>
        </p:spPr>
      </p:sp>
      <p:sp>
        <p:nvSpPr>
          <p:cNvPr id="223" name="Shape 221"/>
          <p:cNvSpPr/>
          <p:nvPr/>
        </p:nvSpPr>
        <p:spPr>
          <a:xfrm>
            <a:off x="9033655" y="4383999"/>
            <a:ext cx="161917" cy="69129"/>
          </a:xfrm>
          <a:prstGeom prst="rect">
            <a:avLst/>
          </a:prstGeom>
          <a:solidFill>
            <a:srgbClr val="7D818A"/>
          </a:solidFill>
          <a:ln/>
        </p:spPr>
      </p:sp>
      <p:sp>
        <p:nvSpPr>
          <p:cNvPr id="224" name="Shape 222"/>
          <p:cNvSpPr/>
          <p:nvPr/>
        </p:nvSpPr>
        <p:spPr>
          <a:xfrm>
            <a:off x="9355267" y="4005072"/>
            <a:ext cx="43696" cy="73152"/>
          </a:xfrm>
          <a:prstGeom prst="roundRect">
            <a:avLst>
              <a:gd name="adj" fmla="val 62779"/>
            </a:avLst>
          </a:prstGeom>
          <a:solidFill>
            <a:schemeClr val="accent4"/>
          </a:solidFill>
          <a:ln/>
        </p:spPr>
      </p:sp>
      <p:sp>
        <p:nvSpPr>
          <p:cNvPr id="225" name="Shape 223"/>
          <p:cNvSpPr/>
          <p:nvPr/>
        </p:nvSpPr>
        <p:spPr>
          <a:xfrm>
            <a:off x="9268724" y="4069080"/>
            <a:ext cx="216781" cy="384048"/>
          </a:xfrm>
          <a:prstGeom prst="roundRect">
            <a:avLst>
              <a:gd name="adj" fmla="val 21090"/>
            </a:avLst>
          </a:prstGeom>
          <a:solidFill>
            <a:schemeClr val="accent4"/>
          </a:solidFill>
          <a:ln/>
        </p:spPr>
      </p:sp>
      <p:sp>
        <p:nvSpPr>
          <p:cNvPr id="226" name="Shape 224"/>
          <p:cNvSpPr/>
          <p:nvPr/>
        </p:nvSpPr>
        <p:spPr>
          <a:xfrm>
            <a:off x="9296156" y="4383999"/>
            <a:ext cx="161917" cy="69129"/>
          </a:xfrm>
          <a:prstGeom prst="rect">
            <a:avLst/>
          </a:prstGeom>
          <a:solidFill>
            <a:srgbClr val="7D818A"/>
          </a:solidFill>
          <a:ln/>
        </p:spPr>
      </p:sp>
      <p:sp>
        <p:nvSpPr>
          <p:cNvPr id="227" name="Shape 225"/>
          <p:cNvSpPr/>
          <p:nvPr/>
        </p:nvSpPr>
        <p:spPr>
          <a:xfrm>
            <a:off x="9617768" y="4005072"/>
            <a:ext cx="43696" cy="73152"/>
          </a:xfrm>
          <a:prstGeom prst="roundRect">
            <a:avLst>
              <a:gd name="adj" fmla="val 62779"/>
            </a:avLst>
          </a:prstGeom>
          <a:solidFill>
            <a:schemeClr val="accent4"/>
          </a:solidFill>
          <a:ln/>
        </p:spPr>
      </p:sp>
      <p:sp>
        <p:nvSpPr>
          <p:cNvPr id="228" name="Shape 226"/>
          <p:cNvSpPr/>
          <p:nvPr/>
        </p:nvSpPr>
        <p:spPr>
          <a:xfrm>
            <a:off x="9531226" y="4069080"/>
            <a:ext cx="216781" cy="384048"/>
          </a:xfrm>
          <a:prstGeom prst="roundRect">
            <a:avLst>
              <a:gd name="adj" fmla="val 21090"/>
            </a:avLst>
          </a:prstGeom>
          <a:solidFill>
            <a:schemeClr val="accent4"/>
          </a:solidFill>
          <a:ln/>
        </p:spPr>
      </p:sp>
      <p:sp>
        <p:nvSpPr>
          <p:cNvPr id="229" name="Shape 227"/>
          <p:cNvSpPr/>
          <p:nvPr/>
        </p:nvSpPr>
        <p:spPr>
          <a:xfrm>
            <a:off x="9558658" y="4383999"/>
            <a:ext cx="161917" cy="69129"/>
          </a:xfrm>
          <a:prstGeom prst="rect">
            <a:avLst/>
          </a:prstGeom>
          <a:solidFill>
            <a:srgbClr val="7D818A"/>
          </a:solidFill>
          <a:ln/>
        </p:spPr>
      </p:sp>
      <p:sp>
        <p:nvSpPr>
          <p:cNvPr id="230" name="Shape 228"/>
          <p:cNvSpPr/>
          <p:nvPr/>
        </p:nvSpPr>
        <p:spPr>
          <a:xfrm>
            <a:off x="9880270" y="4005072"/>
            <a:ext cx="43696" cy="73152"/>
          </a:xfrm>
          <a:prstGeom prst="roundRect">
            <a:avLst>
              <a:gd name="adj" fmla="val 62779"/>
            </a:avLst>
          </a:prstGeom>
          <a:solidFill>
            <a:schemeClr val="accent4"/>
          </a:solidFill>
          <a:ln/>
        </p:spPr>
      </p:sp>
      <p:sp>
        <p:nvSpPr>
          <p:cNvPr id="231" name="Shape 229"/>
          <p:cNvSpPr/>
          <p:nvPr/>
        </p:nvSpPr>
        <p:spPr>
          <a:xfrm>
            <a:off x="9793727" y="4069080"/>
            <a:ext cx="216781" cy="384048"/>
          </a:xfrm>
          <a:prstGeom prst="roundRect">
            <a:avLst>
              <a:gd name="adj" fmla="val 21090"/>
            </a:avLst>
          </a:prstGeom>
          <a:solidFill>
            <a:schemeClr val="accent4"/>
          </a:solidFill>
          <a:ln/>
        </p:spPr>
      </p:sp>
      <p:sp>
        <p:nvSpPr>
          <p:cNvPr id="232" name="Shape 230"/>
          <p:cNvSpPr/>
          <p:nvPr/>
        </p:nvSpPr>
        <p:spPr>
          <a:xfrm>
            <a:off x="9821159" y="4383999"/>
            <a:ext cx="161917" cy="69129"/>
          </a:xfrm>
          <a:prstGeom prst="rect">
            <a:avLst/>
          </a:prstGeom>
          <a:solidFill>
            <a:srgbClr val="7D818A"/>
          </a:solidFill>
          <a:ln/>
        </p:spPr>
      </p:sp>
      <p:sp>
        <p:nvSpPr>
          <p:cNvPr id="233" name="Shape 231"/>
          <p:cNvSpPr/>
          <p:nvPr/>
        </p:nvSpPr>
        <p:spPr>
          <a:xfrm>
            <a:off x="10142771" y="4005072"/>
            <a:ext cx="43696" cy="73152"/>
          </a:xfrm>
          <a:prstGeom prst="roundRect">
            <a:avLst>
              <a:gd name="adj" fmla="val 62779"/>
            </a:avLst>
          </a:prstGeom>
          <a:solidFill>
            <a:schemeClr val="accent4"/>
          </a:solidFill>
          <a:ln/>
        </p:spPr>
      </p:sp>
      <p:sp>
        <p:nvSpPr>
          <p:cNvPr id="234" name="Shape 232"/>
          <p:cNvSpPr/>
          <p:nvPr/>
        </p:nvSpPr>
        <p:spPr>
          <a:xfrm>
            <a:off x="10056228" y="4069080"/>
            <a:ext cx="216781" cy="384048"/>
          </a:xfrm>
          <a:prstGeom prst="roundRect">
            <a:avLst>
              <a:gd name="adj" fmla="val 21090"/>
            </a:avLst>
          </a:prstGeom>
          <a:solidFill>
            <a:schemeClr val="accent4"/>
          </a:solidFill>
          <a:ln/>
        </p:spPr>
      </p:sp>
      <p:sp>
        <p:nvSpPr>
          <p:cNvPr id="235" name="Shape 233"/>
          <p:cNvSpPr/>
          <p:nvPr/>
        </p:nvSpPr>
        <p:spPr>
          <a:xfrm>
            <a:off x="10083660" y="4383999"/>
            <a:ext cx="161917" cy="69129"/>
          </a:xfrm>
          <a:prstGeom prst="rect">
            <a:avLst/>
          </a:prstGeom>
          <a:solidFill>
            <a:srgbClr val="7D818A"/>
          </a:solidFill>
          <a:ln/>
        </p:spPr>
      </p:sp>
      <p:sp>
        <p:nvSpPr>
          <p:cNvPr id="236" name="Shape 234"/>
          <p:cNvSpPr/>
          <p:nvPr/>
        </p:nvSpPr>
        <p:spPr>
          <a:xfrm>
            <a:off x="10405272" y="4005072"/>
            <a:ext cx="43696" cy="73152"/>
          </a:xfrm>
          <a:prstGeom prst="roundRect">
            <a:avLst>
              <a:gd name="adj" fmla="val 62779"/>
            </a:avLst>
          </a:prstGeom>
          <a:solidFill>
            <a:schemeClr val="accent4"/>
          </a:solidFill>
          <a:ln/>
        </p:spPr>
      </p:sp>
      <p:sp>
        <p:nvSpPr>
          <p:cNvPr id="237" name="Shape 235"/>
          <p:cNvSpPr/>
          <p:nvPr/>
        </p:nvSpPr>
        <p:spPr>
          <a:xfrm>
            <a:off x="10318730" y="4069080"/>
            <a:ext cx="216781" cy="384048"/>
          </a:xfrm>
          <a:prstGeom prst="roundRect">
            <a:avLst>
              <a:gd name="adj" fmla="val 21090"/>
            </a:avLst>
          </a:prstGeom>
          <a:solidFill>
            <a:schemeClr val="accent4"/>
          </a:solidFill>
          <a:ln/>
        </p:spPr>
      </p:sp>
      <p:sp>
        <p:nvSpPr>
          <p:cNvPr id="238" name="Shape 236"/>
          <p:cNvSpPr/>
          <p:nvPr/>
        </p:nvSpPr>
        <p:spPr>
          <a:xfrm>
            <a:off x="10346162" y="4383999"/>
            <a:ext cx="161917" cy="69129"/>
          </a:xfrm>
          <a:prstGeom prst="rect">
            <a:avLst/>
          </a:prstGeom>
          <a:solidFill>
            <a:srgbClr val="7D818A"/>
          </a:solidFill>
          <a:ln/>
        </p:spPr>
      </p:sp>
      <p:sp>
        <p:nvSpPr>
          <p:cNvPr id="239" name="Shape 237"/>
          <p:cNvSpPr/>
          <p:nvPr/>
        </p:nvSpPr>
        <p:spPr>
          <a:xfrm>
            <a:off x="10667774" y="4005072"/>
            <a:ext cx="43696" cy="73152"/>
          </a:xfrm>
          <a:prstGeom prst="roundRect">
            <a:avLst>
              <a:gd name="adj" fmla="val 62779"/>
            </a:avLst>
          </a:prstGeom>
          <a:solidFill>
            <a:schemeClr val="accent4"/>
          </a:solidFill>
          <a:ln/>
        </p:spPr>
      </p:sp>
      <p:sp>
        <p:nvSpPr>
          <p:cNvPr id="240" name="Shape 238"/>
          <p:cNvSpPr/>
          <p:nvPr/>
        </p:nvSpPr>
        <p:spPr>
          <a:xfrm>
            <a:off x="10581231" y="4069080"/>
            <a:ext cx="216781" cy="384048"/>
          </a:xfrm>
          <a:prstGeom prst="roundRect">
            <a:avLst>
              <a:gd name="adj" fmla="val 21090"/>
            </a:avLst>
          </a:prstGeom>
          <a:solidFill>
            <a:schemeClr val="accent4"/>
          </a:solidFill>
          <a:ln/>
        </p:spPr>
      </p:sp>
      <p:sp>
        <p:nvSpPr>
          <p:cNvPr id="241" name="Shape 239"/>
          <p:cNvSpPr/>
          <p:nvPr/>
        </p:nvSpPr>
        <p:spPr>
          <a:xfrm>
            <a:off x="10608663" y="4383999"/>
            <a:ext cx="161917" cy="69129"/>
          </a:xfrm>
          <a:prstGeom prst="rect">
            <a:avLst/>
          </a:prstGeom>
          <a:solidFill>
            <a:srgbClr val="7D818A"/>
          </a:solidFill>
          <a:ln/>
        </p:spPr>
      </p:sp>
      <p:sp>
        <p:nvSpPr>
          <p:cNvPr id="242" name="Shape 240"/>
          <p:cNvSpPr/>
          <p:nvPr/>
        </p:nvSpPr>
        <p:spPr>
          <a:xfrm>
            <a:off x="10930275" y="4005072"/>
            <a:ext cx="43696" cy="73152"/>
          </a:xfrm>
          <a:prstGeom prst="roundRect">
            <a:avLst>
              <a:gd name="adj" fmla="val 62779"/>
            </a:avLst>
          </a:prstGeom>
          <a:solidFill>
            <a:schemeClr val="accent4"/>
          </a:solidFill>
          <a:ln/>
        </p:spPr>
      </p:sp>
      <p:sp>
        <p:nvSpPr>
          <p:cNvPr id="243" name="Shape 241"/>
          <p:cNvSpPr/>
          <p:nvPr/>
        </p:nvSpPr>
        <p:spPr>
          <a:xfrm>
            <a:off x="10843732" y="4069080"/>
            <a:ext cx="216781" cy="384048"/>
          </a:xfrm>
          <a:prstGeom prst="roundRect">
            <a:avLst>
              <a:gd name="adj" fmla="val 21090"/>
            </a:avLst>
          </a:prstGeom>
          <a:solidFill>
            <a:schemeClr val="accent4"/>
          </a:solidFill>
          <a:ln/>
        </p:spPr>
      </p:sp>
      <p:sp>
        <p:nvSpPr>
          <p:cNvPr id="244" name="Shape 242"/>
          <p:cNvSpPr/>
          <p:nvPr/>
        </p:nvSpPr>
        <p:spPr>
          <a:xfrm>
            <a:off x="10871164" y="4383999"/>
            <a:ext cx="161917" cy="69129"/>
          </a:xfrm>
          <a:prstGeom prst="rect">
            <a:avLst/>
          </a:prstGeom>
          <a:solidFill>
            <a:srgbClr val="7D818A"/>
          </a:solidFill>
          <a:ln/>
        </p:spPr>
      </p:sp>
      <p:sp>
        <p:nvSpPr>
          <p:cNvPr id="245" name="Shape 243"/>
          <p:cNvSpPr/>
          <p:nvPr/>
        </p:nvSpPr>
        <p:spPr>
          <a:xfrm>
            <a:off x="11192777" y="4005072"/>
            <a:ext cx="43696" cy="73152"/>
          </a:xfrm>
          <a:prstGeom prst="roundRect">
            <a:avLst>
              <a:gd name="adj" fmla="val 62779"/>
            </a:avLst>
          </a:prstGeom>
          <a:solidFill>
            <a:schemeClr val="accent4"/>
          </a:solidFill>
          <a:ln/>
        </p:spPr>
      </p:sp>
      <p:sp>
        <p:nvSpPr>
          <p:cNvPr id="246" name="Shape 244"/>
          <p:cNvSpPr/>
          <p:nvPr/>
        </p:nvSpPr>
        <p:spPr>
          <a:xfrm>
            <a:off x="11106234" y="4069080"/>
            <a:ext cx="216781" cy="384048"/>
          </a:xfrm>
          <a:prstGeom prst="roundRect">
            <a:avLst>
              <a:gd name="adj" fmla="val 21090"/>
            </a:avLst>
          </a:prstGeom>
          <a:solidFill>
            <a:schemeClr val="accent4"/>
          </a:solidFill>
          <a:ln/>
        </p:spPr>
      </p:sp>
      <p:sp>
        <p:nvSpPr>
          <p:cNvPr id="247" name="Shape 245"/>
          <p:cNvSpPr/>
          <p:nvPr/>
        </p:nvSpPr>
        <p:spPr>
          <a:xfrm>
            <a:off x="11133666" y="4383999"/>
            <a:ext cx="161917" cy="69129"/>
          </a:xfrm>
          <a:prstGeom prst="rect">
            <a:avLst/>
          </a:prstGeom>
          <a:solidFill>
            <a:srgbClr val="7D818A"/>
          </a:solidFill>
          <a:ln/>
        </p:spPr>
      </p:sp>
      <p:sp>
        <p:nvSpPr>
          <p:cNvPr id="248" name="Text 246"/>
          <p:cNvSpPr txBox="1"/>
          <p:nvPr/>
        </p:nvSpPr>
        <p:spPr>
          <a:xfrm>
            <a:off x="868680" y="4754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Junio de 2026</a:t>
            </a:r>
            <a:pPr indent="0" marL="0">
              <a:buNone/>
            </a:pPr>
            <a:r>
              <a:rPr lang="en-US" sz="1500" dirty="0">
                <a:solidFill>
                  <a:schemeClr val="tx2"/>
                </a:solidFill>
              </a:rPr>
              <a:t>   17,5% en mora: 7 de cada 40, más de 1 de cada 6</a:t>
            </a:r>
            <a:endParaRPr lang="en-US" sz="1500" dirty="0"/>
          </a:p>
        </p:txBody>
      </p:sp>
      <p:sp>
        <p:nvSpPr>
          <p:cNvPr id="249" name="Shape 247"/>
          <p:cNvSpPr/>
          <p:nvPr/>
        </p:nvSpPr>
        <p:spPr>
          <a:xfrm>
            <a:off x="955223" y="5148072"/>
            <a:ext cx="43696" cy="73152"/>
          </a:xfrm>
          <a:prstGeom prst="roundRect">
            <a:avLst>
              <a:gd name="adj" fmla="val 62779"/>
            </a:avLst>
          </a:prstGeom>
          <a:solidFill>
            <a:schemeClr val="accent1"/>
          </a:solidFill>
          <a:ln/>
        </p:spPr>
      </p:sp>
      <p:sp>
        <p:nvSpPr>
          <p:cNvPr id="250" name="Shape 248"/>
          <p:cNvSpPr/>
          <p:nvPr/>
        </p:nvSpPr>
        <p:spPr>
          <a:xfrm>
            <a:off x="868680" y="5212080"/>
            <a:ext cx="216781" cy="384048"/>
          </a:xfrm>
          <a:prstGeom prst="roundRect">
            <a:avLst>
              <a:gd name="adj" fmla="val 21090"/>
            </a:avLst>
          </a:prstGeom>
          <a:solidFill>
            <a:schemeClr val="accent1"/>
          </a:solidFill>
          <a:ln/>
        </p:spPr>
      </p:sp>
      <p:sp>
        <p:nvSpPr>
          <p:cNvPr id="251" name="Shape 249"/>
          <p:cNvSpPr/>
          <p:nvPr/>
        </p:nvSpPr>
        <p:spPr>
          <a:xfrm>
            <a:off x="896112" y="5526999"/>
            <a:ext cx="161917" cy="69129"/>
          </a:xfrm>
          <a:prstGeom prst="rect">
            <a:avLst/>
          </a:prstGeom>
          <a:solidFill>
            <a:srgbClr val="A92E25"/>
          </a:solidFill>
          <a:ln/>
        </p:spPr>
      </p:sp>
      <p:sp>
        <p:nvSpPr>
          <p:cNvPr id="252" name="Shape 250"/>
          <p:cNvSpPr/>
          <p:nvPr/>
        </p:nvSpPr>
        <p:spPr>
          <a:xfrm>
            <a:off x="1217724" y="5148072"/>
            <a:ext cx="43696" cy="73152"/>
          </a:xfrm>
          <a:prstGeom prst="roundRect">
            <a:avLst>
              <a:gd name="adj" fmla="val 62779"/>
            </a:avLst>
          </a:prstGeom>
          <a:solidFill>
            <a:schemeClr val="accent1"/>
          </a:solidFill>
          <a:ln/>
        </p:spPr>
      </p:sp>
      <p:sp>
        <p:nvSpPr>
          <p:cNvPr id="253" name="Shape 251"/>
          <p:cNvSpPr/>
          <p:nvPr/>
        </p:nvSpPr>
        <p:spPr>
          <a:xfrm>
            <a:off x="1131181" y="5212080"/>
            <a:ext cx="216781" cy="384048"/>
          </a:xfrm>
          <a:prstGeom prst="roundRect">
            <a:avLst>
              <a:gd name="adj" fmla="val 21090"/>
            </a:avLst>
          </a:prstGeom>
          <a:solidFill>
            <a:schemeClr val="accent1"/>
          </a:solidFill>
          <a:ln/>
        </p:spPr>
      </p:sp>
      <p:sp>
        <p:nvSpPr>
          <p:cNvPr id="254" name="Shape 252"/>
          <p:cNvSpPr/>
          <p:nvPr/>
        </p:nvSpPr>
        <p:spPr>
          <a:xfrm>
            <a:off x="1158613" y="5526999"/>
            <a:ext cx="161917" cy="69129"/>
          </a:xfrm>
          <a:prstGeom prst="rect">
            <a:avLst/>
          </a:prstGeom>
          <a:solidFill>
            <a:srgbClr val="A92E25"/>
          </a:solidFill>
          <a:ln/>
        </p:spPr>
      </p:sp>
      <p:sp>
        <p:nvSpPr>
          <p:cNvPr id="255" name="Shape 253"/>
          <p:cNvSpPr/>
          <p:nvPr/>
        </p:nvSpPr>
        <p:spPr>
          <a:xfrm>
            <a:off x="1480225" y="5148072"/>
            <a:ext cx="43696" cy="73152"/>
          </a:xfrm>
          <a:prstGeom prst="roundRect">
            <a:avLst>
              <a:gd name="adj" fmla="val 62779"/>
            </a:avLst>
          </a:prstGeom>
          <a:solidFill>
            <a:schemeClr val="accent1"/>
          </a:solidFill>
          <a:ln/>
        </p:spPr>
      </p:sp>
      <p:sp>
        <p:nvSpPr>
          <p:cNvPr id="256" name="Shape 254"/>
          <p:cNvSpPr/>
          <p:nvPr/>
        </p:nvSpPr>
        <p:spPr>
          <a:xfrm>
            <a:off x="1393683" y="5212080"/>
            <a:ext cx="216781" cy="384048"/>
          </a:xfrm>
          <a:prstGeom prst="roundRect">
            <a:avLst>
              <a:gd name="adj" fmla="val 21090"/>
            </a:avLst>
          </a:prstGeom>
          <a:solidFill>
            <a:schemeClr val="accent1"/>
          </a:solidFill>
          <a:ln/>
        </p:spPr>
      </p:sp>
      <p:sp>
        <p:nvSpPr>
          <p:cNvPr id="257" name="Shape 255"/>
          <p:cNvSpPr/>
          <p:nvPr/>
        </p:nvSpPr>
        <p:spPr>
          <a:xfrm>
            <a:off x="1421115" y="5526999"/>
            <a:ext cx="161917" cy="69129"/>
          </a:xfrm>
          <a:prstGeom prst="rect">
            <a:avLst/>
          </a:prstGeom>
          <a:solidFill>
            <a:srgbClr val="A92E25"/>
          </a:solidFill>
          <a:ln/>
        </p:spPr>
      </p:sp>
      <p:sp>
        <p:nvSpPr>
          <p:cNvPr id="258" name="Shape 256"/>
          <p:cNvSpPr/>
          <p:nvPr/>
        </p:nvSpPr>
        <p:spPr>
          <a:xfrm>
            <a:off x="1742727" y="5148072"/>
            <a:ext cx="43696" cy="73152"/>
          </a:xfrm>
          <a:prstGeom prst="roundRect">
            <a:avLst>
              <a:gd name="adj" fmla="val 62779"/>
            </a:avLst>
          </a:prstGeom>
          <a:solidFill>
            <a:schemeClr val="accent1"/>
          </a:solidFill>
          <a:ln/>
        </p:spPr>
      </p:sp>
      <p:sp>
        <p:nvSpPr>
          <p:cNvPr id="259" name="Shape 257"/>
          <p:cNvSpPr/>
          <p:nvPr/>
        </p:nvSpPr>
        <p:spPr>
          <a:xfrm>
            <a:off x="1656184" y="5212080"/>
            <a:ext cx="216781" cy="384048"/>
          </a:xfrm>
          <a:prstGeom prst="roundRect">
            <a:avLst>
              <a:gd name="adj" fmla="val 21090"/>
            </a:avLst>
          </a:prstGeom>
          <a:solidFill>
            <a:schemeClr val="accent1"/>
          </a:solidFill>
          <a:ln/>
        </p:spPr>
      </p:sp>
      <p:sp>
        <p:nvSpPr>
          <p:cNvPr id="260" name="Shape 258"/>
          <p:cNvSpPr/>
          <p:nvPr/>
        </p:nvSpPr>
        <p:spPr>
          <a:xfrm>
            <a:off x="1683616" y="5526999"/>
            <a:ext cx="161917" cy="69129"/>
          </a:xfrm>
          <a:prstGeom prst="rect">
            <a:avLst/>
          </a:prstGeom>
          <a:solidFill>
            <a:srgbClr val="A92E25"/>
          </a:solidFill>
          <a:ln/>
        </p:spPr>
      </p:sp>
      <p:sp>
        <p:nvSpPr>
          <p:cNvPr id="261" name="Shape 259"/>
          <p:cNvSpPr/>
          <p:nvPr/>
        </p:nvSpPr>
        <p:spPr>
          <a:xfrm>
            <a:off x="2005228" y="5148072"/>
            <a:ext cx="43696" cy="73152"/>
          </a:xfrm>
          <a:prstGeom prst="roundRect">
            <a:avLst>
              <a:gd name="adj" fmla="val 62779"/>
            </a:avLst>
          </a:prstGeom>
          <a:solidFill>
            <a:schemeClr val="accent1"/>
          </a:solidFill>
          <a:ln/>
        </p:spPr>
      </p:sp>
      <p:sp>
        <p:nvSpPr>
          <p:cNvPr id="262" name="Shape 260"/>
          <p:cNvSpPr/>
          <p:nvPr/>
        </p:nvSpPr>
        <p:spPr>
          <a:xfrm>
            <a:off x="1918686" y="5212080"/>
            <a:ext cx="216781" cy="384048"/>
          </a:xfrm>
          <a:prstGeom prst="roundRect">
            <a:avLst>
              <a:gd name="adj" fmla="val 21090"/>
            </a:avLst>
          </a:prstGeom>
          <a:solidFill>
            <a:schemeClr val="accent1"/>
          </a:solidFill>
          <a:ln/>
        </p:spPr>
      </p:sp>
      <p:sp>
        <p:nvSpPr>
          <p:cNvPr id="263" name="Shape 261"/>
          <p:cNvSpPr/>
          <p:nvPr/>
        </p:nvSpPr>
        <p:spPr>
          <a:xfrm>
            <a:off x="1946118" y="5526999"/>
            <a:ext cx="161917" cy="69129"/>
          </a:xfrm>
          <a:prstGeom prst="rect">
            <a:avLst/>
          </a:prstGeom>
          <a:solidFill>
            <a:srgbClr val="A92E25"/>
          </a:solidFill>
          <a:ln/>
        </p:spPr>
      </p:sp>
      <p:sp>
        <p:nvSpPr>
          <p:cNvPr id="264" name="Shape 262"/>
          <p:cNvSpPr/>
          <p:nvPr/>
        </p:nvSpPr>
        <p:spPr>
          <a:xfrm>
            <a:off x="2267730" y="5148072"/>
            <a:ext cx="43696" cy="73152"/>
          </a:xfrm>
          <a:prstGeom prst="roundRect">
            <a:avLst>
              <a:gd name="adj" fmla="val 62779"/>
            </a:avLst>
          </a:prstGeom>
          <a:solidFill>
            <a:schemeClr val="accent1"/>
          </a:solidFill>
          <a:ln/>
        </p:spPr>
      </p:sp>
      <p:sp>
        <p:nvSpPr>
          <p:cNvPr id="265" name="Shape 263"/>
          <p:cNvSpPr/>
          <p:nvPr/>
        </p:nvSpPr>
        <p:spPr>
          <a:xfrm>
            <a:off x="2181187" y="5212080"/>
            <a:ext cx="216781" cy="384048"/>
          </a:xfrm>
          <a:prstGeom prst="roundRect">
            <a:avLst>
              <a:gd name="adj" fmla="val 21090"/>
            </a:avLst>
          </a:prstGeom>
          <a:solidFill>
            <a:schemeClr val="accent1"/>
          </a:solidFill>
          <a:ln/>
        </p:spPr>
      </p:sp>
      <p:sp>
        <p:nvSpPr>
          <p:cNvPr id="266" name="Shape 264"/>
          <p:cNvSpPr/>
          <p:nvPr/>
        </p:nvSpPr>
        <p:spPr>
          <a:xfrm>
            <a:off x="2208619" y="5526999"/>
            <a:ext cx="161917" cy="69129"/>
          </a:xfrm>
          <a:prstGeom prst="rect">
            <a:avLst/>
          </a:prstGeom>
          <a:solidFill>
            <a:srgbClr val="A92E25"/>
          </a:solidFill>
          <a:ln/>
        </p:spPr>
      </p:sp>
      <p:sp>
        <p:nvSpPr>
          <p:cNvPr id="267" name="Shape 265"/>
          <p:cNvSpPr/>
          <p:nvPr/>
        </p:nvSpPr>
        <p:spPr>
          <a:xfrm>
            <a:off x="2530231" y="5148072"/>
            <a:ext cx="43696" cy="73152"/>
          </a:xfrm>
          <a:prstGeom prst="roundRect">
            <a:avLst>
              <a:gd name="adj" fmla="val 62779"/>
            </a:avLst>
          </a:prstGeom>
          <a:solidFill>
            <a:schemeClr val="accent1"/>
          </a:solidFill>
          <a:ln/>
        </p:spPr>
      </p:sp>
      <p:sp>
        <p:nvSpPr>
          <p:cNvPr id="268" name="Shape 266"/>
          <p:cNvSpPr/>
          <p:nvPr/>
        </p:nvSpPr>
        <p:spPr>
          <a:xfrm>
            <a:off x="2443688" y="5212080"/>
            <a:ext cx="216781" cy="384048"/>
          </a:xfrm>
          <a:prstGeom prst="roundRect">
            <a:avLst>
              <a:gd name="adj" fmla="val 21090"/>
            </a:avLst>
          </a:prstGeom>
          <a:solidFill>
            <a:schemeClr val="accent1"/>
          </a:solidFill>
          <a:ln/>
        </p:spPr>
      </p:sp>
      <p:sp>
        <p:nvSpPr>
          <p:cNvPr id="269" name="Shape 267"/>
          <p:cNvSpPr/>
          <p:nvPr/>
        </p:nvSpPr>
        <p:spPr>
          <a:xfrm>
            <a:off x="2471120" y="5526999"/>
            <a:ext cx="161917" cy="69129"/>
          </a:xfrm>
          <a:prstGeom prst="rect">
            <a:avLst/>
          </a:prstGeom>
          <a:solidFill>
            <a:srgbClr val="A92E25"/>
          </a:solidFill>
          <a:ln/>
        </p:spPr>
      </p:sp>
      <p:sp>
        <p:nvSpPr>
          <p:cNvPr id="270" name="Shape 268"/>
          <p:cNvSpPr/>
          <p:nvPr/>
        </p:nvSpPr>
        <p:spPr>
          <a:xfrm>
            <a:off x="2792732" y="5148072"/>
            <a:ext cx="43696" cy="73152"/>
          </a:xfrm>
          <a:prstGeom prst="roundRect">
            <a:avLst>
              <a:gd name="adj" fmla="val 62779"/>
            </a:avLst>
          </a:prstGeom>
          <a:solidFill>
            <a:schemeClr val="accent4"/>
          </a:solidFill>
          <a:ln/>
        </p:spPr>
      </p:sp>
      <p:sp>
        <p:nvSpPr>
          <p:cNvPr id="271" name="Shape 269"/>
          <p:cNvSpPr/>
          <p:nvPr/>
        </p:nvSpPr>
        <p:spPr>
          <a:xfrm>
            <a:off x="2706190" y="5212080"/>
            <a:ext cx="216781" cy="384048"/>
          </a:xfrm>
          <a:prstGeom prst="roundRect">
            <a:avLst>
              <a:gd name="adj" fmla="val 21090"/>
            </a:avLst>
          </a:prstGeom>
          <a:solidFill>
            <a:schemeClr val="accent4"/>
          </a:solidFill>
          <a:ln/>
        </p:spPr>
      </p:sp>
      <p:sp>
        <p:nvSpPr>
          <p:cNvPr id="272" name="Shape 270"/>
          <p:cNvSpPr/>
          <p:nvPr/>
        </p:nvSpPr>
        <p:spPr>
          <a:xfrm>
            <a:off x="2733622" y="5526999"/>
            <a:ext cx="161917" cy="69129"/>
          </a:xfrm>
          <a:prstGeom prst="rect">
            <a:avLst/>
          </a:prstGeom>
          <a:solidFill>
            <a:srgbClr val="7D818A"/>
          </a:solidFill>
          <a:ln/>
        </p:spPr>
      </p:sp>
      <p:sp>
        <p:nvSpPr>
          <p:cNvPr id="273" name="Shape 271"/>
          <p:cNvSpPr/>
          <p:nvPr/>
        </p:nvSpPr>
        <p:spPr>
          <a:xfrm>
            <a:off x="3055234" y="5148072"/>
            <a:ext cx="43696" cy="73152"/>
          </a:xfrm>
          <a:prstGeom prst="roundRect">
            <a:avLst>
              <a:gd name="adj" fmla="val 62779"/>
            </a:avLst>
          </a:prstGeom>
          <a:solidFill>
            <a:schemeClr val="accent4"/>
          </a:solidFill>
          <a:ln/>
        </p:spPr>
      </p:sp>
      <p:sp>
        <p:nvSpPr>
          <p:cNvPr id="274" name="Shape 272"/>
          <p:cNvSpPr/>
          <p:nvPr/>
        </p:nvSpPr>
        <p:spPr>
          <a:xfrm>
            <a:off x="2968691" y="5212080"/>
            <a:ext cx="216781" cy="384048"/>
          </a:xfrm>
          <a:prstGeom prst="roundRect">
            <a:avLst>
              <a:gd name="adj" fmla="val 21090"/>
            </a:avLst>
          </a:prstGeom>
          <a:solidFill>
            <a:schemeClr val="accent4"/>
          </a:solidFill>
          <a:ln/>
        </p:spPr>
      </p:sp>
      <p:sp>
        <p:nvSpPr>
          <p:cNvPr id="275" name="Shape 273"/>
          <p:cNvSpPr/>
          <p:nvPr/>
        </p:nvSpPr>
        <p:spPr>
          <a:xfrm>
            <a:off x="2996123" y="5526999"/>
            <a:ext cx="161917" cy="69129"/>
          </a:xfrm>
          <a:prstGeom prst="rect">
            <a:avLst/>
          </a:prstGeom>
          <a:solidFill>
            <a:srgbClr val="7D818A"/>
          </a:solidFill>
          <a:ln/>
        </p:spPr>
      </p:sp>
      <p:sp>
        <p:nvSpPr>
          <p:cNvPr id="276" name="Shape 274"/>
          <p:cNvSpPr/>
          <p:nvPr/>
        </p:nvSpPr>
        <p:spPr>
          <a:xfrm>
            <a:off x="3317735" y="5148072"/>
            <a:ext cx="43696" cy="73152"/>
          </a:xfrm>
          <a:prstGeom prst="roundRect">
            <a:avLst>
              <a:gd name="adj" fmla="val 62779"/>
            </a:avLst>
          </a:prstGeom>
          <a:solidFill>
            <a:schemeClr val="accent4"/>
          </a:solidFill>
          <a:ln/>
        </p:spPr>
      </p:sp>
      <p:sp>
        <p:nvSpPr>
          <p:cNvPr id="277" name="Shape 275"/>
          <p:cNvSpPr/>
          <p:nvPr/>
        </p:nvSpPr>
        <p:spPr>
          <a:xfrm>
            <a:off x="3231192" y="5212080"/>
            <a:ext cx="216781" cy="384048"/>
          </a:xfrm>
          <a:prstGeom prst="roundRect">
            <a:avLst>
              <a:gd name="adj" fmla="val 21090"/>
            </a:avLst>
          </a:prstGeom>
          <a:solidFill>
            <a:schemeClr val="accent4"/>
          </a:solidFill>
          <a:ln/>
        </p:spPr>
      </p:sp>
      <p:sp>
        <p:nvSpPr>
          <p:cNvPr id="278" name="Shape 276"/>
          <p:cNvSpPr/>
          <p:nvPr/>
        </p:nvSpPr>
        <p:spPr>
          <a:xfrm>
            <a:off x="3258624" y="5526999"/>
            <a:ext cx="161917" cy="69129"/>
          </a:xfrm>
          <a:prstGeom prst="rect">
            <a:avLst/>
          </a:prstGeom>
          <a:solidFill>
            <a:srgbClr val="7D818A"/>
          </a:solidFill>
          <a:ln/>
        </p:spPr>
      </p:sp>
      <p:sp>
        <p:nvSpPr>
          <p:cNvPr id="279" name="Shape 277"/>
          <p:cNvSpPr/>
          <p:nvPr/>
        </p:nvSpPr>
        <p:spPr>
          <a:xfrm>
            <a:off x="3580237" y="5148072"/>
            <a:ext cx="43696" cy="73152"/>
          </a:xfrm>
          <a:prstGeom prst="roundRect">
            <a:avLst>
              <a:gd name="adj" fmla="val 62779"/>
            </a:avLst>
          </a:prstGeom>
          <a:solidFill>
            <a:schemeClr val="accent4"/>
          </a:solidFill>
          <a:ln/>
        </p:spPr>
      </p:sp>
      <p:sp>
        <p:nvSpPr>
          <p:cNvPr id="280" name="Shape 278"/>
          <p:cNvSpPr/>
          <p:nvPr/>
        </p:nvSpPr>
        <p:spPr>
          <a:xfrm>
            <a:off x="3493694" y="5212080"/>
            <a:ext cx="216781" cy="384048"/>
          </a:xfrm>
          <a:prstGeom prst="roundRect">
            <a:avLst>
              <a:gd name="adj" fmla="val 21090"/>
            </a:avLst>
          </a:prstGeom>
          <a:solidFill>
            <a:schemeClr val="accent4"/>
          </a:solidFill>
          <a:ln/>
        </p:spPr>
      </p:sp>
      <p:sp>
        <p:nvSpPr>
          <p:cNvPr id="281" name="Shape 279"/>
          <p:cNvSpPr/>
          <p:nvPr/>
        </p:nvSpPr>
        <p:spPr>
          <a:xfrm>
            <a:off x="3521126" y="5526999"/>
            <a:ext cx="161917" cy="69129"/>
          </a:xfrm>
          <a:prstGeom prst="rect">
            <a:avLst/>
          </a:prstGeom>
          <a:solidFill>
            <a:srgbClr val="7D818A"/>
          </a:solidFill>
          <a:ln/>
        </p:spPr>
      </p:sp>
      <p:sp>
        <p:nvSpPr>
          <p:cNvPr id="282" name="Shape 280"/>
          <p:cNvSpPr/>
          <p:nvPr/>
        </p:nvSpPr>
        <p:spPr>
          <a:xfrm>
            <a:off x="3842738" y="5148072"/>
            <a:ext cx="43696" cy="73152"/>
          </a:xfrm>
          <a:prstGeom prst="roundRect">
            <a:avLst>
              <a:gd name="adj" fmla="val 62779"/>
            </a:avLst>
          </a:prstGeom>
          <a:solidFill>
            <a:schemeClr val="accent4"/>
          </a:solidFill>
          <a:ln/>
        </p:spPr>
      </p:sp>
      <p:sp>
        <p:nvSpPr>
          <p:cNvPr id="283" name="Shape 281"/>
          <p:cNvSpPr/>
          <p:nvPr/>
        </p:nvSpPr>
        <p:spPr>
          <a:xfrm>
            <a:off x="3756195" y="5212080"/>
            <a:ext cx="216781" cy="384048"/>
          </a:xfrm>
          <a:prstGeom prst="roundRect">
            <a:avLst>
              <a:gd name="adj" fmla="val 21090"/>
            </a:avLst>
          </a:prstGeom>
          <a:solidFill>
            <a:schemeClr val="accent4"/>
          </a:solidFill>
          <a:ln/>
        </p:spPr>
      </p:sp>
      <p:sp>
        <p:nvSpPr>
          <p:cNvPr id="284" name="Shape 282"/>
          <p:cNvSpPr/>
          <p:nvPr/>
        </p:nvSpPr>
        <p:spPr>
          <a:xfrm>
            <a:off x="3783627" y="5526999"/>
            <a:ext cx="161917" cy="69129"/>
          </a:xfrm>
          <a:prstGeom prst="rect">
            <a:avLst/>
          </a:prstGeom>
          <a:solidFill>
            <a:srgbClr val="7D818A"/>
          </a:solidFill>
          <a:ln/>
        </p:spPr>
      </p:sp>
      <p:sp>
        <p:nvSpPr>
          <p:cNvPr id="285" name="Shape 283"/>
          <p:cNvSpPr/>
          <p:nvPr/>
        </p:nvSpPr>
        <p:spPr>
          <a:xfrm>
            <a:off x="4105239" y="5148072"/>
            <a:ext cx="43696" cy="73152"/>
          </a:xfrm>
          <a:prstGeom prst="roundRect">
            <a:avLst>
              <a:gd name="adj" fmla="val 62779"/>
            </a:avLst>
          </a:prstGeom>
          <a:solidFill>
            <a:schemeClr val="accent4"/>
          </a:solidFill>
          <a:ln/>
        </p:spPr>
      </p:sp>
      <p:sp>
        <p:nvSpPr>
          <p:cNvPr id="286" name="Shape 284"/>
          <p:cNvSpPr/>
          <p:nvPr/>
        </p:nvSpPr>
        <p:spPr>
          <a:xfrm>
            <a:off x="4018697" y="5212080"/>
            <a:ext cx="216781" cy="384048"/>
          </a:xfrm>
          <a:prstGeom prst="roundRect">
            <a:avLst>
              <a:gd name="adj" fmla="val 21090"/>
            </a:avLst>
          </a:prstGeom>
          <a:solidFill>
            <a:schemeClr val="accent4"/>
          </a:solidFill>
          <a:ln/>
        </p:spPr>
      </p:sp>
      <p:sp>
        <p:nvSpPr>
          <p:cNvPr id="287" name="Shape 285"/>
          <p:cNvSpPr/>
          <p:nvPr/>
        </p:nvSpPr>
        <p:spPr>
          <a:xfrm>
            <a:off x="4046129" y="5526999"/>
            <a:ext cx="161917" cy="69129"/>
          </a:xfrm>
          <a:prstGeom prst="rect">
            <a:avLst/>
          </a:prstGeom>
          <a:solidFill>
            <a:srgbClr val="7D818A"/>
          </a:solidFill>
          <a:ln/>
        </p:spPr>
      </p:sp>
      <p:sp>
        <p:nvSpPr>
          <p:cNvPr id="288" name="Shape 286"/>
          <p:cNvSpPr/>
          <p:nvPr/>
        </p:nvSpPr>
        <p:spPr>
          <a:xfrm>
            <a:off x="4367741" y="5148072"/>
            <a:ext cx="43696" cy="73152"/>
          </a:xfrm>
          <a:prstGeom prst="roundRect">
            <a:avLst>
              <a:gd name="adj" fmla="val 62779"/>
            </a:avLst>
          </a:prstGeom>
          <a:solidFill>
            <a:schemeClr val="accent4"/>
          </a:solidFill>
          <a:ln/>
        </p:spPr>
      </p:sp>
      <p:sp>
        <p:nvSpPr>
          <p:cNvPr id="289" name="Shape 287"/>
          <p:cNvSpPr/>
          <p:nvPr/>
        </p:nvSpPr>
        <p:spPr>
          <a:xfrm>
            <a:off x="4281198" y="5212080"/>
            <a:ext cx="216781" cy="384048"/>
          </a:xfrm>
          <a:prstGeom prst="roundRect">
            <a:avLst>
              <a:gd name="adj" fmla="val 21090"/>
            </a:avLst>
          </a:prstGeom>
          <a:solidFill>
            <a:schemeClr val="accent4"/>
          </a:solidFill>
          <a:ln/>
        </p:spPr>
      </p:sp>
      <p:sp>
        <p:nvSpPr>
          <p:cNvPr id="290" name="Shape 288"/>
          <p:cNvSpPr/>
          <p:nvPr/>
        </p:nvSpPr>
        <p:spPr>
          <a:xfrm>
            <a:off x="4308630" y="5526999"/>
            <a:ext cx="161917" cy="69129"/>
          </a:xfrm>
          <a:prstGeom prst="rect">
            <a:avLst/>
          </a:prstGeom>
          <a:solidFill>
            <a:srgbClr val="7D818A"/>
          </a:solidFill>
          <a:ln/>
        </p:spPr>
      </p:sp>
      <p:sp>
        <p:nvSpPr>
          <p:cNvPr id="291" name="Shape 289"/>
          <p:cNvSpPr/>
          <p:nvPr/>
        </p:nvSpPr>
        <p:spPr>
          <a:xfrm>
            <a:off x="4630242" y="5148072"/>
            <a:ext cx="43696" cy="73152"/>
          </a:xfrm>
          <a:prstGeom prst="roundRect">
            <a:avLst>
              <a:gd name="adj" fmla="val 62779"/>
            </a:avLst>
          </a:prstGeom>
          <a:solidFill>
            <a:schemeClr val="accent4"/>
          </a:solidFill>
          <a:ln/>
        </p:spPr>
      </p:sp>
      <p:sp>
        <p:nvSpPr>
          <p:cNvPr id="292" name="Shape 290"/>
          <p:cNvSpPr/>
          <p:nvPr/>
        </p:nvSpPr>
        <p:spPr>
          <a:xfrm>
            <a:off x="4543699" y="5212080"/>
            <a:ext cx="216781" cy="384048"/>
          </a:xfrm>
          <a:prstGeom prst="roundRect">
            <a:avLst>
              <a:gd name="adj" fmla="val 21090"/>
            </a:avLst>
          </a:prstGeom>
          <a:solidFill>
            <a:schemeClr val="accent4"/>
          </a:solidFill>
          <a:ln/>
        </p:spPr>
      </p:sp>
      <p:sp>
        <p:nvSpPr>
          <p:cNvPr id="293" name="Shape 291"/>
          <p:cNvSpPr/>
          <p:nvPr/>
        </p:nvSpPr>
        <p:spPr>
          <a:xfrm>
            <a:off x="4571131" y="5526999"/>
            <a:ext cx="161917" cy="69129"/>
          </a:xfrm>
          <a:prstGeom prst="rect">
            <a:avLst/>
          </a:prstGeom>
          <a:solidFill>
            <a:srgbClr val="7D818A"/>
          </a:solidFill>
          <a:ln/>
        </p:spPr>
      </p:sp>
      <p:sp>
        <p:nvSpPr>
          <p:cNvPr id="294" name="Shape 292"/>
          <p:cNvSpPr/>
          <p:nvPr/>
        </p:nvSpPr>
        <p:spPr>
          <a:xfrm>
            <a:off x="4892743" y="5148072"/>
            <a:ext cx="43696" cy="73152"/>
          </a:xfrm>
          <a:prstGeom prst="roundRect">
            <a:avLst>
              <a:gd name="adj" fmla="val 62779"/>
            </a:avLst>
          </a:prstGeom>
          <a:solidFill>
            <a:schemeClr val="accent4"/>
          </a:solidFill>
          <a:ln/>
        </p:spPr>
      </p:sp>
      <p:sp>
        <p:nvSpPr>
          <p:cNvPr id="295" name="Shape 293"/>
          <p:cNvSpPr/>
          <p:nvPr/>
        </p:nvSpPr>
        <p:spPr>
          <a:xfrm>
            <a:off x="4806201" y="5212080"/>
            <a:ext cx="216781" cy="384048"/>
          </a:xfrm>
          <a:prstGeom prst="roundRect">
            <a:avLst>
              <a:gd name="adj" fmla="val 21090"/>
            </a:avLst>
          </a:prstGeom>
          <a:solidFill>
            <a:schemeClr val="accent4"/>
          </a:solidFill>
          <a:ln/>
        </p:spPr>
      </p:sp>
      <p:sp>
        <p:nvSpPr>
          <p:cNvPr id="296" name="Shape 294"/>
          <p:cNvSpPr/>
          <p:nvPr/>
        </p:nvSpPr>
        <p:spPr>
          <a:xfrm>
            <a:off x="4833633" y="5526999"/>
            <a:ext cx="161917" cy="69129"/>
          </a:xfrm>
          <a:prstGeom prst="rect">
            <a:avLst/>
          </a:prstGeom>
          <a:solidFill>
            <a:srgbClr val="7D818A"/>
          </a:solidFill>
          <a:ln/>
        </p:spPr>
      </p:sp>
      <p:sp>
        <p:nvSpPr>
          <p:cNvPr id="297" name="Shape 295"/>
          <p:cNvSpPr/>
          <p:nvPr/>
        </p:nvSpPr>
        <p:spPr>
          <a:xfrm>
            <a:off x="5155245" y="5148072"/>
            <a:ext cx="43696" cy="73152"/>
          </a:xfrm>
          <a:prstGeom prst="roundRect">
            <a:avLst>
              <a:gd name="adj" fmla="val 62779"/>
            </a:avLst>
          </a:prstGeom>
          <a:solidFill>
            <a:schemeClr val="accent4"/>
          </a:solidFill>
          <a:ln/>
        </p:spPr>
      </p:sp>
      <p:sp>
        <p:nvSpPr>
          <p:cNvPr id="298" name="Shape 296"/>
          <p:cNvSpPr/>
          <p:nvPr/>
        </p:nvSpPr>
        <p:spPr>
          <a:xfrm>
            <a:off x="5068702" y="5212080"/>
            <a:ext cx="216781" cy="384048"/>
          </a:xfrm>
          <a:prstGeom prst="roundRect">
            <a:avLst>
              <a:gd name="adj" fmla="val 21090"/>
            </a:avLst>
          </a:prstGeom>
          <a:solidFill>
            <a:schemeClr val="accent4"/>
          </a:solidFill>
          <a:ln/>
        </p:spPr>
      </p:sp>
      <p:sp>
        <p:nvSpPr>
          <p:cNvPr id="299" name="Shape 297"/>
          <p:cNvSpPr/>
          <p:nvPr/>
        </p:nvSpPr>
        <p:spPr>
          <a:xfrm>
            <a:off x="5096134" y="5526999"/>
            <a:ext cx="161917" cy="69129"/>
          </a:xfrm>
          <a:prstGeom prst="rect">
            <a:avLst/>
          </a:prstGeom>
          <a:solidFill>
            <a:srgbClr val="7D818A"/>
          </a:solidFill>
          <a:ln/>
        </p:spPr>
      </p:sp>
      <p:sp>
        <p:nvSpPr>
          <p:cNvPr id="300" name="Shape 298"/>
          <p:cNvSpPr/>
          <p:nvPr/>
        </p:nvSpPr>
        <p:spPr>
          <a:xfrm>
            <a:off x="5417746" y="5148072"/>
            <a:ext cx="43696" cy="73152"/>
          </a:xfrm>
          <a:prstGeom prst="roundRect">
            <a:avLst>
              <a:gd name="adj" fmla="val 62779"/>
            </a:avLst>
          </a:prstGeom>
          <a:solidFill>
            <a:schemeClr val="accent4"/>
          </a:solidFill>
          <a:ln/>
        </p:spPr>
      </p:sp>
      <p:sp>
        <p:nvSpPr>
          <p:cNvPr id="301" name="Shape 299"/>
          <p:cNvSpPr/>
          <p:nvPr/>
        </p:nvSpPr>
        <p:spPr>
          <a:xfrm>
            <a:off x="5331203" y="5212080"/>
            <a:ext cx="216781" cy="384048"/>
          </a:xfrm>
          <a:prstGeom prst="roundRect">
            <a:avLst>
              <a:gd name="adj" fmla="val 21090"/>
            </a:avLst>
          </a:prstGeom>
          <a:solidFill>
            <a:schemeClr val="accent4"/>
          </a:solidFill>
          <a:ln/>
        </p:spPr>
      </p:sp>
      <p:sp>
        <p:nvSpPr>
          <p:cNvPr id="302" name="Shape 300"/>
          <p:cNvSpPr/>
          <p:nvPr/>
        </p:nvSpPr>
        <p:spPr>
          <a:xfrm>
            <a:off x="5358635" y="5526999"/>
            <a:ext cx="161917" cy="69129"/>
          </a:xfrm>
          <a:prstGeom prst="rect">
            <a:avLst/>
          </a:prstGeom>
          <a:solidFill>
            <a:srgbClr val="7D818A"/>
          </a:solidFill>
          <a:ln/>
        </p:spPr>
      </p:sp>
      <p:sp>
        <p:nvSpPr>
          <p:cNvPr id="303" name="Shape 301"/>
          <p:cNvSpPr/>
          <p:nvPr/>
        </p:nvSpPr>
        <p:spPr>
          <a:xfrm>
            <a:off x="5680248" y="5148072"/>
            <a:ext cx="43696" cy="73152"/>
          </a:xfrm>
          <a:prstGeom prst="roundRect">
            <a:avLst>
              <a:gd name="adj" fmla="val 62779"/>
            </a:avLst>
          </a:prstGeom>
          <a:solidFill>
            <a:schemeClr val="accent4"/>
          </a:solidFill>
          <a:ln/>
        </p:spPr>
      </p:sp>
      <p:sp>
        <p:nvSpPr>
          <p:cNvPr id="304" name="Shape 302"/>
          <p:cNvSpPr/>
          <p:nvPr/>
        </p:nvSpPr>
        <p:spPr>
          <a:xfrm>
            <a:off x="5593705" y="5212080"/>
            <a:ext cx="216781" cy="384048"/>
          </a:xfrm>
          <a:prstGeom prst="roundRect">
            <a:avLst>
              <a:gd name="adj" fmla="val 21090"/>
            </a:avLst>
          </a:prstGeom>
          <a:solidFill>
            <a:schemeClr val="accent4"/>
          </a:solidFill>
          <a:ln/>
        </p:spPr>
      </p:sp>
      <p:sp>
        <p:nvSpPr>
          <p:cNvPr id="305" name="Shape 303"/>
          <p:cNvSpPr/>
          <p:nvPr/>
        </p:nvSpPr>
        <p:spPr>
          <a:xfrm>
            <a:off x="5621137" y="5526999"/>
            <a:ext cx="161917" cy="69129"/>
          </a:xfrm>
          <a:prstGeom prst="rect">
            <a:avLst/>
          </a:prstGeom>
          <a:solidFill>
            <a:srgbClr val="7D818A"/>
          </a:solidFill>
          <a:ln/>
        </p:spPr>
      </p:sp>
      <p:sp>
        <p:nvSpPr>
          <p:cNvPr id="306" name="Shape 304"/>
          <p:cNvSpPr/>
          <p:nvPr/>
        </p:nvSpPr>
        <p:spPr>
          <a:xfrm>
            <a:off x="5942749" y="5148072"/>
            <a:ext cx="43696" cy="73152"/>
          </a:xfrm>
          <a:prstGeom prst="roundRect">
            <a:avLst>
              <a:gd name="adj" fmla="val 62779"/>
            </a:avLst>
          </a:prstGeom>
          <a:solidFill>
            <a:schemeClr val="accent4"/>
          </a:solidFill>
          <a:ln/>
        </p:spPr>
      </p:sp>
      <p:sp>
        <p:nvSpPr>
          <p:cNvPr id="307" name="Shape 305"/>
          <p:cNvSpPr/>
          <p:nvPr/>
        </p:nvSpPr>
        <p:spPr>
          <a:xfrm>
            <a:off x="5856206" y="5212080"/>
            <a:ext cx="216781" cy="384048"/>
          </a:xfrm>
          <a:prstGeom prst="roundRect">
            <a:avLst>
              <a:gd name="adj" fmla="val 21090"/>
            </a:avLst>
          </a:prstGeom>
          <a:solidFill>
            <a:schemeClr val="accent4"/>
          </a:solidFill>
          <a:ln/>
        </p:spPr>
      </p:sp>
      <p:sp>
        <p:nvSpPr>
          <p:cNvPr id="308" name="Shape 306"/>
          <p:cNvSpPr/>
          <p:nvPr/>
        </p:nvSpPr>
        <p:spPr>
          <a:xfrm>
            <a:off x="5883638" y="5526999"/>
            <a:ext cx="161917" cy="69129"/>
          </a:xfrm>
          <a:prstGeom prst="rect">
            <a:avLst/>
          </a:prstGeom>
          <a:solidFill>
            <a:srgbClr val="7D818A"/>
          </a:solidFill>
          <a:ln/>
        </p:spPr>
      </p:sp>
      <p:sp>
        <p:nvSpPr>
          <p:cNvPr id="309" name="Shape 307"/>
          <p:cNvSpPr/>
          <p:nvPr/>
        </p:nvSpPr>
        <p:spPr>
          <a:xfrm>
            <a:off x="6205250" y="5148072"/>
            <a:ext cx="43696" cy="73152"/>
          </a:xfrm>
          <a:prstGeom prst="roundRect">
            <a:avLst>
              <a:gd name="adj" fmla="val 62779"/>
            </a:avLst>
          </a:prstGeom>
          <a:solidFill>
            <a:schemeClr val="accent4"/>
          </a:solidFill>
          <a:ln/>
        </p:spPr>
      </p:sp>
      <p:sp>
        <p:nvSpPr>
          <p:cNvPr id="310" name="Shape 308"/>
          <p:cNvSpPr/>
          <p:nvPr/>
        </p:nvSpPr>
        <p:spPr>
          <a:xfrm>
            <a:off x="6118708" y="5212080"/>
            <a:ext cx="216781" cy="384048"/>
          </a:xfrm>
          <a:prstGeom prst="roundRect">
            <a:avLst>
              <a:gd name="adj" fmla="val 21090"/>
            </a:avLst>
          </a:prstGeom>
          <a:solidFill>
            <a:schemeClr val="accent4"/>
          </a:solidFill>
          <a:ln/>
        </p:spPr>
      </p:sp>
      <p:sp>
        <p:nvSpPr>
          <p:cNvPr id="311" name="Shape 309"/>
          <p:cNvSpPr/>
          <p:nvPr/>
        </p:nvSpPr>
        <p:spPr>
          <a:xfrm>
            <a:off x="6146140" y="5526999"/>
            <a:ext cx="161917" cy="69129"/>
          </a:xfrm>
          <a:prstGeom prst="rect">
            <a:avLst/>
          </a:prstGeom>
          <a:solidFill>
            <a:srgbClr val="7D818A"/>
          </a:solidFill>
          <a:ln/>
        </p:spPr>
      </p:sp>
      <p:sp>
        <p:nvSpPr>
          <p:cNvPr id="312" name="Shape 310"/>
          <p:cNvSpPr/>
          <p:nvPr/>
        </p:nvSpPr>
        <p:spPr>
          <a:xfrm>
            <a:off x="6467752" y="5148072"/>
            <a:ext cx="43696" cy="73152"/>
          </a:xfrm>
          <a:prstGeom prst="roundRect">
            <a:avLst>
              <a:gd name="adj" fmla="val 62779"/>
            </a:avLst>
          </a:prstGeom>
          <a:solidFill>
            <a:schemeClr val="accent4"/>
          </a:solidFill>
          <a:ln/>
        </p:spPr>
      </p:sp>
      <p:sp>
        <p:nvSpPr>
          <p:cNvPr id="313" name="Shape 311"/>
          <p:cNvSpPr/>
          <p:nvPr/>
        </p:nvSpPr>
        <p:spPr>
          <a:xfrm>
            <a:off x="6381209" y="5212080"/>
            <a:ext cx="216781" cy="384048"/>
          </a:xfrm>
          <a:prstGeom prst="roundRect">
            <a:avLst>
              <a:gd name="adj" fmla="val 21090"/>
            </a:avLst>
          </a:prstGeom>
          <a:solidFill>
            <a:schemeClr val="accent4"/>
          </a:solidFill>
          <a:ln/>
        </p:spPr>
      </p:sp>
      <p:sp>
        <p:nvSpPr>
          <p:cNvPr id="314" name="Shape 312"/>
          <p:cNvSpPr/>
          <p:nvPr/>
        </p:nvSpPr>
        <p:spPr>
          <a:xfrm>
            <a:off x="6408641" y="5526999"/>
            <a:ext cx="161917" cy="69129"/>
          </a:xfrm>
          <a:prstGeom prst="rect">
            <a:avLst/>
          </a:prstGeom>
          <a:solidFill>
            <a:srgbClr val="7D818A"/>
          </a:solidFill>
          <a:ln/>
        </p:spPr>
      </p:sp>
      <p:sp>
        <p:nvSpPr>
          <p:cNvPr id="315" name="Shape 313"/>
          <p:cNvSpPr/>
          <p:nvPr/>
        </p:nvSpPr>
        <p:spPr>
          <a:xfrm>
            <a:off x="6730253" y="5148072"/>
            <a:ext cx="43696" cy="73152"/>
          </a:xfrm>
          <a:prstGeom prst="roundRect">
            <a:avLst>
              <a:gd name="adj" fmla="val 62779"/>
            </a:avLst>
          </a:prstGeom>
          <a:solidFill>
            <a:schemeClr val="accent4"/>
          </a:solidFill>
          <a:ln/>
        </p:spPr>
      </p:sp>
      <p:sp>
        <p:nvSpPr>
          <p:cNvPr id="316" name="Shape 314"/>
          <p:cNvSpPr/>
          <p:nvPr/>
        </p:nvSpPr>
        <p:spPr>
          <a:xfrm>
            <a:off x="6643710" y="5212080"/>
            <a:ext cx="216781" cy="384048"/>
          </a:xfrm>
          <a:prstGeom prst="roundRect">
            <a:avLst>
              <a:gd name="adj" fmla="val 21090"/>
            </a:avLst>
          </a:prstGeom>
          <a:solidFill>
            <a:schemeClr val="accent4"/>
          </a:solidFill>
          <a:ln/>
        </p:spPr>
      </p:sp>
      <p:sp>
        <p:nvSpPr>
          <p:cNvPr id="317" name="Shape 315"/>
          <p:cNvSpPr/>
          <p:nvPr/>
        </p:nvSpPr>
        <p:spPr>
          <a:xfrm>
            <a:off x="6671142" y="5526999"/>
            <a:ext cx="161917" cy="69129"/>
          </a:xfrm>
          <a:prstGeom prst="rect">
            <a:avLst/>
          </a:prstGeom>
          <a:solidFill>
            <a:srgbClr val="7D818A"/>
          </a:solidFill>
          <a:ln/>
        </p:spPr>
      </p:sp>
      <p:sp>
        <p:nvSpPr>
          <p:cNvPr id="318" name="Shape 316"/>
          <p:cNvSpPr/>
          <p:nvPr/>
        </p:nvSpPr>
        <p:spPr>
          <a:xfrm>
            <a:off x="6992754" y="5148072"/>
            <a:ext cx="43696" cy="73152"/>
          </a:xfrm>
          <a:prstGeom prst="roundRect">
            <a:avLst>
              <a:gd name="adj" fmla="val 62779"/>
            </a:avLst>
          </a:prstGeom>
          <a:solidFill>
            <a:schemeClr val="accent4"/>
          </a:solidFill>
          <a:ln/>
        </p:spPr>
      </p:sp>
      <p:sp>
        <p:nvSpPr>
          <p:cNvPr id="319" name="Shape 317"/>
          <p:cNvSpPr/>
          <p:nvPr/>
        </p:nvSpPr>
        <p:spPr>
          <a:xfrm>
            <a:off x="6906212" y="5212080"/>
            <a:ext cx="216781" cy="384048"/>
          </a:xfrm>
          <a:prstGeom prst="roundRect">
            <a:avLst>
              <a:gd name="adj" fmla="val 21090"/>
            </a:avLst>
          </a:prstGeom>
          <a:solidFill>
            <a:schemeClr val="accent4"/>
          </a:solidFill>
          <a:ln/>
        </p:spPr>
      </p:sp>
      <p:sp>
        <p:nvSpPr>
          <p:cNvPr id="320" name="Shape 318"/>
          <p:cNvSpPr/>
          <p:nvPr/>
        </p:nvSpPr>
        <p:spPr>
          <a:xfrm>
            <a:off x="6933644" y="5526999"/>
            <a:ext cx="161917" cy="69129"/>
          </a:xfrm>
          <a:prstGeom prst="rect">
            <a:avLst/>
          </a:prstGeom>
          <a:solidFill>
            <a:srgbClr val="7D818A"/>
          </a:solidFill>
          <a:ln/>
        </p:spPr>
      </p:sp>
      <p:sp>
        <p:nvSpPr>
          <p:cNvPr id="321" name="Shape 319"/>
          <p:cNvSpPr/>
          <p:nvPr/>
        </p:nvSpPr>
        <p:spPr>
          <a:xfrm>
            <a:off x="7255256" y="5148072"/>
            <a:ext cx="43696" cy="73152"/>
          </a:xfrm>
          <a:prstGeom prst="roundRect">
            <a:avLst>
              <a:gd name="adj" fmla="val 62779"/>
            </a:avLst>
          </a:prstGeom>
          <a:solidFill>
            <a:schemeClr val="accent4"/>
          </a:solidFill>
          <a:ln/>
        </p:spPr>
      </p:sp>
      <p:sp>
        <p:nvSpPr>
          <p:cNvPr id="322" name="Shape 320"/>
          <p:cNvSpPr/>
          <p:nvPr/>
        </p:nvSpPr>
        <p:spPr>
          <a:xfrm>
            <a:off x="7168713" y="5212080"/>
            <a:ext cx="216781" cy="384048"/>
          </a:xfrm>
          <a:prstGeom prst="roundRect">
            <a:avLst>
              <a:gd name="adj" fmla="val 21090"/>
            </a:avLst>
          </a:prstGeom>
          <a:solidFill>
            <a:schemeClr val="accent4"/>
          </a:solidFill>
          <a:ln/>
        </p:spPr>
      </p:sp>
      <p:sp>
        <p:nvSpPr>
          <p:cNvPr id="323" name="Shape 321"/>
          <p:cNvSpPr/>
          <p:nvPr/>
        </p:nvSpPr>
        <p:spPr>
          <a:xfrm>
            <a:off x="7196145" y="5526999"/>
            <a:ext cx="161917" cy="69129"/>
          </a:xfrm>
          <a:prstGeom prst="rect">
            <a:avLst/>
          </a:prstGeom>
          <a:solidFill>
            <a:srgbClr val="7D818A"/>
          </a:solidFill>
          <a:ln/>
        </p:spPr>
      </p:sp>
      <p:sp>
        <p:nvSpPr>
          <p:cNvPr id="324" name="Shape 322"/>
          <p:cNvSpPr/>
          <p:nvPr/>
        </p:nvSpPr>
        <p:spPr>
          <a:xfrm>
            <a:off x="7517757" y="5148072"/>
            <a:ext cx="43696" cy="73152"/>
          </a:xfrm>
          <a:prstGeom prst="roundRect">
            <a:avLst>
              <a:gd name="adj" fmla="val 62779"/>
            </a:avLst>
          </a:prstGeom>
          <a:solidFill>
            <a:schemeClr val="accent4"/>
          </a:solidFill>
          <a:ln/>
        </p:spPr>
      </p:sp>
      <p:sp>
        <p:nvSpPr>
          <p:cNvPr id="325" name="Shape 323"/>
          <p:cNvSpPr/>
          <p:nvPr/>
        </p:nvSpPr>
        <p:spPr>
          <a:xfrm>
            <a:off x="7431215" y="5212080"/>
            <a:ext cx="216781" cy="384048"/>
          </a:xfrm>
          <a:prstGeom prst="roundRect">
            <a:avLst>
              <a:gd name="adj" fmla="val 21090"/>
            </a:avLst>
          </a:prstGeom>
          <a:solidFill>
            <a:schemeClr val="accent4"/>
          </a:solidFill>
          <a:ln/>
        </p:spPr>
      </p:sp>
      <p:sp>
        <p:nvSpPr>
          <p:cNvPr id="326" name="Shape 324"/>
          <p:cNvSpPr/>
          <p:nvPr/>
        </p:nvSpPr>
        <p:spPr>
          <a:xfrm>
            <a:off x="7458646" y="5526999"/>
            <a:ext cx="161917" cy="69129"/>
          </a:xfrm>
          <a:prstGeom prst="rect">
            <a:avLst/>
          </a:prstGeom>
          <a:solidFill>
            <a:srgbClr val="7D818A"/>
          </a:solidFill>
          <a:ln/>
        </p:spPr>
      </p:sp>
      <p:sp>
        <p:nvSpPr>
          <p:cNvPr id="327" name="Shape 325"/>
          <p:cNvSpPr/>
          <p:nvPr/>
        </p:nvSpPr>
        <p:spPr>
          <a:xfrm>
            <a:off x="7780259" y="5148072"/>
            <a:ext cx="43696" cy="73152"/>
          </a:xfrm>
          <a:prstGeom prst="roundRect">
            <a:avLst>
              <a:gd name="adj" fmla="val 62779"/>
            </a:avLst>
          </a:prstGeom>
          <a:solidFill>
            <a:schemeClr val="accent4"/>
          </a:solidFill>
          <a:ln/>
        </p:spPr>
      </p:sp>
      <p:sp>
        <p:nvSpPr>
          <p:cNvPr id="328" name="Shape 326"/>
          <p:cNvSpPr/>
          <p:nvPr/>
        </p:nvSpPr>
        <p:spPr>
          <a:xfrm>
            <a:off x="7693716" y="5212080"/>
            <a:ext cx="216781" cy="384048"/>
          </a:xfrm>
          <a:prstGeom prst="roundRect">
            <a:avLst>
              <a:gd name="adj" fmla="val 21090"/>
            </a:avLst>
          </a:prstGeom>
          <a:solidFill>
            <a:schemeClr val="accent4"/>
          </a:solidFill>
          <a:ln/>
        </p:spPr>
      </p:sp>
      <p:sp>
        <p:nvSpPr>
          <p:cNvPr id="329" name="Shape 327"/>
          <p:cNvSpPr/>
          <p:nvPr/>
        </p:nvSpPr>
        <p:spPr>
          <a:xfrm>
            <a:off x="7721148" y="5526999"/>
            <a:ext cx="161917" cy="69129"/>
          </a:xfrm>
          <a:prstGeom prst="rect">
            <a:avLst/>
          </a:prstGeom>
          <a:solidFill>
            <a:srgbClr val="7D818A"/>
          </a:solidFill>
          <a:ln/>
        </p:spPr>
      </p:sp>
      <p:sp>
        <p:nvSpPr>
          <p:cNvPr id="330" name="Shape 328"/>
          <p:cNvSpPr/>
          <p:nvPr/>
        </p:nvSpPr>
        <p:spPr>
          <a:xfrm>
            <a:off x="8042760" y="5148072"/>
            <a:ext cx="43696" cy="73152"/>
          </a:xfrm>
          <a:prstGeom prst="roundRect">
            <a:avLst>
              <a:gd name="adj" fmla="val 62779"/>
            </a:avLst>
          </a:prstGeom>
          <a:solidFill>
            <a:schemeClr val="accent4"/>
          </a:solidFill>
          <a:ln/>
        </p:spPr>
      </p:sp>
      <p:sp>
        <p:nvSpPr>
          <p:cNvPr id="331" name="Shape 329"/>
          <p:cNvSpPr/>
          <p:nvPr/>
        </p:nvSpPr>
        <p:spPr>
          <a:xfrm>
            <a:off x="7956217" y="5212080"/>
            <a:ext cx="216781" cy="384048"/>
          </a:xfrm>
          <a:prstGeom prst="roundRect">
            <a:avLst>
              <a:gd name="adj" fmla="val 21090"/>
            </a:avLst>
          </a:prstGeom>
          <a:solidFill>
            <a:schemeClr val="accent4"/>
          </a:solidFill>
          <a:ln/>
        </p:spPr>
      </p:sp>
      <p:sp>
        <p:nvSpPr>
          <p:cNvPr id="332" name="Shape 330"/>
          <p:cNvSpPr/>
          <p:nvPr/>
        </p:nvSpPr>
        <p:spPr>
          <a:xfrm>
            <a:off x="7983649" y="5526999"/>
            <a:ext cx="161917" cy="69129"/>
          </a:xfrm>
          <a:prstGeom prst="rect">
            <a:avLst/>
          </a:prstGeom>
          <a:solidFill>
            <a:srgbClr val="7D818A"/>
          </a:solidFill>
          <a:ln/>
        </p:spPr>
      </p:sp>
      <p:sp>
        <p:nvSpPr>
          <p:cNvPr id="333" name="Shape 331"/>
          <p:cNvSpPr/>
          <p:nvPr/>
        </p:nvSpPr>
        <p:spPr>
          <a:xfrm>
            <a:off x="8305261" y="5148072"/>
            <a:ext cx="43696" cy="73152"/>
          </a:xfrm>
          <a:prstGeom prst="roundRect">
            <a:avLst>
              <a:gd name="adj" fmla="val 62779"/>
            </a:avLst>
          </a:prstGeom>
          <a:solidFill>
            <a:schemeClr val="accent4"/>
          </a:solidFill>
          <a:ln/>
        </p:spPr>
      </p:sp>
      <p:sp>
        <p:nvSpPr>
          <p:cNvPr id="334" name="Shape 332"/>
          <p:cNvSpPr/>
          <p:nvPr/>
        </p:nvSpPr>
        <p:spPr>
          <a:xfrm>
            <a:off x="8218719" y="5212080"/>
            <a:ext cx="216781" cy="384048"/>
          </a:xfrm>
          <a:prstGeom prst="roundRect">
            <a:avLst>
              <a:gd name="adj" fmla="val 21090"/>
            </a:avLst>
          </a:prstGeom>
          <a:solidFill>
            <a:schemeClr val="accent4"/>
          </a:solidFill>
          <a:ln/>
        </p:spPr>
      </p:sp>
      <p:sp>
        <p:nvSpPr>
          <p:cNvPr id="335" name="Shape 333"/>
          <p:cNvSpPr/>
          <p:nvPr/>
        </p:nvSpPr>
        <p:spPr>
          <a:xfrm>
            <a:off x="8246151" y="5526999"/>
            <a:ext cx="161917" cy="69129"/>
          </a:xfrm>
          <a:prstGeom prst="rect">
            <a:avLst/>
          </a:prstGeom>
          <a:solidFill>
            <a:srgbClr val="7D818A"/>
          </a:solidFill>
          <a:ln/>
        </p:spPr>
      </p:sp>
      <p:sp>
        <p:nvSpPr>
          <p:cNvPr id="336" name="Shape 334"/>
          <p:cNvSpPr/>
          <p:nvPr/>
        </p:nvSpPr>
        <p:spPr>
          <a:xfrm>
            <a:off x="8567763" y="5148072"/>
            <a:ext cx="43696" cy="73152"/>
          </a:xfrm>
          <a:prstGeom prst="roundRect">
            <a:avLst>
              <a:gd name="adj" fmla="val 62779"/>
            </a:avLst>
          </a:prstGeom>
          <a:solidFill>
            <a:schemeClr val="accent4"/>
          </a:solidFill>
          <a:ln/>
        </p:spPr>
      </p:sp>
      <p:sp>
        <p:nvSpPr>
          <p:cNvPr id="337" name="Shape 335"/>
          <p:cNvSpPr/>
          <p:nvPr/>
        </p:nvSpPr>
        <p:spPr>
          <a:xfrm>
            <a:off x="8481220" y="5212080"/>
            <a:ext cx="216781" cy="384048"/>
          </a:xfrm>
          <a:prstGeom prst="roundRect">
            <a:avLst>
              <a:gd name="adj" fmla="val 21090"/>
            </a:avLst>
          </a:prstGeom>
          <a:solidFill>
            <a:schemeClr val="accent4"/>
          </a:solidFill>
          <a:ln/>
        </p:spPr>
      </p:sp>
      <p:sp>
        <p:nvSpPr>
          <p:cNvPr id="338" name="Shape 336"/>
          <p:cNvSpPr/>
          <p:nvPr/>
        </p:nvSpPr>
        <p:spPr>
          <a:xfrm>
            <a:off x="8508652" y="5526999"/>
            <a:ext cx="161917" cy="69129"/>
          </a:xfrm>
          <a:prstGeom prst="rect">
            <a:avLst/>
          </a:prstGeom>
          <a:solidFill>
            <a:srgbClr val="7D818A"/>
          </a:solidFill>
          <a:ln/>
        </p:spPr>
      </p:sp>
      <p:sp>
        <p:nvSpPr>
          <p:cNvPr id="339" name="Shape 337"/>
          <p:cNvSpPr/>
          <p:nvPr/>
        </p:nvSpPr>
        <p:spPr>
          <a:xfrm>
            <a:off x="8830264" y="5148072"/>
            <a:ext cx="43696" cy="73152"/>
          </a:xfrm>
          <a:prstGeom prst="roundRect">
            <a:avLst>
              <a:gd name="adj" fmla="val 62779"/>
            </a:avLst>
          </a:prstGeom>
          <a:solidFill>
            <a:schemeClr val="accent4"/>
          </a:solidFill>
          <a:ln/>
        </p:spPr>
      </p:sp>
      <p:sp>
        <p:nvSpPr>
          <p:cNvPr id="340" name="Shape 338"/>
          <p:cNvSpPr/>
          <p:nvPr/>
        </p:nvSpPr>
        <p:spPr>
          <a:xfrm>
            <a:off x="8743721" y="5212080"/>
            <a:ext cx="216781" cy="384048"/>
          </a:xfrm>
          <a:prstGeom prst="roundRect">
            <a:avLst>
              <a:gd name="adj" fmla="val 21090"/>
            </a:avLst>
          </a:prstGeom>
          <a:solidFill>
            <a:schemeClr val="accent4"/>
          </a:solidFill>
          <a:ln/>
        </p:spPr>
      </p:sp>
      <p:sp>
        <p:nvSpPr>
          <p:cNvPr id="341" name="Shape 339"/>
          <p:cNvSpPr/>
          <p:nvPr/>
        </p:nvSpPr>
        <p:spPr>
          <a:xfrm>
            <a:off x="8771153" y="5526999"/>
            <a:ext cx="161917" cy="69129"/>
          </a:xfrm>
          <a:prstGeom prst="rect">
            <a:avLst/>
          </a:prstGeom>
          <a:solidFill>
            <a:srgbClr val="7D818A"/>
          </a:solidFill>
          <a:ln/>
        </p:spPr>
      </p:sp>
      <p:sp>
        <p:nvSpPr>
          <p:cNvPr id="342" name="Shape 340"/>
          <p:cNvSpPr/>
          <p:nvPr/>
        </p:nvSpPr>
        <p:spPr>
          <a:xfrm>
            <a:off x="9092765" y="5148072"/>
            <a:ext cx="43696" cy="73152"/>
          </a:xfrm>
          <a:prstGeom prst="roundRect">
            <a:avLst>
              <a:gd name="adj" fmla="val 62779"/>
            </a:avLst>
          </a:prstGeom>
          <a:solidFill>
            <a:schemeClr val="accent4"/>
          </a:solidFill>
          <a:ln/>
        </p:spPr>
      </p:sp>
      <p:sp>
        <p:nvSpPr>
          <p:cNvPr id="343" name="Shape 341"/>
          <p:cNvSpPr/>
          <p:nvPr/>
        </p:nvSpPr>
        <p:spPr>
          <a:xfrm>
            <a:off x="9006223" y="5212080"/>
            <a:ext cx="216781" cy="384048"/>
          </a:xfrm>
          <a:prstGeom prst="roundRect">
            <a:avLst>
              <a:gd name="adj" fmla="val 21090"/>
            </a:avLst>
          </a:prstGeom>
          <a:solidFill>
            <a:schemeClr val="accent4"/>
          </a:solidFill>
          <a:ln/>
        </p:spPr>
      </p:sp>
      <p:sp>
        <p:nvSpPr>
          <p:cNvPr id="344" name="Shape 342"/>
          <p:cNvSpPr/>
          <p:nvPr/>
        </p:nvSpPr>
        <p:spPr>
          <a:xfrm>
            <a:off x="9033655" y="5526999"/>
            <a:ext cx="161917" cy="69129"/>
          </a:xfrm>
          <a:prstGeom prst="rect">
            <a:avLst/>
          </a:prstGeom>
          <a:solidFill>
            <a:srgbClr val="7D818A"/>
          </a:solidFill>
          <a:ln/>
        </p:spPr>
      </p:sp>
      <p:sp>
        <p:nvSpPr>
          <p:cNvPr id="345" name="Shape 343"/>
          <p:cNvSpPr/>
          <p:nvPr/>
        </p:nvSpPr>
        <p:spPr>
          <a:xfrm>
            <a:off x="9355267" y="5148072"/>
            <a:ext cx="43696" cy="73152"/>
          </a:xfrm>
          <a:prstGeom prst="roundRect">
            <a:avLst>
              <a:gd name="adj" fmla="val 62779"/>
            </a:avLst>
          </a:prstGeom>
          <a:solidFill>
            <a:schemeClr val="accent4"/>
          </a:solidFill>
          <a:ln/>
        </p:spPr>
      </p:sp>
      <p:sp>
        <p:nvSpPr>
          <p:cNvPr id="346" name="Shape 344"/>
          <p:cNvSpPr/>
          <p:nvPr/>
        </p:nvSpPr>
        <p:spPr>
          <a:xfrm>
            <a:off x="9268724" y="5212080"/>
            <a:ext cx="216781" cy="384048"/>
          </a:xfrm>
          <a:prstGeom prst="roundRect">
            <a:avLst>
              <a:gd name="adj" fmla="val 21090"/>
            </a:avLst>
          </a:prstGeom>
          <a:solidFill>
            <a:schemeClr val="accent4"/>
          </a:solidFill>
          <a:ln/>
        </p:spPr>
      </p:sp>
      <p:sp>
        <p:nvSpPr>
          <p:cNvPr id="347" name="Shape 345"/>
          <p:cNvSpPr/>
          <p:nvPr/>
        </p:nvSpPr>
        <p:spPr>
          <a:xfrm>
            <a:off x="9296156" y="5526999"/>
            <a:ext cx="161917" cy="69129"/>
          </a:xfrm>
          <a:prstGeom prst="rect">
            <a:avLst/>
          </a:prstGeom>
          <a:solidFill>
            <a:srgbClr val="7D818A"/>
          </a:solidFill>
          <a:ln/>
        </p:spPr>
      </p:sp>
      <p:sp>
        <p:nvSpPr>
          <p:cNvPr id="348" name="Shape 346"/>
          <p:cNvSpPr/>
          <p:nvPr/>
        </p:nvSpPr>
        <p:spPr>
          <a:xfrm>
            <a:off x="9617768" y="5148072"/>
            <a:ext cx="43696" cy="73152"/>
          </a:xfrm>
          <a:prstGeom prst="roundRect">
            <a:avLst>
              <a:gd name="adj" fmla="val 62779"/>
            </a:avLst>
          </a:prstGeom>
          <a:solidFill>
            <a:schemeClr val="accent4"/>
          </a:solidFill>
          <a:ln/>
        </p:spPr>
      </p:sp>
      <p:sp>
        <p:nvSpPr>
          <p:cNvPr id="349" name="Shape 347"/>
          <p:cNvSpPr/>
          <p:nvPr/>
        </p:nvSpPr>
        <p:spPr>
          <a:xfrm>
            <a:off x="9531226" y="5212080"/>
            <a:ext cx="216781" cy="384048"/>
          </a:xfrm>
          <a:prstGeom prst="roundRect">
            <a:avLst>
              <a:gd name="adj" fmla="val 21090"/>
            </a:avLst>
          </a:prstGeom>
          <a:solidFill>
            <a:schemeClr val="accent4"/>
          </a:solidFill>
          <a:ln/>
        </p:spPr>
      </p:sp>
      <p:sp>
        <p:nvSpPr>
          <p:cNvPr id="350" name="Shape 348"/>
          <p:cNvSpPr/>
          <p:nvPr/>
        </p:nvSpPr>
        <p:spPr>
          <a:xfrm>
            <a:off x="9558658" y="5526999"/>
            <a:ext cx="161917" cy="69129"/>
          </a:xfrm>
          <a:prstGeom prst="rect">
            <a:avLst/>
          </a:prstGeom>
          <a:solidFill>
            <a:srgbClr val="7D818A"/>
          </a:solidFill>
          <a:ln/>
        </p:spPr>
      </p:sp>
      <p:sp>
        <p:nvSpPr>
          <p:cNvPr id="351" name="Shape 349"/>
          <p:cNvSpPr/>
          <p:nvPr/>
        </p:nvSpPr>
        <p:spPr>
          <a:xfrm>
            <a:off x="9880270" y="5148072"/>
            <a:ext cx="43696" cy="73152"/>
          </a:xfrm>
          <a:prstGeom prst="roundRect">
            <a:avLst>
              <a:gd name="adj" fmla="val 62779"/>
            </a:avLst>
          </a:prstGeom>
          <a:solidFill>
            <a:schemeClr val="accent4"/>
          </a:solidFill>
          <a:ln/>
        </p:spPr>
      </p:sp>
      <p:sp>
        <p:nvSpPr>
          <p:cNvPr id="352" name="Shape 350"/>
          <p:cNvSpPr/>
          <p:nvPr/>
        </p:nvSpPr>
        <p:spPr>
          <a:xfrm>
            <a:off x="9793727" y="5212080"/>
            <a:ext cx="216781" cy="384048"/>
          </a:xfrm>
          <a:prstGeom prst="roundRect">
            <a:avLst>
              <a:gd name="adj" fmla="val 21090"/>
            </a:avLst>
          </a:prstGeom>
          <a:solidFill>
            <a:schemeClr val="accent4"/>
          </a:solidFill>
          <a:ln/>
        </p:spPr>
      </p:sp>
      <p:sp>
        <p:nvSpPr>
          <p:cNvPr id="353" name="Shape 351"/>
          <p:cNvSpPr/>
          <p:nvPr/>
        </p:nvSpPr>
        <p:spPr>
          <a:xfrm>
            <a:off x="9821159" y="5526999"/>
            <a:ext cx="161917" cy="69129"/>
          </a:xfrm>
          <a:prstGeom prst="rect">
            <a:avLst/>
          </a:prstGeom>
          <a:solidFill>
            <a:srgbClr val="7D818A"/>
          </a:solidFill>
          <a:ln/>
        </p:spPr>
      </p:sp>
      <p:sp>
        <p:nvSpPr>
          <p:cNvPr id="354" name="Shape 352"/>
          <p:cNvSpPr/>
          <p:nvPr/>
        </p:nvSpPr>
        <p:spPr>
          <a:xfrm>
            <a:off x="10142771" y="5148072"/>
            <a:ext cx="43696" cy="73152"/>
          </a:xfrm>
          <a:prstGeom prst="roundRect">
            <a:avLst>
              <a:gd name="adj" fmla="val 62779"/>
            </a:avLst>
          </a:prstGeom>
          <a:solidFill>
            <a:schemeClr val="accent4"/>
          </a:solidFill>
          <a:ln/>
        </p:spPr>
      </p:sp>
      <p:sp>
        <p:nvSpPr>
          <p:cNvPr id="355" name="Shape 353"/>
          <p:cNvSpPr/>
          <p:nvPr/>
        </p:nvSpPr>
        <p:spPr>
          <a:xfrm>
            <a:off x="10056228" y="5212080"/>
            <a:ext cx="216781" cy="384048"/>
          </a:xfrm>
          <a:prstGeom prst="roundRect">
            <a:avLst>
              <a:gd name="adj" fmla="val 21090"/>
            </a:avLst>
          </a:prstGeom>
          <a:solidFill>
            <a:schemeClr val="accent4"/>
          </a:solidFill>
          <a:ln/>
        </p:spPr>
      </p:sp>
      <p:sp>
        <p:nvSpPr>
          <p:cNvPr id="356" name="Shape 354"/>
          <p:cNvSpPr/>
          <p:nvPr/>
        </p:nvSpPr>
        <p:spPr>
          <a:xfrm>
            <a:off x="10083660" y="5526999"/>
            <a:ext cx="161917" cy="69129"/>
          </a:xfrm>
          <a:prstGeom prst="rect">
            <a:avLst/>
          </a:prstGeom>
          <a:solidFill>
            <a:srgbClr val="7D818A"/>
          </a:solidFill>
          <a:ln/>
        </p:spPr>
      </p:sp>
      <p:sp>
        <p:nvSpPr>
          <p:cNvPr id="357" name="Shape 355"/>
          <p:cNvSpPr/>
          <p:nvPr/>
        </p:nvSpPr>
        <p:spPr>
          <a:xfrm>
            <a:off x="10405272" y="5148072"/>
            <a:ext cx="43696" cy="73152"/>
          </a:xfrm>
          <a:prstGeom prst="roundRect">
            <a:avLst>
              <a:gd name="adj" fmla="val 62779"/>
            </a:avLst>
          </a:prstGeom>
          <a:solidFill>
            <a:schemeClr val="accent4"/>
          </a:solidFill>
          <a:ln/>
        </p:spPr>
      </p:sp>
      <p:sp>
        <p:nvSpPr>
          <p:cNvPr id="358" name="Shape 356"/>
          <p:cNvSpPr/>
          <p:nvPr/>
        </p:nvSpPr>
        <p:spPr>
          <a:xfrm>
            <a:off x="10318730" y="5212080"/>
            <a:ext cx="216781" cy="384048"/>
          </a:xfrm>
          <a:prstGeom prst="roundRect">
            <a:avLst>
              <a:gd name="adj" fmla="val 21090"/>
            </a:avLst>
          </a:prstGeom>
          <a:solidFill>
            <a:schemeClr val="accent4"/>
          </a:solidFill>
          <a:ln/>
        </p:spPr>
      </p:sp>
      <p:sp>
        <p:nvSpPr>
          <p:cNvPr id="359" name="Shape 357"/>
          <p:cNvSpPr/>
          <p:nvPr/>
        </p:nvSpPr>
        <p:spPr>
          <a:xfrm>
            <a:off x="10346162" y="5526999"/>
            <a:ext cx="161917" cy="69129"/>
          </a:xfrm>
          <a:prstGeom prst="rect">
            <a:avLst/>
          </a:prstGeom>
          <a:solidFill>
            <a:srgbClr val="7D818A"/>
          </a:solidFill>
          <a:ln/>
        </p:spPr>
      </p:sp>
      <p:sp>
        <p:nvSpPr>
          <p:cNvPr id="360" name="Shape 358"/>
          <p:cNvSpPr/>
          <p:nvPr/>
        </p:nvSpPr>
        <p:spPr>
          <a:xfrm>
            <a:off x="10667774" y="5148072"/>
            <a:ext cx="43696" cy="73152"/>
          </a:xfrm>
          <a:prstGeom prst="roundRect">
            <a:avLst>
              <a:gd name="adj" fmla="val 62779"/>
            </a:avLst>
          </a:prstGeom>
          <a:solidFill>
            <a:schemeClr val="accent4"/>
          </a:solidFill>
          <a:ln/>
        </p:spPr>
      </p:sp>
      <p:sp>
        <p:nvSpPr>
          <p:cNvPr id="361" name="Shape 359"/>
          <p:cNvSpPr/>
          <p:nvPr/>
        </p:nvSpPr>
        <p:spPr>
          <a:xfrm>
            <a:off x="10581231" y="5212080"/>
            <a:ext cx="216781" cy="384048"/>
          </a:xfrm>
          <a:prstGeom prst="roundRect">
            <a:avLst>
              <a:gd name="adj" fmla="val 21090"/>
            </a:avLst>
          </a:prstGeom>
          <a:solidFill>
            <a:schemeClr val="accent4"/>
          </a:solidFill>
          <a:ln/>
        </p:spPr>
      </p:sp>
      <p:sp>
        <p:nvSpPr>
          <p:cNvPr id="362" name="Shape 360"/>
          <p:cNvSpPr/>
          <p:nvPr/>
        </p:nvSpPr>
        <p:spPr>
          <a:xfrm>
            <a:off x="10608663" y="5526999"/>
            <a:ext cx="161917" cy="69129"/>
          </a:xfrm>
          <a:prstGeom prst="rect">
            <a:avLst/>
          </a:prstGeom>
          <a:solidFill>
            <a:srgbClr val="7D818A"/>
          </a:solidFill>
          <a:ln/>
        </p:spPr>
      </p:sp>
      <p:sp>
        <p:nvSpPr>
          <p:cNvPr id="363" name="Shape 361"/>
          <p:cNvSpPr/>
          <p:nvPr/>
        </p:nvSpPr>
        <p:spPr>
          <a:xfrm>
            <a:off x="10930275" y="5148072"/>
            <a:ext cx="43696" cy="73152"/>
          </a:xfrm>
          <a:prstGeom prst="roundRect">
            <a:avLst>
              <a:gd name="adj" fmla="val 62779"/>
            </a:avLst>
          </a:prstGeom>
          <a:solidFill>
            <a:schemeClr val="accent4"/>
          </a:solidFill>
          <a:ln/>
        </p:spPr>
      </p:sp>
      <p:sp>
        <p:nvSpPr>
          <p:cNvPr id="364" name="Shape 362"/>
          <p:cNvSpPr/>
          <p:nvPr/>
        </p:nvSpPr>
        <p:spPr>
          <a:xfrm>
            <a:off x="10843732" y="5212080"/>
            <a:ext cx="216781" cy="384048"/>
          </a:xfrm>
          <a:prstGeom prst="roundRect">
            <a:avLst>
              <a:gd name="adj" fmla="val 21090"/>
            </a:avLst>
          </a:prstGeom>
          <a:solidFill>
            <a:schemeClr val="accent4"/>
          </a:solidFill>
          <a:ln/>
        </p:spPr>
      </p:sp>
      <p:sp>
        <p:nvSpPr>
          <p:cNvPr id="365" name="Shape 363"/>
          <p:cNvSpPr/>
          <p:nvPr/>
        </p:nvSpPr>
        <p:spPr>
          <a:xfrm>
            <a:off x="10871164" y="5526999"/>
            <a:ext cx="161917" cy="69129"/>
          </a:xfrm>
          <a:prstGeom prst="rect">
            <a:avLst/>
          </a:prstGeom>
          <a:solidFill>
            <a:srgbClr val="7D818A"/>
          </a:solidFill>
          <a:ln/>
        </p:spPr>
      </p:sp>
      <p:sp>
        <p:nvSpPr>
          <p:cNvPr id="366" name="Shape 364"/>
          <p:cNvSpPr/>
          <p:nvPr/>
        </p:nvSpPr>
        <p:spPr>
          <a:xfrm>
            <a:off x="11192777" y="5148072"/>
            <a:ext cx="43696" cy="73152"/>
          </a:xfrm>
          <a:prstGeom prst="roundRect">
            <a:avLst>
              <a:gd name="adj" fmla="val 62779"/>
            </a:avLst>
          </a:prstGeom>
          <a:solidFill>
            <a:schemeClr val="accent4"/>
          </a:solidFill>
          <a:ln/>
        </p:spPr>
      </p:sp>
      <p:sp>
        <p:nvSpPr>
          <p:cNvPr id="367" name="Shape 365"/>
          <p:cNvSpPr/>
          <p:nvPr/>
        </p:nvSpPr>
        <p:spPr>
          <a:xfrm>
            <a:off x="11106234" y="5212080"/>
            <a:ext cx="216781" cy="384048"/>
          </a:xfrm>
          <a:prstGeom prst="roundRect">
            <a:avLst>
              <a:gd name="adj" fmla="val 21090"/>
            </a:avLst>
          </a:prstGeom>
          <a:solidFill>
            <a:schemeClr val="accent4"/>
          </a:solidFill>
          <a:ln/>
        </p:spPr>
      </p:sp>
      <p:sp>
        <p:nvSpPr>
          <p:cNvPr id="368" name="Shape 366"/>
          <p:cNvSpPr/>
          <p:nvPr/>
        </p:nvSpPr>
        <p:spPr>
          <a:xfrm>
            <a:off x="11133666" y="5526999"/>
            <a:ext cx="161917" cy="69129"/>
          </a:xfrm>
          <a:prstGeom prst="rect">
            <a:avLst/>
          </a:prstGeom>
          <a:solidFill>
            <a:srgbClr val="7D818A"/>
          </a:solidFill>
          <a:ln/>
        </p:spPr>
      </p:sp>
      <p:sp>
        <p:nvSpPr>
          <p:cNvPr id="36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EcoGo y Universidad Austral en base a la Central de Deudores del BCRA (crédito a personas: bancos, fintech y billeteras). Redondeado: 3,6% ≈ 1/40; 12,6% ≈ 5/40; 17,5% = 7/40.</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EL PAÍS, LADRILLO POR LADRILLO</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Casi 6 millones de personas tienen deudas en mora</a:t>
            </a:r>
            <a:endParaRPr lang="en-US" sz="3200" dirty="0"/>
          </a:p>
        </p:txBody>
      </p:sp>
      <p:pic>
        <p:nvPicPr>
          <p:cNvPr id="4" name="Image 0" descr="Mapa de Argentina por provincias con 460 cuadraditos ubicados según la población de cada provincia: 59 rojos (en mora), 158 grises (con deudas al día) y 243 claros (sin deudas registradas). CABA aparece ampliada al costado.">    </p:cNvPr>
          <p:cNvPicPr>
            <a:picLocks noChangeAspect="1"/>
          </p:cNvPicPr>
          <p:nvPr/>
        </p:nvPicPr>
        <p:blipFill>
          <a:blip r:embed="rId1"/>
          <a:stretch>
            <a:fillRect/>
          </a:stretch>
        </p:blipFill>
        <p:spPr>
          <a:xfrm>
            <a:off x="777240" y="1600200"/>
            <a:ext cx="2687320" cy="4206240"/>
          </a:xfrm>
          <a:prstGeom prst="rect">
            <a:avLst/>
          </a:prstGeom>
        </p:spPr>
      </p:pic>
      <p:sp>
        <p:nvSpPr>
          <p:cNvPr id="5" name="Shape 2"/>
          <p:cNvSpPr/>
          <p:nvPr/>
        </p:nvSpPr>
        <p:spPr>
          <a:xfrm>
            <a:off x="3647440" y="1737360"/>
            <a:ext cx="237744" cy="237744"/>
          </a:xfrm>
          <a:prstGeom prst="roundRect">
            <a:avLst>
              <a:gd name="adj" fmla="val 15385"/>
            </a:avLst>
          </a:prstGeom>
          <a:solidFill>
            <a:schemeClr val="accent1"/>
          </a:solidFill>
          <a:ln/>
        </p:spPr>
      </p:sp>
      <p:sp>
        <p:nvSpPr>
          <p:cNvPr id="6" name="Text 3"/>
          <p:cNvSpPr txBox="1"/>
          <p:nvPr/>
        </p:nvSpPr>
        <p:spPr>
          <a:xfrm>
            <a:off x="3994912"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En mora</a:t>
            </a:r>
            <a:endParaRPr lang="en-US" sz="1400" dirty="0"/>
          </a:p>
          <a:p>
            <a:pPr indent="0" marL="0">
              <a:buNone/>
            </a:pPr>
            <a:r>
              <a:rPr lang="en-US" sz="1400" dirty="0">
                <a:solidFill>
                  <a:schemeClr val="tx2"/>
                </a:solidFill>
              </a:rPr>
              <a:t>5,9 millones</a:t>
            </a:r>
            <a:endParaRPr lang="en-US" sz="1400" dirty="0"/>
          </a:p>
        </p:txBody>
      </p:sp>
      <p:sp>
        <p:nvSpPr>
          <p:cNvPr id="7" name="Shape 4"/>
          <p:cNvSpPr/>
          <p:nvPr/>
        </p:nvSpPr>
        <p:spPr>
          <a:xfrm>
            <a:off x="6312645" y="1737360"/>
            <a:ext cx="237744" cy="237744"/>
          </a:xfrm>
          <a:prstGeom prst="roundRect">
            <a:avLst>
              <a:gd name="adj" fmla="val 15385"/>
            </a:avLst>
          </a:prstGeom>
          <a:solidFill>
            <a:schemeClr val="accent4"/>
          </a:solidFill>
          <a:ln/>
        </p:spPr>
      </p:sp>
      <p:sp>
        <p:nvSpPr>
          <p:cNvPr id="8" name="Text 5"/>
          <p:cNvSpPr txBox="1"/>
          <p:nvPr/>
        </p:nvSpPr>
        <p:spPr>
          <a:xfrm>
            <a:off x="6660117"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Con deudas al día</a:t>
            </a:r>
            <a:endParaRPr lang="en-US" sz="1400" dirty="0"/>
          </a:p>
          <a:p>
            <a:pPr indent="0" marL="0">
              <a:buNone/>
            </a:pPr>
            <a:r>
              <a:rPr lang="en-US" sz="1400" dirty="0">
                <a:solidFill>
                  <a:schemeClr val="tx2"/>
                </a:solidFill>
              </a:rPr>
              <a:t>15,8 millones</a:t>
            </a:r>
            <a:endParaRPr lang="en-US" sz="1400" dirty="0"/>
          </a:p>
        </p:txBody>
      </p:sp>
      <p:sp>
        <p:nvSpPr>
          <p:cNvPr id="9" name="Shape 6"/>
          <p:cNvSpPr/>
          <p:nvPr/>
        </p:nvSpPr>
        <p:spPr>
          <a:xfrm>
            <a:off x="8977850" y="1737360"/>
            <a:ext cx="237744" cy="237744"/>
          </a:xfrm>
          <a:prstGeom prst="roundRect">
            <a:avLst>
              <a:gd name="adj" fmla="val 15385"/>
            </a:avLst>
          </a:prstGeom>
          <a:solidFill>
            <a:schemeClr val="accent6"/>
          </a:solidFill>
          <a:ln/>
        </p:spPr>
      </p:sp>
      <p:sp>
        <p:nvSpPr>
          <p:cNvPr id="10" name="Text 7"/>
          <p:cNvSpPr txBox="1"/>
          <p:nvPr/>
        </p:nvSpPr>
        <p:spPr>
          <a:xfrm>
            <a:off x="9325322"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Sin deudas registradas</a:t>
            </a:r>
            <a:endParaRPr lang="en-US" sz="1400" dirty="0"/>
          </a:p>
          <a:p>
            <a:pPr indent="0" marL="0">
              <a:buNone/>
            </a:pPr>
            <a:r>
              <a:rPr lang="en-US" sz="1400" dirty="0">
                <a:solidFill>
                  <a:schemeClr val="tx2"/>
                </a:solidFill>
              </a:rPr>
              <a:t>24,4 millones</a:t>
            </a:r>
            <a:endParaRPr lang="en-US" sz="1400" dirty="0"/>
          </a:p>
        </p:txBody>
      </p:sp>
      <p:sp>
        <p:nvSpPr>
          <p:cNvPr id="11" name="Text 8"/>
          <p:cNvSpPr txBox="1"/>
          <p:nvPr/>
        </p:nvSpPr>
        <p:spPr>
          <a:xfrm>
            <a:off x="3647440" y="2240280"/>
            <a:ext cx="7995615" cy="457200"/>
          </a:xfrm>
          <a:prstGeom prst="rect">
            <a:avLst/>
          </a:prstGeom>
          <a:noFill/>
          <a:ln/>
        </p:spPr>
        <p:txBody>
          <a:bodyPr wrap="square" lIns="0" tIns="0" rIns="0" bIns="0" rtlCol="0" anchor="ctr"/>
          <a:lstStyle/>
          <a:p>
            <a:pPr indent="0" marL="0">
              <a:buNone/>
            </a:pPr>
            <a:r>
              <a:rPr lang="en-US" sz="1200" i="1" dirty="0">
                <a:solidFill>
                  <a:schemeClr val="accent5"/>
                </a:solidFill>
              </a:rPr>
              <a:t>Cada cuadradito ≈ 100.000 habitantes, cerca de sus ciudades; CABA, ampliada. Donde hay menos de 50.000 morosos (La Pampa, Santa Cruz y Tierra del Fuego), el rojo ocupa solo una parte del cuadradito.</a:t>
            </a:r>
            <a:endParaRPr lang="en-US" sz="1200" dirty="0"/>
          </a:p>
        </p:txBody>
      </p:sp>
      <p:sp>
        <p:nvSpPr>
          <p:cNvPr id="12" name="Dato Personas"/>
          <p:cNvSpPr/>
          <p:nvPr/>
        </p:nvSpPr>
        <p:spPr>
          <a:xfrm>
            <a:off x="3647440" y="2788920"/>
            <a:ext cx="2482325" cy="2240280"/>
          </a:xfrm>
          <a:prstGeom prst="roundRect">
            <a:avLst>
              <a:gd name="adj" fmla="val 6531"/>
            </a:avLst>
          </a:prstGeom>
          <a:solidFill>
            <a:schemeClr val="bg1"/>
          </a:solidFill>
          <a:ln w="12700">
            <a:solidFill>
              <a:schemeClr val="accent6"/>
            </a:solidFill>
            <a:prstDash val="solid"/>
          </a:ln>
        </p:spPr>
      </p:sp>
      <p:sp>
        <p:nvSpPr>
          <p:cNvPr id="13" name="Text 10"/>
          <p:cNvSpPr txBox="1"/>
          <p:nvPr/>
        </p:nvSpPr>
        <p:spPr>
          <a:xfrm>
            <a:off x="3876040"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PERSONAS</a:t>
            </a:r>
            <a:endParaRPr lang="en-US" sz="1100" dirty="0"/>
          </a:p>
        </p:txBody>
      </p:sp>
      <p:sp>
        <p:nvSpPr>
          <p:cNvPr id="14" name="Text 11"/>
          <p:cNvSpPr txBox="1"/>
          <p:nvPr/>
        </p:nvSpPr>
        <p:spPr>
          <a:xfrm>
            <a:off x="3876040" y="3291840"/>
            <a:ext cx="2025125"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1 de cada 8</a:t>
            </a:r>
            <a:endParaRPr lang="en-US" sz="2600" dirty="0"/>
          </a:p>
        </p:txBody>
      </p:sp>
      <p:sp>
        <p:nvSpPr>
          <p:cNvPr id="15" name="Text 12"/>
          <p:cNvSpPr txBox="1"/>
          <p:nvPr/>
        </p:nvSpPr>
        <p:spPr>
          <a:xfrm>
            <a:off x="3876040"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habitantes tiene deudas en mora. Entre quienes deben algo, son el 27%.</a:t>
            </a:r>
            <a:endParaRPr lang="en-US" sz="1300" dirty="0"/>
          </a:p>
        </p:txBody>
      </p:sp>
      <p:sp>
        <p:nvSpPr>
          <p:cNvPr id="16" name="Dato Pesos"/>
          <p:cNvSpPr/>
          <p:nvPr/>
        </p:nvSpPr>
        <p:spPr>
          <a:xfrm>
            <a:off x="6404085" y="2788920"/>
            <a:ext cx="2482325" cy="2240280"/>
          </a:xfrm>
          <a:prstGeom prst="roundRect">
            <a:avLst>
              <a:gd name="adj" fmla="val 6531"/>
            </a:avLst>
          </a:prstGeom>
          <a:solidFill>
            <a:schemeClr val="bg1"/>
          </a:solidFill>
          <a:ln w="12700">
            <a:solidFill>
              <a:schemeClr val="accent6"/>
            </a:solidFill>
            <a:prstDash val="solid"/>
          </a:ln>
        </p:spPr>
      </p:sp>
      <p:sp>
        <p:nvSpPr>
          <p:cNvPr id="17" name="Text 14"/>
          <p:cNvSpPr txBox="1"/>
          <p:nvPr/>
        </p:nvSpPr>
        <p:spPr>
          <a:xfrm>
            <a:off x="6632685"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PESOS</a:t>
            </a:r>
            <a:endParaRPr lang="en-US" sz="1100" dirty="0"/>
          </a:p>
        </p:txBody>
      </p:sp>
      <p:sp>
        <p:nvSpPr>
          <p:cNvPr id="18" name="Text 15"/>
          <p:cNvSpPr txBox="1"/>
          <p:nvPr/>
        </p:nvSpPr>
        <p:spPr>
          <a:xfrm>
            <a:off x="6632685" y="3291840"/>
            <a:ext cx="2025125"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$17,8</a:t>
            </a:r>
            <a:endParaRPr lang="en-US" sz="2600" dirty="0"/>
          </a:p>
        </p:txBody>
      </p:sp>
      <p:sp>
        <p:nvSpPr>
          <p:cNvPr id="19" name="Text 16"/>
          <p:cNvSpPr txBox="1"/>
          <p:nvPr/>
        </p:nvSpPr>
        <p:spPr>
          <a:xfrm>
            <a:off x="6632685"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billones de pesos están en mora, sumando todas las deudas atrasadas de las personas.</a:t>
            </a:r>
            <a:endParaRPr lang="en-US" sz="1300" dirty="0"/>
          </a:p>
        </p:txBody>
      </p:sp>
      <p:sp>
        <p:nvSpPr>
          <p:cNvPr id="20" name="Dato Familias"/>
          <p:cNvSpPr/>
          <p:nvPr/>
        </p:nvSpPr>
        <p:spPr>
          <a:xfrm>
            <a:off x="9160730" y="2788920"/>
            <a:ext cx="2482325" cy="2240280"/>
          </a:xfrm>
          <a:prstGeom prst="roundRect">
            <a:avLst>
              <a:gd name="adj" fmla="val 6531"/>
            </a:avLst>
          </a:prstGeom>
          <a:solidFill>
            <a:schemeClr val="bg1"/>
          </a:solidFill>
          <a:ln w="12700">
            <a:solidFill>
              <a:schemeClr val="accent6"/>
            </a:solidFill>
            <a:prstDash val="solid"/>
          </a:ln>
        </p:spPr>
      </p:sp>
      <p:sp>
        <p:nvSpPr>
          <p:cNvPr id="21" name="Text 18"/>
          <p:cNvSpPr txBox="1"/>
          <p:nvPr/>
        </p:nvSpPr>
        <p:spPr>
          <a:xfrm>
            <a:off x="9389330"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FAMILIAS</a:t>
            </a:r>
            <a:endParaRPr lang="en-US" sz="1100" dirty="0"/>
          </a:p>
        </p:txBody>
      </p:sp>
      <p:sp>
        <p:nvSpPr>
          <p:cNvPr id="22" name="Text 19"/>
          <p:cNvSpPr txBox="1"/>
          <p:nvPr/>
        </p:nvSpPr>
        <p:spPr>
          <a:xfrm>
            <a:off x="9389330" y="3291840"/>
            <a:ext cx="2025125"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6 de cada 10</a:t>
            </a:r>
            <a:endParaRPr lang="en-US" sz="2600" dirty="0"/>
          </a:p>
        </p:txBody>
      </p:sp>
      <p:sp>
        <p:nvSpPr>
          <p:cNvPr id="23" name="Text 20"/>
          <p:cNvSpPr txBox="1"/>
          <p:nvPr/>
        </p:nvSpPr>
        <p:spPr>
          <a:xfrm>
            <a:off x="9389330"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hogares usan alguna forma de financiamiento. No hay un dato público de hogares en mora.</a:t>
            </a:r>
            <a:endParaRPr lang="en-US" sz="1300" dirty="0"/>
          </a:p>
        </p:txBody>
      </p:sp>
      <p:sp>
        <p:nvSpPr>
          <p:cNvPr id="24" name="Ejemplo"/>
          <p:cNvSpPr/>
          <p:nvPr/>
        </p:nvSpPr>
        <p:spPr>
          <a:xfrm>
            <a:off x="3647440" y="5212080"/>
            <a:ext cx="7995615" cy="685800"/>
          </a:xfrm>
          <a:prstGeom prst="roundRect">
            <a:avLst>
              <a:gd name="adj" fmla="val 13333"/>
            </a:avLst>
          </a:prstGeom>
          <a:solidFill>
            <a:schemeClr val="bg1"/>
          </a:solidFill>
          <a:ln w="12700">
            <a:solidFill>
              <a:schemeClr val="accent6"/>
            </a:solidFill>
            <a:prstDash val="solid"/>
          </a:ln>
        </p:spPr>
      </p:sp>
      <p:sp>
        <p:nvSpPr>
          <p:cNvPr id="25" name="Text 22"/>
          <p:cNvSpPr txBox="1"/>
          <p:nvPr/>
        </p:nvSpPr>
        <p:spPr>
          <a:xfrm>
            <a:off x="3830320" y="5321808"/>
            <a:ext cx="7629855" cy="466344"/>
          </a:xfrm>
          <a:prstGeom prst="rect">
            <a:avLst/>
          </a:prstGeom>
          <a:noFill/>
          <a:ln/>
        </p:spPr>
        <p:txBody>
          <a:bodyPr wrap="square" lIns="0" tIns="0" rIns="0" bIns="0" rtlCol="0" anchor="ctr"/>
          <a:lstStyle/>
          <a:p>
            <a:pPr indent="0" marL="0">
              <a:buNone/>
            </a:pPr>
            <a:r>
              <a:rPr lang="en-US" sz="1400" b="1" dirty="0">
                <a:solidFill>
                  <a:schemeClr val="tx1"/>
                </a:solidFill>
              </a:rPr>
              <a:t>Deudas chicas: </a:t>
            </a:r>
            <a:pPr indent="0" marL="0">
              <a:buNone/>
            </a:pPr>
            <a:r>
              <a:rPr lang="en-US" sz="1400" dirty="0">
                <a:solidFill>
                  <a:schemeClr val="tx2"/>
                </a:solidFill>
              </a:rPr>
              <a:t>casi 4 de cada 10 morosos deben menos de un salario mínimo.</a:t>
            </a:r>
            <a:endParaRPr lang="en-US" sz="1400" dirty="0"/>
          </a:p>
        </p:txBody>
      </p:sp>
      <p:sp>
        <p:nvSpPr>
          <p:cNvPr id="26"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Mati Fernández y CEPA sobre la Central de Deudores del BCRA (2026); INDEC, Censo 2022; IPYPP; UCA. Morosos por provincia: CEPA para Buenos Aires, Córdoba, Santa Fe, CABA y Chaco; el resto, estimado por población y tasa de mora (EcoGo-Austral).</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DÓNDE ESTÁ LA MORA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Billeteras: más morosos. Bancos: más plata en mora</a:t>
            </a:r>
            <a:endParaRPr lang="en-US" sz="3200" dirty="0"/>
          </a:p>
        </p:txBody>
      </p:sp>
      <p:sp>
        <p:nvSpPr>
          <p:cNvPr id="4" name="Shape 2"/>
          <p:cNvSpPr/>
          <p:nvPr/>
        </p:nvSpPr>
        <p:spPr>
          <a:xfrm>
            <a:off x="548640" y="1645920"/>
            <a:ext cx="329184" cy="201168"/>
          </a:xfrm>
          <a:prstGeom prst="roundRect">
            <a:avLst>
              <a:gd name="adj" fmla="val 18182"/>
            </a:avLst>
          </a:prstGeom>
          <a:solidFill>
            <a:schemeClr val="accent2"/>
          </a:solidFill>
          <a:ln/>
        </p:spPr>
      </p:sp>
      <p:sp>
        <p:nvSpPr>
          <p:cNvPr id="5" name="Text 3"/>
          <p:cNvSpPr txBox="1"/>
          <p:nvPr/>
        </p:nvSpPr>
        <p:spPr>
          <a:xfrm>
            <a:off x="100584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Billeteras y fintech</a:t>
            </a:r>
            <a:endParaRPr lang="en-US" sz="1400" dirty="0"/>
          </a:p>
        </p:txBody>
      </p:sp>
      <p:sp>
        <p:nvSpPr>
          <p:cNvPr id="6" name="Shape 4"/>
          <p:cNvSpPr/>
          <p:nvPr/>
        </p:nvSpPr>
        <p:spPr>
          <a:xfrm>
            <a:off x="3657600" y="1645920"/>
            <a:ext cx="329184" cy="201168"/>
          </a:xfrm>
          <a:prstGeom prst="roundRect">
            <a:avLst>
              <a:gd name="adj" fmla="val 18182"/>
            </a:avLst>
          </a:prstGeom>
          <a:solidFill>
            <a:schemeClr val="accent3"/>
          </a:solidFill>
          <a:ln/>
        </p:spPr>
      </p:sp>
      <p:sp>
        <p:nvSpPr>
          <p:cNvPr id="7" name="Text 5"/>
          <p:cNvSpPr txBox="1"/>
          <p:nvPr/>
        </p:nvSpPr>
        <p:spPr>
          <a:xfrm>
            <a:off x="411480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Bancos privados</a:t>
            </a:r>
            <a:endParaRPr lang="en-US" sz="1400" dirty="0"/>
          </a:p>
        </p:txBody>
      </p:sp>
      <p:sp>
        <p:nvSpPr>
          <p:cNvPr id="8" name="Shape 6"/>
          <p:cNvSpPr/>
          <p:nvPr/>
        </p:nvSpPr>
        <p:spPr>
          <a:xfrm>
            <a:off x="6766560" y="1645920"/>
            <a:ext cx="329184" cy="201168"/>
          </a:xfrm>
          <a:prstGeom prst="roundRect">
            <a:avLst>
              <a:gd name="adj" fmla="val 18182"/>
            </a:avLst>
          </a:prstGeom>
          <a:solidFill>
            <a:schemeClr val="accent4"/>
          </a:solidFill>
          <a:ln/>
        </p:spPr>
      </p:sp>
      <p:sp>
        <p:nvSpPr>
          <p:cNvPr id="9" name="Text 7"/>
          <p:cNvSpPr txBox="1"/>
          <p:nvPr/>
        </p:nvSpPr>
        <p:spPr>
          <a:xfrm>
            <a:off x="722376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Bancos públicos y otros</a:t>
            </a:r>
            <a:endParaRPr lang="en-US" sz="1400" dirty="0"/>
          </a:p>
        </p:txBody>
      </p:sp>
      <p:sp>
        <p:nvSpPr>
          <p:cNvPr id="10" name="Panel barras"/>
          <p:cNvSpPr/>
          <p:nvPr/>
        </p:nvSpPr>
        <p:spPr>
          <a:xfrm>
            <a:off x="548640" y="2057400"/>
            <a:ext cx="11094415" cy="2743200"/>
          </a:xfrm>
          <a:prstGeom prst="roundRect">
            <a:avLst>
              <a:gd name="adj" fmla="val 5333"/>
            </a:avLst>
          </a:prstGeom>
          <a:solidFill>
            <a:schemeClr val="bg1"/>
          </a:solidFill>
          <a:ln w="12700">
            <a:solidFill>
              <a:schemeClr val="accent6"/>
            </a:solidFill>
            <a:prstDash val="solid"/>
          </a:ln>
        </p:spPr>
      </p:sp>
      <p:sp>
        <p:nvSpPr>
          <p:cNvPr id="11" name="Text 9"/>
          <p:cNvSpPr txBox="1"/>
          <p:nvPr/>
        </p:nvSpPr>
        <p:spPr>
          <a:xfrm>
            <a:off x="868680" y="2240280"/>
            <a:ext cx="8229600" cy="274320"/>
          </a:xfrm>
          <a:prstGeom prst="rect">
            <a:avLst/>
          </a:prstGeom>
          <a:noFill/>
          <a:ln/>
        </p:spPr>
        <p:txBody>
          <a:bodyPr wrap="square" lIns="0" tIns="0" rIns="0" bIns="0" rtlCol="0" anchor="ctr"/>
          <a:lstStyle/>
          <a:p>
            <a:pPr indent="0" marL="0">
              <a:buNone/>
            </a:pPr>
            <a:r>
              <a:rPr lang="en-US" sz="1500" b="1" dirty="0">
                <a:solidFill>
                  <a:schemeClr val="tx1"/>
                </a:solidFill>
              </a:rPr>
              <a:t>De cada 40 personas en mora…</a:t>
            </a:r>
            <a:endParaRPr lang="en-US" sz="1500" dirty="0"/>
          </a:p>
        </p:txBody>
      </p:sp>
      <p:sp>
        <p:nvSpPr>
          <p:cNvPr id="12" name="Shape 10"/>
          <p:cNvSpPr/>
          <p:nvPr/>
        </p:nvSpPr>
        <p:spPr>
          <a:xfrm>
            <a:off x="955223" y="2633472"/>
            <a:ext cx="43696" cy="73152"/>
          </a:xfrm>
          <a:prstGeom prst="roundRect">
            <a:avLst>
              <a:gd name="adj" fmla="val 62779"/>
            </a:avLst>
          </a:prstGeom>
          <a:solidFill>
            <a:schemeClr val="accent2"/>
          </a:solidFill>
          <a:ln/>
        </p:spPr>
      </p:sp>
      <p:sp>
        <p:nvSpPr>
          <p:cNvPr id="13" name="Shape 11"/>
          <p:cNvSpPr/>
          <p:nvPr/>
        </p:nvSpPr>
        <p:spPr>
          <a:xfrm>
            <a:off x="868680" y="2697480"/>
            <a:ext cx="216781" cy="384048"/>
          </a:xfrm>
          <a:prstGeom prst="roundRect">
            <a:avLst>
              <a:gd name="adj" fmla="val 21090"/>
            </a:avLst>
          </a:prstGeom>
          <a:solidFill>
            <a:schemeClr val="accent2"/>
          </a:solidFill>
          <a:ln/>
        </p:spPr>
      </p:sp>
      <p:sp>
        <p:nvSpPr>
          <p:cNvPr id="14" name="Shape 12"/>
          <p:cNvSpPr/>
          <p:nvPr/>
        </p:nvSpPr>
        <p:spPr>
          <a:xfrm>
            <a:off x="896112" y="3012399"/>
            <a:ext cx="161917" cy="69129"/>
          </a:xfrm>
          <a:prstGeom prst="rect">
            <a:avLst/>
          </a:prstGeom>
          <a:solidFill>
            <a:srgbClr val="C28F09"/>
          </a:solidFill>
          <a:ln/>
        </p:spPr>
      </p:sp>
      <p:sp>
        <p:nvSpPr>
          <p:cNvPr id="15" name="Shape 13"/>
          <p:cNvSpPr/>
          <p:nvPr/>
        </p:nvSpPr>
        <p:spPr>
          <a:xfrm>
            <a:off x="1217724" y="2633472"/>
            <a:ext cx="43696" cy="73152"/>
          </a:xfrm>
          <a:prstGeom prst="roundRect">
            <a:avLst>
              <a:gd name="adj" fmla="val 62779"/>
            </a:avLst>
          </a:prstGeom>
          <a:solidFill>
            <a:schemeClr val="accent2"/>
          </a:solidFill>
          <a:ln/>
        </p:spPr>
      </p:sp>
      <p:sp>
        <p:nvSpPr>
          <p:cNvPr id="16" name="Shape 14"/>
          <p:cNvSpPr/>
          <p:nvPr/>
        </p:nvSpPr>
        <p:spPr>
          <a:xfrm>
            <a:off x="1131181" y="2697480"/>
            <a:ext cx="216781" cy="384048"/>
          </a:xfrm>
          <a:prstGeom prst="roundRect">
            <a:avLst>
              <a:gd name="adj" fmla="val 21090"/>
            </a:avLst>
          </a:prstGeom>
          <a:solidFill>
            <a:schemeClr val="accent2"/>
          </a:solidFill>
          <a:ln/>
        </p:spPr>
      </p:sp>
      <p:sp>
        <p:nvSpPr>
          <p:cNvPr id="17" name="Shape 15"/>
          <p:cNvSpPr/>
          <p:nvPr/>
        </p:nvSpPr>
        <p:spPr>
          <a:xfrm>
            <a:off x="1158613" y="3012399"/>
            <a:ext cx="161917" cy="69129"/>
          </a:xfrm>
          <a:prstGeom prst="rect">
            <a:avLst/>
          </a:prstGeom>
          <a:solidFill>
            <a:srgbClr val="C28F09"/>
          </a:solidFill>
          <a:ln/>
        </p:spPr>
      </p:sp>
      <p:sp>
        <p:nvSpPr>
          <p:cNvPr id="18" name="Shape 16"/>
          <p:cNvSpPr/>
          <p:nvPr/>
        </p:nvSpPr>
        <p:spPr>
          <a:xfrm>
            <a:off x="1480225" y="2633472"/>
            <a:ext cx="43696" cy="73152"/>
          </a:xfrm>
          <a:prstGeom prst="roundRect">
            <a:avLst>
              <a:gd name="adj" fmla="val 62779"/>
            </a:avLst>
          </a:prstGeom>
          <a:solidFill>
            <a:schemeClr val="accent2"/>
          </a:solidFill>
          <a:ln/>
        </p:spPr>
      </p:sp>
      <p:sp>
        <p:nvSpPr>
          <p:cNvPr id="19" name="Shape 17"/>
          <p:cNvSpPr/>
          <p:nvPr/>
        </p:nvSpPr>
        <p:spPr>
          <a:xfrm>
            <a:off x="1393683" y="2697480"/>
            <a:ext cx="216781" cy="384048"/>
          </a:xfrm>
          <a:prstGeom prst="roundRect">
            <a:avLst>
              <a:gd name="adj" fmla="val 21090"/>
            </a:avLst>
          </a:prstGeom>
          <a:solidFill>
            <a:schemeClr val="accent2"/>
          </a:solidFill>
          <a:ln/>
        </p:spPr>
      </p:sp>
      <p:sp>
        <p:nvSpPr>
          <p:cNvPr id="20" name="Shape 18"/>
          <p:cNvSpPr/>
          <p:nvPr/>
        </p:nvSpPr>
        <p:spPr>
          <a:xfrm>
            <a:off x="1421115" y="3012399"/>
            <a:ext cx="161917" cy="69129"/>
          </a:xfrm>
          <a:prstGeom prst="rect">
            <a:avLst/>
          </a:prstGeom>
          <a:solidFill>
            <a:srgbClr val="C28F09"/>
          </a:solidFill>
          <a:ln/>
        </p:spPr>
      </p:sp>
      <p:sp>
        <p:nvSpPr>
          <p:cNvPr id="21" name="Shape 19"/>
          <p:cNvSpPr/>
          <p:nvPr/>
        </p:nvSpPr>
        <p:spPr>
          <a:xfrm>
            <a:off x="1742727" y="2633472"/>
            <a:ext cx="43696" cy="73152"/>
          </a:xfrm>
          <a:prstGeom prst="roundRect">
            <a:avLst>
              <a:gd name="adj" fmla="val 62779"/>
            </a:avLst>
          </a:prstGeom>
          <a:solidFill>
            <a:schemeClr val="accent2"/>
          </a:solidFill>
          <a:ln/>
        </p:spPr>
      </p:sp>
      <p:sp>
        <p:nvSpPr>
          <p:cNvPr id="22" name="Shape 20"/>
          <p:cNvSpPr/>
          <p:nvPr/>
        </p:nvSpPr>
        <p:spPr>
          <a:xfrm>
            <a:off x="1656184" y="2697480"/>
            <a:ext cx="216781" cy="384048"/>
          </a:xfrm>
          <a:prstGeom prst="roundRect">
            <a:avLst>
              <a:gd name="adj" fmla="val 21090"/>
            </a:avLst>
          </a:prstGeom>
          <a:solidFill>
            <a:schemeClr val="accent2"/>
          </a:solidFill>
          <a:ln/>
        </p:spPr>
      </p:sp>
      <p:sp>
        <p:nvSpPr>
          <p:cNvPr id="23" name="Shape 21"/>
          <p:cNvSpPr/>
          <p:nvPr/>
        </p:nvSpPr>
        <p:spPr>
          <a:xfrm>
            <a:off x="1683616" y="3012399"/>
            <a:ext cx="161917" cy="69129"/>
          </a:xfrm>
          <a:prstGeom prst="rect">
            <a:avLst/>
          </a:prstGeom>
          <a:solidFill>
            <a:srgbClr val="C28F09"/>
          </a:solidFill>
          <a:ln/>
        </p:spPr>
      </p:sp>
      <p:sp>
        <p:nvSpPr>
          <p:cNvPr id="24" name="Shape 22"/>
          <p:cNvSpPr/>
          <p:nvPr/>
        </p:nvSpPr>
        <p:spPr>
          <a:xfrm>
            <a:off x="2005228" y="2633472"/>
            <a:ext cx="43696" cy="73152"/>
          </a:xfrm>
          <a:prstGeom prst="roundRect">
            <a:avLst>
              <a:gd name="adj" fmla="val 62779"/>
            </a:avLst>
          </a:prstGeom>
          <a:solidFill>
            <a:schemeClr val="accent2"/>
          </a:solidFill>
          <a:ln/>
        </p:spPr>
      </p:sp>
      <p:sp>
        <p:nvSpPr>
          <p:cNvPr id="25" name="Shape 23"/>
          <p:cNvSpPr/>
          <p:nvPr/>
        </p:nvSpPr>
        <p:spPr>
          <a:xfrm>
            <a:off x="1918686" y="2697480"/>
            <a:ext cx="216781" cy="384048"/>
          </a:xfrm>
          <a:prstGeom prst="roundRect">
            <a:avLst>
              <a:gd name="adj" fmla="val 21090"/>
            </a:avLst>
          </a:prstGeom>
          <a:solidFill>
            <a:schemeClr val="accent2"/>
          </a:solidFill>
          <a:ln/>
        </p:spPr>
      </p:sp>
      <p:sp>
        <p:nvSpPr>
          <p:cNvPr id="26" name="Shape 24"/>
          <p:cNvSpPr/>
          <p:nvPr/>
        </p:nvSpPr>
        <p:spPr>
          <a:xfrm>
            <a:off x="1946118" y="3012399"/>
            <a:ext cx="161917" cy="69129"/>
          </a:xfrm>
          <a:prstGeom prst="rect">
            <a:avLst/>
          </a:prstGeom>
          <a:solidFill>
            <a:srgbClr val="C28F09"/>
          </a:solidFill>
          <a:ln/>
        </p:spPr>
      </p:sp>
      <p:sp>
        <p:nvSpPr>
          <p:cNvPr id="27" name="Shape 25"/>
          <p:cNvSpPr/>
          <p:nvPr/>
        </p:nvSpPr>
        <p:spPr>
          <a:xfrm>
            <a:off x="2267730" y="2633472"/>
            <a:ext cx="43696" cy="73152"/>
          </a:xfrm>
          <a:prstGeom prst="roundRect">
            <a:avLst>
              <a:gd name="adj" fmla="val 62779"/>
            </a:avLst>
          </a:prstGeom>
          <a:solidFill>
            <a:schemeClr val="accent2"/>
          </a:solidFill>
          <a:ln/>
        </p:spPr>
      </p:sp>
      <p:sp>
        <p:nvSpPr>
          <p:cNvPr id="28" name="Shape 26"/>
          <p:cNvSpPr/>
          <p:nvPr/>
        </p:nvSpPr>
        <p:spPr>
          <a:xfrm>
            <a:off x="2181187" y="2697480"/>
            <a:ext cx="216781" cy="384048"/>
          </a:xfrm>
          <a:prstGeom prst="roundRect">
            <a:avLst>
              <a:gd name="adj" fmla="val 21090"/>
            </a:avLst>
          </a:prstGeom>
          <a:solidFill>
            <a:schemeClr val="accent2"/>
          </a:solidFill>
          <a:ln/>
        </p:spPr>
      </p:sp>
      <p:sp>
        <p:nvSpPr>
          <p:cNvPr id="29" name="Shape 27"/>
          <p:cNvSpPr/>
          <p:nvPr/>
        </p:nvSpPr>
        <p:spPr>
          <a:xfrm>
            <a:off x="2208619" y="3012399"/>
            <a:ext cx="161917" cy="69129"/>
          </a:xfrm>
          <a:prstGeom prst="rect">
            <a:avLst/>
          </a:prstGeom>
          <a:solidFill>
            <a:srgbClr val="C28F09"/>
          </a:solidFill>
          <a:ln/>
        </p:spPr>
      </p:sp>
      <p:sp>
        <p:nvSpPr>
          <p:cNvPr id="30" name="Shape 28"/>
          <p:cNvSpPr/>
          <p:nvPr/>
        </p:nvSpPr>
        <p:spPr>
          <a:xfrm>
            <a:off x="2530231" y="2633472"/>
            <a:ext cx="43696" cy="73152"/>
          </a:xfrm>
          <a:prstGeom prst="roundRect">
            <a:avLst>
              <a:gd name="adj" fmla="val 62779"/>
            </a:avLst>
          </a:prstGeom>
          <a:solidFill>
            <a:schemeClr val="accent2"/>
          </a:solidFill>
          <a:ln/>
        </p:spPr>
      </p:sp>
      <p:sp>
        <p:nvSpPr>
          <p:cNvPr id="31" name="Shape 29"/>
          <p:cNvSpPr/>
          <p:nvPr/>
        </p:nvSpPr>
        <p:spPr>
          <a:xfrm>
            <a:off x="2443688" y="2697480"/>
            <a:ext cx="216781" cy="384048"/>
          </a:xfrm>
          <a:prstGeom prst="roundRect">
            <a:avLst>
              <a:gd name="adj" fmla="val 21090"/>
            </a:avLst>
          </a:prstGeom>
          <a:solidFill>
            <a:schemeClr val="accent2"/>
          </a:solidFill>
          <a:ln/>
        </p:spPr>
      </p:sp>
      <p:sp>
        <p:nvSpPr>
          <p:cNvPr id="32" name="Shape 30"/>
          <p:cNvSpPr/>
          <p:nvPr/>
        </p:nvSpPr>
        <p:spPr>
          <a:xfrm>
            <a:off x="2471120" y="3012399"/>
            <a:ext cx="161917" cy="69129"/>
          </a:xfrm>
          <a:prstGeom prst="rect">
            <a:avLst/>
          </a:prstGeom>
          <a:solidFill>
            <a:srgbClr val="C28F09"/>
          </a:solidFill>
          <a:ln/>
        </p:spPr>
      </p:sp>
      <p:sp>
        <p:nvSpPr>
          <p:cNvPr id="33" name="Shape 31"/>
          <p:cNvSpPr/>
          <p:nvPr/>
        </p:nvSpPr>
        <p:spPr>
          <a:xfrm>
            <a:off x="2792732" y="2633472"/>
            <a:ext cx="43696" cy="73152"/>
          </a:xfrm>
          <a:prstGeom prst="roundRect">
            <a:avLst>
              <a:gd name="adj" fmla="val 62779"/>
            </a:avLst>
          </a:prstGeom>
          <a:solidFill>
            <a:schemeClr val="accent2"/>
          </a:solidFill>
          <a:ln/>
        </p:spPr>
      </p:sp>
      <p:sp>
        <p:nvSpPr>
          <p:cNvPr id="34" name="Shape 32"/>
          <p:cNvSpPr/>
          <p:nvPr/>
        </p:nvSpPr>
        <p:spPr>
          <a:xfrm>
            <a:off x="2706190" y="2697480"/>
            <a:ext cx="216781" cy="384048"/>
          </a:xfrm>
          <a:prstGeom prst="roundRect">
            <a:avLst>
              <a:gd name="adj" fmla="val 21090"/>
            </a:avLst>
          </a:prstGeom>
          <a:solidFill>
            <a:schemeClr val="accent2"/>
          </a:solidFill>
          <a:ln/>
        </p:spPr>
      </p:sp>
      <p:sp>
        <p:nvSpPr>
          <p:cNvPr id="35" name="Shape 33"/>
          <p:cNvSpPr/>
          <p:nvPr/>
        </p:nvSpPr>
        <p:spPr>
          <a:xfrm>
            <a:off x="2733622" y="3012399"/>
            <a:ext cx="161917" cy="69129"/>
          </a:xfrm>
          <a:prstGeom prst="rect">
            <a:avLst/>
          </a:prstGeom>
          <a:solidFill>
            <a:srgbClr val="C28F09"/>
          </a:solidFill>
          <a:ln/>
        </p:spPr>
      </p:sp>
      <p:sp>
        <p:nvSpPr>
          <p:cNvPr id="36" name="Shape 34"/>
          <p:cNvSpPr/>
          <p:nvPr/>
        </p:nvSpPr>
        <p:spPr>
          <a:xfrm>
            <a:off x="3055234" y="2633472"/>
            <a:ext cx="43696" cy="73152"/>
          </a:xfrm>
          <a:prstGeom prst="roundRect">
            <a:avLst>
              <a:gd name="adj" fmla="val 62779"/>
            </a:avLst>
          </a:prstGeom>
          <a:solidFill>
            <a:schemeClr val="accent2"/>
          </a:solidFill>
          <a:ln/>
        </p:spPr>
      </p:sp>
      <p:sp>
        <p:nvSpPr>
          <p:cNvPr id="37" name="Shape 35"/>
          <p:cNvSpPr/>
          <p:nvPr/>
        </p:nvSpPr>
        <p:spPr>
          <a:xfrm>
            <a:off x="2968691" y="2697480"/>
            <a:ext cx="216781" cy="384048"/>
          </a:xfrm>
          <a:prstGeom prst="roundRect">
            <a:avLst>
              <a:gd name="adj" fmla="val 21090"/>
            </a:avLst>
          </a:prstGeom>
          <a:solidFill>
            <a:schemeClr val="accent2"/>
          </a:solidFill>
          <a:ln/>
        </p:spPr>
      </p:sp>
      <p:sp>
        <p:nvSpPr>
          <p:cNvPr id="38" name="Shape 36"/>
          <p:cNvSpPr/>
          <p:nvPr/>
        </p:nvSpPr>
        <p:spPr>
          <a:xfrm>
            <a:off x="2996123" y="3012399"/>
            <a:ext cx="161917" cy="69129"/>
          </a:xfrm>
          <a:prstGeom prst="rect">
            <a:avLst/>
          </a:prstGeom>
          <a:solidFill>
            <a:srgbClr val="C28F09"/>
          </a:solidFill>
          <a:ln/>
        </p:spPr>
      </p:sp>
      <p:sp>
        <p:nvSpPr>
          <p:cNvPr id="39" name="Shape 37"/>
          <p:cNvSpPr/>
          <p:nvPr/>
        </p:nvSpPr>
        <p:spPr>
          <a:xfrm>
            <a:off x="3317735" y="2633472"/>
            <a:ext cx="43696" cy="73152"/>
          </a:xfrm>
          <a:prstGeom prst="roundRect">
            <a:avLst>
              <a:gd name="adj" fmla="val 62779"/>
            </a:avLst>
          </a:prstGeom>
          <a:solidFill>
            <a:schemeClr val="accent2"/>
          </a:solidFill>
          <a:ln/>
        </p:spPr>
      </p:sp>
      <p:sp>
        <p:nvSpPr>
          <p:cNvPr id="40" name="Shape 38"/>
          <p:cNvSpPr/>
          <p:nvPr/>
        </p:nvSpPr>
        <p:spPr>
          <a:xfrm>
            <a:off x="3231192" y="2697480"/>
            <a:ext cx="216781" cy="384048"/>
          </a:xfrm>
          <a:prstGeom prst="roundRect">
            <a:avLst>
              <a:gd name="adj" fmla="val 21090"/>
            </a:avLst>
          </a:prstGeom>
          <a:solidFill>
            <a:schemeClr val="accent2"/>
          </a:solidFill>
          <a:ln/>
        </p:spPr>
      </p:sp>
      <p:sp>
        <p:nvSpPr>
          <p:cNvPr id="41" name="Shape 39"/>
          <p:cNvSpPr/>
          <p:nvPr/>
        </p:nvSpPr>
        <p:spPr>
          <a:xfrm>
            <a:off x="3258624" y="3012399"/>
            <a:ext cx="161917" cy="69129"/>
          </a:xfrm>
          <a:prstGeom prst="rect">
            <a:avLst/>
          </a:prstGeom>
          <a:solidFill>
            <a:srgbClr val="C28F09"/>
          </a:solidFill>
          <a:ln/>
        </p:spPr>
      </p:sp>
      <p:sp>
        <p:nvSpPr>
          <p:cNvPr id="42" name="Shape 40"/>
          <p:cNvSpPr/>
          <p:nvPr/>
        </p:nvSpPr>
        <p:spPr>
          <a:xfrm>
            <a:off x="3580237" y="2633472"/>
            <a:ext cx="43696" cy="73152"/>
          </a:xfrm>
          <a:prstGeom prst="roundRect">
            <a:avLst>
              <a:gd name="adj" fmla="val 62779"/>
            </a:avLst>
          </a:prstGeom>
          <a:solidFill>
            <a:schemeClr val="accent2"/>
          </a:solidFill>
          <a:ln/>
        </p:spPr>
      </p:sp>
      <p:sp>
        <p:nvSpPr>
          <p:cNvPr id="43" name="Shape 41"/>
          <p:cNvSpPr/>
          <p:nvPr/>
        </p:nvSpPr>
        <p:spPr>
          <a:xfrm>
            <a:off x="3493694" y="2697480"/>
            <a:ext cx="216781" cy="384048"/>
          </a:xfrm>
          <a:prstGeom prst="roundRect">
            <a:avLst>
              <a:gd name="adj" fmla="val 21090"/>
            </a:avLst>
          </a:prstGeom>
          <a:solidFill>
            <a:schemeClr val="accent2"/>
          </a:solidFill>
          <a:ln/>
        </p:spPr>
      </p:sp>
      <p:sp>
        <p:nvSpPr>
          <p:cNvPr id="44" name="Shape 42"/>
          <p:cNvSpPr/>
          <p:nvPr/>
        </p:nvSpPr>
        <p:spPr>
          <a:xfrm>
            <a:off x="3521126" y="3012399"/>
            <a:ext cx="161917" cy="69129"/>
          </a:xfrm>
          <a:prstGeom prst="rect">
            <a:avLst/>
          </a:prstGeom>
          <a:solidFill>
            <a:srgbClr val="C28F09"/>
          </a:solidFill>
          <a:ln/>
        </p:spPr>
      </p:sp>
      <p:sp>
        <p:nvSpPr>
          <p:cNvPr id="45" name="Shape 43"/>
          <p:cNvSpPr/>
          <p:nvPr/>
        </p:nvSpPr>
        <p:spPr>
          <a:xfrm>
            <a:off x="3842738" y="2633472"/>
            <a:ext cx="43696" cy="73152"/>
          </a:xfrm>
          <a:prstGeom prst="roundRect">
            <a:avLst>
              <a:gd name="adj" fmla="val 62779"/>
            </a:avLst>
          </a:prstGeom>
          <a:solidFill>
            <a:schemeClr val="accent2"/>
          </a:solidFill>
          <a:ln/>
        </p:spPr>
      </p:sp>
      <p:sp>
        <p:nvSpPr>
          <p:cNvPr id="46" name="Shape 44"/>
          <p:cNvSpPr/>
          <p:nvPr/>
        </p:nvSpPr>
        <p:spPr>
          <a:xfrm>
            <a:off x="3756195" y="2697480"/>
            <a:ext cx="216781" cy="384048"/>
          </a:xfrm>
          <a:prstGeom prst="roundRect">
            <a:avLst>
              <a:gd name="adj" fmla="val 21090"/>
            </a:avLst>
          </a:prstGeom>
          <a:solidFill>
            <a:schemeClr val="accent2"/>
          </a:solidFill>
          <a:ln/>
        </p:spPr>
      </p:sp>
      <p:sp>
        <p:nvSpPr>
          <p:cNvPr id="47" name="Shape 45"/>
          <p:cNvSpPr/>
          <p:nvPr/>
        </p:nvSpPr>
        <p:spPr>
          <a:xfrm>
            <a:off x="3783627" y="3012399"/>
            <a:ext cx="161917" cy="69129"/>
          </a:xfrm>
          <a:prstGeom prst="rect">
            <a:avLst/>
          </a:prstGeom>
          <a:solidFill>
            <a:srgbClr val="C28F09"/>
          </a:solidFill>
          <a:ln/>
        </p:spPr>
      </p:sp>
      <p:sp>
        <p:nvSpPr>
          <p:cNvPr id="48" name="Shape 46"/>
          <p:cNvSpPr/>
          <p:nvPr/>
        </p:nvSpPr>
        <p:spPr>
          <a:xfrm>
            <a:off x="4105239" y="2633472"/>
            <a:ext cx="43696" cy="73152"/>
          </a:xfrm>
          <a:prstGeom prst="roundRect">
            <a:avLst>
              <a:gd name="adj" fmla="val 62779"/>
            </a:avLst>
          </a:prstGeom>
          <a:solidFill>
            <a:schemeClr val="accent2"/>
          </a:solidFill>
          <a:ln/>
        </p:spPr>
      </p:sp>
      <p:sp>
        <p:nvSpPr>
          <p:cNvPr id="49" name="Shape 47"/>
          <p:cNvSpPr/>
          <p:nvPr/>
        </p:nvSpPr>
        <p:spPr>
          <a:xfrm>
            <a:off x="4018697" y="2697480"/>
            <a:ext cx="216781" cy="384048"/>
          </a:xfrm>
          <a:prstGeom prst="roundRect">
            <a:avLst>
              <a:gd name="adj" fmla="val 21090"/>
            </a:avLst>
          </a:prstGeom>
          <a:solidFill>
            <a:schemeClr val="accent2"/>
          </a:solidFill>
          <a:ln/>
        </p:spPr>
      </p:sp>
      <p:sp>
        <p:nvSpPr>
          <p:cNvPr id="50" name="Shape 48"/>
          <p:cNvSpPr/>
          <p:nvPr/>
        </p:nvSpPr>
        <p:spPr>
          <a:xfrm>
            <a:off x="4046129" y="3012399"/>
            <a:ext cx="161917" cy="69129"/>
          </a:xfrm>
          <a:prstGeom prst="rect">
            <a:avLst/>
          </a:prstGeom>
          <a:solidFill>
            <a:srgbClr val="C28F09"/>
          </a:solidFill>
          <a:ln/>
        </p:spPr>
      </p:sp>
      <p:sp>
        <p:nvSpPr>
          <p:cNvPr id="51" name="Shape 49"/>
          <p:cNvSpPr/>
          <p:nvPr/>
        </p:nvSpPr>
        <p:spPr>
          <a:xfrm>
            <a:off x="4367741" y="2633472"/>
            <a:ext cx="43696" cy="73152"/>
          </a:xfrm>
          <a:prstGeom prst="roundRect">
            <a:avLst>
              <a:gd name="adj" fmla="val 62779"/>
            </a:avLst>
          </a:prstGeom>
          <a:solidFill>
            <a:schemeClr val="accent2"/>
          </a:solidFill>
          <a:ln/>
        </p:spPr>
      </p:sp>
      <p:sp>
        <p:nvSpPr>
          <p:cNvPr id="52" name="Shape 50"/>
          <p:cNvSpPr/>
          <p:nvPr/>
        </p:nvSpPr>
        <p:spPr>
          <a:xfrm>
            <a:off x="4281198" y="2697480"/>
            <a:ext cx="216781" cy="384048"/>
          </a:xfrm>
          <a:prstGeom prst="roundRect">
            <a:avLst>
              <a:gd name="adj" fmla="val 21090"/>
            </a:avLst>
          </a:prstGeom>
          <a:solidFill>
            <a:schemeClr val="accent2"/>
          </a:solidFill>
          <a:ln/>
        </p:spPr>
      </p:sp>
      <p:sp>
        <p:nvSpPr>
          <p:cNvPr id="53" name="Shape 51"/>
          <p:cNvSpPr/>
          <p:nvPr/>
        </p:nvSpPr>
        <p:spPr>
          <a:xfrm>
            <a:off x="4308630" y="3012399"/>
            <a:ext cx="161917" cy="69129"/>
          </a:xfrm>
          <a:prstGeom prst="rect">
            <a:avLst/>
          </a:prstGeom>
          <a:solidFill>
            <a:srgbClr val="C28F09"/>
          </a:solidFill>
          <a:ln/>
        </p:spPr>
      </p:sp>
      <p:sp>
        <p:nvSpPr>
          <p:cNvPr id="54" name="Shape 52"/>
          <p:cNvSpPr/>
          <p:nvPr/>
        </p:nvSpPr>
        <p:spPr>
          <a:xfrm>
            <a:off x="4630242" y="2633472"/>
            <a:ext cx="43696" cy="73152"/>
          </a:xfrm>
          <a:prstGeom prst="roundRect">
            <a:avLst>
              <a:gd name="adj" fmla="val 62779"/>
            </a:avLst>
          </a:prstGeom>
          <a:solidFill>
            <a:schemeClr val="accent2"/>
          </a:solidFill>
          <a:ln/>
        </p:spPr>
      </p:sp>
      <p:sp>
        <p:nvSpPr>
          <p:cNvPr id="55" name="Shape 53"/>
          <p:cNvSpPr/>
          <p:nvPr/>
        </p:nvSpPr>
        <p:spPr>
          <a:xfrm>
            <a:off x="4543699" y="2697480"/>
            <a:ext cx="216781" cy="384048"/>
          </a:xfrm>
          <a:prstGeom prst="roundRect">
            <a:avLst>
              <a:gd name="adj" fmla="val 21090"/>
            </a:avLst>
          </a:prstGeom>
          <a:solidFill>
            <a:schemeClr val="accent2"/>
          </a:solidFill>
          <a:ln/>
        </p:spPr>
      </p:sp>
      <p:sp>
        <p:nvSpPr>
          <p:cNvPr id="56" name="Shape 54"/>
          <p:cNvSpPr/>
          <p:nvPr/>
        </p:nvSpPr>
        <p:spPr>
          <a:xfrm>
            <a:off x="4571131" y="3012399"/>
            <a:ext cx="161917" cy="69129"/>
          </a:xfrm>
          <a:prstGeom prst="rect">
            <a:avLst/>
          </a:prstGeom>
          <a:solidFill>
            <a:srgbClr val="C28F09"/>
          </a:solidFill>
          <a:ln/>
        </p:spPr>
      </p:sp>
      <p:sp>
        <p:nvSpPr>
          <p:cNvPr id="57" name="Shape 55"/>
          <p:cNvSpPr/>
          <p:nvPr/>
        </p:nvSpPr>
        <p:spPr>
          <a:xfrm>
            <a:off x="4892743" y="2633472"/>
            <a:ext cx="43696" cy="73152"/>
          </a:xfrm>
          <a:prstGeom prst="roundRect">
            <a:avLst>
              <a:gd name="adj" fmla="val 62779"/>
            </a:avLst>
          </a:prstGeom>
          <a:solidFill>
            <a:schemeClr val="accent2"/>
          </a:solidFill>
          <a:ln/>
        </p:spPr>
      </p:sp>
      <p:sp>
        <p:nvSpPr>
          <p:cNvPr id="58" name="Shape 56"/>
          <p:cNvSpPr/>
          <p:nvPr/>
        </p:nvSpPr>
        <p:spPr>
          <a:xfrm>
            <a:off x="4806201" y="2697480"/>
            <a:ext cx="216781" cy="384048"/>
          </a:xfrm>
          <a:prstGeom prst="roundRect">
            <a:avLst>
              <a:gd name="adj" fmla="val 21090"/>
            </a:avLst>
          </a:prstGeom>
          <a:solidFill>
            <a:schemeClr val="accent2"/>
          </a:solidFill>
          <a:ln/>
        </p:spPr>
      </p:sp>
      <p:sp>
        <p:nvSpPr>
          <p:cNvPr id="59" name="Shape 57"/>
          <p:cNvSpPr/>
          <p:nvPr/>
        </p:nvSpPr>
        <p:spPr>
          <a:xfrm>
            <a:off x="4833633" y="3012399"/>
            <a:ext cx="161917" cy="69129"/>
          </a:xfrm>
          <a:prstGeom prst="rect">
            <a:avLst/>
          </a:prstGeom>
          <a:solidFill>
            <a:srgbClr val="C28F09"/>
          </a:solidFill>
          <a:ln/>
        </p:spPr>
      </p:sp>
      <p:sp>
        <p:nvSpPr>
          <p:cNvPr id="60" name="Shape 58"/>
          <p:cNvSpPr/>
          <p:nvPr/>
        </p:nvSpPr>
        <p:spPr>
          <a:xfrm>
            <a:off x="5155245" y="2633472"/>
            <a:ext cx="43696" cy="73152"/>
          </a:xfrm>
          <a:prstGeom prst="roundRect">
            <a:avLst>
              <a:gd name="adj" fmla="val 62779"/>
            </a:avLst>
          </a:prstGeom>
          <a:solidFill>
            <a:schemeClr val="accent2"/>
          </a:solidFill>
          <a:ln/>
        </p:spPr>
      </p:sp>
      <p:sp>
        <p:nvSpPr>
          <p:cNvPr id="61" name="Shape 59"/>
          <p:cNvSpPr/>
          <p:nvPr/>
        </p:nvSpPr>
        <p:spPr>
          <a:xfrm>
            <a:off x="5068702" y="2697480"/>
            <a:ext cx="216781" cy="384048"/>
          </a:xfrm>
          <a:prstGeom prst="roundRect">
            <a:avLst>
              <a:gd name="adj" fmla="val 21090"/>
            </a:avLst>
          </a:prstGeom>
          <a:solidFill>
            <a:schemeClr val="accent2"/>
          </a:solidFill>
          <a:ln/>
        </p:spPr>
      </p:sp>
      <p:sp>
        <p:nvSpPr>
          <p:cNvPr id="62" name="Shape 60"/>
          <p:cNvSpPr/>
          <p:nvPr/>
        </p:nvSpPr>
        <p:spPr>
          <a:xfrm>
            <a:off x="5096134" y="3012399"/>
            <a:ext cx="161917" cy="69129"/>
          </a:xfrm>
          <a:prstGeom prst="rect">
            <a:avLst/>
          </a:prstGeom>
          <a:solidFill>
            <a:srgbClr val="C28F09"/>
          </a:solidFill>
          <a:ln/>
        </p:spPr>
      </p:sp>
      <p:sp>
        <p:nvSpPr>
          <p:cNvPr id="63" name="Text 61"/>
          <p:cNvSpPr txBox="1"/>
          <p:nvPr/>
        </p:nvSpPr>
        <p:spPr>
          <a:xfrm>
            <a:off x="868680" y="3136392"/>
            <a:ext cx="4416803" cy="256032"/>
          </a:xfrm>
          <a:prstGeom prst="rect">
            <a:avLst/>
          </a:prstGeom>
          <a:noFill/>
          <a:ln/>
        </p:spPr>
        <p:txBody>
          <a:bodyPr wrap="square" lIns="0" tIns="0" rIns="0" bIns="0" rtlCol="0" anchor="ctr"/>
          <a:lstStyle/>
          <a:p>
            <a:pPr algn="ctr" indent="0" marL="0">
              <a:buNone/>
            </a:pPr>
            <a:r>
              <a:rPr lang="en-US" sz="1300" b="1" dirty="0">
                <a:solidFill>
                  <a:schemeClr val="tx2"/>
                </a:solidFill>
              </a:rPr>
              <a:t>42%</a:t>
            </a:r>
            <a:endParaRPr lang="en-US" sz="1300" dirty="0"/>
          </a:p>
        </p:txBody>
      </p:sp>
      <p:sp>
        <p:nvSpPr>
          <p:cNvPr id="64" name="Shape 62"/>
          <p:cNvSpPr/>
          <p:nvPr/>
        </p:nvSpPr>
        <p:spPr>
          <a:xfrm>
            <a:off x="5417746" y="2633472"/>
            <a:ext cx="43696" cy="73152"/>
          </a:xfrm>
          <a:prstGeom prst="roundRect">
            <a:avLst>
              <a:gd name="adj" fmla="val 62779"/>
            </a:avLst>
          </a:prstGeom>
          <a:solidFill>
            <a:schemeClr val="accent3"/>
          </a:solidFill>
          <a:ln/>
        </p:spPr>
      </p:sp>
      <p:sp>
        <p:nvSpPr>
          <p:cNvPr id="65" name="Shape 63"/>
          <p:cNvSpPr/>
          <p:nvPr/>
        </p:nvSpPr>
        <p:spPr>
          <a:xfrm>
            <a:off x="5331203" y="2697480"/>
            <a:ext cx="216781" cy="384048"/>
          </a:xfrm>
          <a:prstGeom prst="roundRect">
            <a:avLst>
              <a:gd name="adj" fmla="val 21090"/>
            </a:avLst>
          </a:prstGeom>
          <a:solidFill>
            <a:schemeClr val="accent3"/>
          </a:solidFill>
          <a:ln/>
        </p:spPr>
      </p:sp>
      <p:sp>
        <p:nvSpPr>
          <p:cNvPr id="66" name="Shape 64"/>
          <p:cNvSpPr/>
          <p:nvPr/>
        </p:nvSpPr>
        <p:spPr>
          <a:xfrm>
            <a:off x="5358635" y="3012399"/>
            <a:ext cx="161917" cy="69129"/>
          </a:xfrm>
          <a:prstGeom prst="rect">
            <a:avLst/>
          </a:prstGeom>
          <a:solidFill>
            <a:srgbClr val="1F4E9E"/>
          </a:solidFill>
          <a:ln/>
        </p:spPr>
      </p:sp>
      <p:sp>
        <p:nvSpPr>
          <p:cNvPr id="67" name="Shape 65"/>
          <p:cNvSpPr/>
          <p:nvPr/>
        </p:nvSpPr>
        <p:spPr>
          <a:xfrm>
            <a:off x="5680248" y="2633472"/>
            <a:ext cx="43696" cy="73152"/>
          </a:xfrm>
          <a:prstGeom prst="roundRect">
            <a:avLst>
              <a:gd name="adj" fmla="val 62779"/>
            </a:avLst>
          </a:prstGeom>
          <a:solidFill>
            <a:schemeClr val="accent3"/>
          </a:solidFill>
          <a:ln/>
        </p:spPr>
      </p:sp>
      <p:sp>
        <p:nvSpPr>
          <p:cNvPr id="68" name="Shape 66"/>
          <p:cNvSpPr/>
          <p:nvPr/>
        </p:nvSpPr>
        <p:spPr>
          <a:xfrm>
            <a:off x="5593705" y="2697480"/>
            <a:ext cx="216781" cy="384048"/>
          </a:xfrm>
          <a:prstGeom prst="roundRect">
            <a:avLst>
              <a:gd name="adj" fmla="val 21090"/>
            </a:avLst>
          </a:prstGeom>
          <a:solidFill>
            <a:schemeClr val="accent3"/>
          </a:solidFill>
          <a:ln/>
        </p:spPr>
      </p:sp>
      <p:sp>
        <p:nvSpPr>
          <p:cNvPr id="69" name="Shape 67"/>
          <p:cNvSpPr/>
          <p:nvPr/>
        </p:nvSpPr>
        <p:spPr>
          <a:xfrm>
            <a:off x="5621137" y="3012399"/>
            <a:ext cx="161917" cy="69129"/>
          </a:xfrm>
          <a:prstGeom prst="rect">
            <a:avLst/>
          </a:prstGeom>
          <a:solidFill>
            <a:srgbClr val="1F4E9E"/>
          </a:solidFill>
          <a:ln/>
        </p:spPr>
      </p:sp>
      <p:sp>
        <p:nvSpPr>
          <p:cNvPr id="70" name="Shape 68"/>
          <p:cNvSpPr/>
          <p:nvPr/>
        </p:nvSpPr>
        <p:spPr>
          <a:xfrm>
            <a:off x="5942749" y="2633472"/>
            <a:ext cx="43696" cy="73152"/>
          </a:xfrm>
          <a:prstGeom prst="roundRect">
            <a:avLst>
              <a:gd name="adj" fmla="val 62779"/>
            </a:avLst>
          </a:prstGeom>
          <a:solidFill>
            <a:schemeClr val="accent3"/>
          </a:solidFill>
          <a:ln/>
        </p:spPr>
      </p:sp>
      <p:sp>
        <p:nvSpPr>
          <p:cNvPr id="71" name="Shape 69"/>
          <p:cNvSpPr/>
          <p:nvPr/>
        </p:nvSpPr>
        <p:spPr>
          <a:xfrm>
            <a:off x="5856206" y="2697480"/>
            <a:ext cx="216781" cy="384048"/>
          </a:xfrm>
          <a:prstGeom prst="roundRect">
            <a:avLst>
              <a:gd name="adj" fmla="val 21090"/>
            </a:avLst>
          </a:prstGeom>
          <a:solidFill>
            <a:schemeClr val="accent3"/>
          </a:solidFill>
          <a:ln/>
        </p:spPr>
      </p:sp>
      <p:sp>
        <p:nvSpPr>
          <p:cNvPr id="72" name="Shape 70"/>
          <p:cNvSpPr/>
          <p:nvPr/>
        </p:nvSpPr>
        <p:spPr>
          <a:xfrm>
            <a:off x="5883638" y="3012399"/>
            <a:ext cx="161917" cy="69129"/>
          </a:xfrm>
          <a:prstGeom prst="rect">
            <a:avLst/>
          </a:prstGeom>
          <a:solidFill>
            <a:srgbClr val="1F4E9E"/>
          </a:solidFill>
          <a:ln/>
        </p:spPr>
      </p:sp>
      <p:sp>
        <p:nvSpPr>
          <p:cNvPr id="73" name="Shape 71"/>
          <p:cNvSpPr/>
          <p:nvPr/>
        </p:nvSpPr>
        <p:spPr>
          <a:xfrm>
            <a:off x="6205250" y="2633472"/>
            <a:ext cx="43696" cy="73152"/>
          </a:xfrm>
          <a:prstGeom prst="roundRect">
            <a:avLst>
              <a:gd name="adj" fmla="val 62779"/>
            </a:avLst>
          </a:prstGeom>
          <a:solidFill>
            <a:schemeClr val="accent3"/>
          </a:solidFill>
          <a:ln/>
        </p:spPr>
      </p:sp>
      <p:sp>
        <p:nvSpPr>
          <p:cNvPr id="74" name="Shape 72"/>
          <p:cNvSpPr/>
          <p:nvPr/>
        </p:nvSpPr>
        <p:spPr>
          <a:xfrm>
            <a:off x="6118708" y="2697480"/>
            <a:ext cx="216781" cy="384048"/>
          </a:xfrm>
          <a:prstGeom prst="roundRect">
            <a:avLst>
              <a:gd name="adj" fmla="val 21090"/>
            </a:avLst>
          </a:prstGeom>
          <a:solidFill>
            <a:schemeClr val="accent3"/>
          </a:solidFill>
          <a:ln/>
        </p:spPr>
      </p:sp>
      <p:sp>
        <p:nvSpPr>
          <p:cNvPr id="75" name="Shape 73"/>
          <p:cNvSpPr/>
          <p:nvPr/>
        </p:nvSpPr>
        <p:spPr>
          <a:xfrm>
            <a:off x="6146140" y="3012399"/>
            <a:ext cx="161917" cy="69129"/>
          </a:xfrm>
          <a:prstGeom prst="rect">
            <a:avLst/>
          </a:prstGeom>
          <a:solidFill>
            <a:srgbClr val="1F4E9E"/>
          </a:solidFill>
          <a:ln/>
        </p:spPr>
      </p:sp>
      <p:sp>
        <p:nvSpPr>
          <p:cNvPr id="76" name="Shape 74"/>
          <p:cNvSpPr/>
          <p:nvPr/>
        </p:nvSpPr>
        <p:spPr>
          <a:xfrm>
            <a:off x="6467752" y="2633472"/>
            <a:ext cx="43696" cy="73152"/>
          </a:xfrm>
          <a:prstGeom prst="roundRect">
            <a:avLst>
              <a:gd name="adj" fmla="val 62779"/>
            </a:avLst>
          </a:prstGeom>
          <a:solidFill>
            <a:schemeClr val="accent3"/>
          </a:solidFill>
          <a:ln/>
        </p:spPr>
      </p:sp>
      <p:sp>
        <p:nvSpPr>
          <p:cNvPr id="77" name="Shape 75"/>
          <p:cNvSpPr/>
          <p:nvPr/>
        </p:nvSpPr>
        <p:spPr>
          <a:xfrm>
            <a:off x="6381209" y="2697480"/>
            <a:ext cx="216781" cy="384048"/>
          </a:xfrm>
          <a:prstGeom prst="roundRect">
            <a:avLst>
              <a:gd name="adj" fmla="val 21090"/>
            </a:avLst>
          </a:prstGeom>
          <a:solidFill>
            <a:schemeClr val="accent3"/>
          </a:solidFill>
          <a:ln/>
        </p:spPr>
      </p:sp>
      <p:sp>
        <p:nvSpPr>
          <p:cNvPr id="78" name="Shape 76"/>
          <p:cNvSpPr/>
          <p:nvPr/>
        </p:nvSpPr>
        <p:spPr>
          <a:xfrm>
            <a:off x="6408641" y="3012399"/>
            <a:ext cx="161917" cy="69129"/>
          </a:xfrm>
          <a:prstGeom prst="rect">
            <a:avLst/>
          </a:prstGeom>
          <a:solidFill>
            <a:srgbClr val="1F4E9E"/>
          </a:solidFill>
          <a:ln/>
        </p:spPr>
      </p:sp>
      <p:sp>
        <p:nvSpPr>
          <p:cNvPr id="79" name="Shape 77"/>
          <p:cNvSpPr/>
          <p:nvPr/>
        </p:nvSpPr>
        <p:spPr>
          <a:xfrm>
            <a:off x="6730253" y="2633472"/>
            <a:ext cx="43696" cy="73152"/>
          </a:xfrm>
          <a:prstGeom prst="roundRect">
            <a:avLst>
              <a:gd name="adj" fmla="val 62779"/>
            </a:avLst>
          </a:prstGeom>
          <a:solidFill>
            <a:schemeClr val="accent3"/>
          </a:solidFill>
          <a:ln/>
        </p:spPr>
      </p:sp>
      <p:sp>
        <p:nvSpPr>
          <p:cNvPr id="80" name="Shape 78"/>
          <p:cNvSpPr/>
          <p:nvPr/>
        </p:nvSpPr>
        <p:spPr>
          <a:xfrm>
            <a:off x="6643710" y="2697480"/>
            <a:ext cx="216781" cy="384048"/>
          </a:xfrm>
          <a:prstGeom prst="roundRect">
            <a:avLst>
              <a:gd name="adj" fmla="val 21090"/>
            </a:avLst>
          </a:prstGeom>
          <a:solidFill>
            <a:schemeClr val="accent3"/>
          </a:solidFill>
          <a:ln/>
        </p:spPr>
      </p:sp>
      <p:sp>
        <p:nvSpPr>
          <p:cNvPr id="81" name="Shape 79"/>
          <p:cNvSpPr/>
          <p:nvPr/>
        </p:nvSpPr>
        <p:spPr>
          <a:xfrm>
            <a:off x="6671142" y="3012399"/>
            <a:ext cx="161917" cy="69129"/>
          </a:xfrm>
          <a:prstGeom prst="rect">
            <a:avLst/>
          </a:prstGeom>
          <a:solidFill>
            <a:srgbClr val="1F4E9E"/>
          </a:solidFill>
          <a:ln/>
        </p:spPr>
      </p:sp>
      <p:sp>
        <p:nvSpPr>
          <p:cNvPr id="82" name="Shape 80"/>
          <p:cNvSpPr/>
          <p:nvPr/>
        </p:nvSpPr>
        <p:spPr>
          <a:xfrm>
            <a:off x="6992754" y="2633472"/>
            <a:ext cx="43696" cy="73152"/>
          </a:xfrm>
          <a:prstGeom prst="roundRect">
            <a:avLst>
              <a:gd name="adj" fmla="val 62779"/>
            </a:avLst>
          </a:prstGeom>
          <a:solidFill>
            <a:schemeClr val="accent3"/>
          </a:solidFill>
          <a:ln/>
        </p:spPr>
      </p:sp>
      <p:sp>
        <p:nvSpPr>
          <p:cNvPr id="83" name="Shape 81"/>
          <p:cNvSpPr/>
          <p:nvPr/>
        </p:nvSpPr>
        <p:spPr>
          <a:xfrm>
            <a:off x="6906212" y="2697480"/>
            <a:ext cx="216781" cy="384048"/>
          </a:xfrm>
          <a:prstGeom prst="roundRect">
            <a:avLst>
              <a:gd name="adj" fmla="val 21090"/>
            </a:avLst>
          </a:prstGeom>
          <a:solidFill>
            <a:schemeClr val="accent3"/>
          </a:solidFill>
          <a:ln/>
        </p:spPr>
      </p:sp>
      <p:sp>
        <p:nvSpPr>
          <p:cNvPr id="84" name="Shape 82"/>
          <p:cNvSpPr/>
          <p:nvPr/>
        </p:nvSpPr>
        <p:spPr>
          <a:xfrm>
            <a:off x="6933644" y="3012399"/>
            <a:ext cx="161917" cy="69129"/>
          </a:xfrm>
          <a:prstGeom prst="rect">
            <a:avLst/>
          </a:prstGeom>
          <a:solidFill>
            <a:srgbClr val="1F4E9E"/>
          </a:solidFill>
          <a:ln/>
        </p:spPr>
      </p:sp>
      <p:sp>
        <p:nvSpPr>
          <p:cNvPr id="85" name="Shape 83"/>
          <p:cNvSpPr/>
          <p:nvPr/>
        </p:nvSpPr>
        <p:spPr>
          <a:xfrm>
            <a:off x="7255256" y="2633472"/>
            <a:ext cx="43696" cy="73152"/>
          </a:xfrm>
          <a:prstGeom prst="roundRect">
            <a:avLst>
              <a:gd name="adj" fmla="val 62779"/>
            </a:avLst>
          </a:prstGeom>
          <a:solidFill>
            <a:schemeClr val="accent3"/>
          </a:solidFill>
          <a:ln/>
        </p:spPr>
      </p:sp>
      <p:sp>
        <p:nvSpPr>
          <p:cNvPr id="86" name="Shape 84"/>
          <p:cNvSpPr/>
          <p:nvPr/>
        </p:nvSpPr>
        <p:spPr>
          <a:xfrm>
            <a:off x="7168713" y="2697480"/>
            <a:ext cx="216781" cy="384048"/>
          </a:xfrm>
          <a:prstGeom prst="roundRect">
            <a:avLst>
              <a:gd name="adj" fmla="val 21090"/>
            </a:avLst>
          </a:prstGeom>
          <a:solidFill>
            <a:schemeClr val="accent3"/>
          </a:solidFill>
          <a:ln/>
        </p:spPr>
      </p:sp>
      <p:sp>
        <p:nvSpPr>
          <p:cNvPr id="87" name="Shape 85"/>
          <p:cNvSpPr/>
          <p:nvPr/>
        </p:nvSpPr>
        <p:spPr>
          <a:xfrm>
            <a:off x="7196145" y="3012399"/>
            <a:ext cx="161917" cy="69129"/>
          </a:xfrm>
          <a:prstGeom prst="rect">
            <a:avLst/>
          </a:prstGeom>
          <a:solidFill>
            <a:srgbClr val="1F4E9E"/>
          </a:solidFill>
          <a:ln/>
        </p:spPr>
      </p:sp>
      <p:sp>
        <p:nvSpPr>
          <p:cNvPr id="88" name="Shape 86"/>
          <p:cNvSpPr/>
          <p:nvPr/>
        </p:nvSpPr>
        <p:spPr>
          <a:xfrm>
            <a:off x="7517757" y="2633472"/>
            <a:ext cx="43696" cy="73152"/>
          </a:xfrm>
          <a:prstGeom prst="roundRect">
            <a:avLst>
              <a:gd name="adj" fmla="val 62779"/>
            </a:avLst>
          </a:prstGeom>
          <a:solidFill>
            <a:schemeClr val="accent3"/>
          </a:solidFill>
          <a:ln/>
        </p:spPr>
      </p:sp>
      <p:sp>
        <p:nvSpPr>
          <p:cNvPr id="89" name="Shape 87"/>
          <p:cNvSpPr/>
          <p:nvPr/>
        </p:nvSpPr>
        <p:spPr>
          <a:xfrm>
            <a:off x="7431215" y="2697480"/>
            <a:ext cx="216781" cy="384048"/>
          </a:xfrm>
          <a:prstGeom prst="roundRect">
            <a:avLst>
              <a:gd name="adj" fmla="val 21090"/>
            </a:avLst>
          </a:prstGeom>
          <a:solidFill>
            <a:schemeClr val="accent3"/>
          </a:solidFill>
          <a:ln/>
        </p:spPr>
      </p:sp>
      <p:sp>
        <p:nvSpPr>
          <p:cNvPr id="90" name="Shape 88"/>
          <p:cNvSpPr/>
          <p:nvPr/>
        </p:nvSpPr>
        <p:spPr>
          <a:xfrm>
            <a:off x="7458646" y="3012399"/>
            <a:ext cx="161917" cy="69129"/>
          </a:xfrm>
          <a:prstGeom prst="rect">
            <a:avLst/>
          </a:prstGeom>
          <a:solidFill>
            <a:srgbClr val="1F4E9E"/>
          </a:solidFill>
          <a:ln/>
        </p:spPr>
      </p:sp>
      <p:sp>
        <p:nvSpPr>
          <p:cNvPr id="91" name="Shape 89"/>
          <p:cNvSpPr/>
          <p:nvPr/>
        </p:nvSpPr>
        <p:spPr>
          <a:xfrm>
            <a:off x="7780259" y="2633472"/>
            <a:ext cx="43696" cy="73152"/>
          </a:xfrm>
          <a:prstGeom prst="roundRect">
            <a:avLst>
              <a:gd name="adj" fmla="val 62779"/>
            </a:avLst>
          </a:prstGeom>
          <a:solidFill>
            <a:schemeClr val="accent3"/>
          </a:solidFill>
          <a:ln/>
        </p:spPr>
      </p:sp>
      <p:sp>
        <p:nvSpPr>
          <p:cNvPr id="92" name="Shape 90"/>
          <p:cNvSpPr/>
          <p:nvPr/>
        </p:nvSpPr>
        <p:spPr>
          <a:xfrm>
            <a:off x="7693716" y="2697480"/>
            <a:ext cx="216781" cy="384048"/>
          </a:xfrm>
          <a:prstGeom prst="roundRect">
            <a:avLst>
              <a:gd name="adj" fmla="val 21090"/>
            </a:avLst>
          </a:prstGeom>
          <a:solidFill>
            <a:schemeClr val="accent3"/>
          </a:solidFill>
          <a:ln/>
        </p:spPr>
      </p:sp>
      <p:sp>
        <p:nvSpPr>
          <p:cNvPr id="93" name="Shape 91"/>
          <p:cNvSpPr/>
          <p:nvPr/>
        </p:nvSpPr>
        <p:spPr>
          <a:xfrm>
            <a:off x="7721148" y="3012399"/>
            <a:ext cx="161917" cy="69129"/>
          </a:xfrm>
          <a:prstGeom prst="rect">
            <a:avLst/>
          </a:prstGeom>
          <a:solidFill>
            <a:srgbClr val="1F4E9E"/>
          </a:solidFill>
          <a:ln/>
        </p:spPr>
      </p:sp>
      <p:sp>
        <p:nvSpPr>
          <p:cNvPr id="94" name="Shape 92"/>
          <p:cNvSpPr/>
          <p:nvPr/>
        </p:nvSpPr>
        <p:spPr>
          <a:xfrm>
            <a:off x="8042760" y="2633472"/>
            <a:ext cx="43696" cy="73152"/>
          </a:xfrm>
          <a:prstGeom prst="roundRect">
            <a:avLst>
              <a:gd name="adj" fmla="val 62779"/>
            </a:avLst>
          </a:prstGeom>
          <a:solidFill>
            <a:schemeClr val="accent3"/>
          </a:solidFill>
          <a:ln/>
        </p:spPr>
      </p:sp>
      <p:sp>
        <p:nvSpPr>
          <p:cNvPr id="95" name="Shape 93"/>
          <p:cNvSpPr/>
          <p:nvPr/>
        </p:nvSpPr>
        <p:spPr>
          <a:xfrm>
            <a:off x="7956217" y="2697480"/>
            <a:ext cx="216781" cy="384048"/>
          </a:xfrm>
          <a:prstGeom prst="roundRect">
            <a:avLst>
              <a:gd name="adj" fmla="val 21090"/>
            </a:avLst>
          </a:prstGeom>
          <a:solidFill>
            <a:schemeClr val="accent3"/>
          </a:solidFill>
          <a:ln/>
        </p:spPr>
      </p:sp>
      <p:sp>
        <p:nvSpPr>
          <p:cNvPr id="96" name="Shape 94"/>
          <p:cNvSpPr/>
          <p:nvPr/>
        </p:nvSpPr>
        <p:spPr>
          <a:xfrm>
            <a:off x="7983649" y="3012399"/>
            <a:ext cx="161917" cy="69129"/>
          </a:xfrm>
          <a:prstGeom prst="rect">
            <a:avLst/>
          </a:prstGeom>
          <a:solidFill>
            <a:srgbClr val="1F4E9E"/>
          </a:solidFill>
          <a:ln/>
        </p:spPr>
      </p:sp>
      <p:sp>
        <p:nvSpPr>
          <p:cNvPr id="97" name="Text 95"/>
          <p:cNvSpPr txBox="1"/>
          <p:nvPr/>
        </p:nvSpPr>
        <p:spPr>
          <a:xfrm>
            <a:off x="5331203" y="3136392"/>
            <a:ext cx="2841795" cy="256032"/>
          </a:xfrm>
          <a:prstGeom prst="rect">
            <a:avLst/>
          </a:prstGeom>
          <a:noFill/>
          <a:ln/>
        </p:spPr>
        <p:txBody>
          <a:bodyPr wrap="square" lIns="0" tIns="0" rIns="0" bIns="0" rtlCol="0" anchor="ctr"/>
          <a:lstStyle/>
          <a:p>
            <a:pPr algn="ctr" indent="0" marL="0">
              <a:buNone/>
            </a:pPr>
            <a:r>
              <a:rPr lang="en-US" sz="1300" b="1" dirty="0">
                <a:solidFill>
                  <a:schemeClr val="tx2"/>
                </a:solidFill>
              </a:rPr>
              <a:t>27%</a:t>
            </a:r>
            <a:endParaRPr lang="en-US" sz="1300" dirty="0"/>
          </a:p>
        </p:txBody>
      </p:sp>
      <p:sp>
        <p:nvSpPr>
          <p:cNvPr id="98" name="Shape 96"/>
          <p:cNvSpPr/>
          <p:nvPr/>
        </p:nvSpPr>
        <p:spPr>
          <a:xfrm>
            <a:off x="8305261" y="2633472"/>
            <a:ext cx="43696" cy="73152"/>
          </a:xfrm>
          <a:prstGeom prst="roundRect">
            <a:avLst>
              <a:gd name="adj" fmla="val 62779"/>
            </a:avLst>
          </a:prstGeom>
          <a:solidFill>
            <a:schemeClr val="accent4"/>
          </a:solidFill>
          <a:ln/>
        </p:spPr>
      </p:sp>
      <p:sp>
        <p:nvSpPr>
          <p:cNvPr id="99" name="Shape 97"/>
          <p:cNvSpPr/>
          <p:nvPr/>
        </p:nvSpPr>
        <p:spPr>
          <a:xfrm>
            <a:off x="8218719" y="2697480"/>
            <a:ext cx="216781" cy="384048"/>
          </a:xfrm>
          <a:prstGeom prst="roundRect">
            <a:avLst>
              <a:gd name="adj" fmla="val 21090"/>
            </a:avLst>
          </a:prstGeom>
          <a:solidFill>
            <a:schemeClr val="accent4"/>
          </a:solidFill>
          <a:ln/>
        </p:spPr>
      </p:sp>
      <p:sp>
        <p:nvSpPr>
          <p:cNvPr id="100" name="Shape 98"/>
          <p:cNvSpPr/>
          <p:nvPr/>
        </p:nvSpPr>
        <p:spPr>
          <a:xfrm>
            <a:off x="8246151" y="3012399"/>
            <a:ext cx="161917" cy="69129"/>
          </a:xfrm>
          <a:prstGeom prst="rect">
            <a:avLst/>
          </a:prstGeom>
          <a:solidFill>
            <a:srgbClr val="7D818A"/>
          </a:solidFill>
          <a:ln/>
        </p:spPr>
      </p:sp>
      <p:sp>
        <p:nvSpPr>
          <p:cNvPr id="101" name="Shape 99"/>
          <p:cNvSpPr/>
          <p:nvPr/>
        </p:nvSpPr>
        <p:spPr>
          <a:xfrm>
            <a:off x="8567763" y="2633472"/>
            <a:ext cx="43696" cy="73152"/>
          </a:xfrm>
          <a:prstGeom prst="roundRect">
            <a:avLst>
              <a:gd name="adj" fmla="val 62779"/>
            </a:avLst>
          </a:prstGeom>
          <a:solidFill>
            <a:schemeClr val="accent4"/>
          </a:solidFill>
          <a:ln/>
        </p:spPr>
      </p:sp>
      <p:sp>
        <p:nvSpPr>
          <p:cNvPr id="102" name="Shape 100"/>
          <p:cNvSpPr/>
          <p:nvPr/>
        </p:nvSpPr>
        <p:spPr>
          <a:xfrm>
            <a:off x="8481220" y="2697480"/>
            <a:ext cx="216781" cy="384048"/>
          </a:xfrm>
          <a:prstGeom prst="roundRect">
            <a:avLst>
              <a:gd name="adj" fmla="val 21090"/>
            </a:avLst>
          </a:prstGeom>
          <a:solidFill>
            <a:schemeClr val="accent4"/>
          </a:solidFill>
          <a:ln/>
        </p:spPr>
      </p:sp>
      <p:sp>
        <p:nvSpPr>
          <p:cNvPr id="103" name="Shape 101"/>
          <p:cNvSpPr/>
          <p:nvPr/>
        </p:nvSpPr>
        <p:spPr>
          <a:xfrm>
            <a:off x="8508652" y="3012399"/>
            <a:ext cx="161917" cy="69129"/>
          </a:xfrm>
          <a:prstGeom prst="rect">
            <a:avLst/>
          </a:prstGeom>
          <a:solidFill>
            <a:srgbClr val="7D818A"/>
          </a:solidFill>
          <a:ln/>
        </p:spPr>
      </p:sp>
      <p:sp>
        <p:nvSpPr>
          <p:cNvPr id="104" name="Shape 102"/>
          <p:cNvSpPr/>
          <p:nvPr/>
        </p:nvSpPr>
        <p:spPr>
          <a:xfrm>
            <a:off x="8830264" y="2633472"/>
            <a:ext cx="43696" cy="73152"/>
          </a:xfrm>
          <a:prstGeom prst="roundRect">
            <a:avLst>
              <a:gd name="adj" fmla="val 62779"/>
            </a:avLst>
          </a:prstGeom>
          <a:solidFill>
            <a:schemeClr val="accent4"/>
          </a:solidFill>
          <a:ln/>
        </p:spPr>
      </p:sp>
      <p:sp>
        <p:nvSpPr>
          <p:cNvPr id="105" name="Shape 103"/>
          <p:cNvSpPr/>
          <p:nvPr/>
        </p:nvSpPr>
        <p:spPr>
          <a:xfrm>
            <a:off x="8743721" y="2697480"/>
            <a:ext cx="216781" cy="384048"/>
          </a:xfrm>
          <a:prstGeom prst="roundRect">
            <a:avLst>
              <a:gd name="adj" fmla="val 21090"/>
            </a:avLst>
          </a:prstGeom>
          <a:solidFill>
            <a:schemeClr val="accent4"/>
          </a:solidFill>
          <a:ln/>
        </p:spPr>
      </p:sp>
      <p:sp>
        <p:nvSpPr>
          <p:cNvPr id="106" name="Shape 104"/>
          <p:cNvSpPr/>
          <p:nvPr/>
        </p:nvSpPr>
        <p:spPr>
          <a:xfrm>
            <a:off x="8771153" y="3012399"/>
            <a:ext cx="161917" cy="69129"/>
          </a:xfrm>
          <a:prstGeom prst="rect">
            <a:avLst/>
          </a:prstGeom>
          <a:solidFill>
            <a:srgbClr val="7D818A"/>
          </a:solidFill>
          <a:ln/>
        </p:spPr>
      </p:sp>
      <p:sp>
        <p:nvSpPr>
          <p:cNvPr id="107" name="Shape 105"/>
          <p:cNvSpPr/>
          <p:nvPr/>
        </p:nvSpPr>
        <p:spPr>
          <a:xfrm>
            <a:off x="9092765" y="2633472"/>
            <a:ext cx="43696" cy="73152"/>
          </a:xfrm>
          <a:prstGeom prst="roundRect">
            <a:avLst>
              <a:gd name="adj" fmla="val 62779"/>
            </a:avLst>
          </a:prstGeom>
          <a:solidFill>
            <a:schemeClr val="accent4"/>
          </a:solidFill>
          <a:ln/>
        </p:spPr>
      </p:sp>
      <p:sp>
        <p:nvSpPr>
          <p:cNvPr id="108" name="Shape 106"/>
          <p:cNvSpPr/>
          <p:nvPr/>
        </p:nvSpPr>
        <p:spPr>
          <a:xfrm>
            <a:off x="9006223" y="2697480"/>
            <a:ext cx="216781" cy="384048"/>
          </a:xfrm>
          <a:prstGeom prst="roundRect">
            <a:avLst>
              <a:gd name="adj" fmla="val 21090"/>
            </a:avLst>
          </a:prstGeom>
          <a:solidFill>
            <a:schemeClr val="accent4"/>
          </a:solidFill>
          <a:ln/>
        </p:spPr>
      </p:sp>
      <p:sp>
        <p:nvSpPr>
          <p:cNvPr id="109" name="Shape 107"/>
          <p:cNvSpPr/>
          <p:nvPr/>
        </p:nvSpPr>
        <p:spPr>
          <a:xfrm>
            <a:off x="9033655" y="3012399"/>
            <a:ext cx="161917" cy="69129"/>
          </a:xfrm>
          <a:prstGeom prst="rect">
            <a:avLst/>
          </a:prstGeom>
          <a:solidFill>
            <a:srgbClr val="7D818A"/>
          </a:solidFill>
          <a:ln/>
        </p:spPr>
      </p:sp>
      <p:sp>
        <p:nvSpPr>
          <p:cNvPr id="110" name="Shape 108"/>
          <p:cNvSpPr/>
          <p:nvPr/>
        </p:nvSpPr>
        <p:spPr>
          <a:xfrm>
            <a:off x="9355267" y="2633472"/>
            <a:ext cx="43696" cy="73152"/>
          </a:xfrm>
          <a:prstGeom prst="roundRect">
            <a:avLst>
              <a:gd name="adj" fmla="val 62779"/>
            </a:avLst>
          </a:prstGeom>
          <a:solidFill>
            <a:schemeClr val="accent4"/>
          </a:solidFill>
          <a:ln/>
        </p:spPr>
      </p:sp>
      <p:sp>
        <p:nvSpPr>
          <p:cNvPr id="111" name="Shape 109"/>
          <p:cNvSpPr/>
          <p:nvPr/>
        </p:nvSpPr>
        <p:spPr>
          <a:xfrm>
            <a:off x="9268724" y="2697480"/>
            <a:ext cx="216781" cy="384048"/>
          </a:xfrm>
          <a:prstGeom prst="roundRect">
            <a:avLst>
              <a:gd name="adj" fmla="val 21090"/>
            </a:avLst>
          </a:prstGeom>
          <a:solidFill>
            <a:schemeClr val="accent4"/>
          </a:solidFill>
          <a:ln/>
        </p:spPr>
      </p:sp>
      <p:sp>
        <p:nvSpPr>
          <p:cNvPr id="112" name="Shape 110"/>
          <p:cNvSpPr/>
          <p:nvPr/>
        </p:nvSpPr>
        <p:spPr>
          <a:xfrm>
            <a:off x="9296156" y="3012399"/>
            <a:ext cx="161917" cy="69129"/>
          </a:xfrm>
          <a:prstGeom prst="rect">
            <a:avLst/>
          </a:prstGeom>
          <a:solidFill>
            <a:srgbClr val="7D818A"/>
          </a:solidFill>
          <a:ln/>
        </p:spPr>
      </p:sp>
      <p:sp>
        <p:nvSpPr>
          <p:cNvPr id="113" name="Shape 111"/>
          <p:cNvSpPr/>
          <p:nvPr/>
        </p:nvSpPr>
        <p:spPr>
          <a:xfrm>
            <a:off x="9617768" y="2633472"/>
            <a:ext cx="43696" cy="73152"/>
          </a:xfrm>
          <a:prstGeom prst="roundRect">
            <a:avLst>
              <a:gd name="adj" fmla="val 62779"/>
            </a:avLst>
          </a:prstGeom>
          <a:solidFill>
            <a:schemeClr val="accent4"/>
          </a:solidFill>
          <a:ln/>
        </p:spPr>
      </p:sp>
      <p:sp>
        <p:nvSpPr>
          <p:cNvPr id="114" name="Shape 112"/>
          <p:cNvSpPr/>
          <p:nvPr/>
        </p:nvSpPr>
        <p:spPr>
          <a:xfrm>
            <a:off x="9531226" y="2697480"/>
            <a:ext cx="216781" cy="384048"/>
          </a:xfrm>
          <a:prstGeom prst="roundRect">
            <a:avLst>
              <a:gd name="adj" fmla="val 21090"/>
            </a:avLst>
          </a:prstGeom>
          <a:solidFill>
            <a:schemeClr val="accent4"/>
          </a:solidFill>
          <a:ln/>
        </p:spPr>
      </p:sp>
      <p:sp>
        <p:nvSpPr>
          <p:cNvPr id="115" name="Shape 113"/>
          <p:cNvSpPr/>
          <p:nvPr/>
        </p:nvSpPr>
        <p:spPr>
          <a:xfrm>
            <a:off x="9558658" y="3012399"/>
            <a:ext cx="161917" cy="69129"/>
          </a:xfrm>
          <a:prstGeom prst="rect">
            <a:avLst/>
          </a:prstGeom>
          <a:solidFill>
            <a:srgbClr val="7D818A"/>
          </a:solidFill>
          <a:ln/>
        </p:spPr>
      </p:sp>
      <p:sp>
        <p:nvSpPr>
          <p:cNvPr id="116" name="Shape 114"/>
          <p:cNvSpPr/>
          <p:nvPr/>
        </p:nvSpPr>
        <p:spPr>
          <a:xfrm>
            <a:off x="9880270" y="2633472"/>
            <a:ext cx="43696" cy="73152"/>
          </a:xfrm>
          <a:prstGeom prst="roundRect">
            <a:avLst>
              <a:gd name="adj" fmla="val 62779"/>
            </a:avLst>
          </a:prstGeom>
          <a:solidFill>
            <a:schemeClr val="accent4"/>
          </a:solidFill>
          <a:ln/>
        </p:spPr>
      </p:sp>
      <p:sp>
        <p:nvSpPr>
          <p:cNvPr id="117" name="Shape 115"/>
          <p:cNvSpPr/>
          <p:nvPr/>
        </p:nvSpPr>
        <p:spPr>
          <a:xfrm>
            <a:off x="9793727" y="2697480"/>
            <a:ext cx="216781" cy="384048"/>
          </a:xfrm>
          <a:prstGeom prst="roundRect">
            <a:avLst>
              <a:gd name="adj" fmla="val 21090"/>
            </a:avLst>
          </a:prstGeom>
          <a:solidFill>
            <a:schemeClr val="accent4"/>
          </a:solidFill>
          <a:ln/>
        </p:spPr>
      </p:sp>
      <p:sp>
        <p:nvSpPr>
          <p:cNvPr id="118" name="Shape 116"/>
          <p:cNvSpPr/>
          <p:nvPr/>
        </p:nvSpPr>
        <p:spPr>
          <a:xfrm>
            <a:off x="9821159" y="3012399"/>
            <a:ext cx="161917" cy="69129"/>
          </a:xfrm>
          <a:prstGeom prst="rect">
            <a:avLst/>
          </a:prstGeom>
          <a:solidFill>
            <a:srgbClr val="7D818A"/>
          </a:solidFill>
          <a:ln/>
        </p:spPr>
      </p:sp>
      <p:sp>
        <p:nvSpPr>
          <p:cNvPr id="119" name="Shape 117"/>
          <p:cNvSpPr/>
          <p:nvPr/>
        </p:nvSpPr>
        <p:spPr>
          <a:xfrm>
            <a:off x="10142771" y="2633472"/>
            <a:ext cx="43696" cy="73152"/>
          </a:xfrm>
          <a:prstGeom prst="roundRect">
            <a:avLst>
              <a:gd name="adj" fmla="val 62779"/>
            </a:avLst>
          </a:prstGeom>
          <a:solidFill>
            <a:schemeClr val="accent4"/>
          </a:solidFill>
          <a:ln/>
        </p:spPr>
      </p:sp>
      <p:sp>
        <p:nvSpPr>
          <p:cNvPr id="120" name="Shape 118"/>
          <p:cNvSpPr/>
          <p:nvPr/>
        </p:nvSpPr>
        <p:spPr>
          <a:xfrm>
            <a:off x="10056228" y="2697480"/>
            <a:ext cx="216781" cy="384048"/>
          </a:xfrm>
          <a:prstGeom prst="roundRect">
            <a:avLst>
              <a:gd name="adj" fmla="val 21090"/>
            </a:avLst>
          </a:prstGeom>
          <a:solidFill>
            <a:schemeClr val="accent4"/>
          </a:solidFill>
          <a:ln/>
        </p:spPr>
      </p:sp>
      <p:sp>
        <p:nvSpPr>
          <p:cNvPr id="121" name="Shape 119"/>
          <p:cNvSpPr/>
          <p:nvPr/>
        </p:nvSpPr>
        <p:spPr>
          <a:xfrm>
            <a:off x="10083660" y="3012399"/>
            <a:ext cx="161917" cy="69129"/>
          </a:xfrm>
          <a:prstGeom prst="rect">
            <a:avLst/>
          </a:prstGeom>
          <a:solidFill>
            <a:srgbClr val="7D818A"/>
          </a:solidFill>
          <a:ln/>
        </p:spPr>
      </p:sp>
      <p:sp>
        <p:nvSpPr>
          <p:cNvPr id="122" name="Shape 120"/>
          <p:cNvSpPr/>
          <p:nvPr/>
        </p:nvSpPr>
        <p:spPr>
          <a:xfrm>
            <a:off x="10405272" y="2633472"/>
            <a:ext cx="43696" cy="73152"/>
          </a:xfrm>
          <a:prstGeom prst="roundRect">
            <a:avLst>
              <a:gd name="adj" fmla="val 62779"/>
            </a:avLst>
          </a:prstGeom>
          <a:solidFill>
            <a:schemeClr val="accent4"/>
          </a:solidFill>
          <a:ln/>
        </p:spPr>
      </p:sp>
      <p:sp>
        <p:nvSpPr>
          <p:cNvPr id="123" name="Shape 121"/>
          <p:cNvSpPr/>
          <p:nvPr/>
        </p:nvSpPr>
        <p:spPr>
          <a:xfrm>
            <a:off x="10318730" y="2697480"/>
            <a:ext cx="216781" cy="384048"/>
          </a:xfrm>
          <a:prstGeom prst="roundRect">
            <a:avLst>
              <a:gd name="adj" fmla="val 21090"/>
            </a:avLst>
          </a:prstGeom>
          <a:solidFill>
            <a:schemeClr val="accent4"/>
          </a:solidFill>
          <a:ln/>
        </p:spPr>
      </p:sp>
      <p:sp>
        <p:nvSpPr>
          <p:cNvPr id="124" name="Shape 122"/>
          <p:cNvSpPr/>
          <p:nvPr/>
        </p:nvSpPr>
        <p:spPr>
          <a:xfrm>
            <a:off x="10346162" y="3012399"/>
            <a:ext cx="161917" cy="69129"/>
          </a:xfrm>
          <a:prstGeom prst="rect">
            <a:avLst/>
          </a:prstGeom>
          <a:solidFill>
            <a:srgbClr val="7D818A"/>
          </a:solidFill>
          <a:ln/>
        </p:spPr>
      </p:sp>
      <p:sp>
        <p:nvSpPr>
          <p:cNvPr id="125" name="Shape 123"/>
          <p:cNvSpPr/>
          <p:nvPr/>
        </p:nvSpPr>
        <p:spPr>
          <a:xfrm>
            <a:off x="10667774" y="2633472"/>
            <a:ext cx="43696" cy="73152"/>
          </a:xfrm>
          <a:prstGeom prst="roundRect">
            <a:avLst>
              <a:gd name="adj" fmla="val 62779"/>
            </a:avLst>
          </a:prstGeom>
          <a:solidFill>
            <a:schemeClr val="accent4"/>
          </a:solidFill>
          <a:ln/>
        </p:spPr>
      </p:sp>
      <p:sp>
        <p:nvSpPr>
          <p:cNvPr id="126" name="Shape 124"/>
          <p:cNvSpPr/>
          <p:nvPr/>
        </p:nvSpPr>
        <p:spPr>
          <a:xfrm>
            <a:off x="10581231" y="2697480"/>
            <a:ext cx="216781" cy="384048"/>
          </a:xfrm>
          <a:prstGeom prst="roundRect">
            <a:avLst>
              <a:gd name="adj" fmla="val 21090"/>
            </a:avLst>
          </a:prstGeom>
          <a:solidFill>
            <a:schemeClr val="accent4"/>
          </a:solidFill>
          <a:ln/>
        </p:spPr>
      </p:sp>
      <p:sp>
        <p:nvSpPr>
          <p:cNvPr id="127" name="Shape 125"/>
          <p:cNvSpPr/>
          <p:nvPr/>
        </p:nvSpPr>
        <p:spPr>
          <a:xfrm>
            <a:off x="10608663" y="3012399"/>
            <a:ext cx="161917" cy="69129"/>
          </a:xfrm>
          <a:prstGeom prst="rect">
            <a:avLst/>
          </a:prstGeom>
          <a:solidFill>
            <a:srgbClr val="7D818A"/>
          </a:solidFill>
          <a:ln/>
        </p:spPr>
      </p:sp>
      <p:sp>
        <p:nvSpPr>
          <p:cNvPr id="128" name="Shape 126"/>
          <p:cNvSpPr/>
          <p:nvPr/>
        </p:nvSpPr>
        <p:spPr>
          <a:xfrm>
            <a:off x="10930275" y="2633472"/>
            <a:ext cx="43696" cy="73152"/>
          </a:xfrm>
          <a:prstGeom prst="roundRect">
            <a:avLst>
              <a:gd name="adj" fmla="val 62779"/>
            </a:avLst>
          </a:prstGeom>
          <a:solidFill>
            <a:schemeClr val="accent4"/>
          </a:solidFill>
          <a:ln/>
        </p:spPr>
      </p:sp>
      <p:sp>
        <p:nvSpPr>
          <p:cNvPr id="129" name="Shape 127"/>
          <p:cNvSpPr/>
          <p:nvPr/>
        </p:nvSpPr>
        <p:spPr>
          <a:xfrm>
            <a:off x="10843732" y="2697480"/>
            <a:ext cx="216781" cy="384048"/>
          </a:xfrm>
          <a:prstGeom prst="roundRect">
            <a:avLst>
              <a:gd name="adj" fmla="val 21090"/>
            </a:avLst>
          </a:prstGeom>
          <a:solidFill>
            <a:schemeClr val="accent4"/>
          </a:solidFill>
          <a:ln/>
        </p:spPr>
      </p:sp>
      <p:sp>
        <p:nvSpPr>
          <p:cNvPr id="130" name="Shape 128"/>
          <p:cNvSpPr/>
          <p:nvPr/>
        </p:nvSpPr>
        <p:spPr>
          <a:xfrm>
            <a:off x="10871164" y="3012399"/>
            <a:ext cx="161917" cy="69129"/>
          </a:xfrm>
          <a:prstGeom prst="rect">
            <a:avLst/>
          </a:prstGeom>
          <a:solidFill>
            <a:srgbClr val="7D818A"/>
          </a:solidFill>
          <a:ln/>
        </p:spPr>
      </p:sp>
      <p:sp>
        <p:nvSpPr>
          <p:cNvPr id="131" name="Shape 129"/>
          <p:cNvSpPr/>
          <p:nvPr/>
        </p:nvSpPr>
        <p:spPr>
          <a:xfrm>
            <a:off x="11192777" y="2633472"/>
            <a:ext cx="43696" cy="73152"/>
          </a:xfrm>
          <a:prstGeom prst="roundRect">
            <a:avLst>
              <a:gd name="adj" fmla="val 62779"/>
            </a:avLst>
          </a:prstGeom>
          <a:solidFill>
            <a:schemeClr val="accent4"/>
          </a:solidFill>
          <a:ln/>
        </p:spPr>
      </p:sp>
      <p:sp>
        <p:nvSpPr>
          <p:cNvPr id="132" name="Shape 130"/>
          <p:cNvSpPr/>
          <p:nvPr/>
        </p:nvSpPr>
        <p:spPr>
          <a:xfrm>
            <a:off x="11106234" y="2697480"/>
            <a:ext cx="216781" cy="384048"/>
          </a:xfrm>
          <a:prstGeom prst="roundRect">
            <a:avLst>
              <a:gd name="adj" fmla="val 21090"/>
            </a:avLst>
          </a:prstGeom>
          <a:solidFill>
            <a:schemeClr val="accent4"/>
          </a:solidFill>
          <a:ln/>
        </p:spPr>
      </p:sp>
      <p:sp>
        <p:nvSpPr>
          <p:cNvPr id="133" name="Shape 131"/>
          <p:cNvSpPr/>
          <p:nvPr/>
        </p:nvSpPr>
        <p:spPr>
          <a:xfrm>
            <a:off x="11133666" y="3012399"/>
            <a:ext cx="161917" cy="69129"/>
          </a:xfrm>
          <a:prstGeom prst="rect">
            <a:avLst/>
          </a:prstGeom>
          <a:solidFill>
            <a:srgbClr val="7D818A"/>
          </a:solidFill>
          <a:ln/>
        </p:spPr>
      </p:sp>
      <p:sp>
        <p:nvSpPr>
          <p:cNvPr id="134" name="Text 132"/>
          <p:cNvSpPr txBox="1"/>
          <p:nvPr/>
        </p:nvSpPr>
        <p:spPr>
          <a:xfrm>
            <a:off x="8218719" y="3136392"/>
            <a:ext cx="3104297" cy="256032"/>
          </a:xfrm>
          <a:prstGeom prst="rect">
            <a:avLst/>
          </a:prstGeom>
          <a:noFill/>
          <a:ln/>
        </p:spPr>
        <p:txBody>
          <a:bodyPr wrap="square" lIns="0" tIns="0" rIns="0" bIns="0" rtlCol="0" anchor="ctr"/>
          <a:lstStyle/>
          <a:p>
            <a:pPr algn="ctr" indent="0" marL="0">
              <a:buNone/>
            </a:pPr>
            <a:r>
              <a:rPr lang="en-US" sz="1300" b="1" dirty="0">
                <a:solidFill>
                  <a:schemeClr val="tx2"/>
                </a:solidFill>
              </a:rPr>
              <a:t>31%</a:t>
            </a:r>
            <a:endParaRPr lang="en-US" sz="1300" dirty="0"/>
          </a:p>
        </p:txBody>
      </p:sp>
      <p:sp>
        <p:nvSpPr>
          <p:cNvPr id="135" name="Text 133"/>
          <p:cNvSpPr txBox="1"/>
          <p:nvPr/>
        </p:nvSpPr>
        <p:spPr>
          <a:xfrm>
            <a:off x="868680" y="3520440"/>
            <a:ext cx="8229600" cy="274320"/>
          </a:xfrm>
          <a:prstGeom prst="rect">
            <a:avLst/>
          </a:prstGeom>
          <a:noFill/>
          <a:ln/>
        </p:spPr>
        <p:txBody>
          <a:bodyPr wrap="square" lIns="0" tIns="0" rIns="0" bIns="0" rtlCol="0" anchor="ctr"/>
          <a:lstStyle/>
          <a:p>
            <a:pPr indent="0" marL="0">
              <a:buNone/>
            </a:pPr>
            <a:r>
              <a:rPr lang="en-US" sz="1500" b="1" dirty="0">
                <a:solidFill>
                  <a:schemeClr val="tx1"/>
                </a:solidFill>
              </a:rPr>
              <a:t>De cada 40 pesos en mora…</a:t>
            </a:r>
            <a:endParaRPr lang="en-US" sz="1500" dirty="0"/>
          </a:p>
        </p:txBody>
      </p:sp>
      <p:sp>
        <p:nvSpPr>
          <p:cNvPr id="136" name="Shape 134"/>
          <p:cNvSpPr/>
          <p:nvPr/>
        </p:nvSpPr>
        <p:spPr>
          <a:xfrm>
            <a:off x="955223" y="3913632"/>
            <a:ext cx="43696" cy="73152"/>
          </a:xfrm>
          <a:prstGeom prst="roundRect">
            <a:avLst>
              <a:gd name="adj" fmla="val 62779"/>
            </a:avLst>
          </a:prstGeom>
          <a:solidFill>
            <a:schemeClr val="accent2"/>
          </a:solidFill>
          <a:ln/>
        </p:spPr>
      </p:sp>
      <p:sp>
        <p:nvSpPr>
          <p:cNvPr id="137" name="Shape 135"/>
          <p:cNvSpPr/>
          <p:nvPr/>
        </p:nvSpPr>
        <p:spPr>
          <a:xfrm>
            <a:off x="868680" y="3977640"/>
            <a:ext cx="216781" cy="384048"/>
          </a:xfrm>
          <a:prstGeom prst="roundRect">
            <a:avLst>
              <a:gd name="adj" fmla="val 21090"/>
            </a:avLst>
          </a:prstGeom>
          <a:solidFill>
            <a:schemeClr val="accent2"/>
          </a:solidFill>
          <a:ln/>
        </p:spPr>
      </p:sp>
      <p:sp>
        <p:nvSpPr>
          <p:cNvPr id="138" name="Shape 136"/>
          <p:cNvSpPr/>
          <p:nvPr/>
        </p:nvSpPr>
        <p:spPr>
          <a:xfrm>
            <a:off x="896112" y="4292559"/>
            <a:ext cx="161917" cy="69129"/>
          </a:xfrm>
          <a:prstGeom prst="rect">
            <a:avLst/>
          </a:prstGeom>
          <a:solidFill>
            <a:srgbClr val="C28F09"/>
          </a:solidFill>
          <a:ln/>
        </p:spPr>
      </p:sp>
      <p:sp>
        <p:nvSpPr>
          <p:cNvPr id="139" name="Shape 137"/>
          <p:cNvSpPr/>
          <p:nvPr/>
        </p:nvSpPr>
        <p:spPr>
          <a:xfrm>
            <a:off x="1217724" y="3913632"/>
            <a:ext cx="43696" cy="73152"/>
          </a:xfrm>
          <a:prstGeom prst="roundRect">
            <a:avLst>
              <a:gd name="adj" fmla="val 62779"/>
            </a:avLst>
          </a:prstGeom>
          <a:solidFill>
            <a:schemeClr val="accent2"/>
          </a:solidFill>
          <a:ln/>
        </p:spPr>
      </p:sp>
      <p:sp>
        <p:nvSpPr>
          <p:cNvPr id="140" name="Shape 138"/>
          <p:cNvSpPr/>
          <p:nvPr/>
        </p:nvSpPr>
        <p:spPr>
          <a:xfrm>
            <a:off x="1131181" y="3977640"/>
            <a:ext cx="216781" cy="384048"/>
          </a:xfrm>
          <a:prstGeom prst="roundRect">
            <a:avLst>
              <a:gd name="adj" fmla="val 21090"/>
            </a:avLst>
          </a:prstGeom>
          <a:solidFill>
            <a:schemeClr val="accent2"/>
          </a:solidFill>
          <a:ln/>
        </p:spPr>
      </p:sp>
      <p:sp>
        <p:nvSpPr>
          <p:cNvPr id="141" name="Shape 139"/>
          <p:cNvSpPr/>
          <p:nvPr/>
        </p:nvSpPr>
        <p:spPr>
          <a:xfrm>
            <a:off x="1158613" y="4292559"/>
            <a:ext cx="161917" cy="69129"/>
          </a:xfrm>
          <a:prstGeom prst="rect">
            <a:avLst/>
          </a:prstGeom>
          <a:solidFill>
            <a:srgbClr val="C28F09"/>
          </a:solidFill>
          <a:ln/>
        </p:spPr>
      </p:sp>
      <p:sp>
        <p:nvSpPr>
          <p:cNvPr id="142" name="Shape 140"/>
          <p:cNvSpPr/>
          <p:nvPr/>
        </p:nvSpPr>
        <p:spPr>
          <a:xfrm>
            <a:off x="1480225" y="3913632"/>
            <a:ext cx="43696" cy="73152"/>
          </a:xfrm>
          <a:prstGeom prst="roundRect">
            <a:avLst>
              <a:gd name="adj" fmla="val 62779"/>
            </a:avLst>
          </a:prstGeom>
          <a:solidFill>
            <a:schemeClr val="accent2"/>
          </a:solidFill>
          <a:ln/>
        </p:spPr>
      </p:sp>
      <p:sp>
        <p:nvSpPr>
          <p:cNvPr id="143" name="Shape 141"/>
          <p:cNvSpPr/>
          <p:nvPr/>
        </p:nvSpPr>
        <p:spPr>
          <a:xfrm>
            <a:off x="1393683" y="3977640"/>
            <a:ext cx="216781" cy="384048"/>
          </a:xfrm>
          <a:prstGeom prst="roundRect">
            <a:avLst>
              <a:gd name="adj" fmla="val 21090"/>
            </a:avLst>
          </a:prstGeom>
          <a:solidFill>
            <a:schemeClr val="accent2"/>
          </a:solidFill>
          <a:ln/>
        </p:spPr>
      </p:sp>
      <p:sp>
        <p:nvSpPr>
          <p:cNvPr id="144" name="Shape 142"/>
          <p:cNvSpPr/>
          <p:nvPr/>
        </p:nvSpPr>
        <p:spPr>
          <a:xfrm>
            <a:off x="1421115" y="4292559"/>
            <a:ext cx="161917" cy="69129"/>
          </a:xfrm>
          <a:prstGeom prst="rect">
            <a:avLst/>
          </a:prstGeom>
          <a:solidFill>
            <a:srgbClr val="C28F09"/>
          </a:solidFill>
          <a:ln/>
        </p:spPr>
      </p:sp>
      <p:sp>
        <p:nvSpPr>
          <p:cNvPr id="145" name="Shape 143"/>
          <p:cNvSpPr/>
          <p:nvPr/>
        </p:nvSpPr>
        <p:spPr>
          <a:xfrm>
            <a:off x="1742727" y="3913632"/>
            <a:ext cx="43696" cy="73152"/>
          </a:xfrm>
          <a:prstGeom prst="roundRect">
            <a:avLst>
              <a:gd name="adj" fmla="val 62779"/>
            </a:avLst>
          </a:prstGeom>
          <a:solidFill>
            <a:schemeClr val="accent2"/>
          </a:solidFill>
          <a:ln/>
        </p:spPr>
      </p:sp>
      <p:sp>
        <p:nvSpPr>
          <p:cNvPr id="146" name="Shape 144"/>
          <p:cNvSpPr/>
          <p:nvPr/>
        </p:nvSpPr>
        <p:spPr>
          <a:xfrm>
            <a:off x="1656184" y="3977640"/>
            <a:ext cx="216781" cy="384048"/>
          </a:xfrm>
          <a:prstGeom prst="roundRect">
            <a:avLst>
              <a:gd name="adj" fmla="val 21090"/>
            </a:avLst>
          </a:prstGeom>
          <a:solidFill>
            <a:schemeClr val="accent2"/>
          </a:solidFill>
          <a:ln/>
        </p:spPr>
      </p:sp>
      <p:sp>
        <p:nvSpPr>
          <p:cNvPr id="147" name="Shape 145"/>
          <p:cNvSpPr/>
          <p:nvPr/>
        </p:nvSpPr>
        <p:spPr>
          <a:xfrm>
            <a:off x="1683616" y="4292559"/>
            <a:ext cx="161917" cy="69129"/>
          </a:xfrm>
          <a:prstGeom prst="rect">
            <a:avLst/>
          </a:prstGeom>
          <a:solidFill>
            <a:srgbClr val="C28F09"/>
          </a:solidFill>
          <a:ln/>
        </p:spPr>
      </p:sp>
      <p:sp>
        <p:nvSpPr>
          <p:cNvPr id="148" name="Text 146"/>
          <p:cNvSpPr txBox="1"/>
          <p:nvPr/>
        </p:nvSpPr>
        <p:spPr>
          <a:xfrm>
            <a:off x="868680" y="4416552"/>
            <a:ext cx="1004286" cy="256032"/>
          </a:xfrm>
          <a:prstGeom prst="rect">
            <a:avLst/>
          </a:prstGeom>
          <a:noFill/>
          <a:ln/>
        </p:spPr>
        <p:txBody>
          <a:bodyPr wrap="square" lIns="0" tIns="0" rIns="0" bIns="0" rtlCol="0" anchor="ctr"/>
          <a:lstStyle/>
          <a:p>
            <a:pPr algn="ctr" indent="0" marL="0">
              <a:buNone/>
            </a:pPr>
            <a:r>
              <a:rPr lang="en-US" sz="1300" b="1" dirty="0">
                <a:solidFill>
                  <a:schemeClr val="tx2"/>
                </a:solidFill>
              </a:rPr>
              <a:t>11%</a:t>
            </a:r>
            <a:endParaRPr lang="en-US" sz="1300" dirty="0"/>
          </a:p>
        </p:txBody>
      </p:sp>
      <p:sp>
        <p:nvSpPr>
          <p:cNvPr id="149" name="Shape 147"/>
          <p:cNvSpPr/>
          <p:nvPr/>
        </p:nvSpPr>
        <p:spPr>
          <a:xfrm>
            <a:off x="2005228" y="3913632"/>
            <a:ext cx="43696" cy="73152"/>
          </a:xfrm>
          <a:prstGeom prst="roundRect">
            <a:avLst>
              <a:gd name="adj" fmla="val 62779"/>
            </a:avLst>
          </a:prstGeom>
          <a:solidFill>
            <a:schemeClr val="accent3"/>
          </a:solidFill>
          <a:ln/>
        </p:spPr>
      </p:sp>
      <p:sp>
        <p:nvSpPr>
          <p:cNvPr id="150" name="Shape 148"/>
          <p:cNvSpPr/>
          <p:nvPr/>
        </p:nvSpPr>
        <p:spPr>
          <a:xfrm>
            <a:off x="1918686" y="3977640"/>
            <a:ext cx="216781" cy="384048"/>
          </a:xfrm>
          <a:prstGeom prst="roundRect">
            <a:avLst>
              <a:gd name="adj" fmla="val 21090"/>
            </a:avLst>
          </a:prstGeom>
          <a:solidFill>
            <a:schemeClr val="accent3"/>
          </a:solidFill>
          <a:ln/>
        </p:spPr>
      </p:sp>
      <p:sp>
        <p:nvSpPr>
          <p:cNvPr id="151" name="Shape 149"/>
          <p:cNvSpPr/>
          <p:nvPr/>
        </p:nvSpPr>
        <p:spPr>
          <a:xfrm>
            <a:off x="1946118" y="4292559"/>
            <a:ext cx="161917" cy="69129"/>
          </a:xfrm>
          <a:prstGeom prst="rect">
            <a:avLst/>
          </a:prstGeom>
          <a:solidFill>
            <a:srgbClr val="1F4E9E"/>
          </a:solidFill>
          <a:ln/>
        </p:spPr>
      </p:sp>
      <p:sp>
        <p:nvSpPr>
          <p:cNvPr id="152" name="Shape 150"/>
          <p:cNvSpPr/>
          <p:nvPr/>
        </p:nvSpPr>
        <p:spPr>
          <a:xfrm>
            <a:off x="2267730" y="3913632"/>
            <a:ext cx="43696" cy="73152"/>
          </a:xfrm>
          <a:prstGeom prst="roundRect">
            <a:avLst>
              <a:gd name="adj" fmla="val 62779"/>
            </a:avLst>
          </a:prstGeom>
          <a:solidFill>
            <a:schemeClr val="accent3"/>
          </a:solidFill>
          <a:ln/>
        </p:spPr>
      </p:sp>
      <p:sp>
        <p:nvSpPr>
          <p:cNvPr id="153" name="Shape 151"/>
          <p:cNvSpPr/>
          <p:nvPr/>
        </p:nvSpPr>
        <p:spPr>
          <a:xfrm>
            <a:off x="2181187" y="3977640"/>
            <a:ext cx="216781" cy="384048"/>
          </a:xfrm>
          <a:prstGeom prst="roundRect">
            <a:avLst>
              <a:gd name="adj" fmla="val 21090"/>
            </a:avLst>
          </a:prstGeom>
          <a:solidFill>
            <a:schemeClr val="accent3"/>
          </a:solidFill>
          <a:ln/>
        </p:spPr>
      </p:sp>
      <p:sp>
        <p:nvSpPr>
          <p:cNvPr id="154" name="Shape 152"/>
          <p:cNvSpPr/>
          <p:nvPr/>
        </p:nvSpPr>
        <p:spPr>
          <a:xfrm>
            <a:off x="2208619" y="4292559"/>
            <a:ext cx="161917" cy="69129"/>
          </a:xfrm>
          <a:prstGeom prst="rect">
            <a:avLst/>
          </a:prstGeom>
          <a:solidFill>
            <a:srgbClr val="1F4E9E"/>
          </a:solidFill>
          <a:ln/>
        </p:spPr>
      </p:sp>
      <p:sp>
        <p:nvSpPr>
          <p:cNvPr id="155" name="Shape 153"/>
          <p:cNvSpPr/>
          <p:nvPr/>
        </p:nvSpPr>
        <p:spPr>
          <a:xfrm>
            <a:off x="2530231" y="3913632"/>
            <a:ext cx="43696" cy="73152"/>
          </a:xfrm>
          <a:prstGeom prst="roundRect">
            <a:avLst>
              <a:gd name="adj" fmla="val 62779"/>
            </a:avLst>
          </a:prstGeom>
          <a:solidFill>
            <a:schemeClr val="accent3"/>
          </a:solidFill>
          <a:ln/>
        </p:spPr>
      </p:sp>
      <p:sp>
        <p:nvSpPr>
          <p:cNvPr id="156" name="Shape 154"/>
          <p:cNvSpPr/>
          <p:nvPr/>
        </p:nvSpPr>
        <p:spPr>
          <a:xfrm>
            <a:off x="2443688" y="3977640"/>
            <a:ext cx="216781" cy="384048"/>
          </a:xfrm>
          <a:prstGeom prst="roundRect">
            <a:avLst>
              <a:gd name="adj" fmla="val 21090"/>
            </a:avLst>
          </a:prstGeom>
          <a:solidFill>
            <a:schemeClr val="accent3"/>
          </a:solidFill>
          <a:ln/>
        </p:spPr>
      </p:sp>
      <p:sp>
        <p:nvSpPr>
          <p:cNvPr id="157" name="Shape 155"/>
          <p:cNvSpPr/>
          <p:nvPr/>
        </p:nvSpPr>
        <p:spPr>
          <a:xfrm>
            <a:off x="2471120" y="4292559"/>
            <a:ext cx="161917" cy="69129"/>
          </a:xfrm>
          <a:prstGeom prst="rect">
            <a:avLst/>
          </a:prstGeom>
          <a:solidFill>
            <a:srgbClr val="1F4E9E"/>
          </a:solidFill>
          <a:ln/>
        </p:spPr>
      </p:sp>
      <p:sp>
        <p:nvSpPr>
          <p:cNvPr id="158" name="Shape 156"/>
          <p:cNvSpPr/>
          <p:nvPr/>
        </p:nvSpPr>
        <p:spPr>
          <a:xfrm>
            <a:off x="2792732" y="3913632"/>
            <a:ext cx="43696" cy="73152"/>
          </a:xfrm>
          <a:prstGeom prst="roundRect">
            <a:avLst>
              <a:gd name="adj" fmla="val 62779"/>
            </a:avLst>
          </a:prstGeom>
          <a:solidFill>
            <a:schemeClr val="accent3"/>
          </a:solidFill>
          <a:ln/>
        </p:spPr>
      </p:sp>
      <p:sp>
        <p:nvSpPr>
          <p:cNvPr id="159" name="Shape 157"/>
          <p:cNvSpPr/>
          <p:nvPr/>
        </p:nvSpPr>
        <p:spPr>
          <a:xfrm>
            <a:off x="2706190" y="3977640"/>
            <a:ext cx="216781" cy="384048"/>
          </a:xfrm>
          <a:prstGeom prst="roundRect">
            <a:avLst>
              <a:gd name="adj" fmla="val 21090"/>
            </a:avLst>
          </a:prstGeom>
          <a:solidFill>
            <a:schemeClr val="accent3"/>
          </a:solidFill>
          <a:ln/>
        </p:spPr>
      </p:sp>
      <p:sp>
        <p:nvSpPr>
          <p:cNvPr id="160" name="Shape 158"/>
          <p:cNvSpPr/>
          <p:nvPr/>
        </p:nvSpPr>
        <p:spPr>
          <a:xfrm>
            <a:off x="2733622" y="4292559"/>
            <a:ext cx="161917" cy="69129"/>
          </a:xfrm>
          <a:prstGeom prst="rect">
            <a:avLst/>
          </a:prstGeom>
          <a:solidFill>
            <a:srgbClr val="1F4E9E"/>
          </a:solidFill>
          <a:ln/>
        </p:spPr>
      </p:sp>
      <p:sp>
        <p:nvSpPr>
          <p:cNvPr id="161" name="Shape 159"/>
          <p:cNvSpPr/>
          <p:nvPr/>
        </p:nvSpPr>
        <p:spPr>
          <a:xfrm>
            <a:off x="3055234" y="3913632"/>
            <a:ext cx="43696" cy="73152"/>
          </a:xfrm>
          <a:prstGeom prst="roundRect">
            <a:avLst>
              <a:gd name="adj" fmla="val 62779"/>
            </a:avLst>
          </a:prstGeom>
          <a:solidFill>
            <a:schemeClr val="accent3"/>
          </a:solidFill>
          <a:ln/>
        </p:spPr>
      </p:sp>
      <p:sp>
        <p:nvSpPr>
          <p:cNvPr id="162" name="Shape 160"/>
          <p:cNvSpPr/>
          <p:nvPr/>
        </p:nvSpPr>
        <p:spPr>
          <a:xfrm>
            <a:off x="2968691" y="3977640"/>
            <a:ext cx="216781" cy="384048"/>
          </a:xfrm>
          <a:prstGeom prst="roundRect">
            <a:avLst>
              <a:gd name="adj" fmla="val 21090"/>
            </a:avLst>
          </a:prstGeom>
          <a:solidFill>
            <a:schemeClr val="accent3"/>
          </a:solidFill>
          <a:ln/>
        </p:spPr>
      </p:sp>
      <p:sp>
        <p:nvSpPr>
          <p:cNvPr id="163" name="Shape 161"/>
          <p:cNvSpPr/>
          <p:nvPr/>
        </p:nvSpPr>
        <p:spPr>
          <a:xfrm>
            <a:off x="2996123" y="4292559"/>
            <a:ext cx="161917" cy="69129"/>
          </a:xfrm>
          <a:prstGeom prst="rect">
            <a:avLst/>
          </a:prstGeom>
          <a:solidFill>
            <a:srgbClr val="1F4E9E"/>
          </a:solidFill>
          <a:ln/>
        </p:spPr>
      </p:sp>
      <p:sp>
        <p:nvSpPr>
          <p:cNvPr id="164" name="Shape 162"/>
          <p:cNvSpPr/>
          <p:nvPr/>
        </p:nvSpPr>
        <p:spPr>
          <a:xfrm>
            <a:off x="3317735" y="3913632"/>
            <a:ext cx="43696" cy="73152"/>
          </a:xfrm>
          <a:prstGeom prst="roundRect">
            <a:avLst>
              <a:gd name="adj" fmla="val 62779"/>
            </a:avLst>
          </a:prstGeom>
          <a:solidFill>
            <a:schemeClr val="accent3"/>
          </a:solidFill>
          <a:ln/>
        </p:spPr>
      </p:sp>
      <p:sp>
        <p:nvSpPr>
          <p:cNvPr id="165" name="Shape 163"/>
          <p:cNvSpPr/>
          <p:nvPr/>
        </p:nvSpPr>
        <p:spPr>
          <a:xfrm>
            <a:off x="3231192" y="3977640"/>
            <a:ext cx="216781" cy="384048"/>
          </a:xfrm>
          <a:prstGeom prst="roundRect">
            <a:avLst>
              <a:gd name="adj" fmla="val 21090"/>
            </a:avLst>
          </a:prstGeom>
          <a:solidFill>
            <a:schemeClr val="accent3"/>
          </a:solidFill>
          <a:ln/>
        </p:spPr>
      </p:sp>
      <p:sp>
        <p:nvSpPr>
          <p:cNvPr id="166" name="Shape 164"/>
          <p:cNvSpPr/>
          <p:nvPr/>
        </p:nvSpPr>
        <p:spPr>
          <a:xfrm>
            <a:off x="3258624" y="4292559"/>
            <a:ext cx="161917" cy="69129"/>
          </a:xfrm>
          <a:prstGeom prst="rect">
            <a:avLst/>
          </a:prstGeom>
          <a:solidFill>
            <a:srgbClr val="1F4E9E"/>
          </a:solidFill>
          <a:ln/>
        </p:spPr>
      </p:sp>
      <p:sp>
        <p:nvSpPr>
          <p:cNvPr id="167" name="Shape 165"/>
          <p:cNvSpPr/>
          <p:nvPr/>
        </p:nvSpPr>
        <p:spPr>
          <a:xfrm>
            <a:off x="3580237" y="3913632"/>
            <a:ext cx="43696" cy="73152"/>
          </a:xfrm>
          <a:prstGeom prst="roundRect">
            <a:avLst>
              <a:gd name="adj" fmla="val 62779"/>
            </a:avLst>
          </a:prstGeom>
          <a:solidFill>
            <a:schemeClr val="accent3"/>
          </a:solidFill>
          <a:ln/>
        </p:spPr>
      </p:sp>
      <p:sp>
        <p:nvSpPr>
          <p:cNvPr id="168" name="Shape 166"/>
          <p:cNvSpPr/>
          <p:nvPr/>
        </p:nvSpPr>
        <p:spPr>
          <a:xfrm>
            <a:off x="3493694" y="3977640"/>
            <a:ext cx="216781" cy="384048"/>
          </a:xfrm>
          <a:prstGeom prst="roundRect">
            <a:avLst>
              <a:gd name="adj" fmla="val 21090"/>
            </a:avLst>
          </a:prstGeom>
          <a:solidFill>
            <a:schemeClr val="accent3"/>
          </a:solidFill>
          <a:ln/>
        </p:spPr>
      </p:sp>
      <p:sp>
        <p:nvSpPr>
          <p:cNvPr id="169" name="Shape 167"/>
          <p:cNvSpPr/>
          <p:nvPr/>
        </p:nvSpPr>
        <p:spPr>
          <a:xfrm>
            <a:off x="3521126" y="4292559"/>
            <a:ext cx="161917" cy="69129"/>
          </a:xfrm>
          <a:prstGeom prst="rect">
            <a:avLst/>
          </a:prstGeom>
          <a:solidFill>
            <a:srgbClr val="1F4E9E"/>
          </a:solidFill>
          <a:ln/>
        </p:spPr>
      </p:sp>
      <p:sp>
        <p:nvSpPr>
          <p:cNvPr id="170" name="Shape 168"/>
          <p:cNvSpPr/>
          <p:nvPr/>
        </p:nvSpPr>
        <p:spPr>
          <a:xfrm>
            <a:off x="3842738" y="3913632"/>
            <a:ext cx="43696" cy="73152"/>
          </a:xfrm>
          <a:prstGeom prst="roundRect">
            <a:avLst>
              <a:gd name="adj" fmla="val 62779"/>
            </a:avLst>
          </a:prstGeom>
          <a:solidFill>
            <a:schemeClr val="accent3"/>
          </a:solidFill>
          <a:ln/>
        </p:spPr>
      </p:sp>
      <p:sp>
        <p:nvSpPr>
          <p:cNvPr id="171" name="Shape 169"/>
          <p:cNvSpPr/>
          <p:nvPr/>
        </p:nvSpPr>
        <p:spPr>
          <a:xfrm>
            <a:off x="3756195" y="3977640"/>
            <a:ext cx="216781" cy="384048"/>
          </a:xfrm>
          <a:prstGeom prst="roundRect">
            <a:avLst>
              <a:gd name="adj" fmla="val 21090"/>
            </a:avLst>
          </a:prstGeom>
          <a:solidFill>
            <a:schemeClr val="accent3"/>
          </a:solidFill>
          <a:ln/>
        </p:spPr>
      </p:sp>
      <p:sp>
        <p:nvSpPr>
          <p:cNvPr id="172" name="Shape 170"/>
          <p:cNvSpPr/>
          <p:nvPr/>
        </p:nvSpPr>
        <p:spPr>
          <a:xfrm>
            <a:off x="3783627" y="4292559"/>
            <a:ext cx="161917" cy="69129"/>
          </a:xfrm>
          <a:prstGeom prst="rect">
            <a:avLst/>
          </a:prstGeom>
          <a:solidFill>
            <a:srgbClr val="1F4E9E"/>
          </a:solidFill>
          <a:ln/>
        </p:spPr>
      </p:sp>
      <p:sp>
        <p:nvSpPr>
          <p:cNvPr id="173" name="Shape 171"/>
          <p:cNvSpPr/>
          <p:nvPr/>
        </p:nvSpPr>
        <p:spPr>
          <a:xfrm>
            <a:off x="4105239" y="3913632"/>
            <a:ext cx="43696" cy="73152"/>
          </a:xfrm>
          <a:prstGeom prst="roundRect">
            <a:avLst>
              <a:gd name="adj" fmla="val 62779"/>
            </a:avLst>
          </a:prstGeom>
          <a:solidFill>
            <a:schemeClr val="accent3"/>
          </a:solidFill>
          <a:ln/>
        </p:spPr>
      </p:sp>
      <p:sp>
        <p:nvSpPr>
          <p:cNvPr id="174" name="Shape 172"/>
          <p:cNvSpPr/>
          <p:nvPr/>
        </p:nvSpPr>
        <p:spPr>
          <a:xfrm>
            <a:off x="4018697" y="3977640"/>
            <a:ext cx="216781" cy="384048"/>
          </a:xfrm>
          <a:prstGeom prst="roundRect">
            <a:avLst>
              <a:gd name="adj" fmla="val 21090"/>
            </a:avLst>
          </a:prstGeom>
          <a:solidFill>
            <a:schemeClr val="accent3"/>
          </a:solidFill>
          <a:ln/>
        </p:spPr>
      </p:sp>
      <p:sp>
        <p:nvSpPr>
          <p:cNvPr id="175" name="Shape 173"/>
          <p:cNvSpPr/>
          <p:nvPr/>
        </p:nvSpPr>
        <p:spPr>
          <a:xfrm>
            <a:off x="4046129" y="4292559"/>
            <a:ext cx="161917" cy="69129"/>
          </a:xfrm>
          <a:prstGeom prst="rect">
            <a:avLst/>
          </a:prstGeom>
          <a:solidFill>
            <a:srgbClr val="1F4E9E"/>
          </a:solidFill>
          <a:ln/>
        </p:spPr>
      </p:sp>
      <p:sp>
        <p:nvSpPr>
          <p:cNvPr id="176" name="Shape 174"/>
          <p:cNvSpPr/>
          <p:nvPr/>
        </p:nvSpPr>
        <p:spPr>
          <a:xfrm>
            <a:off x="4367741" y="3913632"/>
            <a:ext cx="43696" cy="73152"/>
          </a:xfrm>
          <a:prstGeom prst="roundRect">
            <a:avLst>
              <a:gd name="adj" fmla="val 62779"/>
            </a:avLst>
          </a:prstGeom>
          <a:solidFill>
            <a:schemeClr val="accent3"/>
          </a:solidFill>
          <a:ln/>
        </p:spPr>
      </p:sp>
      <p:sp>
        <p:nvSpPr>
          <p:cNvPr id="177" name="Shape 175"/>
          <p:cNvSpPr/>
          <p:nvPr/>
        </p:nvSpPr>
        <p:spPr>
          <a:xfrm>
            <a:off x="4281198" y="3977640"/>
            <a:ext cx="216781" cy="384048"/>
          </a:xfrm>
          <a:prstGeom prst="roundRect">
            <a:avLst>
              <a:gd name="adj" fmla="val 21090"/>
            </a:avLst>
          </a:prstGeom>
          <a:solidFill>
            <a:schemeClr val="accent3"/>
          </a:solidFill>
          <a:ln/>
        </p:spPr>
      </p:sp>
      <p:sp>
        <p:nvSpPr>
          <p:cNvPr id="178" name="Shape 176"/>
          <p:cNvSpPr/>
          <p:nvPr/>
        </p:nvSpPr>
        <p:spPr>
          <a:xfrm>
            <a:off x="4308630" y="4292559"/>
            <a:ext cx="161917" cy="69129"/>
          </a:xfrm>
          <a:prstGeom prst="rect">
            <a:avLst/>
          </a:prstGeom>
          <a:solidFill>
            <a:srgbClr val="1F4E9E"/>
          </a:solidFill>
          <a:ln/>
        </p:spPr>
      </p:sp>
      <p:sp>
        <p:nvSpPr>
          <p:cNvPr id="179" name="Shape 177"/>
          <p:cNvSpPr/>
          <p:nvPr/>
        </p:nvSpPr>
        <p:spPr>
          <a:xfrm>
            <a:off x="4630242" y="3913632"/>
            <a:ext cx="43696" cy="73152"/>
          </a:xfrm>
          <a:prstGeom prst="roundRect">
            <a:avLst>
              <a:gd name="adj" fmla="val 62779"/>
            </a:avLst>
          </a:prstGeom>
          <a:solidFill>
            <a:schemeClr val="accent3"/>
          </a:solidFill>
          <a:ln/>
        </p:spPr>
      </p:sp>
      <p:sp>
        <p:nvSpPr>
          <p:cNvPr id="180" name="Shape 178"/>
          <p:cNvSpPr/>
          <p:nvPr/>
        </p:nvSpPr>
        <p:spPr>
          <a:xfrm>
            <a:off x="4543699" y="3977640"/>
            <a:ext cx="216781" cy="384048"/>
          </a:xfrm>
          <a:prstGeom prst="roundRect">
            <a:avLst>
              <a:gd name="adj" fmla="val 21090"/>
            </a:avLst>
          </a:prstGeom>
          <a:solidFill>
            <a:schemeClr val="accent3"/>
          </a:solidFill>
          <a:ln/>
        </p:spPr>
      </p:sp>
      <p:sp>
        <p:nvSpPr>
          <p:cNvPr id="181" name="Shape 179"/>
          <p:cNvSpPr/>
          <p:nvPr/>
        </p:nvSpPr>
        <p:spPr>
          <a:xfrm>
            <a:off x="4571131" y="4292559"/>
            <a:ext cx="161917" cy="69129"/>
          </a:xfrm>
          <a:prstGeom prst="rect">
            <a:avLst/>
          </a:prstGeom>
          <a:solidFill>
            <a:srgbClr val="1F4E9E"/>
          </a:solidFill>
          <a:ln/>
        </p:spPr>
      </p:sp>
      <p:sp>
        <p:nvSpPr>
          <p:cNvPr id="182" name="Shape 180"/>
          <p:cNvSpPr/>
          <p:nvPr/>
        </p:nvSpPr>
        <p:spPr>
          <a:xfrm>
            <a:off x="4892743" y="3913632"/>
            <a:ext cx="43696" cy="73152"/>
          </a:xfrm>
          <a:prstGeom prst="roundRect">
            <a:avLst>
              <a:gd name="adj" fmla="val 62779"/>
            </a:avLst>
          </a:prstGeom>
          <a:solidFill>
            <a:schemeClr val="accent3"/>
          </a:solidFill>
          <a:ln/>
        </p:spPr>
      </p:sp>
      <p:sp>
        <p:nvSpPr>
          <p:cNvPr id="183" name="Shape 181"/>
          <p:cNvSpPr/>
          <p:nvPr/>
        </p:nvSpPr>
        <p:spPr>
          <a:xfrm>
            <a:off x="4806201" y="3977640"/>
            <a:ext cx="216781" cy="384048"/>
          </a:xfrm>
          <a:prstGeom prst="roundRect">
            <a:avLst>
              <a:gd name="adj" fmla="val 21090"/>
            </a:avLst>
          </a:prstGeom>
          <a:solidFill>
            <a:schemeClr val="accent3"/>
          </a:solidFill>
          <a:ln/>
        </p:spPr>
      </p:sp>
      <p:sp>
        <p:nvSpPr>
          <p:cNvPr id="184" name="Shape 182"/>
          <p:cNvSpPr/>
          <p:nvPr/>
        </p:nvSpPr>
        <p:spPr>
          <a:xfrm>
            <a:off x="4833633" y="4292559"/>
            <a:ext cx="161917" cy="69129"/>
          </a:xfrm>
          <a:prstGeom prst="rect">
            <a:avLst/>
          </a:prstGeom>
          <a:solidFill>
            <a:srgbClr val="1F4E9E"/>
          </a:solidFill>
          <a:ln/>
        </p:spPr>
      </p:sp>
      <p:sp>
        <p:nvSpPr>
          <p:cNvPr id="185" name="Shape 183"/>
          <p:cNvSpPr/>
          <p:nvPr/>
        </p:nvSpPr>
        <p:spPr>
          <a:xfrm>
            <a:off x="5155245" y="3913632"/>
            <a:ext cx="43696" cy="73152"/>
          </a:xfrm>
          <a:prstGeom prst="roundRect">
            <a:avLst>
              <a:gd name="adj" fmla="val 62779"/>
            </a:avLst>
          </a:prstGeom>
          <a:solidFill>
            <a:schemeClr val="accent3"/>
          </a:solidFill>
          <a:ln/>
        </p:spPr>
      </p:sp>
      <p:sp>
        <p:nvSpPr>
          <p:cNvPr id="186" name="Shape 184"/>
          <p:cNvSpPr/>
          <p:nvPr/>
        </p:nvSpPr>
        <p:spPr>
          <a:xfrm>
            <a:off x="5068702" y="3977640"/>
            <a:ext cx="216781" cy="384048"/>
          </a:xfrm>
          <a:prstGeom prst="roundRect">
            <a:avLst>
              <a:gd name="adj" fmla="val 21090"/>
            </a:avLst>
          </a:prstGeom>
          <a:solidFill>
            <a:schemeClr val="accent3"/>
          </a:solidFill>
          <a:ln/>
        </p:spPr>
      </p:sp>
      <p:sp>
        <p:nvSpPr>
          <p:cNvPr id="187" name="Shape 185"/>
          <p:cNvSpPr/>
          <p:nvPr/>
        </p:nvSpPr>
        <p:spPr>
          <a:xfrm>
            <a:off x="5096134" y="4292559"/>
            <a:ext cx="161917" cy="69129"/>
          </a:xfrm>
          <a:prstGeom prst="rect">
            <a:avLst/>
          </a:prstGeom>
          <a:solidFill>
            <a:srgbClr val="1F4E9E"/>
          </a:solidFill>
          <a:ln/>
        </p:spPr>
      </p:sp>
      <p:sp>
        <p:nvSpPr>
          <p:cNvPr id="188" name="Shape 186"/>
          <p:cNvSpPr/>
          <p:nvPr/>
        </p:nvSpPr>
        <p:spPr>
          <a:xfrm>
            <a:off x="5417746" y="3913632"/>
            <a:ext cx="43696" cy="73152"/>
          </a:xfrm>
          <a:prstGeom prst="roundRect">
            <a:avLst>
              <a:gd name="adj" fmla="val 62779"/>
            </a:avLst>
          </a:prstGeom>
          <a:solidFill>
            <a:schemeClr val="accent3"/>
          </a:solidFill>
          <a:ln/>
        </p:spPr>
      </p:sp>
      <p:sp>
        <p:nvSpPr>
          <p:cNvPr id="189" name="Shape 187"/>
          <p:cNvSpPr/>
          <p:nvPr/>
        </p:nvSpPr>
        <p:spPr>
          <a:xfrm>
            <a:off x="5331203" y="3977640"/>
            <a:ext cx="216781" cy="384048"/>
          </a:xfrm>
          <a:prstGeom prst="roundRect">
            <a:avLst>
              <a:gd name="adj" fmla="val 21090"/>
            </a:avLst>
          </a:prstGeom>
          <a:solidFill>
            <a:schemeClr val="accent3"/>
          </a:solidFill>
          <a:ln/>
        </p:spPr>
      </p:sp>
      <p:sp>
        <p:nvSpPr>
          <p:cNvPr id="190" name="Shape 188"/>
          <p:cNvSpPr/>
          <p:nvPr/>
        </p:nvSpPr>
        <p:spPr>
          <a:xfrm>
            <a:off x="5358635" y="4292559"/>
            <a:ext cx="161917" cy="69129"/>
          </a:xfrm>
          <a:prstGeom prst="rect">
            <a:avLst/>
          </a:prstGeom>
          <a:solidFill>
            <a:srgbClr val="1F4E9E"/>
          </a:solidFill>
          <a:ln/>
        </p:spPr>
      </p:sp>
      <p:sp>
        <p:nvSpPr>
          <p:cNvPr id="191" name="Shape 189"/>
          <p:cNvSpPr/>
          <p:nvPr/>
        </p:nvSpPr>
        <p:spPr>
          <a:xfrm>
            <a:off x="5680248" y="3913632"/>
            <a:ext cx="43696" cy="73152"/>
          </a:xfrm>
          <a:prstGeom prst="roundRect">
            <a:avLst>
              <a:gd name="adj" fmla="val 62779"/>
            </a:avLst>
          </a:prstGeom>
          <a:solidFill>
            <a:schemeClr val="accent3"/>
          </a:solidFill>
          <a:ln/>
        </p:spPr>
      </p:sp>
      <p:sp>
        <p:nvSpPr>
          <p:cNvPr id="192" name="Shape 190"/>
          <p:cNvSpPr/>
          <p:nvPr/>
        </p:nvSpPr>
        <p:spPr>
          <a:xfrm>
            <a:off x="5593705" y="3977640"/>
            <a:ext cx="216781" cy="384048"/>
          </a:xfrm>
          <a:prstGeom prst="roundRect">
            <a:avLst>
              <a:gd name="adj" fmla="val 21090"/>
            </a:avLst>
          </a:prstGeom>
          <a:solidFill>
            <a:schemeClr val="accent3"/>
          </a:solidFill>
          <a:ln/>
        </p:spPr>
      </p:sp>
      <p:sp>
        <p:nvSpPr>
          <p:cNvPr id="193" name="Shape 191"/>
          <p:cNvSpPr/>
          <p:nvPr/>
        </p:nvSpPr>
        <p:spPr>
          <a:xfrm>
            <a:off x="5621137" y="4292559"/>
            <a:ext cx="161917" cy="69129"/>
          </a:xfrm>
          <a:prstGeom prst="rect">
            <a:avLst/>
          </a:prstGeom>
          <a:solidFill>
            <a:srgbClr val="1F4E9E"/>
          </a:solidFill>
          <a:ln/>
        </p:spPr>
      </p:sp>
      <p:sp>
        <p:nvSpPr>
          <p:cNvPr id="194" name="Shape 192"/>
          <p:cNvSpPr/>
          <p:nvPr/>
        </p:nvSpPr>
        <p:spPr>
          <a:xfrm>
            <a:off x="5942749" y="3913632"/>
            <a:ext cx="43696" cy="73152"/>
          </a:xfrm>
          <a:prstGeom prst="roundRect">
            <a:avLst>
              <a:gd name="adj" fmla="val 62779"/>
            </a:avLst>
          </a:prstGeom>
          <a:solidFill>
            <a:schemeClr val="accent3"/>
          </a:solidFill>
          <a:ln/>
        </p:spPr>
      </p:sp>
      <p:sp>
        <p:nvSpPr>
          <p:cNvPr id="195" name="Shape 193"/>
          <p:cNvSpPr/>
          <p:nvPr/>
        </p:nvSpPr>
        <p:spPr>
          <a:xfrm>
            <a:off x="5856206" y="3977640"/>
            <a:ext cx="216781" cy="384048"/>
          </a:xfrm>
          <a:prstGeom prst="roundRect">
            <a:avLst>
              <a:gd name="adj" fmla="val 21090"/>
            </a:avLst>
          </a:prstGeom>
          <a:solidFill>
            <a:schemeClr val="accent3"/>
          </a:solidFill>
          <a:ln/>
        </p:spPr>
      </p:sp>
      <p:sp>
        <p:nvSpPr>
          <p:cNvPr id="196" name="Shape 194"/>
          <p:cNvSpPr/>
          <p:nvPr/>
        </p:nvSpPr>
        <p:spPr>
          <a:xfrm>
            <a:off x="5883638" y="4292559"/>
            <a:ext cx="161917" cy="69129"/>
          </a:xfrm>
          <a:prstGeom prst="rect">
            <a:avLst/>
          </a:prstGeom>
          <a:solidFill>
            <a:srgbClr val="1F4E9E"/>
          </a:solidFill>
          <a:ln/>
        </p:spPr>
      </p:sp>
      <p:sp>
        <p:nvSpPr>
          <p:cNvPr id="197" name="Shape 195"/>
          <p:cNvSpPr/>
          <p:nvPr/>
        </p:nvSpPr>
        <p:spPr>
          <a:xfrm>
            <a:off x="6205250" y="3913632"/>
            <a:ext cx="43696" cy="73152"/>
          </a:xfrm>
          <a:prstGeom prst="roundRect">
            <a:avLst>
              <a:gd name="adj" fmla="val 62779"/>
            </a:avLst>
          </a:prstGeom>
          <a:solidFill>
            <a:schemeClr val="accent3"/>
          </a:solidFill>
          <a:ln/>
        </p:spPr>
      </p:sp>
      <p:sp>
        <p:nvSpPr>
          <p:cNvPr id="198" name="Shape 196"/>
          <p:cNvSpPr/>
          <p:nvPr/>
        </p:nvSpPr>
        <p:spPr>
          <a:xfrm>
            <a:off x="6118708" y="3977640"/>
            <a:ext cx="216781" cy="384048"/>
          </a:xfrm>
          <a:prstGeom prst="roundRect">
            <a:avLst>
              <a:gd name="adj" fmla="val 21090"/>
            </a:avLst>
          </a:prstGeom>
          <a:solidFill>
            <a:schemeClr val="accent3"/>
          </a:solidFill>
          <a:ln/>
        </p:spPr>
      </p:sp>
      <p:sp>
        <p:nvSpPr>
          <p:cNvPr id="199" name="Shape 197"/>
          <p:cNvSpPr/>
          <p:nvPr/>
        </p:nvSpPr>
        <p:spPr>
          <a:xfrm>
            <a:off x="6146140" y="4292559"/>
            <a:ext cx="161917" cy="69129"/>
          </a:xfrm>
          <a:prstGeom prst="rect">
            <a:avLst/>
          </a:prstGeom>
          <a:solidFill>
            <a:srgbClr val="1F4E9E"/>
          </a:solidFill>
          <a:ln/>
        </p:spPr>
      </p:sp>
      <p:sp>
        <p:nvSpPr>
          <p:cNvPr id="200" name="Shape 198"/>
          <p:cNvSpPr/>
          <p:nvPr/>
        </p:nvSpPr>
        <p:spPr>
          <a:xfrm>
            <a:off x="6467752" y="3913632"/>
            <a:ext cx="43696" cy="73152"/>
          </a:xfrm>
          <a:prstGeom prst="roundRect">
            <a:avLst>
              <a:gd name="adj" fmla="val 62779"/>
            </a:avLst>
          </a:prstGeom>
          <a:solidFill>
            <a:schemeClr val="accent3"/>
          </a:solidFill>
          <a:ln/>
        </p:spPr>
      </p:sp>
      <p:sp>
        <p:nvSpPr>
          <p:cNvPr id="201" name="Shape 199"/>
          <p:cNvSpPr/>
          <p:nvPr/>
        </p:nvSpPr>
        <p:spPr>
          <a:xfrm>
            <a:off x="6381209" y="3977640"/>
            <a:ext cx="216781" cy="384048"/>
          </a:xfrm>
          <a:prstGeom prst="roundRect">
            <a:avLst>
              <a:gd name="adj" fmla="val 21090"/>
            </a:avLst>
          </a:prstGeom>
          <a:solidFill>
            <a:schemeClr val="accent3"/>
          </a:solidFill>
          <a:ln/>
        </p:spPr>
      </p:sp>
      <p:sp>
        <p:nvSpPr>
          <p:cNvPr id="202" name="Shape 200"/>
          <p:cNvSpPr/>
          <p:nvPr/>
        </p:nvSpPr>
        <p:spPr>
          <a:xfrm>
            <a:off x="6408641" y="4292559"/>
            <a:ext cx="161917" cy="69129"/>
          </a:xfrm>
          <a:prstGeom prst="rect">
            <a:avLst/>
          </a:prstGeom>
          <a:solidFill>
            <a:srgbClr val="1F4E9E"/>
          </a:solidFill>
          <a:ln/>
        </p:spPr>
      </p:sp>
      <p:sp>
        <p:nvSpPr>
          <p:cNvPr id="203" name="Text 201"/>
          <p:cNvSpPr txBox="1"/>
          <p:nvPr/>
        </p:nvSpPr>
        <p:spPr>
          <a:xfrm>
            <a:off x="1918686" y="4416552"/>
            <a:ext cx="4679305" cy="256032"/>
          </a:xfrm>
          <a:prstGeom prst="rect">
            <a:avLst/>
          </a:prstGeom>
          <a:noFill/>
          <a:ln/>
        </p:spPr>
        <p:txBody>
          <a:bodyPr wrap="square" lIns="0" tIns="0" rIns="0" bIns="0" rtlCol="0" anchor="ctr"/>
          <a:lstStyle/>
          <a:p>
            <a:pPr algn="ctr" indent="0" marL="0">
              <a:buNone/>
            </a:pPr>
            <a:r>
              <a:rPr lang="en-US" sz="1300" b="1" dirty="0">
                <a:solidFill>
                  <a:schemeClr val="tx2"/>
                </a:solidFill>
              </a:rPr>
              <a:t>45%</a:t>
            </a:r>
            <a:endParaRPr lang="en-US" sz="1300" dirty="0"/>
          </a:p>
        </p:txBody>
      </p:sp>
      <p:sp>
        <p:nvSpPr>
          <p:cNvPr id="204" name="Shape 202"/>
          <p:cNvSpPr/>
          <p:nvPr/>
        </p:nvSpPr>
        <p:spPr>
          <a:xfrm>
            <a:off x="6730253" y="3913632"/>
            <a:ext cx="43696" cy="73152"/>
          </a:xfrm>
          <a:prstGeom prst="roundRect">
            <a:avLst>
              <a:gd name="adj" fmla="val 62779"/>
            </a:avLst>
          </a:prstGeom>
          <a:solidFill>
            <a:schemeClr val="accent4"/>
          </a:solidFill>
          <a:ln/>
        </p:spPr>
      </p:sp>
      <p:sp>
        <p:nvSpPr>
          <p:cNvPr id="205" name="Shape 203"/>
          <p:cNvSpPr/>
          <p:nvPr/>
        </p:nvSpPr>
        <p:spPr>
          <a:xfrm>
            <a:off x="6643710" y="3977640"/>
            <a:ext cx="216781" cy="384048"/>
          </a:xfrm>
          <a:prstGeom prst="roundRect">
            <a:avLst>
              <a:gd name="adj" fmla="val 21090"/>
            </a:avLst>
          </a:prstGeom>
          <a:solidFill>
            <a:schemeClr val="accent4"/>
          </a:solidFill>
          <a:ln/>
        </p:spPr>
      </p:sp>
      <p:sp>
        <p:nvSpPr>
          <p:cNvPr id="206" name="Shape 204"/>
          <p:cNvSpPr/>
          <p:nvPr/>
        </p:nvSpPr>
        <p:spPr>
          <a:xfrm>
            <a:off x="6671142" y="4292559"/>
            <a:ext cx="161917" cy="69129"/>
          </a:xfrm>
          <a:prstGeom prst="rect">
            <a:avLst/>
          </a:prstGeom>
          <a:solidFill>
            <a:srgbClr val="7D818A"/>
          </a:solidFill>
          <a:ln/>
        </p:spPr>
      </p:sp>
      <p:sp>
        <p:nvSpPr>
          <p:cNvPr id="207" name="Shape 205"/>
          <p:cNvSpPr/>
          <p:nvPr/>
        </p:nvSpPr>
        <p:spPr>
          <a:xfrm>
            <a:off x="6992754" y="3913632"/>
            <a:ext cx="43696" cy="73152"/>
          </a:xfrm>
          <a:prstGeom prst="roundRect">
            <a:avLst>
              <a:gd name="adj" fmla="val 62779"/>
            </a:avLst>
          </a:prstGeom>
          <a:solidFill>
            <a:schemeClr val="accent4"/>
          </a:solidFill>
          <a:ln/>
        </p:spPr>
      </p:sp>
      <p:sp>
        <p:nvSpPr>
          <p:cNvPr id="208" name="Shape 206"/>
          <p:cNvSpPr/>
          <p:nvPr/>
        </p:nvSpPr>
        <p:spPr>
          <a:xfrm>
            <a:off x="6906212" y="3977640"/>
            <a:ext cx="216781" cy="384048"/>
          </a:xfrm>
          <a:prstGeom prst="roundRect">
            <a:avLst>
              <a:gd name="adj" fmla="val 21090"/>
            </a:avLst>
          </a:prstGeom>
          <a:solidFill>
            <a:schemeClr val="accent4"/>
          </a:solidFill>
          <a:ln/>
        </p:spPr>
      </p:sp>
      <p:sp>
        <p:nvSpPr>
          <p:cNvPr id="209" name="Shape 207"/>
          <p:cNvSpPr/>
          <p:nvPr/>
        </p:nvSpPr>
        <p:spPr>
          <a:xfrm>
            <a:off x="6933644" y="4292559"/>
            <a:ext cx="161917" cy="69129"/>
          </a:xfrm>
          <a:prstGeom prst="rect">
            <a:avLst/>
          </a:prstGeom>
          <a:solidFill>
            <a:srgbClr val="7D818A"/>
          </a:solidFill>
          <a:ln/>
        </p:spPr>
      </p:sp>
      <p:sp>
        <p:nvSpPr>
          <p:cNvPr id="210" name="Shape 208"/>
          <p:cNvSpPr/>
          <p:nvPr/>
        </p:nvSpPr>
        <p:spPr>
          <a:xfrm>
            <a:off x="7255256" y="3913632"/>
            <a:ext cx="43696" cy="73152"/>
          </a:xfrm>
          <a:prstGeom prst="roundRect">
            <a:avLst>
              <a:gd name="adj" fmla="val 62779"/>
            </a:avLst>
          </a:prstGeom>
          <a:solidFill>
            <a:schemeClr val="accent4"/>
          </a:solidFill>
          <a:ln/>
        </p:spPr>
      </p:sp>
      <p:sp>
        <p:nvSpPr>
          <p:cNvPr id="211" name="Shape 209"/>
          <p:cNvSpPr/>
          <p:nvPr/>
        </p:nvSpPr>
        <p:spPr>
          <a:xfrm>
            <a:off x="7168713" y="3977640"/>
            <a:ext cx="216781" cy="384048"/>
          </a:xfrm>
          <a:prstGeom prst="roundRect">
            <a:avLst>
              <a:gd name="adj" fmla="val 21090"/>
            </a:avLst>
          </a:prstGeom>
          <a:solidFill>
            <a:schemeClr val="accent4"/>
          </a:solidFill>
          <a:ln/>
        </p:spPr>
      </p:sp>
      <p:sp>
        <p:nvSpPr>
          <p:cNvPr id="212" name="Shape 210"/>
          <p:cNvSpPr/>
          <p:nvPr/>
        </p:nvSpPr>
        <p:spPr>
          <a:xfrm>
            <a:off x="7196145" y="4292559"/>
            <a:ext cx="161917" cy="69129"/>
          </a:xfrm>
          <a:prstGeom prst="rect">
            <a:avLst/>
          </a:prstGeom>
          <a:solidFill>
            <a:srgbClr val="7D818A"/>
          </a:solidFill>
          <a:ln/>
        </p:spPr>
      </p:sp>
      <p:sp>
        <p:nvSpPr>
          <p:cNvPr id="213" name="Shape 211"/>
          <p:cNvSpPr/>
          <p:nvPr/>
        </p:nvSpPr>
        <p:spPr>
          <a:xfrm>
            <a:off x="7517757" y="3913632"/>
            <a:ext cx="43696" cy="73152"/>
          </a:xfrm>
          <a:prstGeom prst="roundRect">
            <a:avLst>
              <a:gd name="adj" fmla="val 62779"/>
            </a:avLst>
          </a:prstGeom>
          <a:solidFill>
            <a:schemeClr val="accent4"/>
          </a:solidFill>
          <a:ln/>
        </p:spPr>
      </p:sp>
      <p:sp>
        <p:nvSpPr>
          <p:cNvPr id="214" name="Shape 212"/>
          <p:cNvSpPr/>
          <p:nvPr/>
        </p:nvSpPr>
        <p:spPr>
          <a:xfrm>
            <a:off x="7431215" y="3977640"/>
            <a:ext cx="216781" cy="384048"/>
          </a:xfrm>
          <a:prstGeom prst="roundRect">
            <a:avLst>
              <a:gd name="adj" fmla="val 21090"/>
            </a:avLst>
          </a:prstGeom>
          <a:solidFill>
            <a:schemeClr val="accent4"/>
          </a:solidFill>
          <a:ln/>
        </p:spPr>
      </p:sp>
      <p:sp>
        <p:nvSpPr>
          <p:cNvPr id="215" name="Shape 213"/>
          <p:cNvSpPr/>
          <p:nvPr/>
        </p:nvSpPr>
        <p:spPr>
          <a:xfrm>
            <a:off x="7458646" y="4292559"/>
            <a:ext cx="161917" cy="69129"/>
          </a:xfrm>
          <a:prstGeom prst="rect">
            <a:avLst/>
          </a:prstGeom>
          <a:solidFill>
            <a:srgbClr val="7D818A"/>
          </a:solidFill>
          <a:ln/>
        </p:spPr>
      </p:sp>
      <p:sp>
        <p:nvSpPr>
          <p:cNvPr id="216" name="Shape 214"/>
          <p:cNvSpPr/>
          <p:nvPr/>
        </p:nvSpPr>
        <p:spPr>
          <a:xfrm>
            <a:off x="7780259" y="3913632"/>
            <a:ext cx="43696" cy="73152"/>
          </a:xfrm>
          <a:prstGeom prst="roundRect">
            <a:avLst>
              <a:gd name="adj" fmla="val 62779"/>
            </a:avLst>
          </a:prstGeom>
          <a:solidFill>
            <a:schemeClr val="accent4"/>
          </a:solidFill>
          <a:ln/>
        </p:spPr>
      </p:sp>
      <p:sp>
        <p:nvSpPr>
          <p:cNvPr id="217" name="Shape 215"/>
          <p:cNvSpPr/>
          <p:nvPr/>
        </p:nvSpPr>
        <p:spPr>
          <a:xfrm>
            <a:off x="7693716" y="3977640"/>
            <a:ext cx="216781" cy="384048"/>
          </a:xfrm>
          <a:prstGeom prst="roundRect">
            <a:avLst>
              <a:gd name="adj" fmla="val 21090"/>
            </a:avLst>
          </a:prstGeom>
          <a:solidFill>
            <a:schemeClr val="accent4"/>
          </a:solidFill>
          <a:ln/>
        </p:spPr>
      </p:sp>
      <p:sp>
        <p:nvSpPr>
          <p:cNvPr id="218" name="Shape 216"/>
          <p:cNvSpPr/>
          <p:nvPr/>
        </p:nvSpPr>
        <p:spPr>
          <a:xfrm>
            <a:off x="7721148" y="4292559"/>
            <a:ext cx="161917" cy="69129"/>
          </a:xfrm>
          <a:prstGeom prst="rect">
            <a:avLst/>
          </a:prstGeom>
          <a:solidFill>
            <a:srgbClr val="7D818A"/>
          </a:solidFill>
          <a:ln/>
        </p:spPr>
      </p:sp>
      <p:sp>
        <p:nvSpPr>
          <p:cNvPr id="219" name="Shape 217"/>
          <p:cNvSpPr/>
          <p:nvPr/>
        </p:nvSpPr>
        <p:spPr>
          <a:xfrm>
            <a:off x="8042760" y="3913632"/>
            <a:ext cx="43696" cy="73152"/>
          </a:xfrm>
          <a:prstGeom prst="roundRect">
            <a:avLst>
              <a:gd name="adj" fmla="val 62779"/>
            </a:avLst>
          </a:prstGeom>
          <a:solidFill>
            <a:schemeClr val="accent4"/>
          </a:solidFill>
          <a:ln/>
        </p:spPr>
      </p:sp>
      <p:sp>
        <p:nvSpPr>
          <p:cNvPr id="220" name="Shape 218"/>
          <p:cNvSpPr/>
          <p:nvPr/>
        </p:nvSpPr>
        <p:spPr>
          <a:xfrm>
            <a:off x="7956217" y="3977640"/>
            <a:ext cx="216781" cy="384048"/>
          </a:xfrm>
          <a:prstGeom prst="roundRect">
            <a:avLst>
              <a:gd name="adj" fmla="val 21090"/>
            </a:avLst>
          </a:prstGeom>
          <a:solidFill>
            <a:schemeClr val="accent4"/>
          </a:solidFill>
          <a:ln/>
        </p:spPr>
      </p:sp>
      <p:sp>
        <p:nvSpPr>
          <p:cNvPr id="221" name="Shape 219"/>
          <p:cNvSpPr/>
          <p:nvPr/>
        </p:nvSpPr>
        <p:spPr>
          <a:xfrm>
            <a:off x="7983649" y="4292559"/>
            <a:ext cx="161917" cy="69129"/>
          </a:xfrm>
          <a:prstGeom prst="rect">
            <a:avLst/>
          </a:prstGeom>
          <a:solidFill>
            <a:srgbClr val="7D818A"/>
          </a:solidFill>
          <a:ln/>
        </p:spPr>
      </p:sp>
      <p:sp>
        <p:nvSpPr>
          <p:cNvPr id="222" name="Shape 220"/>
          <p:cNvSpPr/>
          <p:nvPr/>
        </p:nvSpPr>
        <p:spPr>
          <a:xfrm>
            <a:off x="8305261" y="3913632"/>
            <a:ext cx="43696" cy="73152"/>
          </a:xfrm>
          <a:prstGeom prst="roundRect">
            <a:avLst>
              <a:gd name="adj" fmla="val 62779"/>
            </a:avLst>
          </a:prstGeom>
          <a:solidFill>
            <a:schemeClr val="accent4"/>
          </a:solidFill>
          <a:ln/>
        </p:spPr>
      </p:sp>
      <p:sp>
        <p:nvSpPr>
          <p:cNvPr id="223" name="Shape 221"/>
          <p:cNvSpPr/>
          <p:nvPr/>
        </p:nvSpPr>
        <p:spPr>
          <a:xfrm>
            <a:off x="8218719" y="3977640"/>
            <a:ext cx="216781" cy="384048"/>
          </a:xfrm>
          <a:prstGeom prst="roundRect">
            <a:avLst>
              <a:gd name="adj" fmla="val 21090"/>
            </a:avLst>
          </a:prstGeom>
          <a:solidFill>
            <a:schemeClr val="accent4"/>
          </a:solidFill>
          <a:ln/>
        </p:spPr>
      </p:sp>
      <p:sp>
        <p:nvSpPr>
          <p:cNvPr id="224" name="Shape 222"/>
          <p:cNvSpPr/>
          <p:nvPr/>
        </p:nvSpPr>
        <p:spPr>
          <a:xfrm>
            <a:off x="8246151" y="4292559"/>
            <a:ext cx="161917" cy="69129"/>
          </a:xfrm>
          <a:prstGeom prst="rect">
            <a:avLst/>
          </a:prstGeom>
          <a:solidFill>
            <a:srgbClr val="7D818A"/>
          </a:solidFill>
          <a:ln/>
        </p:spPr>
      </p:sp>
      <p:sp>
        <p:nvSpPr>
          <p:cNvPr id="225" name="Shape 223"/>
          <p:cNvSpPr/>
          <p:nvPr/>
        </p:nvSpPr>
        <p:spPr>
          <a:xfrm>
            <a:off x="8567763" y="3913632"/>
            <a:ext cx="43696" cy="73152"/>
          </a:xfrm>
          <a:prstGeom prst="roundRect">
            <a:avLst>
              <a:gd name="adj" fmla="val 62779"/>
            </a:avLst>
          </a:prstGeom>
          <a:solidFill>
            <a:schemeClr val="accent4"/>
          </a:solidFill>
          <a:ln/>
        </p:spPr>
      </p:sp>
      <p:sp>
        <p:nvSpPr>
          <p:cNvPr id="226" name="Shape 224"/>
          <p:cNvSpPr/>
          <p:nvPr/>
        </p:nvSpPr>
        <p:spPr>
          <a:xfrm>
            <a:off x="8481220" y="3977640"/>
            <a:ext cx="216781" cy="384048"/>
          </a:xfrm>
          <a:prstGeom prst="roundRect">
            <a:avLst>
              <a:gd name="adj" fmla="val 21090"/>
            </a:avLst>
          </a:prstGeom>
          <a:solidFill>
            <a:schemeClr val="accent4"/>
          </a:solidFill>
          <a:ln/>
        </p:spPr>
      </p:sp>
      <p:sp>
        <p:nvSpPr>
          <p:cNvPr id="227" name="Shape 225"/>
          <p:cNvSpPr/>
          <p:nvPr/>
        </p:nvSpPr>
        <p:spPr>
          <a:xfrm>
            <a:off x="8508652" y="4292559"/>
            <a:ext cx="161917" cy="69129"/>
          </a:xfrm>
          <a:prstGeom prst="rect">
            <a:avLst/>
          </a:prstGeom>
          <a:solidFill>
            <a:srgbClr val="7D818A"/>
          </a:solidFill>
          <a:ln/>
        </p:spPr>
      </p:sp>
      <p:sp>
        <p:nvSpPr>
          <p:cNvPr id="228" name="Shape 226"/>
          <p:cNvSpPr/>
          <p:nvPr/>
        </p:nvSpPr>
        <p:spPr>
          <a:xfrm>
            <a:off x="8830264" y="3913632"/>
            <a:ext cx="43696" cy="73152"/>
          </a:xfrm>
          <a:prstGeom prst="roundRect">
            <a:avLst>
              <a:gd name="adj" fmla="val 62779"/>
            </a:avLst>
          </a:prstGeom>
          <a:solidFill>
            <a:schemeClr val="accent4"/>
          </a:solidFill>
          <a:ln/>
        </p:spPr>
      </p:sp>
      <p:sp>
        <p:nvSpPr>
          <p:cNvPr id="229" name="Shape 227"/>
          <p:cNvSpPr/>
          <p:nvPr/>
        </p:nvSpPr>
        <p:spPr>
          <a:xfrm>
            <a:off x="8743721" y="3977640"/>
            <a:ext cx="216781" cy="384048"/>
          </a:xfrm>
          <a:prstGeom prst="roundRect">
            <a:avLst>
              <a:gd name="adj" fmla="val 21090"/>
            </a:avLst>
          </a:prstGeom>
          <a:solidFill>
            <a:schemeClr val="accent4"/>
          </a:solidFill>
          <a:ln/>
        </p:spPr>
      </p:sp>
      <p:sp>
        <p:nvSpPr>
          <p:cNvPr id="230" name="Shape 228"/>
          <p:cNvSpPr/>
          <p:nvPr/>
        </p:nvSpPr>
        <p:spPr>
          <a:xfrm>
            <a:off x="8771153" y="4292559"/>
            <a:ext cx="161917" cy="69129"/>
          </a:xfrm>
          <a:prstGeom prst="rect">
            <a:avLst/>
          </a:prstGeom>
          <a:solidFill>
            <a:srgbClr val="7D818A"/>
          </a:solidFill>
          <a:ln/>
        </p:spPr>
      </p:sp>
      <p:sp>
        <p:nvSpPr>
          <p:cNvPr id="231" name="Shape 229"/>
          <p:cNvSpPr/>
          <p:nvPr/>
        </p:nvSpPr>
        <p:spPr>
          <a:xfrm>
            <a:off x="9092765" y="3913632"/>
            <a:ext cx="43696" cy="73152"/>
          </a:xfrm>
          <a:prstGeom prst="roundRect">
            <a:avLst>
              <a:gd name="adj" fmla="val 62779"/>
            </a:avLst>
          </a:prstGeom>
          <a:solidFill>
            <a:schemeClr val="accent4"/>
          </a:solidFill>
          <a:ln/>
        </p:spPr>
      </p:sp>
      <p:sp>
        <p:nvSpPr>
          <p:cNvPr id="232" name="Shape 230"/>
          <p:cNvSpPr/>
          <p:nvPr/>
        </p:nvSpPr>
        <p:spPr>
          <a:xfrm>
            <a:off x="9006223" y="3977640"/>
            <a:ext cx="216781" cy="384048"/>
          </a:xfrm>
          <a:prstGeom prst="roundRect">
            <a:avLst>
              <a:gd name="adj" fmla="val 21090"/>
            </a:avLst>
          </a:prstGeom>
          <a:solidFill>
            <a:schemeClr val="accent4"/>
          </a:solidFill>
          <a:ln/>
        </p:spPr>
      </p:sp>
      <p:sp>
        <p:nvSpPr>
          <p:cNvPr id="233" name="Shape 231"/>
          <p:cNvSpPr/>
          <p:nvPr/>
        </p:nvSpPr>
        <p:spPr>
          <a:xfrm>
            <a:off x="9033655" y="4292559"/>
            <a:ext cx="161917" cy="69129"/>
          </a:xfrm>
          <a:prstGeom prst="rect">
            <a:avLst/>
          </a:prstGeom>
          <a:solidFill>
            <a:srgbClr val="7D818A"/>
          </a:solidFill>
          <a:ln/>
        </p:spPr>
      </p:sp>
      <p:sp>
        <p:nvSpPr>
          <p:cNvPr id="234" name="Shape 232"/>
          <p:cNvSpPr/>
          <p:nvPr/>
        </p:nvSpPr>
        <p:spPr>
          <a:xfrm>
            <a:off x="9355267" y="3913632"/>
            <a:ext cx="43696" cy="73152"/>
          </a:xfrm>
          <a:prstGeom prst="roundRect">
            <a:avLst>
              <a:gd name="adj" fmla="val 62779"/>
            </a:avLst>
          </a:prstGeom>
          <a:solidFill>
            <a:schemeClr val="accent4"/>
          </a:solidFill>
          <a:ln/>
        </p:spPr>
      </p:sp>
      <p:sp>
        <p:nvSpPr>
          <p:cNvPr id="235" name="Shape 233"/>
          <p:cNvSpPr/>
          <p:nvPr/>
        </p:nvSpPr>
        <p:spPr>
          <a:xfrm>
            <a:off x="9268724" y="3977640"/>
            <a:ext cx="216781" cy="384048"/>
          </a:xfrm>
          <a:prstGeom prst="roundRect">
            <a:avLst>
              <a:gd name="adj" fmla="val 21090"/>
            </a:avLst>
          </a:prstGeom>
          <a:solidFill>
            <a:schemeClr val="accent4"/>
          </a:solidFill>
          <a:ln/>
        </p:spPr>
      </p:sp>
      <p:sp>
        <p:nvSpPr>
          <p:cNvPr id="236" name="Shape 234"/>
          <p:cNvSpPr/>
          <p:nvPr/>
        </p:nvSpPr>
        <p:spPr>
          <a:xfrm>
            <a:off x="9296156" y="4292559"/>
            <a:ext cx="161917" cy="69129"/>
          </a:xfrm>
          <a:prstGeom prst="rect">
            <a:avLst/>
          </a:prstGeom>
          <a:solidFill>
            <a:srgbClr val="7D818A"/>
          </a:solidFill>
          <a:ln/>
        </p:spPr>
      </p:sp>
      <p:sp>
        <p:nvSpPr>
          <p:cNvPr id="237" name="Shape 235"/>
          <p:cNvSpPr/>
          <p:nvPr/>
        </p:nvSpPr>
        <p:spPr>
          <a:xfrm>
            <a:off x="9617768" y="3913632"/>
            <a:ext cx="43696" cy="73152"/>
          </a:xfrm>
          <a:prstGeom prst="roundRect">
            <a:avLst>
              <a:gd name="adj" fmla="val 62779"/>
            </a:avLst>
          </a:prstGeom>
          <a:solidFill>
            <a:schemeClr val="accent4"/>
          </a:solidFill>
          <a:ln/>
        </p:spPr>
      </p:sp>
      <p:sp>
        <p:nvSpPr>
          <p:cNvPr id="238" name="Shape 236"/>
          <p:cNvSpPr/>
          <p:nvPr/>
        </p:nvSpPr>
        <p:spPr>
          <a:xfrm>
            <a:off x="9531226" y="3977640"/>
            <a:ext cx="216781" cy="384048"/>
          </a:xfrm>
          <a:prstGeom prst="roundRect">
            <a:avLst>
              <a:gd name="adj" fmla="val 21090"/>
            </a:avLst>
          </a:prstGeom>
          <a:solidFill>
            <a:schemeClr val="accent4"/>
          </a:solidFill>
          <a:ln/>
        </p:spPr>
      </p:sp>
      <p:sp>
        <p:nvSpPr>
          <p:cNvPr id="239" name="Shape 237"/>
          <p:cNvSpPr/>
          <p:nvPr/>
        </p:nvSpPr>
        <p:spPr>
          <a:xfrm>
            <a:off x="9558658" y="4292559"/>
            <a:ext cx="161917" cy="69129"/>
          </a:xfrm>
          <a:prstGeom prst="rect">
            <a:avLst/>
          </a:prstGeom>
          <a:solidFill>
            <a:srgbClr val="7D818A"/>
          </a:solidFill>
          <a:ln/>
        </p:spPr>
      </p:sp>
      <p:sp>
        <p:nvSpPr>
          <p:cNvPr id="240" name="Shape 238"/>
          <p:cNvSpPr/>
          <p:nvPr/>
        </p:nvSpPr>
        <p:spPr>
          <a:xfrm>
            <a:off x="9880270" y="3913632"/>
            <a:ext cx="43696" cy="73152"/>
          </a:xfrm>
          <a:prstGeom prst="roundRect">
            <a:avLst>
              <a:gd name="adj" fmla="val 62779"/>
            </a:avLst>
          </a:prstGeom>
          <a:solidFill>
            <a:schemeClr val="accent4"/>
          </a:solidFill>
          <a:ln/>
        </p:spPr>
      </p:sp>
      <p:sp>
        <p:nvSpPr>
          <p:cNvPr id="241" name="Shape 239"/>
          <p:cNvSpPr/>
          <p:nvPr/>
        </p:nvSpPr>
        <p:spPr>
          <a:xfrm>
            <a:off x="9793727" y="3977640"/>
            <a:ext cx="216781" cy="384048"/>
          </a:xfrm>
          <a:prstGeom prst="roundRect">
            <a:avLst>
              <a:gd name="adj" fmla="val 21090"/>
            </a:avLst>
          </a:prstGeom>
          <a:solidFill>
            <a:schemeClr val="accent4"/>
          </a:solidFill>
          <a:ln/>
        </p:spPr>
      </p:sp>
      <p:sp>
        <p:nvSpPr>
          <p:cNvPr id="242" name="Shape 240"/>
          <p:cNvSpPr/>
          <p:nvPr/>
        </p:nvSpPr>
        <p:spPr>
          <a:xfrm>
            <a:off x="9821159" y="4292559"/>
            <a:ext cx="161917" cy="69129"/>
          </a:xfrm>
          <a:prstGeom prst="rect">
            <a:avLst/>
          </a:prstGeom>
          <a:solidFill>
            <a:srgbClr val="7D818A"/>
          </a:solidFill>
          <a:ln/>
        </p:spPr>
      </p:sp>
      <p:sp>
        <p:nvSpPr>
          <p:cNvPr id="243" name="Shape 241"/>
          <p:cNvSpPr/>
          <p:nvPr/>
        </p:nvSpPr>
        <p:spPr>
          <a:xfrm>
            <a:off x="10142771" y="3913632"/>
            <a:ext cx="43696" cy="73152"/>
          </a:xfrm>
          <a:prstGeom prst="roundRect">
            <a:avLst>
              <a:gd name="adj" fmla="val 62779"/>
            </a:avLst>
          </a:prstGeom>
          <a:solidFill>
            <a:schemeClr val="accent4"/>
          </a:solidFill>
          <a:ln/>
        </p:spPr>
      </p:sp>
      <p:sp>
        <p:nvSpPr>
          <p:cNvPr id="244" name="Shape 242"/>
          <p:cNvSpPr/>
          <p:nvPr/>
        </p:nvSpPr>
        <p:spPr>
          <a:xfrm>
            <a:off x="10056228" y="3977640"/>
            <a:ext cx="216781" cy="384048"/>
          </a:xfrm>
          <a:prstGeom prst="roundRect">
            <a:avLst>
              <a:gd name="adj" fmla="val 21090"/>
            </a:avLst>
          </a:prstGeom>
          <a:solidFill>
            <a:schemeClr val="accent4"/>
          </a:solidFill>
          <a:ln/>
        </p:spPr>
      </p:sp>
      <p:sp>
        <p:nvSpPr>
          <p:cNvPr id="245" name="Shape 243"/>
          <p:cNvSpPr/>
          <p:nvPr/>
        </p:nvSpPr>
        <p:spPr>
          <a:xfrm>
            <a:off x="10083660" y="4292559"/>
            <a:ext cx="161917" cy="69129"/>
          </a:xfrm>
          <a:prstGeom prst="rect">
            <a:avLst/>
          </a:prstGeom>
          <a:solidFill>
            <a:srgbClr val="7D818A"/>
          </a:solidFill>
          <a:ln/>
        </p:spPr>
      </p:sp>
      <p:sp>
        <p:nvSpPr>
          <p:cNvPr id="246" name="Shape 244"/>
          <p:cNvSpPr/>
          <p:nvPr/>
        </p:nvSpPr>
        <p:spPr>
          <a:xfrm>
            <a:off x="10405272" y="3913632"/>
            <a:ext cx="43696" cy="73152"/>
          </a:xfrm>
          <a:prstGeom prst="roundRect">
            <a:avLst>
              <a:gd name="adj" fmla="val 62779"/>
            </a:avLst>
          </a:prstGeom>
          <a:solidFill>
            <a:schemeClr val="accent4"/>
          </a:solidFill>
          <a:ln/>
        </p:spPr>
      </p:sp>
      <p:sp>
        <p:nvSpPr>
          <p:cNvPr id="247" name="Shape 245"/>
          <p:cNvSpPr/>
          <p:nvPr/>
        </p:nvSpPr>
        <p:spPr>
          <a:xfrm>
            <a:off x="10318730" y="3977640"/>
            <a:ext cx="216781" cy="384048"/>
          </a:xfrm>
          <a:prstGeom prst="roundRect">
            <a:avLst>
              <a:gd name="adj" fmla="val 21090"/>
            </a:avLst>
          </a:prstGeom>
          <a:solidFill>
            <a:schemeClr val="accent4"/>
          </a:solidFill>
          <a:ln/>
        </p:spPr>
      </p:sp>
      <p:sp>
        <p:nvSpPr>
          <p:cNvPr id="248" name="Shape 246"/>
          <p:cNvSpPr/>
          <p:nvPr/>
        </p:nvSpPr>
        <p:spPr>
          <a:xfrm>
            <a:off x="10346162" y="4292559"/>
            <a:ext cx="161917" cy="69129"/>
          </a:xfrm>
          <a:prstGeom prst="rect">
            <a:avLst/>
          </a:prstGeom>
          <a:solidFill>
            <a:srgbClr val="7D818A"/>
          </a:solidFill>
          <a:ln/>
        </p:spPr>
      </p:sp>
      <p:sp>
        <p:nvSpPr>
          <p:cNvPr id="249" name="Shape 247"/>
          <p:cNvSpPr/>
          <p:nvPr/>
        </p:nvSpPr>
        <p:spPr>
          <a:xfrm>
            <a:off x="10667774" y="3913632"/>
            <a:ext cx="43696" cy="73152"/>
          </a:xfrm>
          <a:prstGeom prst="roundRect">
            <a:avLst>
              <a:gd name="adj" fmla="val 62779"/>
            </a:avLst>
          </a:prstGeom>
          <a:solidFill>
            <a:schemeClr val="accent4"/>
          </a:solidFill>
          <a:ln/>
        </p:spPr>
      </p:sp>
      <p:sp>
        <p:nvSpPr>
          <p:cNvPr id="250" name="Shape 248"/>
          <p:cNvSpPr/>
          <p:nvPr/>
        </p:nvSpPr>
        <p:spPr>
          <a:xfrm>
            <a:off x="10581231" y="3977640"/>
            <a:ext cx="216781" cy="384048"/>
          </a:xfrm>
          <a:prstGeom prst="roundRect">
            <a:avLst>
              <a:gd name="adj" fmla="val 21090"/>
            </a:avLst>
          </a:prstGeom>
          <a:solidFill>
            <a:schemeClr val="accent4"/>
          </a:solidFill>
          <a:ln/>
        </p:spPr>
      </p:sp>
      <p:sp>
        <p:nvSpPr>
          <p:cNvPr id="251" name="Shape 249"/>
          <p:cNvSpPr/>
          <p:nvPr/>
        </p:nvSpPr>
        <p:spPr>
          <a:xfrm>
            <a:off x="10608663" y="4292559"/>
            <a:ext cx="161917" cy="69129"/>
          </a:xfrm>
          <a:prstGeom prst="rect">
            <a:avLst/>
          </a:prstGeom>
          <a:solidFill>
            <a:srgbClr val="7D818A"/>
          </a:solidFill>
          <a:ln/>
        </p:spPr>
      </p:sp>
      <p:sp>
        <p:nvSpPr>
          <p:cNvPr id="252" name="Shape 250"/>
          <p:cNvSpPr/>
          <p:nvPr/>
        </p:nvSpPr>
        <p:spPr>
          <a:xfrm>
            <a:off x="10930275" y="3913632"/>
            <a:ext cx="43696" cy="73152"/>
          </a:xfrm>
          <a:prstGeom prst="roundRect">
            <a:avLst>
              <a:gd name="adj" fmla="val 62779"/>
            </a:avLst>
          </a:prstGeom>
          <a:solidFill>
            <a:schemeClr val="accent4"/>
          </a:solidFill>
          <a:ln/>
        </p:spPr>
      </p:sp>
      <p:sp>
        <p:nvSpPr>
          <p:cNvPr id="253" name="Shape 251"/>
          <p:cNvSpPr/>
          <p:nvPr/>
        </p:nvSpPr>
        <p:spPr>
          <a:xfrm>
            <a:off x="10843732" y="3977640"/>
            <a:ext cx="216781" cy="384048"/>
          </a:xfrm>
          <a:prstGeom prst="roundRect">
            <a:avLst>
              <a:gd name="adj" fmla="val 21090"/>
            </a:avLst>
          </a:prstGeom>
          <a:solidFill>
            <a:schemeClr val="accent4"/>
          </a:solidFill>
          <a:ln/>
        </p:spPr>
      </p:sp>
      <p:sp>
        <p:nvSpPr>
          <p:cNvPr id="254" name="Shape 252"/>
          <p:cNvSpPr/>
          <p:nvPr/>
        </p:nvSpPr>
        <p:spPr>
          <a:xfrm>
            <a:off x="10871164" y="4292559"/>
            <a:ext cx="161917" cy="69129"/>
          </a:xfrm>
          <a:prstGeom prst="rect">
            <a:avLst/>
          </a:prstGeom>
          <a:solidFill>
            <a:srgbClr val="7D818A"/>
          </a:solidFill>
          <a:ln/>
        </p:spPr>
      </p:sp>
      <p:sp>
        <p:nvSpPr>
          <p:cNvPr id="255" name="Shape 253"/>
          <p:cNvSpPr/>
          <p:nvPr/>
        </p:nvSpPr>
        <p:spPr>
          <a:xfrm>
            <a:off x="11192777" y="3913632"/>
            <a:ext cx="43696" cy="73152"/>
          </a:xfrm>
          <a:prstGeom prst="roundRect">
            <a:avLst>
              <a:gd name="adj" fmla="val 62779"/>
            </a:avLst>
          </a:prstGeom>
          <a:solidFill>
            <a:schemeClr val="accent4"/>
          </a:solidFill>
          <a:ln/>
        </p:spPr>
      </p:sp>
      <p:sp>
        <p:nvSpPr>
          <p:cNvPr id="256" name="Shape 254"/>
          <p:cNvSpPr/>
          <p:nvPr/>
        </p:nvSpPr>
        <p:spPr>
          <a:xfrm>
            <a:off x="11106234" y="3977640"/>
            <a:ext cx="216781" cy="384048"/>
          </a:xfrm>
          <a:prstGeom prst="roundRect">
            <a:avLst>
              <a:gd name="adj" fmla="val 21090"/>
            </a:avLst>
          </a:prstGeom>
          <a:solidFill>
            <a:schemeClr val="accent4"/>
          </a:solidFill>
          <a:ln/>
        </p:spPr>
      </p:sp>
      <p:sp>
        <p:nvSpPr>
          <p:cNvPr id="257" name="Shape 255"/>
          <p:cNvSpPr/>
          <p:nvPr/>
        </p:nvSpPr>
        <p:spPr>
          <a:xfrm>
            <a:off x="11133666" y="4292559"/>
            <a:ext cx="161917" cy="69129"/>
          </a:xfrm>
          <a:prstGeom prst="rect">
            <a:avLst/>
          </a:prstGeom>
          <a:solidFill>
            <a:srgbClr val="7D818A"/>
          </a:solidFill>
          <a:ln/>
        </p:spPr>
      </p:sp>
      <p:sp>
        <p:nvSpPr>
          <p:cNvPr id="258" name="Text 256"/>
          <p:cNvSpPr txBox="1"/>
          <p:nvPr/>
        </p:nvSpPr>
        <p:spPr>
          <a:xfrm>
            <a:off x="6643710" y="4416552"/>
            <a:ext cx="4679305" cy="256032"/>
          </a:xfrm>
          <a:prstGeom prst="rect">
            <a:avLst/>
          </a:prstGeom>
          <a:noFill/>
          <a:ln/>
        </p:spPr>
        <p:txBody>
          <a:bodyPr wrap="square" lIns="0" tIns="0" rIns="0" bIns="0" rtlCol="0" anchor="ctr"/>
          <a:lstStyle/>
          <a:p>
            <a:pPr algn="ctr" indent="0" marL="0">
              <a:buNone/>
            </a:pPr>
            <a:r>
              <a:rPr lang="en-US" sz="1300" b="1" dirty="0">
                <a:solidFill>
                  <a:schemeClr val="tx2"/>
                </a:solidFill>
              </a:rPr>
              <a:t>44%</a:t>
            </a:r>
            <a:endParaRPr lang="en-US" sz="1300" dirty="0"/>
          </a:p>
        </p:txBody>
      </p:sp>
      <p:sp>
        <p:nvSpPr>
          <p:cNvPr id="259" name="Ejemplo"/>
          <p:cNvSpPr/>
          <p:nvPr/>
        </p:nvSpPr>
        <p:spPr>
          <a:xfrm>
            <a:off x="548640" y="4956048"/>
            <a:ext cx="5410048" cy="914400"/>
          </a:xfrm>
          <a:prstGeom prst="roundRect">
            <a:avLst>
              <a:gd name="adj" fmla="val 10000"/>
            </a:avLst>
          </a:prstGeom>
          <a:solidFill>
            <a:schemeClr val="bg1"/>
          </a:solidFill>
          <a:ln w="12700">
            <a:solidFill>
              <a:schemeClr val="accent6"/>
            </a:solidFill>
            <a:prstDash val="solid"/>
          </a:ln>
        </p:spPr>
      </p:sp>
      <p:sp>
        <p:nvSpPr>
          <p:cNvPr id="260" name="Text 258"/>
          <p:cNvSpPr txBox="1"/>
          <p:nvPr/>
        </p:nvSpPr>
        <p:spPr>
          <a:xfrm>
            <a:off x="731520" y="5065776"/>
            <a:ext cx="5044288" cy="694944"/>
          </a:xfrm>
          <a:prstGeom prst="rect">
            <a:avLst/>
          </a:prstGeom>
          <a:noFill/>
          <a:ln/>
        </p:spPr>
        <p:txBody>
          <a:bodyPr wrap="square" lIns="0" tIns="0" rIns="0" bIns="0" rtlCol="0" anchor="ctr"/>
          <a:lstStyle/>
          <a:p>
            <a:pPr indent="0" marL="0">
              <a:buNone/>
            </a:pPr>
            <a:r>
              <a:rPr lang="en-US" sz="1400" b="1" dirty="0">
                <a:solidFill>
                  <a:schemeClr val="tx1"/>
                </a:solidFill>
              </a:rPr>
              <a:t>Tasa de mora: </a:t>
            </a:r>
            <a:pPr indent="0" marL="0">
              <a:buNone/>
            </a:pPr>
            <a:r>
              <a:rPr lang="en-US" sz="1400" dirty="0">
                <a:solidFill>
                  <a:schemeClr val="tx2"/>
                </a:solidFill>
              </a:rPr>
              <a:t>31% de lo prestado por billeteras y fintech, contra 15% en bancos y financieras.</a:t>
            </a:r>
            <a:endParaRPr lang="en-US" sz="1400" dirty="0"/>
          </a:p>
        </p:txBody>
      </p:sp>
      <p:sp>
        <p:nvSpPr>
          <p:cNvPr id="261" name="Ejemplo"/>
          <p:cNvSpPr/>
          <p:nvPr/>
        </p:nvSpPr>
        <p:spPr>
          <a:xfrm>
            <a:off x="6233008" y="4956048"/>
            <a:ext cx="5410048" cy="914400"/>
          </a:xfrm>
          <a:prstGeom prst="roundRect">
            <a:avLst>
              <a:gd name="adj" fmla="val 10000"/>
            </a:avLst>
          </a:prstGeom>
          <a:solidFill>
            <a:schemeClr val="bg1"/>
          </a:solidFill>
          <a:ln w="12700">
            <a:solidFill>
              <a:schemeClr val="accent6"/>
            </a:solidFill>
            <a:prstDash val="solid"/>
          </a:ln>
        </p:spPr>
      </p:sp>
      <p:sp>
        <p:nvSpPr>
          <p:cNvPr id="262" name="Text 260"/>
          <p:cNvSpPr txBox="1"/>
          <p:nvPr/>
        </p:nvSpPr>
        <p:spPr>
          <a:xfrm>
            <a:off x="6415888" y="5065776"/>
            <a:ext cx="5044288" cy="694944"/>
          </a:xfrm>
          <a:prstGeom prst="rect">
            <a:avLst/>
          </a:prstGeom>
          <a:noFill/>
          <a:ln/>
        </p:spPr>
        <p:txBody>
          <a:bodyPr wrap="square" lIns="0" tIns="0" rIns="0" bIns="0" rtlCol="0" anchor="ctr"/>
          <a:lstStyle/>
          <a:p>
            <a:pPr indent="0" marL="0">
              <a:buNone/>
            </a:pPr>
            <a:r>
              <a:rPr lang="en-US" sz="1400" b="1" dirty="0">
                <a:solidFill>
                  <a:schemeClr val="tx1"/>
                </a:solidFill>
              </a:rPr>
              <a:t>Deuda típica en mora: </a:t>
            </a:r>
            <a:pPr indent="0" marL="0">
              <a:buNone/>
            </a:pPr>
            <a:r>
              <a:rPr lang="en-US" sz="1400" dirty="0">
                <a:solidFill>
                  <a:schemeClr val="tx2"/>
                </a:solidFill>
              </a:rPr>
              <a:t>$116.000 en Mercado Pago, contra $1.458.000 en bancos privados.</a:t>
            </a:r>
            <a:endParaRPr lang="en-US" sz="1400" dirty="0"/>
          </a:p>
        </p:txBody>
      </p:sp>
      <p:sp>
        <p:nvSpPr>
          <p:cNvPr id="263"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Mati Fernández (Central de Deudores, BCRA) y EcoGo-Austral, junio de 2026. Billeteras y fintech: Mercado Pago y prestamistas no bancarios. Deuda típica = mediana.</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QUÉ HAY EN LA CAJA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Cuatro piezas, una encima de la otra</a:t>
            </a:r>
            <a:endParaRPr lang="en-US" sz="3200" dirty="0"/>
          </a:p>
        </p:txBody>
      </p:sp>
      <p:sp>
        <p:nvSpPr>
          <p:cNvPr id="4" name="Pieza Ingresos"/>
          <p:cNvSpPr/>
          <p:nvPr/>
        </p:nvSpPr>
        <p:spPr>
          <a:xfrm>
            <a:off x="548640" y="1783080"/>
            <a:ext cx="2567864" cy="4023360"/>
          </a:xfrm>
          <a:prstGeom prst="roundRect">
            <a:avLst>
              <a:gd name="adj" fmla="val 5697"/>
            </a:avLst>
          </a:prstGeom>
          <a:solidFill>
            <a:schemeClr val="bg1"/>
          </a:solidFill>
          <a:ln w="12700">
            <a:solidFill>
              <a:schemeClr val="accent6"/>
            </a:solidFill>
            <a:prstDash val="solid"/>
          </a:ln>
        </p:spPr>
      </p:sp>
      <p:sp>
        <p:nvSpPr>
          <p:cNvPr id="5" name="Shape 3"/>
          <p:cNvSpPr/>
          <p:nvPr/>
        </p:nvSpPr>
        <p:spPr>
          <a:xfrm>
            <a:off x="822960" y="2112264"/>
            <a:ext cx="329184" cy="201168"/>
          </a:xfrm>
          <a:prstGeom prst="roundRect">
            <a:avLst>
              <a:gd name="adj" fmla="val 18182"/>
            </a:avLst>
          </a:prstGeom>
          <a:solidFill>
            <a:schemeClr val="accent3"/>
          </a:solidFill>
          <a:ln/>
        </p:spPr>
      </p:sp>
      <p:sp>
        <p:nvSpPr>
          <p:cNvPr id="6" name="Text 4"/>
          <p:cNvSpPr txBox="1"/>
          <p:nvPr/>
        </p:nvSpPr>
        <p:spPr>
          <a:xfrm>
            <a:off x="1280160"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Ingresos</a:t>
            </a:r>
            <a:endParaRPr lang="en-US" sz="2000" dirty="0"/>
          </a:p>
        </p:txBody>
      </p:sp>
      <p:sp>
        <p:nvSpPr>
          <p:cNvPr id="7" name="Text 5"/>
          <p:cNvSpPr txBox="1"/>
          <p:nvPr/>
        </p:nvSpPr>
        <p:spPr>
          <a:xfrm>
            <a:off x="822960"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¿Alcanza la plata a fin de mes?</a:t>
            </a:r>
            <a:endParaRPr lang="en-US" sz="1500" dirty="0"/>
          </a:p>
        </p:txBody>
      </p:sp>
      <p:sp>
        <p:nvSpPr>
          <p:cNvPr id="8" name="Text 6"/>
          <p:cNvSpPr txBox="1"/>
          <p:nvPr/>
        </p:nvSpPr>
        <p:spPr>
          <a:xfrm>
            <a:off x="822960"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−16,5%</a:t>
            </a:r>
            <a:endParaRPr lang="en-US" sz="4000" dirty="0"/>
          </a:p>
        </p:txBody>
      </p:sp>
      <p:sp>
        <p:nvSpPr>
          <p:cNvPr id="9" name="Text 7"/>
          <p:cNvSpPr txBox="1"/>
          <p:nvPr/>
        </p:nvSpPr>
        <p:spPr>
          <a:xfrm>
            <a:off x="822960"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cayó el ingreso disponible entre 2023 y mayo de 2026.</a:t>
            </a:r>
            <a:endParaRPr lang="en-US" sz="1500" dirty="0"/>
          </a:p>
        </p:txBody>
      </p:sp>
      <p:sp>
        <p:nvSpPr>
          <p:cNvPr id="10" name="Pieza Crédito"/>
          <p:cNvSpPr/>
          <p:nvPr/>
        </p:nvSpPr>
        <p:spPr>
          <a:xfrm>
            <a:off x="3390824" y="1783080"/>
            <a:ext cx="2567864" cy="4023360"/>
          </a:xfrm>
          <a:prstGeom prst="roundRect">
            <a:avLst>
              <a:gd name="adj" fmla="val 5697"/>
            </a:avLst>
          </a:prstGeom>
          <a:solidFill>
            <a:schemeClr val="bg1"/>
          </a:solidFill>
          <a:ln w="12700">
            <a:solidFill>
              <a:schemeClr val="accent6"/>
            </a:solidFill>
            <a:prstDash val="solid"/>
          </a:ln>
        </p:spPr>
      </p:sp>
      <p:sp>
        <p:nvSpPr>
          <p:cNvPr id="11" name="Shape 9"/>
          <p:cNvSpPr/>
          <p:nvPr/>
        </p:nvSpPr>
        <p:spPr>
          <a:xfrm>
            <a:off x="3665144" y="2112264"/>
            <a:ext cx="329184" cy="201168"/>
          </a:xfrm>
          <a:prstGeom prst="roundRect">
            <a:avLst>
              <a:gd name="adj" fmla="val 18182"/>
            </a:avLst>
          </a:prstGeom>
          <a:solidFill>
            <a:schemeClr val="accent2"/>
          </a:solidFill>
          <a:ln/>
        </p:spPr>
      </p:sp>
      <p:sp>
        <p:nvSpPr>
          <p:cNvPr id="12" name="Text 10"/>
          <p:cNvSpPr txBox="1"/>
          <p:nvPr/>
        </p:nvSpPr>
        <p:spPr>
          <a:xfrm>
            <a:off x="4122344"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Crédito</a:t>
            </a:r>
            <a:endParaRPr lang="en-US" sz="2000" dirty="0"/>
          </a:p>
        </p:txBody>
      </p:sp>
      <p:sp>
        <p:nvSpPr>
          <p:cNvPr id="13" name="Text 11"/>
          <p:cNvSpPr txBox="1"/>
          <p:nvPr/>
        </p:nvSpPr>
        <p:spPr>
          <a:xfrm>
            <a:off x="3665144"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¿Cómo se tapó el agujero?</a:t>
            </a:r>
            <a:endParaRPr lang="en-US" sz="1500" dirty="0"/>
          </a:p>
        </p:txBody>
      </p:sp>
      <p:sp>
        <p:nvSpPr>
          <p:cNvPr id="14" name="Text 12"/>
          <p:cNvSpPr txBox="1"/>
          <p:nvPr/>
        </p:nvSpPr>
        <p:spPr>
          <a:xfrm>
            <a:off x="3665144"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+58%</a:t>
            </a:r>
            <a:endParaRPr lang="en-US" sz="4000" dirty="0"/>
          </a:p>
        </p:txBody>
      </p:sp>
      <p:sp>
        <p:nvSpPr>
          <p:cNvPr id="15" name="Text 13"/>
          <p:cNvSpPr txBox="1"/>
          <p:nvPr/>
        </p:nvSpPr>
        <p:spPr>
          <a:xfrm>
            <a:off x="3665144"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creció el crédito a las familias en 2024, por encima de la inflación.</a:t>
            </a:r>
            <a:endParaRPr lang="en-US" sz="1500" dirty="0"/>
          </a:p>
        </p:txBody>
      </p:sp>
      <p:sp>
        <p:nvSpPr>
          <p:cNvPr id="16" name="Pieza Tasas"/>
          <p:cNvSpPr/>
          <p:nvPr/>
        </p:nvSpPr>
        <p:spPr>
          <a:xfrm>
            <a:off x="6233008" y="1783080"/>
            <a:ext cx="2567864" cy="4023360"/>
          </a:xfrm>
          <a:prstGeom prst="roundRect">
            <a:avLst>
              <a:gd name="adj" fmla="val 5697"/>
            </a:avLst>
          </a:prstGeom>
          <a:solidFill>
            <a:schemeClr val="bg1"/>
          </a:solidFill>
          <a:ln w="12700">
            <a:solidFill>
              <a:schemeClr val="accent6"/>
            </a:solidFill>
            <a:prstDash val="solid"/>
          </a:ln>
        </p:spPr>
      </p:sp>
      <p:sp>
        <p:nvSpPr>
          <p:cNvPr id="17" name="Shape 15"/>
          <p:cNvSpPr/>
          <p:nvPr/>
        </p:nvSpPr>
        <p:spPr>
          <a:xfrm>
            <a:off x="6507328" y="2112264"/>
            <a:ext cx="329184" cy="201168"/>
          </a:xfrm>
          <a:prstGeom prst="roundRect">
            <a:avLst>
              <a:gd name="adj" fmla="val 18182"/>
            </a:avLst>
          </a:prstGeom>
          <a:solidFill>
            <a:schemeClr val="accent1"/>
          </a:solidFill>
          <a:ln/>
        </p:spPr>
      </p:sp>
      <p:sp>
        <p:nvSpPr>
          <p:cNvPr id="18" name="Text 16"/>
          <p:cNvSpPr txBox="1"/>
          <p:nvPr/>
        </p:nvSpPr>
        <p:spPr>
          <a:xfrm>
            <a:off x="6964528"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Tasas</a:t>
            </a:r>
            <a:endParaRPr lang="en-US" sz="2000" dirty="0"/>
          </a:p>
        </p:txBody>
      </p:sp>
      <p:sp>
        <p:nvSpPr>
          <p:cNvPr id="19" name="Text 17"/>
          <p:cNvSpPr txBox="1"/>
          <p:nvPr/>
        </p:nvSpPr>
        <p:spPr>
          <a:xfrm>
            <a:off x="6507328"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¿Por qué se encareció la deuda?</a:t>
            </a:r>
            <a:endParaRPr lang="en-US" sz="1500" dirty="0"/>
          </a:p>
        </p:txBody>
      </p:sp>
      <p:sp>
        <p:nvSpPr>
          <p:cNvPr id="20" name="Text 18"/>
          <p:cNvSpPr txBox="1"/>
          <p:nvPr/>
        </p:nvSpPr>
        <p:spPr>
          <a:xfrm>
            <a:off x="6507328"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32→60%</a:t>
            </a:r>
            <a:endParaRPr lang="en-US" sz="4000" dirty="0"/>
          </a:p>
        </p:txBody>
      </p:sp>
      <p:sp>
        <p:nvSpPr>
          <p:cNvPr id="21" name="Text 19"/>
          <p:cNvSpPr txBox="1"/>
          <p:nvPr/>
        </p:nvSpPr>
        <p:spPr>
          <a:xfrm>
            <a:off x="6507328"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saltó la BADLAR nominal entre julio y agosto de 2025.</a:t>
            </a:r>
            <a:endParaRPr lang="en-US" sz="1500" dirty="0"/>
          </a:p>
        </p:txBody>
      </p:sp>
      <p:sp>
        <p:nvSpPr>
          <p:cNvPr id="22" name="Pieza Mora"/>
          <p:cNvSpPr/>
          <p:nvPr/>
        </p:nvSpPr>
        <p:spPr>
          <a:xfrm>
            <a:off x="9075191" y="1783080"/>
            <a:ext cx="2567864" cy="4023360"/>
          </a:xfrm>
          <a:prstGeom prst="roundRect">
            <a:avLst>
              <a:gd name="adj" fmla="val 5697"/>
            </a:avLst>
          </a:prstGeom>
          <a:solidFill>
            <a:schemeClr val="bg1"/>
          </a:solidFill>
          <a:ln w="12700">
            <a:solidFill>
              <a:schemeClr val="accent6"/>
            </a:solidFill>
            <a:prstDash val="solid"/>
          </a:ln>
        </p:spPr>
      </p:sp>
      <p:sp>
        <p:nvSpPr>
          <p:cNvPr id="23" name="Shape 21"/>
          <p:cNvSpPr/>
          <p:nvPr/>
        </p:nvSpPr>
        <p:spPr>
          <a:xfrm>
            <a:off x="9349511" y="2112264"/>
            <a:ext cx="329184" cy="201168"/>
          </a:xfrm>
          <a:prstGeom prst="roundRect">
            <a:avLst>
              <a:gd name="adj" fmla="val 18182"/>
            </a:avLst>
          </a:prstGeom>
          <a:solidFill>
            <a:schemeClr val="tx1"/>
          </a:solidFill>
          <a:ln/>
        </p:spPr>
      </p:sp>
      <p:sp>
        <p:nvSpPr>
          <p:cNvPr id="24" name="Text 22"/>
          <p:cNvSpPr txBox="1"/>
          <p:nvPr/>
        </p:nvSpPr>
        <p:spPr>
          <a:xfrm>
            <a:off x="9806711"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Mora</a:t>
            </a:r>
            <a:endParaRPr lang="en-US" sz="2000" dirty="0"/>
          </a:p>
        </p:txBody>
      </p:sp>
      <p:sp>
        <p:nvSpPr>
          <p:cNvPr id="25" name="Text 23"/>
          <p:cNvSpPr txBox="1"/>
          <p:nvPr/>
        </p:nvSpPr>
        <p:spPr>
          <a:xfrm>
            <a:off x="9349511"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¿Cuántos no pueden pagar?</a:t>
            </a:r>
            <a:endParaRPr lang="en-US" sz="1500" dirty="0"/>
          </a:p>
        </p:txBody>
      </p:sp>
      <p:sp>
        <p:nvSpPr>
          <p:cNvPr id="26" name="Text 24"/>
          <p:cNvSpPr txBox="1"/>
          <p:nvPr/>
        </p:nvSpPr>
        <p:spPr>
          <a:xfrm>
            <a:off x="9349511"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17,5%</a:t>
            </a:r>
            <a:endParaRPr lang="en-US" sz="4000" dirty="0"/>
          </a:p>
        </p:txBody>
      </p:sp>
      <p:sp>
        <p:nvSpPr>
          <p:cNvPr id="27" name="Text 25"/>
          <p:cNvSpPr txBox="1"/>
          <p:nvPr/>
        </p:nvSpPr>
        <p:spPr>
          <a:xfrm>
            <a:off x="9349511"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de lo prestado a las personas está en mora, con bancos, fintech y billeteras (junio de 2026).</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1 DE 4 · INGRESOS</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El ingreso dejó de alcanzar</a:t>
            </a:r>
            <a:endParaRPr lang="en-US" sz="3200" dirty="0"/>
          </a:p>
        </p:txBody>
      </p:sp>
      <p:sp>
        <p:nvSpPr>
          <p:cNvPr id="4" name="Paso 1"/>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6" name="Panel texto"/>
          <p:cNvSpPr/>
          <p:nvPr/>
        </p:nvSpPr>
        <p:spPr>
          <a:xfrm>
            <a:off x="548640" y="1783080"/>
            <a:ext cx="6035040" cy="4069080"/>
          </a:xfrm>
          <a:prstGeom prst="roundRect">
            <a:avLst>
              <a:gd name="adj" fmla="val 3596"/>
            </a:avLst>
          </a:prstGeom>
          <a:solidFill>
            <a:schemeClr val="bg1"/>
          </a:solidFill>
          <a:ln w="12700">
            <a:solidFill>
              <a:schemeClr val="accent6"/>
            </a:solidFill>
            <a:prstDash val="solid"/>
          </a:ln>
        </p:spPr>
      </p:sp>
      <p:sp>
        <p:nvSpPr>
          <p:cNvPr id="7" name="Text 5"/>
          <p:cNvSpPr txBox="1"/>
          <p:nvPr/>
        </p:nvSpPr>
        <p:spPr>
          <a:xfrm>
            <a:off x="868680" y="2057400"/>
            <a:ext cx="5394960" cy="2011680"/>
          </a:xfrm>
          <a:prstGeom prst="rect">
            <a:avLst/>
          </a:prstGeom>
          <a:noFill/>
          <a:ln/>
        </p:spPr>
        <p:txBody>
          <a:bodyPr wrap="square" lIns="0" tIns="0" rIns="0" bIns="0" rtlCol="0" anchor="t"/>
          <a:lstStyle/>
          <a:p>
            <a:pPr indent="0" marL="0">
              <a:buNone/>
            </a:pPr>
            <a:r>
              <a:rPr lang="en-US" sz="1800" dirty="0">
                <a:solidFill>
                  <a:schemeClr val="tx2"/>
                </a:solidFill>
              </a:rPr>
              <a:t>El ajuste licuó salarios y jubilaciones, y el consumo cayó.</a:t>
            </a:r>
            <a:endParaRPr lang="en-US" sz="1800" dirty="0"/>
          </a:p>
          <a:p>
            <a:pPr indent="0" marL="0">
              <a:buNone/>
            </a:pPr>
            <a:r>
              <a:rPr lang="en-US" sz="800" dirty="0">
                <a:solidFill>
                  <a:schemeClr val="tx2"/>
                </a:solidFill>
              </a:rPr>
              <a:t> </a:t>
            </a:r>
            <a:endParaRPr lang="en-US" sz="1800" dirty="0"/>
          </a:p>
          <a:p>
            <a:pPr indent="0" marL="0">
              <a:buNone/>
            </a:pPr>
            <a:r>
              <a:rPr lang="en-US" sz="1800" b="1" dirty="0">
                <a:solidFill>
                  <a:schemeClr val="tx1"/>
                </a:solidFill>
              </a:rPr>
              <a:t>Resultado: </a:t>
            </a:r>
            <a:pPr indent="0" marL="0">
              <a:buNone/>
            </a:pPr>
            <a:r>
              <a:rPr lang="en-US" sz="1800" dirty="0">
                <a:solidFill>
                  <a:schemeClr val="tx2"/>
                </a:solidFill>
              </a:rPr>
              <a:t>en mayo de 2026, lo que le queda a una familia después de pagar los gastos fijos fue 16,5% menor que en 2023.</a:t>
            </a:r>
            <a:endParaRPr lang="en-US" sz="1800" dirty="0"/>
          </a:p>
        </p:txBody>
      </p:sp>
      <p:sp>
        <p:nvSpPr>
          <p:cNvPr id="8" name="Ejemplo"/>
          <p:cNvSpPr/>
          <p:nvPr/>
        </p:nvSpPr>
        <p:spPr>
          <a:xfrm>
            <a:off x="868680" y="4251960"/>
            <a:ext cx="5394960" cy="1325880"/>
          </a:xfrm>
          <a:prstGeom prst="roundRect">
            <a:avLst>
              <a:gd name="adj" fmla="val 6897"/>
            </a:avLst>
          </a:prstGeom>
          <a:solidFill>
            <a:schemeClr val="bg2"/>
          </a:solidFill>
          <a:ln/>
        </p:spPr>
      </p:sp>
      <p:sp>
        <p:nvSpPr>
          <p:cNvPr id="9" name="Text 7"/>
          <p:cNvSpPr txBox="1"/>
          <p:nvPr/>
        </p:nvSpPr>
        <p:spPr>
          <a:xfrm>
            <a:off x="1051560" y="4361688"/>
            <a:ext cx="5029200" cy="1106424"/>
          </a:xfrm>
          <a:prstGeom prst="rect">
            <a:avLst/>
          </a:prstGeom>
          <a:noFill/>
          <a:ln/>
        </p:spPr>
        <p:txBody>
          <a:bodyPr wrap="square" lIns="0" tIns="0" rIns="0" bIns="0" rtlCol="0" anchor="ctr"/>
          <a:lstStyle/>
          <a:p>
            <a:pPr indent="0" marL="0">
              <a:buNone/>
            </a:pPr>
            <a:r>
              <a:rPr lang="en-US" sz="1500" b="1" dirty="0">
                <a:solidFill>
                  <a:schemeClr val="tx1"/>
                </a:solidFill>
              </a:rPr>
              <a:t>No fue un mal mes. </a:t>
            </a:r>
            <a:pPr indent="0" marL="0">
              <a:buNone/>
            </a:pPr>
            <a:r>
              <a:rPr lang="en-US" sz="1500" dirty="0">
                <a:solidFill>
                  <a:schemeClr val="tx2"/>
                </a:solidFill>
              </a:rPr>
              <a:t>No fue un shock transitorio: es un problema estructural. Por eso el agujero se volvió a abrir cada mes.</a:t>
            </a:r>
            <a:endParaRPr lang="en-US" sz="1500" dirty="0"/>
          </a:p>
        </p:txBody>
      </p:sp>
      <p:sp>
        <p:nvSpPr>
          <p:cNvPr id="10" name="Panel esquema"/>
          <p:cNvSpPr/>
          <p:nvPr/>
        </p:nvSpPr>
        <p:spPr>
          <a:xfrm>
            <a:off x="6858000" y="1783080"/>
            <a:ext cx="4785055" cy="4069080"/>
          </a:xfrm>
          <a:prstGeom prst="roundRect">
            <a:avLst>
              <a:gd name="adj" fmla="val 3596"/>
            </a:avLst>
          </a:prstGeom>
          <a:solidFill>
            <a:schemeClr val="bg1"/>
          </a:solidFill>
          <a:ln w="12700">
            <a:solidFill>
              <a:schemeClr val="accent6"/>
            </a:solidFill>
            <a:prstDash val="solid"/>
          </a:ln>
        </p:spPr>
      </p:sp>
      <p:sp>
        <p:nvSpPr>
          <p:cNvPr id="11" name="Text 9"/>
          <p:cNvSpPr txBox="1"/>
          <p:nvPr/>
        </p:nvSpPr>
        <p:spPr>
          <a:xfrm>
            <a:off x="7178040" y="2011680"/>
            <a:ext cx="4114800" cy="548640"/>
          </a:xfrm>
          <a:prstGeom prst="rect">
            <a:avLst/>
          </a:prstGeom>
          <a:noFill/>
          <a:ln/>
        </p:spPr>
        <p:txBody>
          <a:bodyPr wrap="square" lIns="0" tIns="0" rIns="0" bIns="0" rtlCol="0" anchor="t"/>
          <a:lstStyle/>
          <a:p>
            <a:pPr indent="0" marL="0">
              <a:buNone/>
            </a:pPr>
            <a:r>
              <a:rPr lang="en-US" sz="1500" b="1" dirty="0">
                <a:solidFill>
                  <a:schemeClr val="tx1"/>
                </a:solidFill>
              </a:rPr>
              <a:t>Ingreso disponible: lo que queda del sueldo después de pagar los gastos fijos</a:t>
            </a:r>
            <a:endParaRPr lang="en-US" sz="1500" dirty="0"/>
          </a:p>
        </p:txBody>
      </p:sp>
      <p:sp>
        <p:nvSpPr>
          <p:cNvPr id="12" name="Text 10"/>
          <p:cNvSpPr txBox="1"/>
          <p:nvPr/>
        </p:nvSpPr>
        <p:spPr>
          <a:xfrm>
            <a:off x="7178040" y="278892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2023</a:t>
            </a:r>
            <a:pPr indent="0" marL="0">
              <a:buNone/>
            </a:pPr>
            <a:r>
              <a:rPr lang="en-US" sz="1400" dirty="0">
                <a:solidFill>
                  <a:schemeClr val="tx2"/>
                </a:solidFill>
              </a:rPr>
              <a:t>   100</a:t>
            </a:r>
            <a:endParaRPr lang="en-US" sz="1400" dirty="0"/>
          </a:p>
        </p:txBody>
      </p:sp>
      <p:sp>
        <p:nvSpPr>
          <p:cNvPr id="13" name="Shape 11"/>
          <p:cNvSpPr/>
          <p:nvPr/>
        </p:nvSpPr>
        <p:spPr>
          <a:xfrm>
            <a:off x="7310628" y="3136392"/>
            <a:ext cx="164592" cy="73152"/>
          </a:xfrm>
          <a:prstGeom prst="roundRect">
            <a:avLst>
              <a:gd name="adj" fmla="val 37500"/>
            </a:avLst>
          </a:prstGeom>
          <a:solidFill>
            <a:schemeClr val="accent4"/>
          </a:solidFill>
          <a:ln/>
        </p:spPr>
      </p:sp>
      <p:sp>
        <p:nvSpPr>
          <p:cNvPr id="14" name="Shape 12"/>
          <p:cNvSpPr/>
          <p:nvPr/>
        </p:nvSpPr>
        <p:spPr>
          <a:xfrm>
            <a:off x="7594092" y="3136392"/>
            <a:ext cx="164592" cy="73152"/>
          </a:xfrm>
          <a:prstGeom prst="roundRect">
            <a:avLst>
              <a:gd name="adj" fmla="val 37500"/>
            </a:avLst>
          </a:prstGeom>
          <a:solidFill>
            <a:schemeClr val="accent4"/>
          </a:solidFill>
          <a:ln/>
        </p:spPr>
      </p:sp>
      <p:sp>
        <p:nvSpPr>
          <p:cNvPr id="15" name="Shape 13"/>
          <p:cNvSpPr/>
          <p:nvPr/>
        </p:nvSpPr>
        <p:spPr>
          <a:xfrm>
            <a:off x="7877556" y="3136392"/>
            <a:ext cx="164592" cy="73152"/>
          </a:xfrm>
          <a:prstGeom prst="roundRect">
            <a:avLst>
              <a:gd name="adj" fmla="val 37500"/>
            </a:avLst>
          </a:prstGeom>
          <a:solidFill>
            <a:schemeClr val="accent4"/>
          </a:solidFill>
          <a:ln/>
        </p:spPr>
      </p:sp>
      <p:sp>
        <p:nvSpPr>
          <p:cNvPr id="16" name="Shape 14"/>
          <p:cNvSpPr/>
          <p:nvPr/>
        </p:nvSpPr>
        <p:spPr>
          <a:xfrm>
            <a:off x="8161020" y="3136392"/>
            <a:ext cx="164592" cy="73152"/>
          </a:xfrm>
          <a:prstGeom prst="roundRect">
            <a:avLst>
              <a:gd name="adj" fmla="val 37500"/>
            </a:avLst>
          </a:prstGeom>
          <a:solidFill>
            <a:schemeClr val="accent4"/>
          </a:solidFill>
          <a:ln/>
        </p:spPr>
      </p:sp>
      <p:sp>
        <p:nvSpPr>
          <p:cNvPr id="17" name="Shape 15"/>
          <p:cNvSpPr/>
          <p:nvPr/>
        </p:nvSpPr>
        <p:spPr>
          <a:xfrm>
            <a:off x="8444484" y="3136392"/>
            <a:ext cx="164592" cy="73152"/>
          </a:xfrm>
          <a:prstGeom prst="roundRect">
            <a:avLst>
              <a:gd name="adj" fmla="val 37500"/>
            </a:avLst>
          </a:prstGeom>
          <a:solidFill>
            <a:schemeClr val="accent4"/>
          </a:solidFill>
          <a:ln/>
        </p:spPr>
      </p:sp>
      <p:sp>
        <p:nvSpPr>
          <p:cNvPr id="18" name="Shape 16"/>
          <p:cNvSpPr/>
          <p:nvPr/>
        </p:nvSpPr>
        <p:spPr>
          <a:xfrm>
            <a:off x="8727948" y="3136392"/>
            <a:ext cx="164592" cy="73152"/>
          </a:xfrm>
          <a:prstGeom prst="roundRect">
            <a:avLst>
              <a:gd name="adj" fmla="val 37500"/>
            </a:avLst>
          </a:prstGeom>
          <a:solidFill>
            <a:schemeClr val="accent4"/>
          </a:solidFill>
          <a:ln/>
        </p:spPr>
      </p:sp>
      <p:sp>
        <p:nvSpPr>
          <p:cNvPr id="19" name="Shape 17"/>
          <p:cNvSpPr/>
          <p:nvPr/>
        </p:nvSpPr>
        <p:spPr>
          <a:xfrm>
            <a:off x="9011412" y="3136392"/>
            <a:ext cx="164592" cy="73152"/>
          </a:xfrm>
          <a:prstGeom prst="roundRect">
            <a:avLst>
              <a:gd name="adj" fmla="val 37500"/>
            </a:avLst>
          </a:prstGeom>
          <a:solidFill>
            <a:schemeClr val="accent4"/>
          </a:solidFill>
          <a:ln/>
        </p:spPr>
      </p:sp>
      <p:sp>
        <p:nvSpPr>
          <p:cNvPr id="20" name="Shape 18"/>
          <p:cNvSpPr/>
          <p:nvPr/>
        </p:nvSpPr>
        <p:spPr>
          <a:xfrm>
            <a:off x="9294876" y="3136392"/>
            <a:ext cx="164592" cy="73152"/>
          </a:xfrm>
          <a:prstGeom prst="roundRect">
            <a:avLst>
              <a:gd name="adj" fmla="val 37500"/>
            </a:avLst>
          </a:prstGeom>
          <a:solidFill>
            <a:schemeClr val="accent4"/>
          </a:solidFill>
          <a:ln/>
        </p:spPr>
      </p:sp>
      <p:sp>
        <p:nvSpPr>
          <p:cNvPr id="21" name="Shape 19"/>
          <p:cNvSpPr/>
          <p:nvPr/>
        </p:nvSpPr>
        <p:spPr>
          <a:xfrm>
            <a:off x="9578340" y="3136392"/>
            <a:ext cx="164592" cy="73152"/>
          </a:xfrm>
          <a:prstGeom prst="roundRect">
            <a:avLst>
              <a:gd name="adj" fmla="val 37500"/>
            </a:avLst>
          </a:prstGeom>
          <a:solidFill>
            <a:schemeClr val="accent4"/>
          </a:solidFill>
          <a:ln/>
        </p:spPr>
      </p:sp>
      <p:sp>
        <p:nvSpPr>
          <p:cNvPr id="22" name="Shape 20"/>
          <p:cNvSpPr/>
          <p:nvPr/>
        </p:nvSpPr>
        <p:spPr>
          <a:xfrm>
            <a:off x="9861804" y="3136392"/>
            <a:ext cx="164592" cy="73152"/>
          </a:xfrm>
          <a:prstGeom prst="roundRect">
            <a:avLst>
              <a:gd name="adj" fmla="val 37500"/>
            </a:avLst>
          </a:prstGeom>
          <a:solidFill>
            <a:schemeClr val="accent4"/>
          </a:solidFill>
          <a:ln/>
        </p:spPr>
      </p:sp>
      <p:sp>
        <p:nvSpPr>
          <p:cNvPr id="23" name="Shape 21"/>
          <p:cNvSpPr/>
          <p:nvPr/>
        </p:nvSpPr>
        <p:spPr>
          <a:xfrm>
            <a:off x="10145268" y="3136392"/>
            <a:ext cx="164592" cy="73152"/>
          </a:xfrm>
          <a:prstGeom prst="roundRect">
            <a:avLst>
              <a:gd name="adj" fmla="val 37500"/>
            </a:avLst>
          </a:prstGeom>
          <a:solidFill>
            <a:schemeClr val="accent4"/>
          </a:solidFill>
          <a:ln/>
        </p:spPr>
      </p:sp>
      <p:sp>
        <p:nvSpPr>
          <p:cNvPr id="24" name="Shape 22"/>
          <p:cNvSpPr/>
          <p:nvPr/>
        </p:nvSpPr>
        <p:spPr>
          <a:xfrm>
            <a:off x="10428732" y="3136392"/>
            <a:ext cx="164592" cy="73152"/>
          </a:xfrm>
          <a:prstGeom prst="roundRect">
            <a:avLst>
              <a:gd name="adj" fmla="val 37500"/>
            </a:avLst>
          </a:prstGeom>
          <a:solidFill>
            <a:schemeClr val="accent4"/>
          </a:solidFill>
          <a:ln/>
        </p:spPr>
      </p:sp>
      <p:sp>
        <p:nvSpPr>
          <p:cNvPr id="25" name="Shape 23"/>
          <p:cNvSpPr/>
          <p:nvPr/>
        </p:nvSpPr>
        <p:spPr>
          <a:xfrm>
            <a:off x="10712196" y="3136392"/>
            <a:ext cx="164592" cy="73152"/>
          </a:xfrm>
          <a:prstGeom prst="roundRect">
            <a:avLst>
              <a:gd name="adj" fmla="val 37500"/>
            </a:avLst>
          </a:prstGeom>
          <a:solidFill>
            <a:schemeClr val="accent4"/>
          </a:solidFill>
          <a:ln/>
        </p:spPr>
      </p:sp>
      <p:sp>
        <p:nvSpPr>
          <p:cNvPr id="26" name="Shape 24"/>
          <p:cNvSpPr/>
          <p:nvPr/>
        </p:nvSpPr>
        <p:spPr>
          <a:xfrm>
            <a:off x="10995660" y="3136392"/>
            <a:ext cx="164592" cy="73152"/>
          </a:xfrm>
          <a:prstGeom prst="roundRect">
            <a:avLst>
              <a:gd name="adj" fmla="val 37500"/>
            </a:avLst>
          </a:prstGeom>
          <a:solidFill>
            <a:schemeClr val="accent4"/>
          </a:solidFill>
          <a:ln/>
        </p:spPr>
      </p:sp>
      <p:sp>
        <p:nvSpPr>
          <p:cNvPr id="27" name="Shape 25"/>
          <p:cNvSpPr/>
          <p:nvPr/>
        </p:nvSpPr>
        <p:spPr>
          <a:xfrm>
            <a:off x="7178040" y="3200400"/>
            <a:ext cx="4114800" cy="548640"/>
          </a:xfrm>
          <a:prstGeom prst="roundRect">
            <a:avLst>
              <a:gd name="adj" fmla="val 8333"/>
            </a:avLst>
          </a:prstGeom>
          <a:solidFill>
            <a:schemeClr val="accent4"/>
          </a:solidFill>
          <a:ln/>
        </p:spPr>
      </p:sp>
      <p:sp>
        <p:nvSpPr>
          <p:cNvPr id="28" name="Shape 26"/>
          <p:cNvSpPr/>
          <p:nvPr/>
        </p:nvSpPr>
        <p:spPr>
          <a:xfrm>
            <a:off x="7205472" y="3675888"/>
            <a:ext cx="4059936" cy="73152"/>
          </a:xfrm>
          <a:prstGeom prst="rect">
            <a:avLst/>
          </a:prstGeom>
          <a:solidFill>
            <a:srgbClr val="7D818A"/>
          </a:solidFill>
          <a:ln/>
        </p:spPr>
      </p:sp>
      <p:sp>
        <p:nvSpPr>
          <p:cNvPr id="29" name="Text 27"/>
          <p:cNvSpPr txBox="1"/>
          <p:nvPr/>
        </p:nvSpPr>
        <p:spPr>
          <a:xfrm>
            <a:off x="7178040" y="397764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Mayo de 2026</a:t>
            </a:r>
            <a:pPr indent="0" marL="0">
              <a:buNone/>
            </a:pPr>
            <a:r>
              <a:rPr lang="en-US" sz="1400" dirty="0">
                <a:solidFill>
                  <a:schemeClr val="tx2"/>
                </a:solidFill>
              </a:rPr>
              <a:t>   83,5</a:t>
            </a:r>
            <a:endParaRPr lang="en-US" sz="1400" dirty="0"/>
          </a:p>
        </p:txBody>
      </p:sp>
      <p:sp>
        <p:nvSpPr>
          <p:cNvPr id="30" name="Shape 28"/>
          <p:cNvSpPr/>
          <p:nvPr/>
        </p:nvSpPr>
        <p:spPr>
          <a:xfrm>
            <a:off x="7305961" y="4325112"/>
            <a:ext cx="164592" cy="73152"/>
          </a:xfrm>
          <a:prstGeom prst="roundRect">
            <a:avLst>
              <a:gd name="adj" fmla="val 37500"/>
            </a:avLst>
          </a:prstGeom>
          <a:solidFill>
            <a:schemeClr val="accent3"/>
          </a:solidFill>
          <a:ln/>
        </p:spPr>
      </p:sp>
      <p:sp>
        <p:nvSpPr>
          <p:cNvPr id="31" name="Shape 29"/>
          <p:cNvSpPr/>
          <p:nvPr/>
        </p:nvSpPr>
        <p:spPr>
          <a:xfrm>
            <a:off x="7580090" y="4325112"/>
            <a:ext cx="164592" cy="73152"/>
          </a:xfrm>
          <a:prstGeom prst="roundRect">
            <a:avLst>
              <a:gd name="adj" fmla="val 37500"/>
            </a:avLst>
          </a:prstGeom>
          <a:solidFill>
            <a:schemeClr val="accent3"/>
          </a:solidFill>
          <a:ln/>
        </p:spPr>
      </p:sp>
      <p:sp>
        <p:nvSpPr>
          <p:cNvPr id="32" name="Shape 30"/>
          <p:cNvSpPr/>
          <p:nvPr/>
        </p:nvSpPr>
        <p:spPr>
          <a:xfrm>
            <a:off x="7854220" y="4325112"/>
            <a:ext cx="164592" cy="73152"/>
          </a:xfrm>
          <a:prstGeom prst="roundRect">
            <a:avLst>
              <a:gd name="adj" fmla="val 37500"/>
            </a:avLst>
          </a:prstGeom>
          <a:solidFill>
            <a:schemeClr val="accent3"/>
          </a:solidFill>
          <a:ln/>
        </p:spPr>
      </p:sp>
      <p:sp>
        <p:nvSpPr>
          <p:cNvPr id="33" name="Shape 31"/>
          <p:cNvSpPr/>
          <p:nvPr/>
        </p:nvSpPr>
        <p:spPr>
          <a:xfrm>
            <a:off x="8128349" y="4325112"/>
            <a:ext cx="164592" cy="73152"/>
          </a:xfrm>
          <a:prstGeom prst="roundRect">
            <a:avLst>
              <a:gd name="adj" fmla="val 37500"/>
            </a:avLst>
          </a:prstGeom>
          <a:solidFill>
            <a:schemeClr val="accent3"/>
          </a:solidFill>
          <a:ln/>
        </p:spPr>
      </p:sp>
      <p:sp>
        <p:nvSpPr>
          <p:cNvPr id="34" name="Shape 32"/>
          <p:cNvSpPr/>
          <p:nvPr/>
        </p:nvSpPr>
        <p:spPr>
          <a:xfrm>
            <a:off x="8402479" y="4325112"/>
            <a:ext cx="164592" cy="73152"/>
          </a:xfrm>
          <a:prstGeom prst="roundRect">
            <a:avLst>
              <a:gd name="adj" fmla="val 37500"/>
            </a:avLst>
          </a:prstGeom>
          <a:solidFill>
            <a:schemeClr val="accent3"/>
          </a:solidFill>
          <a:ln/>
        </p:spPr>
      </p:sp>
      <p:sp>
        <p:nvSpPr>
          <p:cNvPr id="35" name="Shape 33"/>
          <p:cNvSpPr/>
          <p:nvPr/>
        </p:nvSpPr>
        <p:spPr>
          <a:xfrm>
            <a:off x="8676608" y="4325112"/>
            <a:ext cx="164592" cy="73152"/>
          </a:xfrm>
          <a:prstGeom prst="roundRect">
            <a:avLst>
              <a:gd name="adj" fmla="val 37500"/>
            </a:avLst>
          </a:prstGeom>
          <a:solidFill>
            <a:schemeClr val="accent3"/>
          </a:solidFill>
          <a:ln/>
        </p:spPr>
      </p:sp>
      <p:sp>
        <p:nvSpPr>
          <p:cNvPr id="36" name="Shape 34"/>
          <p:cNvSpPr/>
          <p:nvPr/>
        </p:nvSpPr>
        <p:spPr>
          <a:xfrm>
            <a:off x="8950738" y="4325112"/>
            <a:ext cx="164592" cy="73152"/>
          </a:xfrm>
          <a:prstGeom prst="roundRect">
            <a:avLst>
              <a:gd name="adj" fmla="val 37500"/>
            </a:avLst>
          </a:prstGeom>
          <a:solidFill>
            <a:schemeClr val="accent3"/>
          </a:solidFill>
          <a:ln/>
        </p:spPr>
      </p:sp>
      <p:sp>
        <p:nvSpPr>
          <p:cNvPr id="37" name="Shape 35"/>
          <p:cNvSpPr/>
          <p:nvPr/>
        </p:nvSpPr>
        <p:spPr>
          <a:xfrm>
            <a:off x="9224867" y="4325112"/>
            <a:ext cx="164592" cy="73152"/>
          </a:xfrm>
          <a:prstGeom prst="roundRect">
            <a:avLst>
              <a:gd name="adj" fmla="val 37500"/>
            </a:avLst>
          </a:prstGeom>
          <a:solidFill>
            <a:schemeClr val="accent3"/>
          </a:solidFill>
          <a:ln/>
        </p:spPr>
      </p:sp>
      <p:sp>
        <p:nvSpPr>
          <p:cNvPr id="38" name="Shape 36"/>
          <p:cNvSpPr/>
          <p:nvPr/>
        </p:nvSpPr>
        <p:spPr>
          <a:xfrm>
            <a:off x="9498997" y="4325112"/>
            <a:ext cx="164592" cy="73152"/>
          </a:xfrm>
          <a:prstGeom prst="roundRect">
            <a:avLst>
              <a:gd name="adj" fmla="val 37500"/>
            </a:avLst>
          </a:prstGeom>
          <a:solidFill>
            <a:schemeClr val="accent3"/>
          </a:solidFill>
          <a:ln/>
        </p:spPr>
      </p:sp>
      <p:sp>
        <p:nvSpPr>
          <p:cNvPr id="39" name="Shape 37"/>
          <p:cNvSpPr/>
          <p:nvPr/>
        </p:nvSpPr>
        <p:spPr>
          <a:xfrm>
            <a:off x="9773126" y="4325112"/>
            <a:ext cx="164592" cy="73152"/>
          </a:xfrm>
          <a:prstGeom prst="roundRect">
            <a:avLst>
              <a:gd name="adj" fmla="val 37500"/>
            </a:avLst>
          </a:prstGeom>
          <a:solidFill>
            <a:schemeClr val="accent3"/>
          </a:solidFill>
          <a:ln/>
        </p:spPr>
      </p:sp>
      <p:sp>
        <p:nvSpPr>
          <p:cNvPr id="40" name="Shape 38"/>
          <p:cNvSpPr/>
          <p:nvPr/>
        </p:nvSpPr>
        <p:spPr>
          <a:xfrm>
            <a:off x="10047256" y="4325112"/>
            <a:ext cx="164592" cy="73152"/>
          </a:xfrm>
          <a:prstGeom prst="roundRect">
            <a:avLst>
              <a:gd name="adj" fmla="val 37500"/>
            </a:avLst>
          </a:prstGeom>
          <a:solidFill>
            <a:schemeClr val="accent3"/>
          </a:solidFill>
          <a:ln/>
        </p:spPr>
      </p:sp>
      <p:sp>
        <p:nvSpPr>
          <p:cNvPr id="41" name="Shape 39"/>
          <p:cNvSpPr/>
          <p:nvPr/>
        </p:nvSpPr>
        <p:spPr>
          <a:xfrm>
            <a:off x="10321385" y="4325112"/>
            <a:ext cx="164592" cy="73152"/>
          </a:xfrm>
          <a:prstGeom prst="roundRect">
            <a:avLst>
              <a:gd name="adj" fmla="val 37500"/>
            </a:avLst>
          </a:prstGeom>
          <a:solidFill>
            <a:schemeClr val="accent3"/>
          </a:solidFill>
          <a:ln/>
        </p:spPr>
      </p:sp>
      <p:sp>
        <p:nvSpPr>
          <p:cNvPr id="42" name="Shape 40"/>
          <p:cNvSpPr/>
          <p:nvPr/>
        </p:nvSpPr>
        <p:spPr>
          <a:xfrm>
            <a:off x="7178040" y="4389120"/>
            <a:ext cx="3435858" cy="548640"/>
          </a:xfrm>
          <a:prstGeom prst="roundRect">
            <a:avLst>
              <a:gd name="adj" fmla="val 8333"/>
            </a:avLst>
          </a:prstGeom>
          <a:solidFill>
            <a:schemeClr val="accent3"/>
          </a:solidFill>
          <a:ln/>
        </p:spPr>
      </p:sp>
      <p:sp>
        <p:nvSpPr>
          <p:cNvPr id="43" name="Shape 41"/>
          <p:cNvSpPr/>
          <p:nvPr/>
        </p:nvSpPr>
        <p:spPr>
          <a:xfrm>
            <a:off x="7205472" y="4864608"/>
            <a:ext cx="3380994" cy="73152"/>
          </a:xfrm>
          <a:prstGeom prst="rect">
            <a:avLst/>
          </a:prstGeom>
          <a:solidFill>
            <a:srgbClr val="1F4E9E"/>
          </a:solidFill>
          <a:ln/>
        </p:spPr>
      </p:sp>
      <p:sp>
        <p:nvSpPr>
          <p:cNvPr id="44" name="Caída"/>
          <p:cNvSpPr/>
          <p:nvPr/>
        </p:nvSpPr>
        <p:spPr>
          <a:xfrm>
            <a:off x="10650474" y="4389120"/>
            <a:ext cx="642366" cy="548640"/>
          </a:xfrm>
          <a:prstGeom prst="rect">
            <a:avLst/>
          </a:prstGeom>
          <a:solidFill>
            <a:schemeClr val="bg1"/>
          </a:solidFill>
          <a:ln w="19050">
            <a:solidFill>
              <a:schemeClr val="accent1"/>
            </a:solidFill>
            <a:prstDash val="dash"/>
          </a:ln>
        </p:spPr>
      </p:sp>
      <p:sp>
        <p:nvSpPr>
          <p:cNvPr id="45" name="Text 43"/>
          <p:cNvSpPr txBox="1"/>
          <p:nvPr/>
        </p:nvSpPr>
        <p:spPr>
          <a:xfrm>
            <a:off x="10613898" y="4389120"/>
            <a:ext cx="678942" cy="548640"/>
          </a:xfrm>
          <a:prstGeom prst="rect">
            <a:avLst/>
          </a:prstGeom>
          <a:noFill/>
          <a:ln/>
        </p:spPr>
        <p:txBody>
          <a:bodyPr wrap="square" lIns="0" tIns="0" rIns="0" bIns="0" rtlCol="0" anchor="ctr"/>
          <a:lstStyle/>
          <a:p>
            <a:pPr algn="ctr" indent="0" marL="0">
              <a:buNone/>
            </a:pPr>
            <a:r>
              <a:rPr lang="en-US" sz="1200" b="1" dirty="0">
                <a:solidFill>
                  <a:schemeClr val="accent1"/>
                </a:solidFill>
              </a:rPr>
              <a:t>−16,5%</a:t>
            </a:r>
            <a:endParaRPr lang="en-US" sz="1200" dirty="0"/>
          </a:p>
        </p:txBody>
      </p:sp>
      <p:sp>
        <p:nvSpPr>
          <p:cNvPr id="46" name="Text 44"/>
          <p:cNvSpPr txBox="1"/>
          <p:nvPr/>
        </p:nvSpPr>
        <p:spPr>
          <a:xfrm>
            <a:off x="7178040" y="5212080"/>
            <a:ext cx="4114800" cy="274320"/>
          </a:xfrm>
          <a:prstGeom prst="rect">
            <a:avLst/>
          </a:prstGeom>
          <a:noFill/>
          <a:ln/>
        </p:spPr>
        <p:txBody>
          <a:bodyPr wrap="square" lIns="0" tIns="0" rIns="0" bIns="0" rtlCol="0" anchor="ctr"/>
          <a:lstStyle/>
          <a:p>
            <a:pPr indent="0" marL="0">
              <a:buNone/>
            </a:pPr>
            <a:r>
              <a:rPr lang="en-US" sz="1100" i="1" dirty="0">
                <a:solidFill>
                  <a:schemeClr val="accent5"/>
                </a:solidFill>
              </a:rPr>
              <a:t>Índice, 2023 = 100. Ladrillos a escala.</a:t>
            </a:r>
            <a:endParaRPr lang="en-US" sz="1100" dirty="0"/>
          </a:p>
        </p:txBody>
      </p:sp>
      <p:sp>
        <p:nvSpPr>
          <p:cNvPr id="47"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Equilibra, citado por Infobae (22 de julio de 2026). Ingreso disponible = ingresos menos gastos fijos de los hogares.</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2 DE 4 · CRÉDITO</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El crédito tapó el agujero</a:t>
            </a:r>
            <a:endParaRPr lang="en-US" sz="3200" dirty="0"/>
          </a:p>
        </p:txBody>
      </p:sp>
      <p:sp>
        <p:nvSpPr>
          <p:cNvPr id="4" name="Paso 2"/>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2</a:t>
            </a:r>
            <a:endParaRPr lang="en-US" sz="2600" dirty="0"/>
          </a:p>
        </p:txBody>
      </p:sp>
      <p:sp>
        <p:nvSpPr>
          <p:cNvPr id="6" name="Panel gráfico"/>
          <p:cNvSpPr/>
          <p:nvPr/>
        </p:nvSpPr>
        <p:spPr>
          <a:xfrm>
            <a:off x="548640" y="1783080"/>
            <a:ext cx="6858000" cy="4069080"/>
          </a:xfrm>
          <a:prstGeom prst="roundRect">
            <a:avLst>
              <a:gd name="adj" fmla="val 3596"/>
            </a:avLst>
          </a:prstGeom>
          <a:solidFill>
            <a:schemeClr val="bg1"/>
          </a:solidFill>
          <a:ln w="12700">
            <a:solidFill>
              <a:schemeClr val="accent6"/>
            </a:solidFill>
            <a:prstDash val="solid"/>
          </a:ln>
        </p:spPr>
      </p:sp>
      <p:graphicFrame>
        <p:nvGraphicFramePr>
          <p:cNvPr id="7" name="Chart 0" descr=""/>
          <p:cNvGraphicFramePr/>
          <p:nvPr/>
        </p:nvGraphicFramePr>
        <p:xfrm>
          <a:off x="731520" y="1920240"/>
          <a:ext cx="6492240" cy="3794760"/>
        </p:xfrm>
        <a:graphic xmlns:a="http://schemas.openxmlformats.org/drawingml/2006/main">
          <a:graphicData uri="http://schemas.openxmlformats.org/drawingml/2006/chart">
            <c:chart xmlns:c="http://schemas.openxmlformats.org/drawingml/2006/chart" r:id="rId1"/>
          </a:graphicData>
        </a:graphic>
      </p:graphicFrame>
      <p:sp>
        <p:nvSpPr>
          <p:cNvPr id="8" name="Panel lectura"/>
          <p:cNvSpPr/>
          <p:nvPr/>
        </p:nvSpPr>
        <p:spPr>
          <a:xfrm>
            <a:off x="7680960" y="1783080"/>
            <a:ext cx="3962095" cy="4069080"/>
          </a:xfrm>
          <a:prstGeom prst="roundRect">
            <a:avLst>
              <a:gd name="adj" fmla="val 3693"/>
            </a:avLst>
          </a:prstGeom>
          <a:solidFill>
            <a:schemeClr val="bg1"/>
          </a:solidFill>
          <a:ln w="12700">
            <a:solidFill>
              <a:schemeClr val="accent6"/>
            </a:solidFill>
            <a:prstDash val="solid"/>
          </a:ln>
        </p:spPr>
      </p:sp>
      <p:sp>
        <p:nvSpPr>
          <p:cNvPr id="9" name="Text 6"/>
          <p:cNvSpPr txBox="1"/>
          <p:nvPr/>
        </p:nvSpPr>
        <p:spPr>
          <a:xfrm>
            <a:off x="7955280" y="2057400"/>
            <a:ext cx="3413455" cy="1737360"/>
          </a:xfrm>
          <a:prstGeom prst="rect">
            <a:avLst/>
          </a:prstGeom>
          <a:noFill/>
          <a:ln/>
        </p:spPr>
        <p:txBody>
          <a:bodyPr wrap="square" lIns="0" tIns="0" rIns="0" bIns="0" rtlCol="0" anchor="t"/>
          <a:lstStyle/>
          <a:p>
            <a:pPr indent="0" marL="0">
              <a:buNone/>
            </a:pPr>
            <a:r>
              <a:rPr lang="en-US" sz="1700" dirty="0">
                <a:solidFill>
                  <a:schemeClr val="tx2"/>
                </a:solidFill>
              </a:rPr>
              <a:t>En 2024 el crédito a las familias creció </a:t>
            </a:r>
            <a:pPr indent="0" marL="0">
              <a:buNone/>
            </a:pPr>
            <a:r>
              <a:rPr lang="en-US" sz="1700" b="1" dirty="0">
                <a:solidFill>
                  <a:schemeClr val="tx1"/>
                </a:solidFill>
              </a:rPr>
              <a:t>58%</a:t>
            </a:r>
            <a:pPr indent="0" marL="0">
              <a:buNone/>
            </a:pPr>
            <a:r>
              <a:rPr lang="en-US" sz="1700" dirty="0">
                <a:solidFill>
                  <a:schemeClr val="tx2"/>
                </a:solidFill>
              </a:rPr>
              <a:t> por encima de la inflación. Los préstamos personales, </a:t>
            </a:r>
            <a:pPr indent="0" marL="0">
              <a:buNone/>
            </a:pPr>
            <a:r>
              <a:rPr lang="en-US" sz="1700" b="1" dirty="0">
                <a:solidFill>
                  <a:schemeClr val="tx1"/>
                </a:solidFill>
              </a:rPr>
              <a:t>134%</a:t>
            </a:r>
            <a:pPr indent="0" marL="0">
              <a:buNone/>
            </a:pPr>
            <a:r>
              <a:rPr lang="en-US" sz="1700" dirty="0">
                <a:solidFill>
                  <a:schemeClr val="tx2"/>
                </a:solidFill>
              </a:rPr>
              <a:t>. En 2025 siguió creciendo, más despacio.</a:t>
            </a:r>
            <a:endParaRPr lang="en-US" sz="1700" dirty="0"/>
          </a:p>
        </p:txBody>
      </p:sp>
      <p:sp>
        <p:nvSpPr>
          <p:cNvPr id="10" name="Ejemplo"/>
          <p:cNvSpPr/>
          <p:nvPr/>
        </p:nvSpPr>
        <p:spPr>
          <a:xfrm>
            <a:off x="7955280" y="3977640"/>
            <a:ext cx="3413455" cy="1600200"/>
          </a:xfrm>
          <a:prstGeom prst="roundRect">
            <a:avLst>
              <a:gd name="adj" fmla="val 5714"/>
            </a:avLst>
          </a:prstGeom>
          <a:solidFill>
            <a:schemeClr val="bg2"/>
          </a:solidFill>
          <a:ln/>
        </p:spPr>
      </p:sp>
      <p:sp>
        <p:nvSpPr>
          <p:cNvPr id="11" name="Text 8"/>
          <p:cNvSpPr txBox="1"/>
          <p:nvPr/>
        </p:nvSpPr>
        <p:spPr>
          <a:xfrm>
            <a:off x="8138160" y="4087368"/>
            <a:ext cx="3047695" cy="1380744"/>
          </a:xfrm>
          <a:prstGeom prst="rect">
            <a:avLst/>
          </a:prstGeom>
          <a:noFill/>
          <a:ln/>
        </p:spPr>
        <p:txBody>
          <a:bodyPr wrap="square" lIns="0" tIns="0" rIns="0" bIns="0" rtlCol="0" anchor="ctr"/>
          <a:lstStyle/>
          <a:p>
            <a:pPr indent="0" marL="0">
              <a:buNone/>
            </a:pPr>
            <a:r>
              <a:rPr lang="en-US" sz="1500" b="1" dirty="0">
                <a:solidFill>
                  <a:schemeClr val="tx1"/>
                </a:solidFill>
              </a:rPr>
              <a:t>Como pagar el súper con tarjeta: </a:t>
            </a:r>
            <a:pPr indent="0" marL="0">
              <a:buNone/>
            </a:pPr>
            <a:r>
              <a:rPr lang="en-US" sz="1500" dirty="0">
                <a:solidFill>
                  <a:schemeClr val="tx2"/>
                </a:solidFill>
              </a:rPr>
              <a:t>resuelve este mes, pero le suma una cuota al que viene.</a:t>
            </a:r>
            <a:endParaRPr lang="en-US" sz="1500" dirty="0"/>
          </a:p>
        </p:txBody>
      </p:sp>
      <p:sp>
        <p:nvSpPr>
          <p:cNvPr id="12"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First Capital Group en base a BCRA e INDEC. Variación real, diciembre contra diciembre.</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3 DE 4 · TASAS</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La deuda se volvió cara de golpe</a:t>
            </a:r>
            <a:endParaRPr lang="en-US" sz="3200" dirty="0"/>
          </a:p>
        </p:txBody>
      </p:sp>
      <p:sp>
        <p:nvSpPr>
          <p:cNvPr id="4" name="Paso 3"/>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3</a:t>
            </a:r>
            <a:endParaRPr lang="en-US" sz="2600" dirty="0"/>
          </a:p>
        </p:txBody>
      </p:sp>
      <p:sp>
        <p:nvSpPr>
          <p:cNvPr id="6" name="Panel gráfico"/>
          <p:cNvSpPr/>
          <p:nvPr/>
        </p:nvSpPr>
        <p:spPr>
          <a:xfrm>
            <a:off x="548640" y="1783080"/>
            <a:ext cx="7086600" cy="4069080"/>
          </a:xfrm>
          <a:prstGeom prst="roundRect">
            <a:avLst>
              <a:gd name="adj" fmla="val 3596"/>
            </a:avLst>
          </a:prstGeom>
          <a:solidFill>
            <a:schemeClr val="bg1"/>
          </a:solidFill>
          <a:ln w="12700">
            <a:solidFill>
              <a:schemeClr val="accent6"/>
            </a:solidFill>
            <a:prstDash val="solid"/>
          </a:ln>
        </p:spPr>
      </p:sp>
      <p:sp>
        <p:nvSpPr>
          <p:cNvPr id="7" name="Text 5"/>
          <p:cNvSpPr txBox="1"/>
          <p:nvPr/>
        </p:nvSpPr>
        <p:spPr>
          <a:xfrm>
            <a:off x="822960" y="1901952"/>
            <a:ext cx="6583680" cy="274320"/>
          </a:xfrm>
          <a:prstGeom prst="rect">
            <a:avLst/>
          </a:prstGeom>
          <a:noFill/>
          <a:ln/>
        </p:spPr>
        <p:txBody>
          <a:bodyPr wrap="square" lIns="0" tIns="0" rIns="0" bIns="0" rtlCol="0" anchor="ctr"/>
          <a:lstStyle/>
          <a:p>
            <a:pPr indent="0" marL="0">
              <a:buNone/>
            </a:pPr>
            <a:r>
              <a:rPr lang="en-US" sz="1400" b="1" dirty="0">
                <a:solidFill>
                  <a:schemeClr val="tx1"/>
                </a:solidFill>
              </a:rPr>
              <a:t>Tasa BADLAR real (por encima de la inflación), % anual</a:t>
            </a:r>
            <a:endParaRPr lang="en-US" sz="1400" dirty="0"/>
          </a:p>
        </p:txBody>
      </p:sp>
      <p:sp>
        <p:nvSpPr>
          <p:cNvPr id="8" name="Período tasas altas"/>
          <p:cNvSpPr/>
          <p:nvPr/>
        </p:nvSpPr>
        <p:spPr>
          <a:xfrm>
            <a:off x="3084440" y="2487168"/>
            <a:ext cx="1046940" cy="2706624"/>
          </a:xfrm>
          <a:prstGeom prst="rect">
            <a:avLst/>
          </a:prstGeom>
          <a:solidFill>
            <a:srgbClr val="FBE7E5"/>
          </a:solidFill>
          <a:ln/>
        </p:spPr>
      </p:sp>
      <p:graphicFrame>
        <p:nvGraphicFramePr>
          <p:cNvPr id="9" name="Chart 0" descr=""/>
          <p:cNvGraphicFramePr/>
          <p:nvPr/>
        </p:nvGraphicFramePr>
        <p:xfrm>
          <a:off x="685800" y="2148840"/>
          <a:ext cx="6812280" cy="3383280"/>
        </p:xfrm>
        <a:graphic xmlns:a="http://schemas.openxmlformats.org/drawingml/2006/main">
          <a:graphicData uri="http://schemas.openxmlformats.org/drawingml/2006/chart">
            <c:chart xmlns:c="http://schemas.openxmlformats.org/drawingml/2006/chart" r:id="rId1"/>
          </a:graphicData>
        </a:graphic>
      </p:graphicFrame>
      <p:sp>
        <p:nvSpPr>
          <p:cNvPr id="10" name="Eje x ene-25"/>
          <p:cNvSpPr txBox="1"/>
          <p:nvPr/>
        </p:nvSpPr>
        <p:spPr>
          <a:xfrm>
            <a:off x="94031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ene-25</a:t>
            </a:r>
            <a:endParaRPr lang="en-US" sz="1100" dirty="0"/>
          </a:p>
        </p:txBody>
      </p:sp>
      <p:sp>
        <p:nvSpPr>
          <p:cNvPr id="11" name="Eje x mar-25"/>
          <p:cNvSpPr txBox="1"/>
          <p:nvPr/>
        </p:nvSpPr>
        <p:spPr>
          <a:xfrm>
            <a:off x="1542665"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mar-25</a:t>
            </a:r>
            <a:endParaRPr lang="en-US" sz="1100" dirty="0"/>
          </a:p>
        </p:txBody>
      </p:sp>
      <p:sp>
        <p:nvSpPr>
          <p:cNvPr id="12" name="Eje x may-25"/>
          <p:cNvSpPr txBox="1"/>
          <p:nvPr/>
        </p:nvSpPr>
        <p:spPr>
          <a:xfrm>
            <a:off x="207330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may-25</a:t>
            </a:r>
            <a:endParaRPr lang="en-US" sz="1100" dirty="0"/>
          </a:p>
        </p:txBody>
      </p:sp>
      <p:sp>
        <p:nvSpPr>
          <p:cNvPr id="13" name="Eje x jul-25"/>
          <p:cNvSpPr txBox="1"/>
          <p:nvPr/>
        </p:nvSpPr>
        <p:spPr>
          <a:xfrm>
            <a:off x="263263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jul-25</a:t>
            </a:r>
            <a:endParaRPr lang="en-US" sz="1100" dirty="0"/>
          </a:p>
        </p:txBody>
      </p:sp>
      <p:sp>
        <p:nvSpPr>
          <p:cNvPr id="14" name="Eje x sep-25"/>
          <p:cNvSpPr txBox="1"/>
          <p:nvPr/>
        </p:nvSpPr>
        <p:spPr>
          <a:xfrm>
            <a:off x="3234979"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sep-25</a:t>
            </a:r>
            <a:endParaRPr lang="en-US" sz="1100" dirty="0"/>
          </a:p>
        </p:txBody>
      </p:sp>
      <p:sp>
        <p:nvSpPr>
          <p:cNvPr id="15" name="Eje x nov-25"/>
          <p:cNvSpPr txBox="1"/>
          <p:nvPr/>
        </p:nvSpPr>
        <p:spPr>
          <a:xfrm>
            <a:off x="3866011"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nov-25</a:t>
            </a:r>
            <a:endParaRPr lang="en-US" sz="1100" dirty="0"/>
          </a:p>
        </p:txBody>
      </p:sp>
      <p:sp>
        <p:nvSpPr>
          <p:cNvPr id="16" name="Eje x ene-26"/>
          <p:cNvSpPr txBox="1"/>
          <p:nvPr/>
        </p:nvSpPr>
        <p:spPr>
          <a:xfrm>
            <a:off x="438231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ene-26</a:t>
            </a:r>
            <a:endParaRPr lang="en-US" sz="1100" dirty="0"/>
          </a:p>
        </p:txBody>
      </p:sp>
      <p:sp>
        <p:nvSpPr>
          <p:cNvPr id="17" name="Eje x mar-26"/>
          <p:cNvSpPr txBox="1"/>
          <p:nvPr/>
        </p:nvSpPr>
        <p:spPr>
          <a:xfrm>
            <a:off x="4941634"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mar-26</a:t>
            </a:r>
            <a:endParaRPr lang="en-US" sz="1100" dirty="0"/>
          </a:p>
        </p:txBody>
      </p:sp>
      <p:sp>
        <p:nvSpPr>
          <p:cNvPr id="18" name="Eje x may-26"/>
          <p:cNvSpPr txBox="1"/>
          <p:nvPr/>
        </p:nvSpPr>
        <p:spPr>
          <a:xfrm>
            <a:off x="551530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may-26</a:t>
            </a:r>
            <a:endParaRPr lang="en-US" sz="1100" dirty="0"/>
          </a:p>
        </p:txBody>
      </p:sp>
      <p:sp>
        <p:nvSpPr>
          <p:cNvPr id="19" name="Eje x jul-26"/>
          <p:cNvSpPr txBox="1"/>
          <p:nvPr/>
        </p:nvSpPr>
        <p:spPr>
          <a:xfrm>
            <a:off x="608896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jul-26</a:t>
            </a:r>
            <a:endParaRPr lang="en-US" sz="1100" dirty="0"/>
          </a:p>
        </p:txBody>
      </p:sp>
      <p:sp>
        <p:nvSpPr>
          <p:cNvPr id="20" name="Eje x sep-26"/>
          <p:cNvSpPr txBox="1"/>
          <p:nvPr/>
        </p:nvSpPr>
        <p:spPr>
          <a:xfrm>
            <a:off x="6676973"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sep-26</a:t>
            </a:r>
            <a:endParaRPr lang="en-US" sz="1100" dirty="0"/>
          </a:p>
        </p:txBody>
      </p:sp>
      <p:sp>
        <p:nvSpPr>
          <p:cNvPr id="21" name="Evento 1"/>
          <p:cNvSpPr/>
          <p:nvPr/>
        </p:nvSpPr>
        <p:spPr>
          <a:xfrm>
            <a:off x="2266966" y="2670048"/>
            <a:ext cx="0" cy="2523744"/>
          </a:xfrm>
          <a:prstGeom prst="line">
            <a:avLst/>
          </a:prstGeom>
          <a:noFill/>
          <a:ln w="12700">
            <a:solidFill>
              <a:srgbClr val="1D1F24"/>
            </a:solidFill>
            <a:prstDash val="dash"/>
          </a:ln>
        </p:spPr>
      </p:sp>
      <p:sp>
        <p:nvSpPr>
          <p:cNvPr id="22" name="Shape 19"/>
          <p:cNvSpPr/>
          <p:nvPr/>
        </p:nvSpPr>
        <p:spPr>
          <a:xfrm>
            <a:off x="2138950" y="2395728"/>
            <a:ext cx="256032" cy="256032"/>
          </a:xfrm>
          <a:prstGeom prst="ellipse">
            <a:avLst/>
          </a:prstGeom>
          <a:solidFill>
            <a:schemeClr val="bg1"/>
          </a:solidFill>
          <a:ln w="19050">
            <a:solidFill>
              <a:schemeClr val="tx1"/>
            </a:solidFill>
            <a:prstDash val="solid"/>
          </a:ln>
        </p:spPr>
      </p:sp>
      <p:sp>
        <p:nvSpPr>
          <p:cNvPr id="23" name="Text 20"/>
          <p:cNvSpPr txBox="1"/>
          <p:nvPr/>
        </p:nvSpPr>
        <p:spPr>
          <a:xfrm>
            <a:off x="2138950"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1</a:t>
            </a:r>
            <a:endParaRPr lang="en-US" sz="1000" dirty="0"/>
          </a:p>
        </p:txBody>
      </p:sp>
      <p:sp>
        <p:nvSpPr>
          <p:cNvPr id="24" name="Evento 2"/>
          <p:cNvSpPr/>
          <p:nvPr/>
        </p:nvSpPr>
        <p:spPr>
          <a:xfrm>
            <a:off x="3084440" y="2670048"/>
            <a:ext cx="0" cy="2523744"/>
          </a:xfrm>
          <a:prstGeom prst="line">
            <a:avLst/>
          </a:prstGeom>
          <a:noFill/>
          <a:ln w="12700">
            <a:solidFill>
              <a:srgbClr val="1D1F24"/>
            </a:solidFill>
            <a:prstDash val="dash"/>
          </a:ln>
        </p:spPr>
      </p:sp>
      <p:sp>
        <p:nvSpPr>
          <p:cNvPr id="25" name="Shape 22"/>
          <p:cNvSpPr/>
          <p:nvPr/>
        </p:nvSpPr>
        <p:spPr>
          <a:xfrm>
            <a:off x="2956424" y="2395728"/>
            <a:ext cx="256032" cy="256032"/>
          </a:xfrm>
          <a:prstGeom prst="ellipse">
            <a:avLst/>
          </a:prstGeom>
          <a:solidFill>
            <a:schemeClr val="bg1"/>
          </a:solidFill>
          <a:ln w="19050">
            <a:solidFill>
              <a:schemeClr val="tx1"/>
            </a:solidFill>
            <a:prstDash val="solid"/>
          </a:ln>
        </p:spPr>
      </p:sp>
      <p:sp>
        <p:nvSpPr>
          <p:cNvPr id="26" name="Text 23"/>
          <p:cNvSpPr txBox="1"/>
          <p:nvPr/>
        </p:nvSpPr>
        <p:spPr>
          <a:xfrm>
            <a:off x="2956424"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2</a:t>
            </a:r>
            <a:endParaRPr lang="en-US" sz="1000" dirty="0"/>
          </a:p>
        </p:txBody>
      </p:sp>
      <p:sp>
        <p:nvSpPr>
          <p:cNvPr id="27" name="Evento 3"/>
          <p:cNvSpPr/>
          <p:nvPr/>
        </p:nvSpPr>
        <p:spPr>
          <a:xfrm>
            <a:off x="3672447" y="2670048"/>
            <a:ext cx="0" cy="2523744"/>
          </a:xfrm>
          <a:prstGeom prst="line">
            <a:avLst/>
          </a:prstGeom>
          <a:noFill/>
          <a:ln w="12700">
            <a:solidFill>
              <a:srgbClr val="1D1F24"/>
            </a:solidFill>
            <a:prstDash val="dash"/>
          </a:ln>
        </p:spPr>
      </p:sp>
      <p:sp>
        <p:nvSpPr>
          <p:cNvPr id="28" name="Shape 25"/>
          <p:cNvSpPr/>
          <p:nvPr/>
        </p:nvSpPr>
        <p:spPr>
          <a:xfrm>
            <a:off x="3544431" y="2395728"/>
            <a:ext cx="256032" cy="256032"/>
          </a:xfrm>
          <a:prstGeom prst="ellipse">
            <a:avLst/>
          </a:prstGeom>
          <a:solidFill>
            <a:schemeClr val="bg1"/>
          </a:solidFill>
          <a:ln w="19050">
            <a:solidFill>
              <a:schemeClr val="tx1"/>
            </a:solidFill>
            <a:prstDash val="solid"/>
          </a:ln>
        </p:spPr>
      </p:sp>
      <p:sp>
        <p:nvSpPr>
          <p:cNvPr id="29" name="Text 26"/>
          <p:cNvSpPr txBox="1"/>
          <p:nvPr/>
        </p:nvSpPr>
        <p:spPr>
          <a:xfrm>
            <a:off x="3544431"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3</a:t>
            </a:r>
            <a:endParaRPr lang="en-US" sz="1000" dirty="0"/>
          </a:p>
        </p:txBody>
      </p:sp>
      <p:sp>
        <p:nvSpPr>
          <p:cNvPr id="30" name="Evento 4"/>
          <p:cNvSpPr/>
          <p:nvPr/>
        </p:nvSpPr>
        <p:spPr>
          <a:xfrm>
            <a:off x="4131380" y="2670048"/>
            <a:ext cx="0" cy="2523744"/>
          </a:xfrm>
          <a:prstGeom prst="line">
            <a:avLst/>
          </a:prstGeom>
          <a:noFill/>
          <a:ln w="12700">
            <a:solidFill>
              <a:srgbClr val="1D1F24"/>
            </a:solidFill>
            <a:prstDash val="dash"/>
          </a:ln>
        </p:spPr>
      </p:sp>
      <p:sp>
        <p:nvSpPr>
          <p:cNvPr id="31" name="Shape 28"/>
          <p:cNvSpPr/>
          <p:nvPr/>
        </p:nvSpPr>
        <p:spPr>
          <a:xfrm>
            <a:off x="4003364" y="2395728"/>
            <a:ext cx="256032" cy="256032"/>
          </a:xfrm>
          <a:prstGeom prst="ellipse">
            <a:avLst/>
          </a:prstGeom>
          <a:solidFill>
            <a:schemeClr val="bg1"/>
          </a:solidFill>
          <a:ln w="19050">
            <a:solidFill>
              <a:schemeClr val="tx1"/>
            </a:solidFill>
            <a:prstDash val="solid"/>
          </a:ln>
        </p:spPr>
      </p:sp>
      <p:sp>
        <p:nvSpPr>
          <p:cNvPr id="32" name="Text 29"/>
          <p:cNvSpPr txBox="1"/>
          <p:nvPr/>
        </p:nvSpPr>
        <p:spPr>
          <a:xfrm>
            <a:off x="4003364"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4</a:t>
            </a:r>
            <a:endParaRPr lang="en-US" sz="1000" dirty="0"/>
          </a:p>
        </p:txBody>
      </p:sp>
      <p:sp>
        <p:nvSpPr>
          <p:cNvPr id="33" name="Panel hitos"/>
          <p:cNvSpPr/>
          <p:nvPr/>
        </p:nvSpPr>
        <p:spPr>
          <a:xfrm>
            <a:off x="7909560" y="1783080"/>
            <a:ext cx="3733495" cy="4069080"/>
          </a:xfrm>
          <a:prstGeom prst="roundRect">
            <a:avLst>
              <a:gd name="adj" fmla="val 3919"/>
            </a:avLst>
          </a:prstGeom>
          <a:solidFill>
            <a:schemeClr val="bg1"/>
          </a:solidFill>
          <a:ln w="12700">
            <a:solidFill>
              <a:schemeClr val="accent6"/>
            </a:solidFill>
            <a:prstDash val="solid"/>
          </a:ln>
        </p:spPr>
      </p:sp>
      <p:sp>
        <p:nvSpPr>
          <p:cNvPr id="34" name="Text 31"/>
          <p:cNvSpPr txBox="1"/>
          <p:nvPr/>
        </p:nvSpPr>
        <p:spPr>
          <a:xfrm>
            <a:off x="8183880" y="1965960"/>
            <a:ext cx="3184855" cy="320040"/>
          </a:xfrm>
          <a:prstGeom prst="rect">
            <a:avLst/>
          </a:prstGeom>
          <a:noFill/>
          <a:ln/>
        </p:spPr>
        <p:txBody>
          <a:bodyPr wrap="square" lIns="0" tIns="0" rIns="0" bIns="0" rtlCol="0" anchor="ctr"/>
          <a:lstStyle/>
          <a:p>
            <a:pPr indent="0" marL="0">
              <a:buNone/>
            </a:pPr>
            <a:r>
              <a:rPr lang="en-US" sz="1500" b="1" dirty="0">
                <a:solidFill>
                  <a:schemeClr val="tx1"/>
                </a:solidFill>
              </a:rPr>
              <a:t>2025, mes a mes</a:t>
            </a:r>
            <a:endParaRPr lang="en-US" sz="1500" dirty="0"/>
          </a:p>
        </p:txBody>
      </p:sp>
      <p:sp>
        <p:nvSpPr>
          <p:cNvPr id="35" name="Shape 32"/>
          <p:cNvSpPr/>
          <p:nvPr/>
        </p:nvSpPr>
        <p:spPr>
          <a:xfrm>
            <a:off x="8183880" y="2377440"/>
            <a:ext cx="274320" cy="274320"/>
          </a:xfrm>
          <a:prstGeom prst="ellipse">
            <a:avLst/>
          </a:prstGeom>
          <a:solidFill>
            <a:schemeClr val="bg1"/>
          </a:solidFill>
          <a:ln w="19050">
            <a:solidFill>
              <a:schemeClr val="tx1"/>
            </a:solidFill>
            <a:prstDash val="solid"/>
          </a:ln>
        </p:spPr>
      </p:sp>
      <p:sp>
        <p:nvSpPr>
          <p:cNvPr id="36" name="Text 33"/>
          <p:cNvSpPr txBox="1"/>
          <p:nvPr/>
        </p:nvSpPr>
        <p:spPr>
          <a:xfrm>
            <a:off x="8183880" y="23774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7" name="Text 34"/>
          <p:cNvSpPr txBox="1"/>
          <p:nvPr/>
        </p:nvSpPr>
        <p:spPr>
          <a:xfrm>
            <a:off x="8595360" y="2340864"/>
            <a:ext cx="2819095" cy="512064"/>
          </a:xfrm>
          <a:prstGeom prst="rect">
            <a:avLst/>
          </a:prstGeom>
          <a:noFill/>
          <a:ln/>
        </p:spPr>
        <p:txBody>
          <a:bodyPr wrap="square" lIns="0" tIns="0" rIns="0" bIns="0" rtlCol="0" anchor="t"/>
          <a:lstStyle/>
          <a:p>
            <a:pPr indent="0" marL="0">
              <a:buNone/>
            </a:pPr>
            <a:r>
              <a:rPr lang="en-US" sz="1300" b="1" dirty="0">
                <a:solidFill>
                  <a:schemeClr val="tx1"/>
                </a:solidFill>
              </a:rPr>
              <a:t>Abril. </a:t>
            </a:r>
            <a:pPr indent="0" marL="0">
              <a:buNone/>
            </a:pPr>
            <a:r>
              <a:rPr lang="en-US" sz="1300" dirty="0">
                <a:solidFill>
                  <a:schemeClr val="tx2"/>
                </a:solidFill>
              </a:rPr>
              <a:t>Acuerdo con el FMI y salida del cepo.</a:t>
            </a:r>
            <a:endParaRPr lang="en-US" sz="1300" dirty="0"/>
          </a:p>
        </p:txBody>
      </p:sp>
      <p:sp>
        <p:nvSpPr>
          <p:cNvPr id="38" name="Shape 35"/>
          <p:cNvSpPr/>
          <p:nvPr/>
        </p:nvSpPr>
        <p:spPr>
          <a:xfrm>
            <a:off x="8183880" y="2999232"/>
            <a:ext cx="274320" cy="274320"/>
          </a:xfrm>
          <a:prstGeom prst="ellipse">
            <a:avLst/>
          </a:prstGeom>
          <a:solidFill>
            <a:schemeClr val="bg1"/>
          </a:solidFill>
          <a:ln w="19050">
            <a:solidFill>
              <a:schemeClr val="tx1"/>
            </a:solidFill>
            <a:prstDash val="solid"/>
          </a:ln>
        </p:spPr>
      </p:sp>
      <p:sp>
        <p:nvSpPr>
          <p:cNvPr id="39" name="Text 36"/>
          <p:cNvSpPr txBox="1"/>
          <p:nvPr/>
        </p:nvSpPr>
        <p:spPr>
          <a:xfrm>
            <a:off x="8183880" y="299923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40" name="Text 37"/>
          <p:cNvSpPr txBox="1"/>
          <p:nvPr/>
        </p:nvSpPr>
        <p:spPr>
          <a:xfrm>
            <a:off x="8595360" y="2962656"/>
            <a:ext cx="2819095" cy="512064"/>
          </a:xfrm>
          <a:prstGeom prst="rect">
            <a:avLst/>
          </a:prstGeom>
          <a:noFill/>
          <a:ln/>
        </p:spPr>
        <p:txBody>
          <a:bodyPr wrap="square" lIns="0" tIns="0" rIns="0" bIns="0" rtlCol="0" anchor="t"/>
          <a:lstStyle/>
          <a:p>
            <a:pPr indent="0" marL="0">
              <a:buNone/>
            </a:pPr>
            <a:r>
              <a:rPr lang="en-US" sz="1300" b="1" dirty="0">
                <a:solidFill>
                  <a:schemeClr val="tx1"/>
                </a:solidFill>
              </a:rPr>
              <a:t>Julio. </a:t>
            </a:r>
            <a:pPr indent="0" marL="0">
              <a:buNone/>
            </a:pPr>
            <a:r>
              <a:rPr lang="en-US" sz="1300" dirty="0">
                <a:solidFill>
                  <a:schemeClr val="tx2"/>
                </a:solidFill>
              </a:rPr>
              <a:t>Fin de las LEFIs: el Gobierno deja de fijar la tasa.</a:t>
            </a:r>
            <a:endParaRPr lang="en-US" sz="1300" dirty="0"/>
          </a:p>
        </p:txBody>
      </p:sp>
      <p:sp>
        <p:nvSpPr>
          <p:cNvPr id="41" name="Shape 38"/>
          <p:cNvSpPr/>
          <p:nvPr/>
        </p:nvSpPr>
        <p:spPr>
          <a:xfrm>
            <a:off x="8183880" y="3621024"/>
            <a:ext cx="274320" cy="274320"/>
          </a:xfrm>
          <a:prstGeom prst="ellipse">
            <a:avLst/>
          </a:prstGeom>
          <a:solidFill>
            <a:schemeClr val="bg1"/>
          </a:solidFill>
          <a:ln w="19050">
            <a:solidFill>
              <a:schemeClr val="tx1"/>
            </a:solidFill>
            <a:prstDash val="solid"/>
          </a:ln>
        </p:spPr>
      </p:sp>
      <p:sp>
        <p:nvSpPr>
          <p:cNvPr id="42" name="Text 39"/>
          <p:cNvSpPr txBox="1"/>
          <p:nvPr/>
        </p:nvSpPr>
        <p:spPr>
          <a:xfrm>
            <a:off x="8183880" y="3621024"/>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43" name="Text 40"/>
          <p:cNvSpPr txBox="1"/>
          <p:nvPr/>
        </p:nvSpPr>
        <p:spPr>
          <a:xfrm>
            <a:off x="8595360" y="3584448"/>
            <a:ext cx="2819095" cy="512064"/>
          </a:xfrm>
          <a:prstGeom prst="rect">
            <a:avLst/>
          </a:prstGeom>
          <a:noFill/>
          <a:ln/>
        </p:spPr>
        <p:txBody>
          <a:bodyPr wrap="square" lIns="0" tIns="0" rIns="0" bIns="0" rtlCol="0" anchor="t"/>
          <a:lstStyle/>
          <a:p>
            <a:pPr indent="0" marL="0">
              <a:buNone/>
            </a:pPr>
            <a:r>
              <a:rPr lang="en-US" sz="1300" b="1" dirty="0">
                <a:solidFill>
                  <a:schemeClr val="tx1"/>
                </a:solidFill>
              </a:rPr>
              <a:t>Septiembre. </a:t>
            </a:r>
            <a:pPr indent="0" marL="0">
              <a:buNone/>
            </a:pPr>
            <a:r>
              <a:rPr lang="en-US" sz="1300" dirty="0">
                <a:solidFill>
                  <a:schemeClr val="tx2"/>
                </a:solidFill>
              </a:rPr>
              <a:t>Elecciones bonaerenses: tasa real de casi 40%.</a:t>
            </a:r>
            <a:endParaRPr lang="en-US" sz="1300" dirty="0"/>
          </a:p>
        </p:txBody>
      </p:sp>
      <p:sp>
        <p:nvSpPr>
          <p:cNvPr id="44" name="Shape 41"/>
          <p:cNvSpPr/>
          <p:nvPr/>
        </p:nvSpPr>
        <p:spPr>
          <a:xfrm>
            <a:off x="8183880" y="4242816"/>
            <a:ext cx="274320" cy="274320"/>
          </a:xfrm>
          <a:prstGeom prst="ellipse">
            <a:avLst/>
          </a:prstGeom>
          <a:solidFill>
            <a:schemeClr val="bg1"/>
          </a:solidFill>
          <a:ln w="19050">
            <a:solidFill>
              <a:schemeClr val="tx1"/>
            </a:solidFill>
            <a:prstDash val="solid"/>
          </a:ln>
        </p:spPr>
      </p:sp>
      <p:sp>
        <p:nvSpPr>
          <p:cNvPr id="45" name="Text 42"/>
          <p:cNvSpPr txBox="1"/>
          <p:nvPr/>
        </p:nvSpPr>
        <p:spPr>
          <a:xfrm>
            <a:off x="8183880" y="424281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46" name="Text 43"/>
          <p:cNvSpPr txBox="1"/>
          <p:nvPr/>
        </p:nvSpPr>
        <p:spPr>
          <a:xfrm>
            <a:off x="8595360" y="4206240"/>
            <a:ext cx="2819095" cy="512064"/>
          </a:xfrm>
          <a:prstGeom prst="rect">
            <a:avLst/>
          </a:prstGeom>
          <a:noFill/>
          <a:ln/>
        </p:spPr>
        <p:txBody>
          <a:bodyPr wrap="square" lIns="0" tIns="0" rIns="0" bIns="0" rtlCol="0" anchor="t"/>
          <a:lstStyle/>
          <a:p>
            <a:pPr indent="0" marL="0">
              <a:buNone/>
            </a:pPr>
            <a:r>
              <a:rPr lang="en-US" sz="1300" b="1" dirty="0">
                <a:solidFill>
                  <a:schemeClr val="tx1"/>
                </a:solidFill>
              </a:rPr>
              <a:t>Octubre. </a:t>
            </a:r>
            <a:pPr indent="0" marL="0">
              <a:buNone/>
            </a:pPr>
            <a:r>
              <a:rPr lang="en-US" sz="1300" dirty="0">
                <a:solidFill>
                  <a:schemeClr val="tx2"/>
                </a:solidFill>
              </a:rPr>
              <a:t>Swap con EE.UU. y legislativas: las tasas bajan.</a:t>
            </a:r>
            <a:endParaRPr lang="en-US" sz="1300" dirty="0"/>
          </a:p>
        </p:txBody>
      </p:sp>
      <p:sp>
        <p:nvSpPr>
          <p:cNvPr id="47" name="Ejemplo"/>
          <p:cNvSpPr/>
          <p:nvPr/>
        </p:nvSpPr>
        <p:spPr>
          <a:xfrm>
            <a:off x="8183880" y="4937760"/>
            <a:ext cx="3184855" cy="777240"/>
          </a:xfrm>
          <a:prstGeom prst="roundRect">
            <a:avLst>
              <a:gd name="adj" fmla="val 11765"/>
            </a:avLst>
          </a:prstGeom>
          <a:solidFill>
            <a:schemeClr val="bg2"/>
          </a:solidFill>
          <a:ln/>
        </p:spPr>
      </p:sp>
      <p:sp>
        <p:nvSpPr>
          <p:cNvPr id="48" name="Text 45"/>
          <p:cNvSpPr txBox="1"/>
          <p:nvPr/>
        </p:nvSpPr>
        <p:spPr>
          <a:xfrm>
            <a:off x="8366760" y="5047488"/>
            <a:ext cx="2819095" cy="557784"/>
          </a:xfrm>
          <a:prstGeom prst="rect">
            <a:avLst/>
          </a:prstGeom>
          <a:noFill/>
          <a:ln/>
        </p:spPr>
        <p:txBody>
          <a:bodyPr wrap="square" lIns="0" tIns="0" rIns="0" bIns="0" rtlCol="0" anchor="ctr"/>
          <a:lstStyle/>
          <a:p>
            <a:pPr indent="0" marL="0">
              <a:buNone/>
            </a:pPr>
            <a:r>
              <a:rPr lang="en-US" sz="1300" b="1" dirty="0">
                <a:solidFill>
                  <a:schemeClr val="tx1"/>
                </a:solidFill>
              </a:rPr>
              <a:t>Tasa real: </a:t>
            </a:r>
            <a:pPr indent="0" marL="0">
              <a:buNone/>
            </a:pPr>
            <a:r>
              <a:rPr lang="en-US" sz="1300" dirty="0">
                <a:solidFill>
                  <a:schemeClr val="tx2"/>
                </a:solidFill>
              </a:rPr>
              <a:t>si es negativa, la inflación achica la deuda; si es positiva, la agranda.</a:t>
            </a:r>
            <a:endParaRPr lang="en-US" sz="1300" dirty="0"/>
          </a:p>
        </p:txBody>
      </p:sp>
      <p:sp>
        <p:nvSpPr>
          <p:cNvPr id="4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BCRA (BADLAR bancos privados) e INDEC. Sombreado: tasas altas, del fin de las LEFIs a las legislativas. La BADLAR nominal pasó de 32% en julio a casi 60% en agosto.</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4 DE 4 · MORA</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Y la deuda dejó de pagarse</a:t>
            </a:r>
            <a:endParaRPr lang="en-US" sz="3200" dirty="0"/>
          </a:p>
        </p:txBody>
      </p:sp>
      <p:sp>
        <p:nvSpPr>
          <p:cNvPr id="4" name="Paso 4"/>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4</a:t>
            </a:r>
            <a:endParaRPr lang="en-US" sz="2600" dirty="0"/>
          </a:p>
        </p:txBody>
      </p:sp>
      <p:sp>
        <p:nvSpPr>
          <p:cNvPr id="6" name="Panel mora evolución"/>
          <p:cNvSpPr/>
          <p:nvPr/>
        </p:nvSpPr>
        <p:spPr>
          <a:xfrm>
            <a:off x="548640" y="1783080"/>
            <a:ext cx="5410048" cy="3383280"/>
          </a:xfrm>
          <a:prstGeom prst="roundRect">
            <a:avLst>
              <a:gd name="adj" fmla="val 4324"/>
            </a:avLst>
          </a:prstGeom>
          <a:solidFill>
            <a:schemeClr val="bg1"/>
          </a:solidFill>
          <a:ln w="12700">
            <a:solidFill>
              <a:schemeClr val="accent6"/>
            </a:solidFill>
            <a:prstDash val="solid"/>
          </a:ln>
        </p:spPr>
      </p:sp>
      <p:graphicFrame>
        <p:nvGraphicFramePr>
          <p:cNvPr id="7" name="Chart 0" descr=""/>
          <p:cNvGraphicFramePr/>
          <p:nvPr/>
        </p:nvGraphicFramePr>
        <p:xfrm>
          <a:off x="685800" y="1874520"/>
          <a:ext cx="5135728" cy="3200400"/>
        </p:xfrm>
        <a:graphic xmlns:a="http://schemas.openxmlformats.org/drawingml/2006/main">
          <a:graphicData uri="http://schemas.openxmlformats.org/drawingml/2006/chart">
            <c:chart xmlns:c="http://schemas.openxmlformats.org/drawingml/2006/chart" r:id="rId1"/>
          </a:graphicData>
        </a:graphic>
      </p:graphicFrame>
      <p:sp>
        <p:nvSpPr>
          <p:cNvPr id="8" name="Panel mora por línea"/>
          <p:cNvSpPr/>
          <p:nvPr/>
        </p:nvSpPr>
        <p:spPr>
          <a:xfrm>
            <a:off x="6233008" y="1783080"/>
            <a:ext cx="5410048" cy="3383280"/>
          </a:xfrm>
          <a:prstGeom prst="roundRect">
            <a:avLst>
              <a:gd name="adj" fmla="val 4324"/>
            </a:avLst>
          </a:prstGeom>
          <a:solidFill>
            <a:schemeClr val="bg1"/>
          </a:solidFill>
          <a:ln w="12700">
            <a:solidFill>
              <a:schemeClr val="accent6"/>
            </a:solidFill>
            <a:prstDash val="solid"/>
          </a:ln>
        </p:spPr>
      </p:sp>
      <p:graphicFrame>
        <p:nvGraphicFramePr>
          <p:cNvPr id="9" name="Chart 1" descr=""/>
          <p:cNvGraphicFramePr/>
          <p:nvPr/>
        </p:nvGraphicFramePr>
        <p:xfrm>
          <a:off x="6370168" y="1874520"/>
          <a:ext cx="5135728" cy="3200400"/>
        </p:xfrm>
        <a:graphic xmlns:a="http://schemas.openxmlformats.org/drawingml/2006/main">
          <a:graphicData uri="http://schemas.openxmlformats.org/drawingml/2006/chart">
            <c:chart xmlns:c="http://schemas.openxmlformats.org/drawingml/2006/chart" r:id="rId2"/>
          </a:graphicData>
        </a:graphic>
      </p:graphicFrame>
      <p:sp>
        <p:nvSpPr>
          <p:cNvPr id="10"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1" name="Text 7"/>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Fallan más las piezas que más crecieron: </a:t>
            </a:r>
            <a:pPr indent="0" marL="0">
              <a:buNone/>
            </a:pPr>
            <a:r>
              <a:rPr lang="en-US" sz="1500" dirty="0">
                <a:solidFill>
                  <a:schemeClr val="tx2"/>
                </a:solidFill>
              </a:rPr>
              <a:t>personales y tarjetas. La mora hipotecaria sigue baja.</a:t>
            </a:r>
            <a:endParaRPr lang="en-US" sz="1500" dirty="0"/>
          </a:p>
        </p:txBody>
      </p:sp>
      <p:sp>
        <p:nvSpPr>
          <p:cNvPr id="12"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BCRA, Informe sobre Bancos; Max Capital.</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CÓMO DESARMARLA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Cuatro propuestas para sacar a las familias de la deuda</a:t>
            </a:r>
            <a:endParaRPr lang="en-US" sz="3200" dirty="0"/>
          </a:p>
        </p:txBody>
      </p:sp>
      <p:sp>
        <p:nvSpPr>
          <p:cNvPr id="4" name="Propuesta 1"/>
          <p:cNvSpPr/>
          <p:nvPr/>
        </p:nvSpPr>
        <p:spPr>
          <a:xfrm>
            <a:off x="548640" y="1783080"/>
            <a:ext cx="5410048" cy="1920240"/>
          </a:xfrm>
          <a:prstGeom prst="roundRect">
            <a:avLst>
              <a:gd name="adj" fmla="val 7619"/>
            </a:avLst>
          </a:prstGeom>
          <a:solidFill>
            <a:schemeClr val="bg1"/>
          </a:solidFill>
          <a:ln w="12700">
            <a:solidFill>
              <a:schemeClr val="accent6"/>
            </a:solidFill>
            <a:prstDash val="solid"/>
          </a:ln>
        </p:spPr>
      </p:sp>
      <p:sp>
        <p:nvSpPr>
          <p:cNvPr id="5" name="Shape 3"/>
          <p:cNvSpPr/>
          <p:nvPr/>
        </p:nvSpPr>
        <p:spPr>
          <a:xfrm>
            <a:off x="822960" y="2130552"/>
            <a:ext cx="329184" cy="201168"/>
          </a:xfrm>
          <a:prstGeom prst="roundRect">
            <a:avLst>
              <a:gd name="adj" fmla="val 18182"/>
            </a:avLst>
          </a:prstGeom>
          <a:solidFill>
            <a:schemeClr val="accent3"/>
          </a:solidFill>
          <a:ln/>
        </p:spPr>
      </p:sp>
      <p:sp>
        <p:nvSpPr>
          <p:cNvPr id="6" name="Text 4"/>
          <p:cNvSpPr txBox="1"/>
          <p:nvPr/>
        </p:nvSpPr>
        <p:spPr>
          <a:xfrm>
            <a:off x="1280160" y="203911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Ponerle techo al precio</a:t>
            </a:r>
            <a:endParaRPr lang="en-US" sz="1900" dirty="0"/>
          </a:p>
        </p:txBody>
      </p:sp>
      <p:sp>
        <p:nvSpPr>
          <p:cNvPr id="7" name="Text 5"/>
          <p:cNvSpPr txBox="1"/>
          <p:nvPr/>
        </p:nvSpPr>
        <p:spPr>
          <a:xfrm>
            <a:off x="4495648" y="205740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8" name="Text 6"/>
          <p:cNvSpPr txBox="1"/>
          <p:nvPr/>
        </p:nvSpPr>
        <p:spPr>
          <a:xfrm>
            <a:off x="822960" y="2560320"/>
            <a:ext cx="4861408" cy="960120"/>
          </a:xfrm>
          <a:prstGeom prst="rect">
            <a:avLst/>
          </a:prstGeom>
          <a:noFill/>
          <a:ln/>
        </p:spPr>
        <p:txBody>
          <a:bodyPr wrap="square" lIns="0" tIns="0" rIns="0" bIns="0" rtlCol="0" anchor="t"/>
          <a:lstStyle/>
          <a:p>
            <a:pPr indent="0" marL="0">
              <a:buNone/>
            </a:pPr>
            <a:r>
              <a:rPr lang="en-US" sz="1500" dirty="0">
                <a:solidFill>
                  <a:schemeClr val="tx2"/>
                </a:solidFill>
              </a:rPr>
              <a:t>Volver a poner topes a las tasas y a los punitorios, también en billeteras virtuales y proveedores no financieros.</a:t>
            </a:r>
            <a:endParaRPr lang="en-US" sz="1500" dirty="0"/>
          </a:p>
        </p:txBody>
      </p:sp>
      <p:sp>
        <p:nvSpPr>
          <p:cNvPr id="9" name="Propuesta 2"/>
          <p:cNvSpPr/>
          <p:nvPr/>
        </p:nvSpPr>
        <p:spPr>
          <a:xfrm>
            <a:off x="6233008" y="1783080"/>
            <a:ext cx="5410048" cy="1920240"/>
          </a:xfrm>
          <a:prstGeom prst="roundRect">
            <a:avLst>
              <a:gd name="adj" fmla="val 7619"/>
            </a:avLst>
          </a:prstGeom>
          <a:solidFill>
            <a:schemeClr val="bg1"/>
          </a:solidFill>
          <a:ln w="12700">
            <a:solidFill>
              <a:schemeClr val="accent6"/>
            </a:solidFill>
            <a:prstDash val="solid"/>
          </a:ln>
        </p:spPr>
      </p:sp>
      <p:sp>
        <p:nvSpPr>
          <p:cNvPr id="10" name="Shape 8"/>
          <p:cNvSpPr/>
          <p:nvPr/>
        </p:nvSpPr>
        <p:spPr>
          <a:xfrm>
            <a:off x="6507328" y="2130552"/>
            <a:ext cx="329184" cy="201168"/>
          </a:xfrm>
          <a:prstGeom prst="roundRect">
            <a:avLst>
              <a:gd name="adj" fmla="val 18182"/>
            </a:avLst>
          </a:prstGeom>
          <a:solidFill>
            <a:schemeClr val="accent3"/>
          </a:solidFill>
          <a:ln/>
        </p:spPr>
      </p:sp>
      <p:sp>
        <p:nvSpPr>
          <p:cNvPr id="11" name="Text 9"/>
          <p:cNvSpPr txBox="1"/>
          <p:nvPr/>
        </p:nvSpPr>
        <p:spPr>
          <a:xfrm>
            <a:off x="6964528" y="203911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Que se vea todo</a:t>
            </a:r>
            <a:endParaRPr lang="en-US" sz="1900" dirty="0"/>
          </a:p>
        </p:txBody>
      </p:sp>
      <p:sp>
        <p:nvSpPr>
          <p:cNvPr id="12" name="Text 10"/>
          <p:cNvSpPr txBox="1"/>
          <p:nvPr/>
        </p:nvSpPr>
        <p:spPr>
          <a:xfrm>
            <a:off x="10180015" y="205740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13" name="Text 11"/>
          <p:cNvSpPr txBox="1"/>
          <p:nvPr/>
        </p:nvSpPr>
        <p:spPr>
          <a:xfrm>
            <a:off x="6507328" y="2560320"/>
            <a:ext cx="4861408" cy="960120"/>
          </a:xfrm>
          <a:prstGeom prst="rect">
            <a:avLst/>
          </a:prstGeom>
          <a:noFill/>
          <a:ln/>
        </p:spPr>
        <p:txBody>
          <a:bodyPr wrap="square" lIns="0" tIns="0" rIns="0" bIns="0" rtlCol="0" anchor="t"/>
          <a:lstStyle/>
          <a:p>
            <a:pPr indent="0" marL="0">
              <a:buNone/>
            </a:pPr>
            <a:r>
              <a:rPr lang="en-US" sz="1500" dirty="0">
                <a:solidFill>
                  <a:schemeClr val="tx2"/>
                </a:solidFill>
              </a:rPr>
              <a:t>Que las fintechs informen a la Central de Deudores y que todas las entidades muestren costos y condiciones con la máxima claridad.</a:t>
            </a:r>
            <a:endParaRPr lang="en-US" sz="1500" dirty="0"/>
          </a:p>
        </p:txBody>
      </p:sp>
      <p:sp>
        <p:nvSpPr>
          <p:cNvPr id="14" name="Propuesta 3"/>
          <p:cNvSpPr/>
          <p:nvPr/>
        </p:nvSpPr>
        <p:spPr>
          <a:xfrm>
            <a:off x="548640" y="3977640"/>
            <a:ext cx="5410048" cy="1920240"/>
          </a:xfrm>
          <a:prstGeom prst="roundRect">
            <a:avLst>
              <a:gd name="adj" fmla="val 7619"/>
            </a:avLst>
          </a:prstGeom>
          <a:solidFill>
            <a:schemeClr val="bg1"/>
          </a:solidFill>
          <a:ln w="12700">
            <a:solidFill>
              <a:schemeClr val="accent6"/>
            </a:solidFill>
            <a:prstDash val="solid"/>
          </a:ln>
        </p:spPr>
      </p:sp>
      <p:sp>
        <p:nvSpPr>
          <p:cNvPr id="15" name="Shape 13"/>
          <p:cNvSpPr/>
          <p:nvPr/>
        </p:nvSpPr>
        <p:spPr>
          <a:xfrm>
            <a:off x="822960" y="4325112"/>
            <a:ext cx="329184" cy="201168"/>
          </a:xfrm>
          <a:prstGeom prst="roundRect">
            <a:avLst>
              <a:gd name="adj" fmla="val 18182"/>
            </a:avLst>
          </a:prstGeom>
          <a:solidFill>
            <a:schemeClr val="accent3"/>
          </a:solidFill>
          <a:ln/>
        </p:spPr>
      </p:sp>
      <p:sp>
        <p:nvSpPr>
          <p:cNvPr id="16" name="Text 14"/>
          <p:cNvSpPr txBox="1"/>
          <p:nvPr/>
        </p:nvSpPr>
        <p:spPr>
          <a:xfrm>
            <a:off x="1280160" y="423367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Alivio a los deudores</a:t>
            </a:r>
            <a:endParaRPr lang="en-US" sz="1900" dirty="0"/>
          </a:p>
        </p:txBody>
      </p:sp>
      <p:sp>
        <p:nvSpPr>
          <p:cNvPr id="17" name="Text 15"/>
          <p:cNvSpPr txBox="1"/>
          <p:nvPr/>
        </p:nvSpPr>
        <p:spPr>
          <a:xfrm>
            <a:off x="4495648" y="425196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18" name="Text 16"/>
          <p:cNvSpPr txBox="1"/>
          <p:nvPr/>
        </p:nvSpPr>
        <p:spPr>
          <a:xfrm>
            <a:off x="822960" y="4754880"/>
            <a:ext cx="4861408" cy="960120"/>
          </a:xfrm>
          <a:prstGeom prst="rect">
            <a:avLst/>
          </a:prstGeom>
          <a:noFill/>
          <a:ln/>
        </p:spPr>
        <p:txBody>
          <a:bodyPr wrap="square" lIns="0" tIns="0" rIns="0" bIns="0" rtlCol="0" anchor="t"/>
          <a:lstStyle/>
          <a:p>
            <a:pPr indent="0" marL="0">
              <a:buNone/>
            </a:pPr>
            <a:r>
              <a:rPr lang="en-US" sz="1500" dirty="0">
                <a:solidFill>
                  <a:schemeClr val="tx2"/>
                </a:solidFill>
              </a:rPr>
              <a:t>Un régimen para reestructurar deudas de hogares sobreendeudados y una reclasificación temporal de deudores, como en la pandemia.</a:t>
            </a:r>
            <a:endParaRPr lang="en-US" sz="1500" dirty="0"/>
          </a:p>
        </p:txBody>
      </p:sp>
      <p:sp>
        <p:nvSpPr>
          <p:cNvPr id="19" name="Propuesta 4"/>
          <p:cNvSpPr/>
          <p:nvPr/>
        </p:nvSpPr>
        <p:spPr>
          <a:xfrm>
            <a:off x="6233008" y="3977640"/>
            <a:ext cx="5410048" cy="1920240"/>
          </a:xfrm>
          <a:prstGeom prst="roundRect">
            <a:avLst>
              <a:gd name="adj" fmla="val 7619"/>
            </a:avLst>
          </a:prstGeom>
          <a:solidFill>
            <a:schemeClr val="bg1"/>
          </a:solidFill>
          <a:ln w="12700">
            <a:solidFill>
              <a:schemeClr val="accent6"/>
            </a:solidFill>
            <a:prstDash val="solid"/>
          </a:ln>
        </p:spPr>
      </p:sp>
      <p:sp>
        <p:nvSpPr>
          <p:cNvPr id="20" name="Shape 18"/>
          <p:cNvSpPr/>
          <p:nvPr/>
        </p:nvSpPr>
        <p:spPr>
          <a:xfrm>
            <a:off x="6507328" y="4325112"/>
            <a:ext cx="329184" cy="201168"/>
          </a:xfrm>
          <a:prstGeom prst="roundRect">
            <a:avLst>
              <a:gd name="adj" fmla="val 18182"/>
            </a:avLst>
          </a:prstGeom>
          <a:solidFill>
            <a:schemeClr val="accent2"/>
          </a:solidFill>
          <a:ln/>
        </p:spPr>
      </p:sp>
      <p:sp>
        <p:nvSpPr>
          <p:cNvPr id="21" name="Text 19"/>
          <p:cNvSpPr txBox="1"/>
          <p:nvPr/>
        </p:nvSpPr>
        <p:spPr>
          <a:xfrm>
            <a:off x="6964528" y="423367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Defender al que se endeuda</a:t>
            </a:r>
            <a:endParaRPr lang="en-US" sz="1900" dirty="0"/>
          </a:p>
        </p:txBody>
      </p:sp>
      <p:sp>
        <p:nvSpPr>
          <p:cNvPr id="22" name="Text 20"/>
          <p:cNvSpPr txBox="1"/>
          <p:nvPr/>
        </p:nvSpPr>
        <p:spPr>
          <a:xfrm>
            <a:off x="10180015" y="425196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PROVINCIA</a:t>
            </a:r>
            <a:endParaRPr lang="en-US" sz="1100" dirty="0"/>
          </a:p>
        </p:txBody>
      </p:sp>
      <p:sp>
        <p:nvSpPr>
          <p:cNvPr id="23" name="Text 21"/>
          <p:cNvSpPr txBox="1"/>
          <p:nvPr/>
        </p:nvSpPr>
        <p:spPr>
          <a:xfrm>
            <a:off x="6507328" y="4754880"/>
            <a:ext cx="4861408" cy="960120"/>
          </a:xfrm>
          <a:prstGeom prst="rect">
            <a:avLst/>
          </a:prstGeom>
          <a:noFill/>
          <a:ln/>
        </p:spPr>
        <p:txBody>
          <a:bodyPr wrap="square" lIns="0" tIns="0" rIns="0" bIns="0" rtlCol="0" anchor="t"/>
          <a:lstStyle/>
          <a:p>
            <a:pPr indent="0" marL="0">
              <a:buNone/>
            </a:pPr>
            <a:r>
              <a:rPr lang="en-US" sz="1500" dirty="0">
                <a:solidFill>
                  <a:schemeClr val="tx2"/>
                </a:solidFill>
              </a:rPr>
              <a:t>Defensa del consumidor financiero que pueda mediar y sancionar, y una campaña sobre lo que de verdad cuesta endeudarse.</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ZOOM · SANTA FE</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En Santa Fe, 1 de cada 4 deudores está en mora</a:t>
            </a:r>
            <a:endParaRPr lang="en-US" sz="3200" dirty="0"/>
          </a:p>
        </p:txBody>
      </p:sp>
      <p:sp>
        <p:nvSpPr>
          <p:cNvPr id="4" name="Panel ladrillos Santa Fe"/>
          <p:cNvSpPr/>
          <p:nvPr/>
        </p:nvSpPr>
        <p:spPr>
          <a:xfrm>
            <a:off x="548640" y="1783080"/>
            <a:ext cx="5486400" cy="3383280"/>
          </a:xfrm>
          <a:prstGeom prst="roundRect">
            <a:avLst>
              <a:gd name="adj" fmla="val 4324"/>
            </a:avLst>
          </a:prstGeom>
          <a:solidFill>
            <a:schemeClr val="bg1"/>
          </a:solidFill>
          <a:ln w="12700">
            <a:solidFill>
              <a:schemeClr val="accent6"/>
            </a:solidFill>
            <a:prstDash val="solid"/>
          </a:ln>
        </p:spPr>
      </p:sp>
      <p:sp>
        <p:nvSpPr>
          <p:cNvPr id="5" name="Text 3"/>
          <p:cNvSpPr txBox="1"/>
          <p:nvPr/>
        </p:nvSpPr>
        <p:spPr>
          <a:xfrm>
            <a:off x="822960" y="1938528"/>
            <a:ext cx="4937760" cy="512064"/>
          </a:xfrm>
          <a:prstGeom prst="rect">
            <a:avLst/>
          </a:prstGeom>
          <a:noFill/>
          <a:ln/>
        </p:spPr>
        <p:txBody>
          <a:bodyPr wrap="square" lIns="0" tIns="0" rIns="0" bIns="0" rtlCol="0" anchor="t"/>
          <a:lstStyle/>
          <a:p>
            <a:pPr indent="0" marL="0">
              <a:buNone/>
            </a:pPr>
            <a:r>
              <a:rPr lang="en-US" sz="1400" b="1" dirty="0">
                <a:solidFill>
                  <a:schemeClr val="tx1"/>
                </a:solidFill>
              </a:rPr>
              <a:t>De cada 40 santafesinos con deudas, 10 están en mora.</a:t>
            </a:r>
            <a:endParaRPr lang="en-US" sz="1400" dirty="0"/>
          </a:p>
          <a:p>
            <a:pPr indent="0" marL="0">
              <a:buNone/>
            </a:pPr>
            <a:r>
              <a:rPr lang="en-US" sz="1400" dirty="0">
                <a:solidFill>
                  <a:schemeClr val="tx2"/>
                </a:solidFill>
              </a:rPr>
              <a:t>En el país son 11 de cada 40 (27%).</a:t>
            </a:r>
            <a:endParaRPr lang="en-US" sz="1400" dirty="0"/>
          </a:p>
        </p:txBody>
      </p:sp>
      <p:sp>
        <p:nvSpPr>
          <p:cNvPr id="6" name="Shape 4"/>
          <p:cNvSpPr/>
          <p:nvPr/>
        </p:nvSpPr>
        <p:spPr>
          <a:xfrm>
            <a:off x="905320" y="2554834"/>
            <a:ext cx="30047" cy="60350"/>
          </a:xfrm>
          <a:prstGeom prst="roundRect">
            <a:avLst>
              <a:gd name="adj" fmla="val 91297"/>
            </a:avLst>
          </a:prstGeom>
          <a:solidFill>
            <a:srgbClr val="9B2A21"/>
          </a:solidFill>
          <a:ln/>
        </p:spPr>
      </p:sp>
      <p:sp>
        <p:nvSpPr>
          <p:cNvPr id="7" name="Shape 5"/>
          <p:cNvSpPr/>
          <p:nvPr/>
        </p:nvSpPr>
        <p:spPr>
          <a:xfrm>
            <a:off x="822960" y="2606040"/>
            <a:ext cx="194767" cy="274320"/>
          </a:xfrm>
          <a:prstGeom prst="roundRect">
            <a:avLst>
              <a:gd name="adj" fmla="val 23474"/>
            </a:avLst>
          </a:prstGeom>
          <a:solidFill>
            <a:srgbClr val="9B2A21"/>
          </a:solidFill>
          <a:ln/>
        </p:spPr>
      </p:sp>
      <p:sp>
        <p:nvSpPr>
          <p:cNvPr id="8" name="Shape 6"/>
          <p:cNvSpPr/>
          <p:nvPr/>
        </p:nvSpPr>
        <p:spPr>
          <a:xfrm>
            <a:off x="850392" y="2830982"/>
            <a:ext cx="139903" cy="49378"/>
          </a:xfrm>
          <a:prstGeom prst="rect">
            <a:avLst/>
          </a:prstGeom>
          <a:solidFill>
            <a:srgbClr val="6E1D17"/>
          </a:solidFill>
          <a:ln/>
        </p:spPr>
      </p:sp>
      <p:sp>
        <p:nvSpPr>
          <p:cNvPr id="9" name="Shape 7"/>
          <p:cNvSpPr/>
          <p:nvPr/>
        </p:nvSpPr>
        <p:spPr>
          <a:xfrm>
            <a:off x="1154951" y="2554834"/>
            <a:ext cx="30047" cy="60350"/>
          </a:xfrm>
          <a:prstGeom prst="roundRect">
            <a:avLst>
              <a:gd name="adj" fmla="val 91297"/>
            </a:avLst>
          </a:prstGeom>
          <a:solidFill>
            <a:srgbClr val="9B2A21"/>
          </a:solidFill>
          <a:ln/>
        </p:spPr>
      </p:sp>
      <p:sp>
        <p:nvSpPr>
          <p:cNvPr id="10" name="Shape 8"/>
          <p:cNvSpPr/>
          <p:nvPr/>
        </p:nvSpPr>
        <p:spPr>
          <a:xfrm>
            <a:off x="1072591" y="2606040"/>
            <a:ext cx="194767" cy="274320"/>
          </a:xfrm>
          <a:prstGeom prst="roundRect">
            <a:avLst>
              <a:gd name="adj" fmla="val 23474"/>
            </a:avLst>
          </a:prstGeom>
          <a:solidFill>
            <a:srgbClr val="9B2A21"/>
          </a:solidFill>
          <a:ln/>
        </p:spPr>
      </p:sp>
      <p:sp>
        <p:nvSpPr>
          <p:cNvPr id="11" name="Shape 9"/>
          <p:cNvSpPr/>
          <p:nvPr/>
        </p:nvSpPr>
        <p:spPr>
          <a:xfrm>
            <a:off x="1100023" y="2830982"/>
            <a:ext cx="139903" cy="49378"/>
          </a:xfrm>
          <a:prstGeom prst="rect">
            <a:avLst/>
          </a:prstGeom>
          <a:solidFill>
            <a:srgbClr val="6E1D17"/>
          </a:solidFill>
          <a:ln/>
        </p:spPr>
      </p:sp>
      <p:sp>
        <p:nvSpPr>
          <p:cNvPr id="12" name="Shape 10"/>
          <p:cNvSpPr/>
          <p:nvPr/>
        </p:nvSpPr>
        <p:spPr>
          <a:xfrm>
            <a:off x="1404582" y="2554834"/>
            <a:ext cx="30047" cy="60350"/>
          </a:xfrm>
          <a:prstGeom prst="roundRect">
            <a:avLst>
              <a:gd name="adj" fmla="val 91297"/>
            </a:avLst>
          </a:prstGeom>
          <a:solidFill>
            <a:srgbClr val="9B2A21"/>
          </a:solidFill>
          <a:ln/>
        </p:spPr>
      </p:sp>
      <p:sp>
        <p:nvSpPr>
          <p:cNvPr id="13" name="Shape 11"/>
          <p:cNvSpPr/>
          <p:nvPr/>
        </p:nvSpPr>
        <p:spPr>
          <a:xfrm>
            <a:off x="1322222" y="2606040"/>
            <a:ext cx="194767" cy="274320"/>
          </a:xfrm>
          <a:prstGeom prst="roundRect">
            <a:avLst>
              <a:gd name="adj" fmla="val 23474"/>
            </a:avLst>
          </a:prstGeom>
          <a:solidFill>
            <a:srgbClr val="9B2A21"/>
          </a:solidFill>
          <a:ln/>
        </p:spPr>
      </p:sp>
      <p:sp>
        <p:nvSpPr>
          <p:cNvPr id="14" name="Shape 12"/>
          <p:cNvSpPr/>
          <p:nvPr/>
        </p:nvSpPr>
        <p:spPr>
          <a:xfrm>
            <a:off x="1349654" y="2830982"/>
            <a:ext cx="139903" cy="49378"/>
          </a:xfrm>
          <a:prstGeom prst="rect">
            <a:avLst/>
          </a:prstGeom>
          <a:solidFill>
            <a:srgbClr val="6E1D17"/>
          </a:solidFill>
          <a:ln/>
        </p:spPr>
      </p:sp>
      <p:sp>
        <p:nvSpPr>
          <p:cNvPr id="15" name="Shape 13"/>
          <p:cNvSpPr/>
          <p:nvPr/>
        </p:nvSpPr>
        <p:spPr>
          <a:xfrm>
            <a:off x="1654214" y="2554834"/>
            <a:ext cx="30047" cy="60350"/>
          </a:xfrm>
          <a:prstGeom prst="roundRect">
            <a:avLst>
              <a:gd name="adj" fmla="val 91297"/>
            </a:avLst>
          </a:prstGeom>
          <a:solidFill>
            <a:srgbClr val="9B2A21"/>
          </a:solidFill>
          <a:ln/>
        </p:spPr>
      </p:sp>
      <p:sp>
        <p:nvSpPr>
          <p:cNvPr id="16" name="Shape 14"/>
          <p:cNvSpPr/>
          <p:nvPr/>
        </p:nvSpPr>
        <p:spPr>
          <a:xfrm>
            <a:off x="1571854" y="2606040"/>
            <a:ext cx="194767" cy="274320"/>
          </a:xfrm>
          <a:prstGeom prst="roundRect">
            <a:avLst>
              <a:gd name="adj" fmla="val 23474"/>
            </a:avLst>
          </a:prstGeom>
          <a:solidFill>
            <a:srgbClr val="9B2A21"/>
          </a:solidFill>
          <a:ln/>
        </p:spPr>
      </p:sp>
      <p:sp>
        <p:nvSpPr>
          <p:cNvPr id="17" name="Shape 15"/>
          <p:cNvSpPr/>
          <p:nvPr/>
        </p:nvSpPr>
        <p:spPr>
          <a:xfrm>
            <a:off x="1599286" y="2830982"/>
            <a:ext cx="139903" cy="49378"/>
          </a:xfrm>
          <a:prstGeom prst="rect">
            <a:avLst/>
          </a:prstGeom>
          <a:solidFill>
            <a:srgbClr val="6E1D17"/>
          </a:solidFill>
          <a:ln/>
        </p:spPr>
      </p:sp>
      <p:sp>
        <p:nvSpPr>
          <p:cNvPr id="18" name="Shape 16"/>
          <p:cNvSpPr/>
          <p:nvPr/>
        </p:nvSpPr>
        <p:spPr>
          <a:xfrm>
            <a:off x="1903845" y="2554834"/>
            <a:ext cx="30047" cy="60350"/>
          </a:xfrm>
          <a:prstGeom prst="roundRect">
            <a:avLst>
              <a:gd name="adj" fmla="val 91297"/>
            </a:avLst>
          </a:prstGeom>
          <a:solidFill>
            <a:srgbClr val="9B2A21"/>
          </a:solidFill>
          <a:ln/>
        </p:spPr>
      </p:sp>
      <p:sp>
        <p:nvSpPr>
          <p:cNvPr id="19" name="Shape 17"/>
          <p:cNvSpPr/>
          <p:nvPr/>
        </p:nvSpPr>
        <p:spPr>
          <a:xfrm>
            <a:off x="1821485" y="2606040"/>
            <a:ext cx="194767" cy="274320"/>
          </a:xfrm>
          <a:prstGeom prst="roundRect">
            <a:avLst>
              <a:gd name="adj" fmla="val 23474"/>
            </a:avLst>
          </a:prstGeom>
          <a:solidFill>
            <a:srgbClr val="9B2A21"/>
          </a:solidFill>
          <a:ln/>
        </p:spPr>
      </p:sp>
      <p:sp>
        <p:nvSpPr>
          <p:cNvPr id="20" name="Shape 18"/>
          <p:cNvSpPr/>
          <p:nvPr/>
        </p:nvSpPr>
        <p:spPr>
          <a:xfrm>
            <a:off x="1848917" y="2830982"/>
            <a:ext cx="139903" cy="49378"/>
          </a:xfrm>
          <a:prstGeom prst="rect">
            <a:avLst/>
          </a:prstGeom>
          <a:solidFill>
            <a:srgbClr val="6E1D17"/>
          </a:solidFill>
          <a:ln/>
        </p:spPr>
      </p:sp>
      <p:sp>
        <p:nvSpPr>
          <p:cNvPr id="21" name="Shape 19"/>
          <p:cNvSpPr/>
          <p:nvPr/>
        </p:nvSpPr>
        <p:spPr>
          <a:xfrm>
            <a:off x="2153476" y="2554834"/>
            <a:ext cx="30047" cy="60350"/>
          </a:xfrm>
          <a:prstGeom prst="roundRect">
            <a:avLst>
              <a:gd name="adj" fmla="val 91297"/>
            </a:avLst>
          </a:prstGeom>
          <a:solidFill>
            <a:srgbClr val="9B2A21"/>
          </a:solidFill>
          <a:ln/>
        </p:spPr>
      </p:sp>
      <p:sp>
        <p:nvSpPr>
          <p:cNvPr id="22" name="Shape 20"/>
          <p:cNvSpPr/>
          <p:nvPr/>
        </p:nvSpPr>
        <p:spPr>
          <a:xfrm>
            <a:off x="2071116" y="2606040"/>
            <a:ext cx="194767" cy="274320"/>
          </a:xfrm>
          <a:prstGeom prst="roundRect">
            <a:avLst>
              <a:gd name="adj" fmla="val 23474"/>
            </a:avLst>
          </a:prstGeom>
          <a:solidFill>
            <a:srgbClr val="9B2A21"/>
          </a:solidFill>
          <a:ln/>
        </p:spPr>
      </p:sp>
      <p:sp>
        <p:nvSpPr>
          <p:cNvPr id="23" name="Shape 21"/>
          <p:cNvSpPr/>
          <p:nvPr/>
        </p:nvSpPr>
        <p:spPr>
          <a:xfrm>
            <a:off x="2098548" y="2830982"/>
            <a:ext cx="139903" cy="49378"/>
          </a:xfrm>
          <a:prstGeom prst="rect">
            <a:avLst/>
          </a:prstGeom>
          <a:solidFill>
            <a:srgbClr val="6E1D17"/>
          </a:solidFill>
          <a:ln/>
        </p:spPr>
      </p:sp>
      <p:sp>
        <p:nvSpPr>
          <p:cNvPr id="24" name="Shape 22"/>
          <p:cNvSpPr/>
          <p:nvPr/>
        </p:nvSpPr>
        <p:spPr>
          <a:xfrm>
            <a:off x="2403107" y="2554834"/>
            <a:ext cx="30047" cy="60350"/>
          </a:xfrm>
          <a:prstGeom prst="roundRect">
            <a:avLst>
              <a:gd name="adj" fmla="val 91297"/>
            </a:avLst>
          </a:prstGeom>
          <a:solidFill>
            <a:srgbClr val="D23A2F"/>
          </a:solidFill>
          <a:ln/>
        </p:spPr>
      </p:sp>
      <p:sp>
        <p:nvSpPr>
          <p:cNvPr id="25" name="Shape 23"/>
          <p:cNvSpPr/>
          <p:nvPr/>
        </p:nvSpPr>
        <p:spPr>
          <a:xfrm>
            <a:off x="2320747" y="2606040"/>
            <a:ext cx="194767" cy="274320"/>
          </a:xfrm>
          <a:prstGeom prst="roundRect">
            <a:avLst>
              <a:gd name="adj" fmla="val 23474"/>
            </a:avLst>
          </a:prstGeom>
          <a:solidFill>
            <a:srgbClr val="D23A2F"/>
          </a:solidFill>
          <a:ln/>
        </p:spPr>
      </p:sp>
      <p:sp>
        <p:nvSpPr>
          <p:cNvPr id="26" name="Shape 24"/>
          <p:cNvSpPr/>
          <p:nvPr/>
        </p:nvSpPr>
        <p:spPr>
          <a:xfrm>
            <a:off x="2348179" y="2830982"/>
            <a:ext cx="139903" cy="49378"/>
          </a:xfrm>
          <a:prstGeom prst="rect">
            <a:avLst/>
          </a:prstGeom>
          <a:solidFill>
            <a:srgbClr val="A92E25"/>
          </a:solidFill>
          <a:ln/>
        </p:spPr>
      </p:sp>
      <p:sp>
        <p:nvSpPr>
          <p:cNvPr id="27" name="Shape 25"/>
          <p:cNvSpPr/>
          <p:nvPr/>
        </p:nvSpPr>
        <p:spPr>
          <a:xfrm>
            <a:off x="2652738" y="2554834"/>
            <a:ext cx="30047" cy="60350"/>
          </a:xfrm>
          <a:prstGeom prst="roundRect">
            <a:avLst>
              <a:gd name="adj" fmla="val 91297"/>
            </a:avLst>
          </a:prstGeom>
          <a:solidFill>
            <a:srgbClr val="D23A2F"/>
          </a:solidFill>
          <a:ln/>
        </p:spPr>
      </p:sp>
      <p:sp>
        <p:nvSpPr>
          <p:cNvPr id="28" name="Shape 26"/>
          <p:cNvSpPr/>
          <p:nvPr/>
        </p:nvSpPr>
        <p:spPr>
          <a:xfrm>
            <a:off x="2570378" y="2606040"/>
            <a:ext cx="194767" cy="274320"/>
          </a:xfrm>
          <a:prstGeom prst="roundRect">
            <a:avLst>
              <a:gd name="adj" fmla="val 23474"/>
            </a:avLst>
          </a:prstGeom>
          <a:solidFill>
            <a:srgbClr val="D23A2F"/>
          </a:solidFill>
          <a:ln/>
        </p:spPr>
      </p:sp>
      <p:sp>
        <p:nvSpPr>
          <p:cNvPr id="29" name="Shape 27"/>
          <p:cNvSpPr/>
          <p:nvPr/>
        </p:nvSpPr>
        <p:spPr>
          <a:xfrm>
            <a:off x="2597810" y="2830982"/>
            <a:ext cx="139903" cy="49378"/>
          </a:xfrm>
          <a:prstGeom prst="rect">
            <a:avLst/>
          </a:prstGeom>
          <a:solidFill>
            <a:srgbClr val="A92E25"/>
          </a:solidFill>
          <a:ln/>
        </p:spPr>
      </p:sp>
      <p:sp>
        <p:nvSpPr>
          <p:cNvPr id="30" name="Shape 28"/>
          <p:cNvSpPr/>
          <p:nvPr/>
        </p:nvSpPr>
        <p:spPr>
          <a:xfrm>
            <a:off x="2902370" y="2554834"/>
            <a:ext cx="30047" cy="60350"/>
          </a:xfrm>
          <a:prstGeom prst="roundRect">
            <a:avLst>
              <a:gd name="adj" fmla="val 91297"/>
            </a:avLst>
          </a:prstGeom>
          <a:solidFill>
            <a:srgbClr val="D23A2F"/>
          </a:solidFill>
          <a:ln/>
        </p:spPr>
      </p:sp>
      <p:sp>
        <p:nvSpPr>
          <p:cNvPr id="31" name="Shape 29"/>
          <p:cNvSpPr/>
          <p:nvPr/>
        </p:nvSpPr>
        <p:spPr>
          <a:xfrm>
            <a:off x="2820010" y="2606040"/>
            <a:ext cx="194767" cy="274320"/>
          </a:xfrm>
          <a:prstGeom prst="roundRect">
            <a:avLst>
              <a:gd name="adj" fmla="val 23474"/>
            </a:avLst>
          </a:prstGeom>
          <a:solidFill>
            <a:srgbClr val="D23A2F"/>
          </a:solidFill>
          <a:ln/>
        </p:spPr>
      </p:sp>
      <p:sp>
        <p:nvSpPr>
          <p:cNvPr id="32" name="Shape 30"/>
          <p:cNvSpPr/>
          <p:nvPr/>
        </p:nvSpPr>
        <p:spPr>
          <a:xfrm>
            <a:off x="2847442" y="2830982"/>
            <a:ext cx="139903" cy="49378"/>
          </a:xfrm>
          <a:prstGeom prst="rect">
            <a:avLst/>
          </a:prstGeom>
          <a:solidFill>
            <a:srgbClr val="A92E25"/>
          </a:solidFill>
          <a:ln/>
        </p:spPr>
      </p:sp>
      <p:sp>
        <p:nvSpPr>
          <p:cNvPr id="33" name="Shape 31"/>
          <p:cNvSpPr/>
          <p:nvPr/>
        </p:nvSpPr>
        <p:spPr>
          <a:xfrm>
            <a:off x="3152001" y="2554834"/>
            <a:ext cx="30047" cy="60350"/>
          </a:xfrm>
          <a:prstGeom prst="roundRect">
            <a:avLst>
              <a:gd name="adj" fmla="val 91297"/>
            </a:avLst>
          </a:prstGeom>
          <a:solidFill>
            <a:srgbClr val="D23A2F"/>
          </a:solidFill>
          <a:ln/>
        </p:spPr>
      </p:sp>
      <p:sp>
        <p:nvSpPr>
          <p:cNvPr id="34" name="Shape 32"/>
          <p:cNvSpPr/>
          <p:nvPr/>
        </p:nvSpPr>
        <p:spPr>
          <a:xfrm>
            <a:off x="3069641" y="2606040"/>
            <a:ext cx="194767" cy="274320"/>
          </a:xfrm>
          <a:prstGeom prst="roundRect">
            <a:avLst>
              <a:gd name="adj" fmla="val 23474"/>
            </a:avLst>
          </a:prstGeom>
          <a:solidFill>
            <a:srgbClr val="D23A2F"/>
          </a:solidFill>
          <a:ln/>
        </p:spPr>
      </p:sp>
      <p:sp>
        <p:nvSpPr>
          <p:cNvPr id="35" name="Shape 33"/>
          <p:cNvSpPr/>
          <p:nvPr/>
        </p:nvSpPr>
        <p:spPr>
          <a:xfrm>
            <a:off x="3097073" y="2830982"/>
            <a:ext cx="139903" cy="49378"/>
          </a:xfrm>
          <a:prstGeom prst="rect">
            <a:avLst/>
          </a:prstGeom>
          <a:solidFill>
            <a:srgbClr val="A92E25"/>
          </a:solidFill>
          <a:ln/>
        </p:spPr>
      </p:sp>
      <p:sp>
        <p:nvSpPr>
          <p:cNvPr id="36" name="Shape 34"/>
          <p:cNvSpPr/>
          <p:nvPr/>
        </p:nvSpPr>
        <p:spPr>
          <a:xfrm>
            <a:off x="3401632" y="2554834"/>
            <a:ext cx="30047" cy="60350"/>
          </a:xfrm>
          <a:prstGeom prst="roundRect">
            <a:avLst>
              <a:gd name="adj" fmla="val 91297"/>
            </a:avLst>
          </a:prstGeom>
          <a:solidFill>
            <a:srgbClr val="9A9EA6"/>
          </a:solidFill>
          <a:ln/>
        </p:spPr>
      </p:sp>
      <p:sp>
        <p:nvSpPr>
          <p:cNvPr id="37" name="Shape 35"/>
          <p:cNvSpPr/>
          <p:nvPr/>
        </p:nvSpPr>
        <p:spPr>
          <a:xfrm>
            <a:off x="3319272" y="2606040"/>
            <a:ext cx="194767" cy="274320"/>
          </a:xfrm>
          <a:prstGeom prst="roundRect">
            <a:avLst>
              <a:gd name="adj" fmla="val 23474"/>
            </a:avLst>
          </a:prstGeom>
          <a:solidFill>
            <a:srgbClr val="9A9EA6"/>
          </a:solidFill>
          <a:ln/>
        </p:spPr>
      </p:sp>
      <p:sp>
        <p:nvSpPr>
          <p:cNvPr id="38" name="Shape 36"/>
          <p:cNvSpPr/>
          <p:nvPr/>
        </p:nvSpPr>
        <p:spPr>
          <a:xfrm>
            <a:off x="3346704" y="2830982"/>
            <a:ext cx="139903" cy="49378"/>
          </a:xfrm>
          <a:prstGeom prst="rect">
            <a:avLst/>
          </a:prstGeom>
          <a:solidFill>
            <a:srgbClr val="7D818A"/>
          </a:solidFill>
          <a:ln/>
        </p:spPr>
      </p:sp>
      <p:sp>
        <p:nvSpPr>
          <p:cNvPr id="39" name="Shape 37"/>
          <p:cNvSpPr/>
          <p:nvPr/>
        </p:nvSpPr>
        <p:spPr>
          <a:xfrm>
            <a:off x="3651263" y="2554834"/>
            <a:ext cx="30047" cy="60350"/>
          </a:xfrm>
          <a:prstGeom prst="roundRect">
            <a:avLst>
              <a:gd name="adj" fmla="val 91297"/>
            </a:avLst>
          </a:prstGeom>
          <a:solidFill>
            <a:srgbClr val="9A9EA6"/>
          </a:solidFill>
          <a:ln/>
        </p:spPr>
      </p:sp>
      <p:sp>
        <p:nvSpPr>
          <p:cNvPr id="40" name="Shape 38"/>
          <p:cNvSpPr/>
          <p:nvPr/>
        </p:nvSpPr>
        <p:spPr>
          <a:xfrm>
            <a:off x="3568903" y="2606040"/>
            <a:ext cx="194767" cy="274320"/>
          </a:xfrm>
          <a:prstGeom prst="roundRect">
            <a:avLst>
              <a:gd name="adj" fmla="val 23474"/>
            </a:avLst>
          </a:prstGeom>
          <a:solidFill>
            <a:srgbClr val="9A9EA6"/>
          </a:solidFill>
          <a:ln/>
        </p:spPr>
      </p:sp>
      <p:sp>
        <p:nvSpPr>
          <p:cNvPr id="41" name="Shape 39"/>
          <p:cNvSpPr/>
          <p:nvPr/>
        </p:nvSpPr>
        <p:spPr>
          <a:xfrm>
            <a:off x="3596335" y="2830982"/>
            <a:ext cx="139903" cy="49378"/>
          </a:xfrm>
          <a:prstGeom prst="rect">
            <a:avLst/>
          </a:prstGeom>
          <a:solidFill>
            <a:srgbClr val="7D818A"/>
          </a:solidFill>
          <a:ln/>
        </p:spPr>
      </p:sp>
      <p:sp>
        <p:nvSpPr>
          <p:cNvPr id="42" name="Shape 40"/>
          <p:cNvSpPr/>
          <p:nvPr/>
        </p:nvSpPr>
        <p:spPr>
          <a:xfrm>
            <a:off x="3900894" y="2554834"/>
            <a:ext cx="30047" cy="60350"/>
          </a:xfrm>
          <a:prstGeom prst="roundRect">
            <a:avLst>
              <a:gd name="adj" fmla="val 91297"/>
            </a:avLst>
          </a:prstGeom>
          <a:solidFill>
            <a:srgbClr val="9A9EA6"/>
          </a:solidFill>
          <a:ln/>
        </p:spPr>
      </p:sp>
      <p:sp>
        <p:nvSpPr>
          <p:cNvPr id="43" name="Shape 41"/>
          <p:cNvSpPr/>
          <p:nvPr/>
        </p:nvSpPr>
        <p:spPr>
          <a:xfrm>
            <a:off x="3818534" y="2606040"/>
            <a:ext cx="194767" cy="274320"/>
          </a:xfrm>
          <a:prstGeom prst="roundRect">
            <a:avLst>
              <a:gd name="adj" fmla="val 23474"/>
            </a:avLst>
          </a:prstGeom>
          <a:solidFill>
            <a:srgbClr val="9A9EA6"/>
          </a:solidFill>
          <a:ln/>
        </p:spPr>
      </p:sp>
      <p:sp>
        <p:nvSpPr>
          <p:cNvPr id="44" name="Shape 42"/>
          <p:cNvSpPr/>
          <p:nvPr/>
        </p:nvSpPr>
        <p:spPr>
          <a:xfrm>
            <a:off x="3845966" y="2830982"/>
            <a:ext cx="139903" cy="49378"/>
          </a:xfrm>
          <a:prstGeom prst="rect">
            <a:avLst/>
          </a:prstGeom>
          <a:solidFill>
            <a:srgbClr val="7D818A"/>
          </a:solidFill>
          <a:ln/>
        </p:spPr>
      </p:sp>
      <p:sp>
        <p:nvSpPr>
          <p:cNvPr id="45" name="Shape 43"/>
          <p:cNvSpPr/>
          <p:nvPr/>
        </p:nvSpPr>
        <p:spPr>
          <a:xfrm>
            <a:off x="4150526" y="2554834"/>
            <a:ext cx="30047" cy="60350"/>
          </a:xfrm>
          <a:prstGeom prst="roundRect">
            <a:avLst>
              <a:gd name="adj" fmla="val 91297"/>
            </a:avLst>
          </a:prstGeom>
          <a:solidFill>
            <a:srgbClr val="9A9EA6"/>
          </a:solidFill>
          <a:ln/>
        </p:spPr>
      </p:sp>
      <p:sp>
        <p:nvSpPr>
          <p:cNvPr id="46" name="Shape 44"/>
          <p:cNvSpPr/>
          <p:nvPr/>
        </p:nvSpPr>
        <p:spPr>
          <a:xfrm>
            <a:off x="4068166" y="2606040"/>
            <a:ext cx="194767" cy="274320"/>
          </a:xfrm>
          <a:prstGeom prst="roundRect">
            <a:avLst>
              <a:gd name="adj" fmla="val 23474"/>
            </a:avLst>
          </a:prstGeom>
          <a:solidFill>
            <a:srgbClr val="9A9EA6"/>
          </a:solidFill>
          <a:ln/>
        </p:spPr>
      </p:sp>
      <p:sp>
        <p:nvSpPr>
          <p:cNvPr id="47" name="Shape 45"/>
          <p:cNvSpPr/>
          <p:nvPr/>
        </p:nvSpPr>
        <p:spPr>
          <a:xfrm>
            <a:off x="4095598" y="2830982"/>
            <a:ext cx="139903" cy="49378"/>
          </a:xfrm>
          <a:prstGeom prst="rect">
            <a:avLst/>
          </a:prstGeom>
          <a:solidFill>
            <a:srgbClr val="7D818A"/>
          </a:solidFill>
          <a:ln/>
        </p:spPr>
      </p:sp>
      <p:sp>
        <p:nvSpPr>
          <p:cNvPr id="48" name="Shape 46"/>
          <p:cNvSpPr/>
          <p:nvPr/>
        </p:nvSpPr>
        <p:spPr>
          <a:xfrm>
            <a:off x="4400157" y="2554834"/>
            <a:ext cx="30047" cy="60350"/>
          </a:xfrm>
          <a:prstGeom prst="roundRect">
            <a:avLst>
              <a:gd name="adj" fmla="val 91297"/>
            </a:avLst>
          </a:prstGeom>
          <a:solidFill>
            <a:srgbClr val="9A9EA6"/>
          </a:solidFill>
          <a:ln/>
        </p:spPr>
      </p:sp>
      <p:sp>
        <p:nvSpPr>
          <p:cNvPr id="49" name="Shape 47"/>
          <p:cNvSpPr/>
          <p:nvPr/>
        </p:nvSpPr>
        <p:spPr>
          <a:xfrm>
            <a:off x="4317797" y="2606040"/>
            <a:ext cx="194767" cy="274320"/>
          </a:xfrm>
          <a:prstGeom prst="roundRect">
            <a:avLst>
              <a:gd name="adj" fmla="val 23474"/>
            </a:avLst>
          </a:prstGeom>
          <a:solidFill>
            <a:srgbClr val="9A9EA6"/>
          </a:solidFill>
          <a:ln/>
        </p:spPr>
      </p:sp>
      <p:sp>
        <p:nvSpPr>
          <p:cNvPr id="50" name="Shape 48"/>
          <p:cNvSpPr/>
          <p:nvPr/>
        </p:nvSpPr>
        <p:spPr>
          <a:xfrm>
            <a:off x="4345229" y="2830982"/>
            <a:ext cx="139903" cy="49378"/>
          </a:xfrm>
          <a:prstGeom prst="rect">
            <a:avLst/>
          </a:prstGeom>
          <a:solidFill>
            <a:srgbClr val="7D818A"/>
          </a:solidFill>
          <a:ln/>
        </p:spPr>
      </p:sp>
      <p:sp>
        <p:nvSpPr>
          <p:cNvPr id="51" name="Shape 49"/>
          <p:cNvSpPr/>
          <p:nvPr/>
        </p:nvSpPr>
        <p:spPr>
          <a:xfrm>
            <a:off x="4649788" y="2554834"/>
            <a:ext cx="30047" cy="60350"/>
          </a:xfrm>
          <a:prstGeom prst="roundRect">
            <a:avLst>
              <a:gd name="adj" fmla="val 91297"/>
            </a:avLst>
          </a:prstGeom>
          <a:solidFill>
            <a:srgbClr val="9A9EA6"/>
          </a:solidFill>
          <a:ln/>
        </p:spPr>
      </p:sp>
      <p:sp>
        <p:nvSpPr>
          <p:cNvPr id="52" name="Shape 50"/>
          <p:cNvSpPr/>
          <p:nvPr/>
        </p:nvSpPr>
        <p:spPr>
          <a:xfrm>
            <a:off x="4567428" y="2606040"/>
            <a:ext cx="194767" cy="274320"/>
          </a:xfrm>
          <a:prstGeom prst="roundRect">
            <a:avLst>
              <a:gd name="adj" fmla="val 23474"/>
            </a:avLst>
          </a:prstGeom>
          <a:solidFill>
            <a:srgbClr val="9A9EA6"/>
          </a:solidFill>
          <a:ln/>
        </p:spPr>
      </p:sp>
      <p:sp>
        <p:nvSpPr>
          <p:cNvPr id="53" name="Shape 51"/>
          <p:cNvSpPr/>
          <p:nvPr/>
        </p:nvSpPr>
        <p:spPr>
          <a:xfrm>
            <a:off x="4594860" y="2830982"/>
            <a:ext cx="139903" cy="49378"/>
          </a:xfrm>
          <a:prstGeom prst="rect">
            <a:avLst/>
          </a:prstGeom>
          <a:solidFill>
            <a:srgbClr val="7D818A"/>
          </a:solidFill>
          <a:ln/>
        </p:spPr>
      </p:sp>
      <p:sp>
        <p:nvSpPr>
          <p:cNvPr id="54" name="Shape 52"/>
          <p:cNvSpPr/>
          <p:nvPr/>
        </p:nvSpPr>
        <p:spPr>
          <a:xfrm>
            <a:off x="4899419" y="2554834"/>
            <a:ext cx="30047" cy="60350"/>
          </a:xfrm>
          <a:prstGeom prst="roundRect">
            <a:avLst>
              <a:gd name="adj" fmla="val 91297"/>
            </a:avLst>
          </a:prstGeom>
          <a:solidFill>
            <a:srgbClr val="9A9EA6"/>
          </a:solidFill>
          <a:ln/>
        </p:spPr>
      </p:sp>
      <p:sp>
        <p:nvSpPr>
          <p:cNvPr id="55" name="Shape 53"/>
          <p:cNvSpPr/>
          <p:nvPr/>
        </p:nvSpPr>
        <p:spPr>
          <a:xfrm>
            <a:off x="4817059" y="2606040"/>
            <a:ext cx="194767" cy="274320"/>
          </a:xfrm>
          <a:prstGeom prst="roundRect">
            <a:avLst>
              <a:gd name="adj" fmla="val 23474"/>
            </a:avLst>
          </a:prstGeom>
          <a:solidFill>
            <a:srgbClr val="9A9EA6"/>
          </a:solidFill>
          <a:ln/>
        </p:spPr>
      </p:sp>
      <p:sp>
        <p:nvSpPr>
          <p:cNvPr id="56" name="Shape 54"/>
          <p:cNvSpPr/>
          <p:nvPr/>
        </p:nvSpPr>
        <p:spPr>
          <a:xfrm>
            <a:off x="4844491" y="2830982"/>
            <a:ext cx="139903" cy="49378"/>
          </a:xfrm>
          <a:prstGeom prst="rect">
            <a:avLst/>
          </a:prstGeom>
          <a:solidFill>
            <a:srgbClr val="7D818A"/>
          </a:solidFill>
          <a:ln/>
        </p:spPr>
      </p:sp>
      <p:sp>
        <p:nvSpPr>
          <p:cNvPr id="57" name="Shape 55"/>
          <p:cNvSpPr/>
          <p:nvPr/>
        </p:nvSpPr>
        <p:spPr>
          <a:xfrm>
            <a:off x="5149050" y="2554834"/>
            <a:ext cx="30047" cy="60350"/>
          </a:xfrm>
          <a:prstGeom prst="roundRect">
            <a:avLst>
              <a:gd name="adj" fmla="val 91297"/>
            </a:avLst>
          </a:prstGeom>
          <a:solidFill>
            <a:srgbClr val="9A9EA6"/>
          </a:solidFill>
          <a:ln/>
        </p:spPr>
      </p:sp>
      <p:sp>
        <p:nvSpPr>
          <p:cNvPr id="58" name="Shape 56"/>
          <p:cNvSpPr/>
          <p:nvPr/>
        </p:nvSpPr>
        <p:spPr>
          <a:xfrm>
            <a:off x="5066690" y="2606040"/>
            <a:ext cx="194767" cy="274320"/>
          </a:xfrm>
          <a:prstGeom prst="roundRect">
            <a:avLst>
              <a:gd name="adj" fmla="val 23474"/>
            </a:avLst>
          </a:prstGeom>
          <a:solidFill>
            <a:srgbClr val="9A9EA6"/>
          </a:solidFill>
          <a:ln/>
        </p:spPr>
      </p:sp>
      <p:sp>
        <p:nvSpPr>
          <p:cNvPr id="59" name="Shape 57"/>
          <p:cNvSpPr/>
          <p:nvPr/>
        </p:nvSpPr>
        <p:spPr>
          <a:xfrm>
            <a:off x="5094122" y="2830982"/>
            <a:ext cx="139903" cy="49378"/>
          </a:xfrm>
          <a:prstGeom prst="rect">
            <a:avLst/>
          </a:prstGeom>
          <a:solidFill>
            <a:srgbClr val="7D818A"/>
          </a:solidFill>
          <a:ln/>
        </p:spPr>
      </p:sp>
      <p:sp>
        <p:nvSpPr>
          <p:cNvPr id="60" name="Shape 58"/>
          <p:cNvSpPr/>
          <p:nvPr/>
        </p:nvSpPr>
        <p:spPr>
          <a:xfrm>
            <a:off x="5398682" y="2554834"/>
            <a:ext cx="30047" cy="60350"/>
          </a:xfrm>
          <a:prstGeom prst="roundRect">
            <a:avLst>
              <a:gd name="adj" fmla="val 91297"/>
            </a:avLst>
          </a:prstGeom>
          <a:solidFill>
            <a:srgbClr val="9A9EA6"/>
          </a:solidFill>
          <a:ln/>
        </p:spPr>
      </p:sp>
      <p:sp>
        <p:nvSpPr>
          <p:cNvPr id="61" name="Shape 59"/>
          <p:cNvSpPr/>
          <p:nvPr/>
        </p:nvSpPr>
        <p:spPr>
          <a:xfrm>
            <a:off x="5316322" y="2606040"/>
            <a:ext cx="194767" cy="274320"/>
          </a:xfrm>
          <a:prstGeom prst="roundRect">
            <a:avLst>
              <a:gd name="adj" fmla="val 23474"/>
            </a:avLst>
          </a:prstGeom>
          <a:solidFill>
            <a:srgbClr val="9A9EA6"/>
          </a:solidFill>
          <a:ln/>
        </p:spPr>
      </p:sp>
      <p:sp>
        <p:nvSpPr>
          <p:cNvPr id="62" name="Shape 60"/>
          <p:cNvSpPr/>
          <p:nvPr/>
        </p:nvSpPr>
        <p:spPr>
          <a:xfrm>
            <a:off x="5343754" y="2830982"/>
            <a:ext cx="139903" cy="49378"/>
          </a:xfrm>
          <a:prstGeom prst="rect">
            <a:avLst/>
          </a:prstGeom>
          <a:solidFill>
            <a:srgbClr val="7D818A"/>
          </a:solidFill>
          <a:ln/>
        </p:spPr>
      </p:sp>
      <p:sp>
        <p:nvSpPr>
          <p:cNvPr id="63" name="Shape 61"/>
          <p:cNvSpPr/>
          <p:nvPr/>
        </p:nvSpPr>
        <p:spPr>
          <a:xfrm>
            <a:off x="5648313" y="2554834"/>
            <a:ext cx="30047" cy="60350"/>
          </a:xfrm>
          <a:prstGeom prst="roundRect">
            <a:avLst>
              <a:gd name="adj" fmla="val 91297"/>
            </a:avLst>
          </a:prstGeom>
          <a:solidFill>
            <a:srgbClr val="9A9EA6"/>
          </a:solidFill>
          <a:ln/>
        </p:spPr>
      </p:sp>
      <p:sp>
        <p:nvSpPr>
          <p:cNvPr id="64" name="Shape 62"/>
          <p:cNvSpPr/>
          <p:nvPr/>
        </p:nvSpPr>
        <p:spPr>
          <a:xfrm>
            <a:off x="5565953" y="2606040"/>
            <a:ext cx="194767" cy="274320"/>
          </a:xfrm>
          <a:prstGeom prst="roundRect">
            <a:avLst>
              <a:gd name="adj" fmla="val 23474"/>
            </a:avLst>
          </a:prstGeom>
          <a:solidFill>
            <a:srgbClr val="9A9EA6"/>
          </a:solidFill>
          <a:ln/>
        </p:spPr>
      </p:sp>
      <p:sp>
        <p:nvSpPr>
          <p:cNvPr id="65" name="Shape 63"/>
          <p:cNvSpPr/>
          <p:nvPr/>
        </p:nvSpPr>
        <p:spPr>
          <a:xfrm>
            <a:off x="5593385" y="2830982"/>
            <a:ext cx="139903" cy="49378"/>
          </a:xfrm>
          <a:prstGeom prst="rect">
            <a:avLst/>
          </a:prstGeom>
          <a:solidFill>
            <a:srgbClr val="7D818A"/>
          </a:solidFill>
          <a:ln/>
        </p:spPr>
      </p:sp>
      <p:sp>
        <p:nvSpPr>
          <p:cNvPr id="66" name="Shape 64"/>
          <p:cNvSpPr/>
          <p:nvPr/>
        </p:nvSpPr>
        <p:spPr>
          <a:xfrm>
            <a:off x="905320" y="2975458"/>
            <a:ext cx="30047" cy="60350"/>
          </a:xfrm>
          <a:prstGeom prst="roundRect">
            <a:avLst>
              <a:gd name="adj" fmla="val 91297"/>
            </a:avLst>
          </a:prstGeom>
          <a:solidFill>
            <a:srgbClr val="9A9EA6"/>
          </a:solidFill>
          <a:ln/>
        </p:spPr>
      </p:sp>
      <p:sp>
        <p:nvSpPr>
          <p:cNvPr id="67" name="Shape 65"/>
          <p:cNvSpPr/>
          <p:nvPr/>
        </p:nvSpPr>
        <p:spPr>
          <a:xfrm>
            <a:off x="822960" y="3026664"/>
            <a:ext cx="194767" cy="274320"/>
          </a:xfrm>
          <a:prstGeom prst="roundRect">
            <a:avLst>
              <a:gd name="adj" fmla="val 23474"/>
            </a:avLst>
          </a:prstGeom>
          <a:solidFill>
            <a:srgbClr val="9A9EA6"/>
          </a:solidFill>
          <a:ln/>
        </p:spPr>
      </p:sp>
      <p:sp>
        <p:nvSpPr>
          <p:cNvPr id="68" name="Shape 66"/>
          <p:cNvSpPr/>
          <p:nvPr/>
        </p:nvSpPr>
        <p:spPr>
          <a:xfrm>
            <a:off x="850392" y="3251606"/>
            <a:ext cx="139903" cy="49378"/>
          </a:xfrm>
          <a:prstGeom prst="rect">
            <a:avLst/>
          </a:prstGeom>
          <a:solidFill>
            <a:srgbClr val="7D818A"/>
          </a:solidFill>
          <a:ln/>
        </p:spPr>
      </p:sp>
      <p:sp>
        <p:nvSpPr>
          <p:cNvPr id="69" name="Shape 67"/>
          <p:cNvSpPr/>
          <p:nvPr/>
        </p:nvSpPr>
        <p:spPr>
          <a:xfrm>
            <a:off x="1154951" y="2975458"/>
            <a:ext cx="30047" cy="60350"/>
          </a:xfrm>
          <a:prstGeom prst="roundRect">
            <a:avLst>
              <a:gd name="adj" fmla="val 91297"/>
            </a:avLst>
          </a:prstGeom>
          <a:solidFill>
            <a:srgbClr val="9A9EA6"/>
          </a:solidFill>
          <a:ln/>
        </p:spPr>
      </p:sp>
      <p:sp>
        <p:nvSpPr>
          <p:cNvPr id="70" name="Shape 68"/>
          <p:cNvSpPr/>
          <p:nvPr/>
        </p:nvSpPr>
        <p:spPr>
          <a:xfrm>
            <a:off x="1072591" y="3026664"/>
            <a:ext cx="194767" cy="274320"/>
          </a:xfrm>
          <a:prstGeom prst="roundRect">
            <a:avLst>
              <a:gd name="adj" fmla="val 23474"/>
            </a:avLst>
          </a:prstGeom>
          <a:solidFill>
            <a:srgbClr val="9A9EA6"/>
          </a:solidFill>
          <a:ln/>
        </p:spPr>
      </p:sp>
      <p:sp>
        <p:nvSpPr>
          <p:cNvPr id="71" name="Shape 69"/>
          <p:cNvSpPr/>
          <p:nvPr/>
        </p:nvSpPr>
        <p:spPr>
          <a:xfrm>
            <a:off x="1100023" y="3251606"/>
            <a:ext cx="139903" cy="49378"/>
          </a:xfrm>
          <a:prstGeom prst="rect">
            <a:avLst/>
          </a:prstGeom>
          <a:solidFill>
            <a:srgbClr val="7D818A"/>
          </a:solidFill>
          <a:ln/>
        </p:spPr>
      </p:sp>
      <p:sp>
        <p:nvSpPr>
          <p:cNvPr id="72" name="Shape 70"/>
          <p:cNvSpPr/>
          <p:nvPr/>
        </p:nvSpPr>
        <p:spPr>
          <a:xfrm>
            <a:off x="1404582" y="2975458"/>
            <a:ext cx="30047" cy="60350"/>
          </a:xfrm>
          <a:prstGeom prst="roundRect">
            <a:avLst>
              <a:gd name="adj" fmla="val 91297"/>
            </a:avLst>
          </a:prstGeom>
          <a:solidFill>
            <a:srgbClr val="9A9EA6"/>
          </a:solidFill>
          <a:ln/>
        </p:spPr>
      </p:sp>
      <p:sp>
        <p:nvSpPr>
          <p:cNvPr id="73" name="Shape 71"/>
          <p:cNvSpPr/>
          <p:nvPr/>
        </p:nvSpPr>
        <p:spPr>
          <a:xfrm>
            <a:off x="1322222" y="3026664"/>
            <a:ext cx="194767" cy="274320"/>
          </a:xfrm>
          <a:prstGeom prst="roundRect">
            <a:avLst>
              <a:gd name="adj" fmla="val 23474"/>
            </a:avLst>
          </a:prstGeom>
          <a:solidFill>
            <a:srgbClr val="9A9EA6"/>
          </a:solidFill>
          <a:ln/>
        </p:spPr>
      </p:sp>
      <p:sp>
        <p:nvSpPr>
          <p:cNvPr id="74" name="Shape 72"/>
          <p:cNvSpPr/>
          <p:nvPr/>
        </p:nvSpPr>
        <p:spPr>
          <a:xfrm>
            <a:off x="1349654" y="3251606"/>
            <a:ext cx="139903" cy="49378"/>
          </a:xfrm>
          <a:prstGeom prst="rect">
            <a:avLst/>
          </a:prstGeom>
          <a:solidFill>
            <a:srgbClr val="7D818A"/>
          </a:solidFill>
          <a:ln/>
        </p:spPr>
      </p:sp>
      <p:sp>
        <p:nvSpPr>
          <p:cNvPr id="75" name="Shape 73"/>
          <p:cNvSpPr/>
          <p:nvPr/>
        </p:nvSpPr>
        <p:spPr>
          <a:xfrm>
            <a:off x="1654214" y="2975458"/>
            <a:ext cx="30047" cy="60350"/>
          </a:xfrm>
          <a:prstGeom prst="roundRect">
            <a:avLst>
              <a:gd name="adj" fmla="val 91297"/>
            </a:avLst>
          </a:prstGeom>
          <a:solidFill>
            <a:srgbClr val="9A9EA6"/>
          </a:solidFill>
          <a:ln/>
        </p:spPr>
      </p:sp>
      <p:sp>
        <p:nvSpPr>
          <p:cNvPr id="76" name="Shape 74"/>
          <p:cNvSpPr/>
          <p:nvPr/>
        </p:nvSpPr>
        <p:spPr>
          <a:xfrm>
            <a:off x="1571854" y="3026664"/>
            <a:ext cx="194767" cy="274320"/>
          </a:xfrm>
          <a:prstGeom prst="roundRect">
            <a:avLst>
              <a:gd name="adj" fmla="val 23474"/>
            </a:avLst>
          </a:prstGeom>
          <a:solidFill>
            <a:srgbClr val="9A9EA6"/>
          </a:solidFill>
          <a:ln/>
        </p:spPr>
      </p:sp>
      <p:sp>
        <p:nvSpPr>
          <p:cNvPr id="77" name="Shape 75"/>
          <p:cNvSpPr/>
          <p:nvPr/>
        </p:nvSpPr>
        <p:spPr>
          <a:xfrm>
            <a:off x="1599286" y="3251606"/>
            <a:ext cx="139903" cy="49378"/>
          </a:xfrm>
          <a:prstGeom prst="rect">
            <a:avLst/>
          </a:prstGeom>
          <a:solidFill>
            <a:srgbClr val="7D818A"/>
          </a:solidFill>
          <a:ln/>
        </p:spPr>
      </p:sp>
      <p:sp>
        <p:nvSpPr>
          <p:cNvPr id="78" name="Shape 76"/>
          <p:cNvSpPr/>
          <p:nvPr/>
        </p:nvSpPr>
        <p:spPr>
          <a:xfrm>
            <a:off x="1903845" y="2975458"/>
            <a:ext cx="30047" cy="60350"/>
          </a:xfrm>
          <a:prstGeom prst="roundRect">
            <a:avLst>
              <a:gd name="adj" fmla="val 91297"/>
            </a:avLst>
          </a:prstGeom>
          <a:solidFill>
            <a:srgbClr val="9A9EA6"/>
          </a:solidFill>
          <a:ln/>
        </p:spPr>
      </p:sp>
      <p:sp>
        <p:nvSpPr>
          <p:cNvPr id="79" name="Shape 77"/>
          <p:cNvSpPr/>
          <p:nvPr/>
        </p:nvSpPr>
        <p:spPr>
          <a:xfrm>
            <a:off x="1821485" y="3026664"/>
            <a:ext cx="194767" cy="274320"/>
          </a:xfrm>
          <a:prstGeom prst="roundRect">
            <a:avLst>
              <a:gd name="adj" fmla="val 23474"/>
            </a:avLst>
          </a:prstGeom>
          <a:solidFill>
            <a:srgbClr val="9A9EA6"/>
          </a:solidFill>
          <a:ln/>
        </p:spPr>
      </p:sp>
      <p:sp>
        <p:nvSpPr>
          <p:cNvPr id="80" name="Shape 78"/>
          <p:cNvSpPr/>
          <p:nvPr/>
        </p:nvSpPr>
        <p:spPr>
          <a:xfrm>
            <a:off x="1848917" y="3251606"/>
            <a:ext cx="139903" cy="49378"/>
          </a:xfrm>
          <a:prstGeom prst="rect">
            <a:avLst/>
          </a:prstGeom>
          <a:solidFill>
            <a:srgbClr val="7D818A"/>
          </a:solidFill>
          <a:ln/>
        </p:spPr>
      </p:sp>
      <p:sp>
        <p:nvSpPr>
          <p:cNvPr id="81" name="Shape 79"/>
          <p:cNvSpPr/>
          <p:nvPr/>
        </p:nvSpPr>
        <p:spPr>
          <a:xfrm>
            <a:off x="2153476" y="2975458"/>
            <a:ext cx="30047" cy="60350"/>
          </a:xfrm>
          <a:prstGeom prst="roundRect">
            <a:avLst>
              <a:gd name="adj" fmla="val 91297"/>
            </a:avLst>
          </a:prstGeom>
          <a:solidFill>
            <a:srgbClr val="9A9EA6"/>
          </a:solidFill>
          <a:ln/>
        </p:spPr>
      </p:sp>
      <p:sp>
        <p:nvSpPr>
          <p:cNvPr id="82" name="Shape 80"/>
          <p:cNvSpPr/>
          <p:nvPr/>
        </p:nvSpPr>
        <p:spPr>
          <a:xfrm>
            <a:off x="2071116" y="3026664"/>
            <a:ext cx="194767" cy="274320"/>
          </a:xfrm>
          <a:prstGeom prst="roundRect">
            <a:avLst>
              <a:gd name="adj" fmla="val 23474"/>
            </a:avLst>
          </a:prstGeom>
          <a:solidFill>
            <a:srgbClr val="9A9EA6"/>
          </a:solidFill>
          <a:ln/>
        </p:spPr>
      </p:sp>
      <p:sp>
        <p:nvSpPr>
          <p:cNvPr id="83" name="Shape 81"/>
          <p:cNvSpPr/>
          <p:nvPr/>
        </p:nvSpPr>
        <p:spPr>
          <a:xfrm>
            <a:off x="2098548" y="3251606"/>
            <a:ext cx="139903" cy="49378"/>
          </a:xfrm>
          <a:prstGeom prst="rect">
            <a:avLst/>
          </a:prstGeom>
          <a:solidFill>
            <a:srgbClr val="7D818A"/>
          </a:solidFill>
          <a:ln/>
        </p:spPr>
      </p:sp>
      <p:sp>
        <p:nvSpPr>
          <p:cNvPr id="84" name="Shape 82"/>
          <p:cNvSpPr/>
          <p:nvPr/>
        </p:nvSpPr>
        <p:spPr>
          <a:xfrm>
            <a:off x="2403107" y="2975458"/>
            <a:ext cx="30047" cy="60350"/>
          </a:xfrm>
          <a:prstGeom prst="roundRect">
            <a:avLst>
              <a:gd name="adj" fmla="val 91297"/>
            </a:avLst>
          </a:prstGeom>
          <a:solidFill>
            <a:srgbClr val="9A9EA6"/>
          </a:solidFill>
          <a:ln/>
        </p:spPr>
      </p:sp>
      <p:sp>
        <p:nvSpPr>
          <p:cNvPr id="85" name="Shape 83"/>
          <p:cNvSpPr/>
          <p:nvPr/>
        </p:nvSpPr>
        <p:spPr>
          <a:xfrm>
            <a:off x="2320747" y="3026664"/>
            <a:ext cx="194767" cy="274320"/>
          </a:xfrm>
          <a:prstGeom prst="roundRect">
            <a:avLst>
              <a:gd name="adj" fmla="val 23474"/>
            </a:avLst>
          </a:prstGeom>
          <a:solidFill>
            <a:srgbClr val="9A9EA6"/>
          </a:solidFill>
          <a:ln/>
        </p:spPr>
      </p:sp>
      <p:sp>
        <p:nvSpPr>
          <p:cNvPr id="86" name="Shape 84"/>
          <p:cNvSpPr/>
          <p:nvPr/>
        </p:nvSpPr>
        <p:spPr>
          <a:xfrm>
            <a:off x="2348179" y="3251606"/>
            <a:ext cx="139903" cy="49378"/>
          </a:xfrm>
          <a:prstGeom prst="rect">
            <a:avLst/>
          </a:prstGeom>
          <a:solidFill>
            <a:srgbClr val="7D818A"/>
          </a:solidFill>
          <a:ln/>
        </p:spPr>
      </p:sp>
      <p:sp>
        <p:nvSpPr>
          <p:cNvPr id="87" name="Shape 85"/>
          <p:cNvSpPr/>
          <p:nvPr/>
        </p:nvSpPr>
        <p:spPr>
          <a:xfrm>
            <a:off x="2652738" y="2975458"/>
            <a:ext cx="30047" cy="60350"/>
          </a:xfrm>
          <a:prstGeom prst="roundRect">
            <a:avLst>
              <a:gd name="adj" fmla="val 91297"/>
            </a:avLst>
          </a:prstGeom>
          <a:solidFill>
            <a:srgbClr val="9A9EA6"/>
          </a:solidFill>
          <a:ln/>
        </p:spPr>
      </p:sp>
      <p:sp>
        <p:nvSpPr>
          <p:cNvPr id="88" name="Shape 86"/>
          <p:cNvSpPr/>
          <p:nvPr/>
        </p:nvSpPr>
        <p:spPr>
          <a:xfrm>
            <a:off x="2570378" y="3026664"/>
            <a:ext cx="194767" cy="274320"/>
          </a:xfrm>
          <a:prstGeom prst="roundRect">
            <a:avLst>
              <a:gd name="adj" fmla="val 23474"/>
            </a:avLst>
          </a:prstGeom>
          <a:solidFill>
            <a:srgbClr val="9A9EA6"/>
          </a:solidFill>
          <a:ln/>
        </p:spPr>
      </p:sp>
      <p:sp>
        <p:nvSpPr>
          <p:cNvPr id="89" name="Shape 87"/>
          <p:cNvSpPr/>
          <p:nvPr/>
        </p:nvSpPr>
        <p:spPr>
          <a:xfrm>
            <a:off x="2597810" y="3251606"/>
            <a:ext cx="139903" cy="49378"/>
          </a:xfrm>
          <a:prstGeom prst="rect">
            <a:avLst/>
          </a:prstGeom>
          <a:solidFill>
            <a:srgbClr val="7D818A"/>
          </a:solidFill>
          <a:ln/>
        </p:spPr>
      </p:sp>
      <p:sp>
        <p:nvSpPr>
          <p:cNvPr id="90" name="Shape 88"/>
          <p:cNvSpPr/>
          <p:nvPr/>
        </p:nvSpPr>
        <p:spPr>
          <a:xfrm>
            <a:off x="2902370" y="2975458"/>
            <a:ext cx="30047" cy="60350"/>
          </a:xfrm>
          <a:prstGeom prst="roundRect">
            <a:avLst>
              <a:gd name="adj" fmla="val 91297"/>
            </a:avLst>
          </a:prstGeom>
          <a:solidFill>
            <a:srgbClr val="9A9EA6"/>
          </a:solidFill>
          <a:ln/>
        </p:spPr>
      </p:sp>
      <p:sp>
        <p:nvSpPr>
          <p:cNvPr id="91" name="Shape 89"/>
          <p:cNvSpPr/>
          <p:nvPr/>
        </p:nvSpPr>
        <p:spPr>
          <a:xfrm>
            <a:off x="2820010" y="3026664"/>
            <a:ext cx="194767" cy="274320"/>
          </a:xfrm>
          <a:prstGeom prst="roundRect">
            <a:avLst>
              <a:gd name="adj" fmla="val 23474"/>
            </a:avLst>
          </a:prstGeom>
          <a:solidFill>
            <a:srgbClr val="9A9EA6"/>
          </a:solidFill>
          <a:ln/>
        </p:spPr>
      </p:sp>
      <p:sp>
        <p:nvSpPr>
          <p:cNvPr id="92" name="Shape 90"/>
          <p:cNvSpPr/>
          <p:nvPr/>
        </p:nvSpPr>
        <p:spPr>
          <a:xfrm>
            <a:off x="2847442" y="3251606"/>
            <a:ext cx="139903" cy="49378"/>
          </a:xfrm>
          <a:prstGeom prst="rect">
            <a:avLst/>
          </a:prstGeom>
          <a:solidFill>
            <a:srgbClr val="7D818A"/>
          </a:solidFill>
          <a:ln/>
        </p:spPr>
      </p:sp>
      <p:sp>
        <p:nvSpPr>
          <p:cNvPr id="93" name="Shape 91"/>
          <p:cNvSpPr/>
          <p:nvPr/>
        </p:nvSpPr>
        <p:spPr>
          <a:xfrm>
            <a:off x="3152001" y="2975458"/>
            <a:ext cx="30047" cy="60350"/>
          </a:xfrm>
          <a:prstGeom prst="roundRect">
            <a:avLst>
              <a:gd name="adj" fmla="val 91297"/>
            </a:avLst>
          </a:prstGeom>
          <a:solidFill>
            <a:srgbClr val="9A9EA6"/>
          </a:solidFill>
          <a:ln/>
        </p:spPr>
      </p:sp>
      <p:sp>
        <p:nvSpPr>
          <p:cNvPr id="94" name="Shape 92"/>
          <p:cNvSpPr/>
          <p:nvPr/>
        </p:nvSpPr>
        <p:spPr>
          <a:xfrm>
            <a:off x="3069641" y="3026664"/>
            <a:ext cx="194767" cy="274320"/>
          </a:xfrm>
          <a:prstGeom prst="roundRect">
            <a:avLst>
              <a:gd name="adj" fmla="val 23474"/>
            </a:avLst>
          </a:prstGeom>
          <a:solidFill>
            <a:srgbClr val="9A9EA6"/>
          </a:solidFill>
          <a:ln/>
        </p:spPr>
      </p:sp>
      <p:sp>
        <p:nvSpPr>
          <p:cNvPr id="95" name="Shape 93"/>
          <p:cNvSpPr/>
          <p:nvPr/>
        </p:nvSpPr>
        <p:spPr>
          <a:xfrm>
            <a:off x="3097073" y="3251606"/>
            <a:ext cx="139903" cy="49378"/>
          </a:xfrm>
          <a:prstGeom prst="rect">
            <a:avLst/>
          </a:prstGeom>
          <a:solidFill>
            <a:srgbClr val="7D818A"/>
          </a:solidFill>
          <a:ln/>
        </p:spPr>
      </p:sp>
      <p:sp>
        <p:nvSpPr>
          <p:cNvPr id="96" name="Shape 94"/>
          <p:cNvSpPr/>
          <p:nvPr/>
        </p:nvSpPr>
        <p:spPr>
          <a:xfrm>
            <a:off x="3401632" y="2975458"/>
            <a:ext cx="30047" cy="60350"/>
          </a:xfrm>
          <a:prstGeom prst="roundRect">
            <a:avLst>
              <a:gd name="adj" fmla="val 91297"/>
            </a:avLst>
          </a:prstGeom>
          <a:solidFill>
            <a:srgbClr val="9A9EA6"/>
          </a:solidFill>
          <a:ln/>
        </p:spPr>
      </p:sp>
      <p:sp>
        <p:nvSpPr>
          <p:cNvPr id="97" name="Shape 95"/>
          <p:cNvSpPr/>
          <p:nvPr/>
        </p:nvSpPr>
        <p:spPr>
          <a:xfrm>
            <a:off x="3319272" y="3026664"/>
            <a:ext cx="194767" cy="274320"/>
          </a:xfrm>
          <a:prstGeom prst="roundRect">
            <a:avLst>
              <a:gd name="adj" fmla="val 23474"/>
            </a:avLst>
          </a:prstGeom>
          <a:solidFill>
            <a:srgbClr val="9A9EA6"/>
          </a:solidFill>
          <a:ln/>
        </p:spPr>
      </p:sp>
      <p:sp>
        <p:nvSpPr>
          <p:cNvPr id="98" name="Shape 96"/>
          <p:cNvSpPr/>
          <p:nvPr/>
        </p:nvSpPr>
        <p:spPr>
          <a:xfrm>
            <a:off x="3346704" y="3251606"/>
            <a:ext cx="139903" cy="49378"/>
          </a:xfrm>
          <a:prstGeom prst="rect">
            <a:avLst/>
          </a:prstGeom>
          <a:solidFill>
            <a:srgbClr val="7D818A"/>
          </a:solidFill>
          <a:ln/>
        </p:spPr>
      </p:sp>
      <p:sp>
        <p:nvSpPr>
          <p:cNvPr id="99" name="Shape 97"/>
          <p:cNvSpPr/>
          <p:nvPr/>
        </p:nvSpPr>
        <p:spPr>
          <a:xfrm>
            <a:off x="3651263" y="2975458"/>
            <a:ext cx="30047" cy="60350"/>
          </a:xfrm>
          <a:prstGeom prst="roundRect">
            <a:avLst>
              <a:gd name="adj" fmla="val 91297"/>
            </a:avLst>
          </a:prstGeom>
          <a:solidFill>
            <a:srgbClr val="9A9EA6"/>
          </a:solidFill>
          <a:ln/>
        </p:spPr>
      </p:sp>
      <p:sp>
        <p:nvSpPr>
          <p:cNvPr id="100" name="Shape 98"/>
          <p:cNvSpPr/>
          <p:nvPr/>
        </p:nvSpPr>
        <p:spPr>
          <a:xfrm>
            <a:off x="3568903" y="3026664"/>
            <a:ext cx="194767" cy="274320"/>
          </a:xfrm>
          <a:prstGeom prst="roundRect">
            <a:avLst>
              <a:gd name="adj" fmla="val 23474"/>
            </a:avLst>
          </a:prstGeom>
          <a:solidFill>
            <a:srgbClr val="9A9EA6"/>
          </a:solidFill>
          <a:ln/>
        </p:spPr>
      </p:sp>
      <p:sp>
        <p:nvSpPr>
          <p:cNvPr id="101" name="Shape 99"/>
          <p:cNvSpPr/>
          <p:nvPr/>
        </p:nvSpPr>
        <p:spPr>
          <a:xfrm>
            <a:off x="3596335" y="3251606"/>
            <a:ext cx="139903" cy="49378"/>
          </a:xfrm>
          <a:prstGeom prst="rect">
            <a:avLst/>
          </a:prstGeom>
          <a:solidFill>
            <a:srgbClr val="7D818A"/>
          </a:solidFill>
          <a:ln/>
        </p:spPr>
      </p:sp>
      <p:sp>
        <p:nvSpPr>
          <p:cNvPr id="102" name="Shape 100"/>
          <p:cNvSpPr/>
          <p:nvPr/>
        </p:nvSpPr>
        <p:spPr>
          <a:xfrm>
            <a:off x="3900894" y="2975458"/>
            <a:ext cx="30047" cy="60350"/>
          </a:xfrm>
          <a:prstGeom prst="roundRect">
            <a:avLst>
              <a:gd name="adj" fmla="val 91297"/>
            </a:avLst>
          </a:prstGeom>
          <a:solidFill>
            <a:srgbClr val="9A9EA6"/>
          </a:solidFill>
          <a:ln/>
        </p:spPr>
      </p:sp>
      <p:sp>
        <p:nvSpPr>
          <p:cNvPr id="103" name="Shape 101"/>
          <p:cNvSpPr/>
          <p:nvPr/>
        </p:nvSpPr>
        <p:spPr>
          <a:xfrm>
            <a:off x="3818534" y="3026664"/>
            <a:ext cx="194767" cy="274320"/>
          </a:xfrm>
          <a:prstGeom prst="roundRect">
            <a:avLst>
              <a:gd name="adj" fmla="val 23474"/>
            </a:avLst>
          </a:prstGeom>
          <a:solidFill>
            <a:srgbClr val="9A9EA6"/>
          </a:solidFill>
          <a:ln/>
        </p:spPr>
      </p:sp>
      <p:sp>
        <p:nvSpPr>
          <p:cNvPr id="104" name="Shape 102"/>
          <p:cNvSpPr/>
          <p:nvPr/>
        </p:nvSpPr>
        <p:spPr>
          <a:xfrm>
            <a:off x="3845966" y="3251606"/>
            <a:ext cx="139903" cy="49378"/>
          </a:xfrm>
          <a:prstGeom prst="rect">
            <a:avLst/>
          </a:prstGeom>
          <a:solidFill>
            <a:srgbClr val="7D818A"/>
          </a:solidFill>
          <a:ln/>
        </p:spPr>
      </p:sp>
      <p:sp>
        <p:nvSpPr>
          <p:cNvPr id="105" name="Shape 103"/>
          <p:cNvSpPr/>
          <p:nvPr/>
        </p:nvSpPr>
        <p:spPr>
          <a:xfrm>
            <a:off x="4150526" y="2975458"/>
            <a:ext cx="30047" cy="60350"/>
          </a:xfrm>
          <a:prstGeom prst="roundRect">
            <a:avLst>
              <a:gd name="adj" fmla="val 91297"/>
            </a:avLst>
          </a:prstGeom>
          <a:solidFill>
            <a:srgbClr val="9A9EA6"/>
          </a:solidFill>
          <a:ln/>
        </p:spPr>
      </p:sp>
      <p:sp>
        <p:nvSpPr>
          <p:cNvPr id="106" name="Shape 104"/>
          <p:cNvSpPr/>
          <p:nvPr/>
        </p:nvSpPr>
        <p:spPr>
          <a:xfrm>
            <a:off x="4068166" y="3026664"/>
            <a:ext cx="194767" cy="274320"/>
          </a:xfrm>
          <a:prstGeom prst="roundRect">
            <a:avLst>
              <a:gd name="adj" fmla="val 23474"/>
            </a:avLst>
          </a:prstGeom>
          <a:solidFill>
            <a:srgbClr val="9A9EA6"/>
          </a:solidFill>
          <a:ln/>
        </p:spPr>
      </p:sp>
      <p:sp>
        <p:nvSpPr>
          <p:cNvPr id="107" name="Shape 105"/>
          <p:cNvSpPr/>
          <p:nvPr/>
        </p:nvSpPr>
        <p:spPr>
          <a:xfrm>
            <a:off x="4095598" y="3251606"/>
            <a:ext cx="139903" cy="49378"/>
          </a:xfrm>
          <a:prstGeom prst="rect">
            <a:avLst/>
          </a:prstGeom>
          <a:solidFill>
            <a:srgbClr val="7D818A"/>
          </a:solidFill>
          <a:ln/>
        </p:spPr>
      </p:sp>
      <p:sp>
        <p:nvSpPr>
          <p:cNvPr id="108" name="Shape 106"/>
          <p:cNvSpPr/>
          <p:nvPr/>
        </p:nvSpPr>
        <p:spPr>
          <a:xfrm>
            <a:off x="4400157" y="2975458"/>
            <a:ext cx="30047" cy="60350"/>
          </a:xfrm>
          <a:prstGeom prst="roundRect">
            <a:avLst>
              <a:gd name="adj" fmla="val 91297"/>
            </a:avLst>
          </a:prstGeom>
          <a:solidFill>
            <a:srgbClr val="9A9EA6"/>
          </a:solidFill>
          <a:ln/>
        </p:spPr>
      </p:sp>
      <p:sp>
        <p:nvSpPr>
          <p:cNvPr id="109" name="Shape 107"/>
          <p:cNvSpPr/>
          <p:nvPr/>
        </p:nvSpPr>
        <p:spPr>
          <a:xfrm>
            <a:off x="4317797" y="3026664"/>
            <a:ext cx="194767" cy="274320"/>
          </a:xfrm>
          <a:prstGeom prst="roundRect">
            <a:avLst>
              <a:gd name="adj" fmla="val 23474"/>
            </a:avLst>
          </a:prstGeom>
          <a:solidFill>
            <a:srgbClr val="9A9EA6"/>
          </a:solidFill>
          <a:ln/>
        </p:spPr>
      </p:sp>
      <p:sp>
        <p:nvSpPr>
          <p:cNvPr id="110" name="Shape 108"/>
          <p:cNvSpPr/>
          <p:nvPr/>
        </p:nvSpPr>
        <p:spPr>
          <a:xfrm>
            <a:off x="4345229" y="3251606"/>
            <a:ext cx="139903" cy="49378"/>
          </a:xfrm>
          <a:prstGeom prst="rect">
            <a:avLst/>
          </a:prstGeom>
          <a:solidFill>
            <a:srgbClr val="7D818A"/>
          </a:solidFill>
          <a:ln/>
        </p:spPr>
      </p:sp>
      <p:sp>
        <p:nvSpPr>
          <p:cNvPr id="111" name="Shape 109"/>
          <p:cNvSpPr/>
          <p:nvPr/>
        </p:nvSpPr>
        <p:spPr>
          <a:xfrm>
            <a:off x="4649788" y="2975458"/>
            <a:ext cx="30047" cy="60350"/>
          </a:xfrm>
          <a:prstGeom prst="roundRect">
            <a:avLst>
              <a:gd name="adj" fmla="val 91297"/>
            </a:avLst>
          </a:prstGeom>
          <a:solidFill>
            <a:srgbClr val="9A9EA6"/>
          </a:solidFill>
          <a:ln/>
        </p:spPr>
      </p:sp>
      <p:sp>
        <p:nvSpPr>
          <p:cNvPr id="112" name="Shape 110"/>
          <p:cNvSpPr/>
          <p:nvPr/>
        </p:nvSpPr>
        <p:spPr>
          <a:xfrm>
            <a:off x="4567428" y="3026664"/>
            <a:ext cx="194767" cy="274320"/>
          </a:xfrm>
          <a:prstGeom prst="roundRect">
            <a:avLst>
              <a:gd name="adj" fmla="val 23474"/>
            </a:avLst>
          </a:prstGeom>
          <a:solidFill>
            <a:srgbClr val="9A9EA6"/>
          </a:solidFill>
          <a:ln/>
        </p:spPr>
      </p:sp>
      <p:sp>
        <p:nvSpPr>
          <p:cNvPr id="113" name="Shape 111"/>
          <p:cNvSpPr/>
          <p:nvPr/>
        </p:nvSpPr>
        <p:spPr>
          <a:xfrm>
            <a:off x="4594860" y="3251606"/>
            <a:ext cx="139903" cy="49378"/>
          </a:xfrm>
          <a:prstGeom prst="rect">
            <a:avLst/>
          </a:prstGeom>
          <a:solidFill>
            <a:srgbClr val="7D818A"/>
          </a:solidFill>
          <a:ln/>
        </p:spPr>
      </p:sp>
      <p:sp>
        <p:nvSpPr>
          <p:cNvPr id="114" name="Shape 112"/>
          <p:cNvSpPr/>
          <p:nvPr/>
        </p:nvSpPr>
        <p:spPr>
          <a:xfrm>
            <a:off x="4899419" y="2975458"/>
            <a:ext cx="30047" cy="60350"/>
          </a:xfrm>
          <a:prstGeom prst="roundRect">
            <a:avLst>
              <a:gd name="adj" fmla="val 91297"/>
            </a:avLst>
          </a:prstGeom>
          <a:solidFill>
            <a:srgbClr val="9A9EA6"/>
          </a:solidFill>
          <a:ln/>
        </p:spPr>
      </p:sp>
      <p:sp>
        <p:nvSpPr>
          <p:cNvPr id="115" name="Shape 113"/>
          <p:cNvSpPr/>
          <p:nvPr/>
        </p:nvSpPr>
        <p:spPr>
          <a:xfrm>
            <a:off x="4817059" y="3026664"/>
            <a:ext cx="194767" cy="274320"/>
          </a:xfrm>
          <a:prstGeom prst="roundRect">
            <a:avLst>
              <a:gd name="adj" fmla="val 23474"/>
            </a:avLst>
          </a:prstGeom>
          <a:solidFill>
            <a:srgbClr val="9A9EA6"/>
          </a:solidFill>
          <a:ln/>
        </p:spPr>
      </p:sp>
      <p:sp>
        <p:nvSpPr>
          <p:cNvPr id="116" name="Shape 114"/>
          <p:cNvSpPr/>
          <p:nvPr/>
        </p:nvSpPr>
        <p:spPr>
          <a:xfrm>
            <a:off x="4844491" y="3251606"/>
            <a:ext cx="139903" cy="49378"/>
          </a:xfrm>
          <a:prstGeom prst="rect">
            <a:avLst/>
          </a:prstGeom>
          <a:solidFill>
            <a:srgbClr val="7D818A"/>
          </a:solidFill>
          <a:ln/>
        </p:spPr>
      </p:sp>
      <p:sp>
        <p:nvSpPr>
          <p:cNvPr id="117" name="Shape 115"/>
          <p:cNvSpPr/>
          <p:nvPr/>
        </p:nvSpPr>
        <p:spPr>
          <a:xfrm>
            <a:off x="5149050" y="2975458"/>
            <a:ext cx="30047" cy="60350"/>
          </a:xfrm>
          <a:prstGeom prst="roundRect">
            <a:avLst>
              <a:gd name="adj" fmla="val 91297"/>
            </a:avLst>
          </a:prstGeom>
          <a:solidFill>
            <a:srgbClr val="9A9EA6"/>
          </a:solidFill>
          <a:ln/>
        </p:spPr>
      </p:sp>
      <p:sp>
        <p:nvSpPr>
          <p:cNvPr id="118" name="Shape 116"/>
          <p:cNvSpPr/>
          <p:nvPr/>
        </p:nvSpPr>
        <p:spPr>
          <a:xfrm>
            <a:off x="5066690" y="3026664"/>
            <a:ext cx="194767" cy="274320"/>
          </a:xfrm>
          <a:prstGeom prst="roundRect">
            <a:avLst>
              <a:gd name="adj" fmla="val 23474"/>
            </a:avLst>
          </a:prstGeom>
          <a:solidFill>
            <a:srgbClr val="9A9EA6"/>
          </a:solidFill>
          <a:ln/>
        </p:spPr>
      </p:sp>
      <p:sp>
        <p:nvSpPr>
          <p:cNvPr id="119" name="Shape 117"/>
          <p:cNvSpPr/>
          <p:nvPr/>
        </p:nvSpPr>
        <p:spPr>
          <a:xfrm>
            <a:off x="5094122" y="3251606"/>
            <a:ext cx="139903" cy="49378"/>
          </a:xfrm>
          <a:prstGeom prst="rect">
            <a:avLst/>
          </a:prstGeom>
          <a:solidFill>
            <a:srgbClr val="7D818A"/>
          </a:solidFill>
          <a:ln/>
        </p:spPr>
      </p:sp>
      <p:sp>
        <p:nvSpPr>
          <p:cNvPr id="120" name="Shape 118"/>
          <p:cNvSpPr/>
          <p:nvPr/>
        </p:nvSpPr>
        <p:spPr>
          <a:xfrm>
            <a:off x="5398682" y="2975458"/>
            <a:ext cx="30047" cy="60350"/>
          </a:xfrm>
          <a:prstGeom prst="roundRect">
            <a:avLst>
              <a:gd name="adj" fmla="val 91297"/>
            </a:avLst>
          </a:prstGeom>
          <a:solidFill>
            <a:srgbClr val="9A9EA6"/>
          </a:solidFill>
          <a:ln/>
        </p:spPr>
      </p:sp>
      <p:sp>
        <p:nvSpPr>
          <p:cNvPr id="121" name="Shape 119"/>
          <p:cNvSpPr/>
          <p:nvPr/>
        </p:nvSpPr>
        <p:spPr>
          <a:xfrm>
            <a:off x="5316322" y="3026664"/>
            <a:ext cx="194767" cy="274320"/>
          </a:xfrm>
          <a:prstGeom prst="roundRect">
            <a:avLst>
              <a:gd name="adj" fmla="val 23474"/>
            </a:avLst>
          </a:prstGeom>
          <a:solidFill>
            <a:srgbClr val="9A9EA6"/>
          </a:solidFill>
          <a:ln/>
        </p:spPr>
      </p:sp>
      <p:sp>
        <p:nvSpPr>
          <p:cNvPr id="122" name="Shape 120"/>
          <p:cNvSpPr/>
          <p:nvPr/>
        </p:nvSpPr>
        <p:spPr>
          <a:xfrm>
            <a:off x="5343754" y="3251606"/>
            <a:ext cx="139903" cy="49378"/>
          </a:xfrm>
          <a:prstGeom prst="rect">
            <a:avLst/>
          </a:prstGeom>
          <a:solidFill>
            <a:srgbClr val="7D818A"/>
          </a:solidFill>
          <a:ln/>
        </p:spPr>
      </p:sp>
      <p:sp>
        <p:nvSpPr>
          <p:cNvPr id="123" name="Shape 121"/>
          <p:cNvSpPr/>
          <p:nvPr/>
        </p:nvSpPr>
        <p:spPr>
          <a:xfrm>
            <a:off x="5648313" y="2975458"/>
            <a:ext cx="30047" cy="60350"/>
          </a:xfrm>
          <a:prstGeom prst="roundRect">
            <a:avLst>
              <a:gd name="adj" fmla="val 91297"/>
            </a:avLst>
          </a:prstGeom>
          <a:solidFill>
            <a:srgbClr val="9A9EA6"/>
          </a:solidFill>
          <a:ln/>
        </p:spPr>
      </p:sp>
      <p:sp>
        <p:nvSpPr>
          <p:cNvPr id="124" name="Shape 122"/>
          <p:cNvSpPr/>
          <p:nvPr/>
        </p:nvSpPr>
        <p:spPr>
          <a:xfrm>
            <a:off x="5565953" y="3026664"/>
            <a:ext cx="194767" cy="274320"/>
          </a:xfrm>
          <a:prstGeom prst="roundRect">
            <a:avLst>
              <a:gd name="adj" fmla="val 23474"/>
            </a:avLst>
          </a:prstGeom>
          <a:solidFill>
            <a:srgbClr val="9A9EA6"/>
          </a:solidFill>
          <a:ln/>
        </p:spPr>
      </p:sp>
      <p:sp>
        <p:nvSpPr>
          <p:cNvPr id="125" name="Shape 123"/>
          <p:cNvSpPr/>
          <p:nvPr/>
        </p:nvSpPr>
        <p:spPr>
          <a:xfrm>
            <a:off x="5593385" y="3251606"/>
            <a:ext cx="139903" cy="49378"/>
          </a:xfrm>
          <a:prstGeom prst="rect">
            <a:avLst/>
          </a:prstGeom>
          <a:solidFill>
            <a:srgbClr val="7D818A"/>
          </a:solidFill>
          <a:ln/>
        </p:spPr>
      </p:sp>
      <p:sp>
        <p:nvSpPr>
          <p:cNvPr id="126" name="Shape 124"/>
          <p:cNvSpPr/>
          <p:nvPr/>
        </p:nvSpPr>
        <p:spPr>
          <a:xfrm>
            <a:off x="822960" y="3648456"/>
            <a:ext cx="237744" cy="237744"/>
          </a:xfrm>
          <a:prstGeom prst="roundRect">
            <a:avLst>
              <a:gd name="adj" fmla="val 15385"/>
            </a:avLst>
          </a:prstGeom>
          <a:solidFill>
            <a:srgbClr val="9B2A21"/>
          </a:solidFill>
          <a:ln/>
        </p:spPr>
      </p:sp>
      <p:sp>
        <p:nvSpPr>
          <p:cNvPr id="127" name="Text 125"/>
          <p:cNvSpPr txBox="1"/>
          <p:nvPr/>
        </p:nvSpPr>
        <p:spPr>
          <a:xfrm>
            <a:off x="1188720" y="3611880"/>
            <a:ext cx="4572000" cy="310896"/>
          </a:xfrm>
          <a:prstGeom prst="rect">
            <a:avLst/>
          </a:prstGeom>
          <a:noFill/>
          <a:ln/>
        </p:spPr>
        <p:txBody>
          <a:bodyPr wrap="square" lIns="0" tIns="0" rIns="0" bIns="0" rtlCol="0" anchor="ctr"/>
          <a:lstStyle/>
          <a:p>
            <a:pPr indent="0" marL="0">
              <a:buNone/>
            </a:pPr>
            <a:r>
              <a:rPr lang="en-US" sz="1300" b="1" dirty="0">
                <a:solidFill>
                  <a:schemeClr val="tx1"/>
                </a:solidFill>
              </a:rPr>
              <a:t>6 en mora irrecuperable</a:t>
            </a:r>
            <a:pPr indent="0" marL="0">
              <a:buNone/>
            </a:pPr>
            <a:r>
              <a:rPr lang="en-US" sz="1300" dirty="0">
                <a:solidFill>
                  <a:schemeClr val="tx2"/>
                </a:solidFill>
              </a:rPr>
              <a:t>  ·  situación 5</a:t>
            </a:r>
            <a:endParaRPr lang="en-US" sz="1300" dirty="0"/>
          </a:p>
        </p:txBody>
      </p:sp>
      <p:sp>
        <p:nvSpPr>
          <p:cNvPr id="128" name="Shape 126"/>
          <p:cNvSpPr/>
          <p:nvPr/>
        </p:nvSpPr>
        <p:spPr>
          <a:xfrm>
            <a:off x="822960" y="4105656"/>
            <a:ext cx="237744" cy="237744"/>
          </a:xfrm>
          <a:prstGeom prst="roundRect">
            <a:avLst>
              <a:gd name="adj" fmla="val 15385"/>
            </a:avLst>
          </a:prstGeom>
          <a:solidFill>
            <a:schemeClr val="accent1"/>
          </a:solidFill>
          <a:ln/>
        </p:spPr>
      </p:sp>
      <p:sp>
        <p:nvSpPr>
          <p:cNvPr id="129" name="Text 127"/>
          <p:cNvSpPr txBox="1"/>
          <p:nvPr/>
        </p:nvSpPr>
        <p:spPr>
          <a:xfrm>
            <a:off x="1188720" y="4069080"/>
            <a:ext cx="4572000" cy="310896"/>
          </a:xfrm>
          <a:prstGeom prst="rect">
            <a:avLst/>
          </a:prstGeom>
          <a:noFill/>
          <a:ln/>
        </p:spPr>
        <p:txBody>
          <a:bodyPr wrap="square" lIns="0" tIns="0" rIns="0" bIns="0" rtlCol="0" anchor="ctr"/>
          <a:lstStyle/>
          <a:p>
            <a:pPr indent="0" marL="0">
              <a:buNone/>
            </a:pPr>
            <a:r>
              <a:rPr lang="en-US" sz="1300" b="1" dirty="0">
                <a:solidFill>
                  <a:schemeClr val="tx1"/>
                </a:solidFill>
              </a:rPr>
              <a:t>4 en mora con chance de cobro</a:t>
            </a:r>
            <a:pPr indent="0" marL="0">
              <a:buNone/>
            </a:pPr>
            <a:r>
              <a:rPr lang="en-US" sz="1300" dirty="0">
                <a:solidFill>
                  <a:schemeClr val="tx2"/>
                </a:solidFill>
              </a:rPr>
              <a:t>  ·  situaciones 3 y 4</a:t>
            </a:r>
            <a:endParaRPr lang="en-US" sz="1300" dirty="0"/>
          </a:p>
        </p:txBody>
      </p:sp>
      <p:sp>
        <p:nvSpPr>
          <p:cNvPr id="130" name="Shape 128"/>
          <p:cNvSpPr/>
          <p:nvPr/>
        </p:nvSpPr>
        <p:spPr>
          <a:xfrm>
            <a:off x="822960" y="4562856"/>
            <a:ext cx="237744" cy="237744"/>
          </a:xfrm>
          <a:prstGeom prst="roundRect">
            <a:avLst>
              <a:gd name="adj" fmla="val 15385"/>
            </a:avLst>
          </a:prstGeom>
          <a:solidFill>
            <a:schemeClr val="accent4"/>
          </a:solidFill>
          <a:ln/>
        </p:spPr>
      </p:sp>
      <p:sp>
        <p:nvSpPr>
          <p:cNvPr id="131" name="Text 129"/>
          <p:cNvSpPr txBox="1"/>
          <p:nvPr/>
        </p:nvSpPr>
        <p:spPr>
          <a:xfrm>
            <a:off x="1188720" y="4526280"/>
            <a:ext cx="4572000" cy="310896"/>
          </a:xfrm>
          <a:prstGeom prst="rect">
            <a:avLst/>
          </a:prstGeom>
          <a:noFill/>
          <a:ln/>
        </p:spPr>
        <p:txBody>
          <a:bodyPr wrap="square" lIns="0" tIns="0" rIns="0" bIns="0" rtlCol="0" anchor="ctr"/>
          <a:lstStyle/>
          <a:p>
            <a:pPr indent="0" marL="0">
              <a:buNone/>
            </a:pPr>
            <a:r>
              <a:rPr lang="en-US" sz="1300" b="1" dirty="0">
                <a:solidFill>
                  <a:schemeClr val="tx1"/>
                </a:solidFill>
              </a:rPr>
              <a:t>30 al día</a:t>
            </a:r>
            <a:pPr indent="0" marL="0">
              <a:buNone/>
            </a:pPr>
            <a:endParaRPr lang="en-US" sz="1300" dirty="0"/>
          </a:p>
        </p:txBody>
      </p:sp>
      <p:sp>
        <p:nvSpPr>
          <p:cNvPr id="132" name="Dato Santa Fe 1"/>
          <p:cNvSpPr/>
          <p:nvPr/>
        </p:nvSpPr>
        <p:spPr>
          <a:xfrm>
            <a:off x="6309360" y="1783080"/>
            <a:ext cx="2575408" cy="1600200"/>
          </a:xfrm>
          <a:prstGeom prst="roundRect">
            <a:avLst>
              <a:gd name="adj" fmla="val 9143"/>
            </a:avLst>
          </a:prstGeom>
          <a:solidFill>
            <a:schemeClr val="bg1"/>
          </a:solidFill>
          <a:ln w="12700">
            <a:solidFill>
              <a:schemeClr val="accent6"/>
            </a:solidFill>
            <a:prstDash val="solid"/>
          </a:ln>
        </p:spPr>
      </p:sp>
      <p:sp>
        <p:nvSpPr>
          <p:cNvPr id="133" name="Text 131"/>
          <p:cNvSpPr txBox="1"/>
          <p:nvPr/>
        </p:nvSpPr>
        <p:spPr>
          <a:xfrm>
            <a:off x="6537960" y="196596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412.845</a:t>
            </a:r>
            <a:endParaRPr lang="en-US" sz="2600" dirty="0"/>
          </a:p>
        </p:txBody>
      </p:sp>
      <p:sp>
        <p:nvSpPr>
          <p:cNvPr id="134" name="Text 132"/>
          <p:cNvSpPr txBox="1"/>
          <p:nvPr/>
        </p:nvSpPr>
        <p:spPr>
          <a:xfrm>
            <a:off x="6537960" y="2560320"/>
            <a:ext cx="2118208" cy="731520"/>
          </a:xfrm>
          <a:prstGeom prst="rect">
            <a:avLst/>
          </a:prstGeom>
          <a:noFill/>
          <a:ln/>
        </p:spPr>
        <p:txBody>
          <a:bodyPr wrap="square" lIns="0" tIns="0" rIns="0" bIns="0" rtlCol="0" anchor="t"/>
          <a:lstStyle/>
          <a:p>
            <a:pPr indent="0" marL="0">
              <a:buNone/>
            </a:pPr>
            <a:r>
              <a:rPr lang="en-US" sz="1300" dirty="0">
                <a:solidFill>
                  <a:schemeClr val="tx2"/>
                </a:solidFill>
              </a:rPr>
              <a:t>personas en mora. Tercera provincia en cantidad, detrás de Buenos Aires y Córdoba.</a:t>
            </a:r>
            <a:endParaRPr lang="en-US" sz="1300" dirty="0"/>
          </a:p>
        </p:txBody>
      </p:sp>
      <p:sp>
        <p:nvSpPr>
          <p:cNvPr id="135" name="Dato Santa Fe 2"/>
          <p:cNvSpPr/>
          <p:nvPr/>
        </p:nvSpPr>
        <p:spPr>
          <a:xfrm>
            <a:off x="9067648" y="1783080"/>
            <a:ext cx="2575408" cy="1600200"/>
          </a:xfrm>
          <a:prstGeom prst="roundRect">
            <a:avLst>
              <a:gd name="adj" fmla="val 9143"/>
            </a:avLst>
          </a:prstGeom>
          <a:solidFill>
            <a:schemeClr val="bg1"/>
          </a:solidFill>
          <a:ln w="12700">
            <a:solidFill>
              <a:schemeClr val="accent6"/>
            </a:solidFill>
            <a:prstDash val="solid"/>
          </a:ln>
        </p:spPr>
      </p:sp>
      <p:sp>
        <p:nvSpPr>
          <p:cNvPr id="136" name="Text 134"/>
          <p:cNvSpPr txBox="1"/>
          <p:nvPr/>
        </p:nvSpPr>
        <p:spPr>
          <a:xfrm>
            <a:off x="9296248" y="196596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13%</a:t>
            </a:r>
            <a:endParaRPr lang="en-US" sz="2600" dirty="0"/>
          </a:p>
        </p:txBody>
      </p:sp>
      <p:sp>
        <p:nvSpPr>
          <p:cNvPr id="137" name="Text 135"/>
          <p:cNvSpPr txBox="1"/>
          <p:nvPr/>
        </p:nvSpPr>
        <p:spPr>
          <a:xfrm>
            <a:off x="9296248" y="2560320"/>
            <a:ext cx="2118208" cy="731520"/>
          </a:xfrm>
          <a:prstGeom prst="rect">
            <a:avLst/>
          </a:prstGeom>
          <a:noFill/>
          <a:ln/>
        </p:spPr>
        <p:txBody>
          <a:bodyPr wrap="square" lIns="0" tIns="0" rIns="0" bIns="0" rtlCol="0" anchor="t"/>
          <a:lstStyle/>
          <a:p>
            <a:pPr indent="0" marL="0">
              <a:buNone/>
            </a:pPr>
            <a:r>
              <a:rPr lang="en-US" sz="1300" dirty="0">
                <a:solidFill>
                  <a:schemeClr val="tx2"/>
                </a:solidFill>
              </a:rPr>
              <a:t>de la plata prestada está en mora: apenas debajo del 13,9% nacional.</a:t>
            </a:r>
            <a:endParaRPr lang="en-US" sz="1300" dirty="0"/>
          </a:p>
        </p:txBody>
      </p:sp>
      <p:sp>
        <p:nvSpPr>
          <p:cNvPr id="138" name="Dato Santa Fe 3"/>
          <p:cNvSpPr/>
          <p:nvPr/>
        </p:nvSpPr>
        <p:spPr>
          <a:xfrm>
            <a:off x="6309360" y="3566160"/>
            <a:ext cx="2575408" cy="1600200"/>
          </a:xfrm>
          <a:prstGeom prst="roundRect">
            <a:avLst>
              <a:gd name="adj" fmla="val 9143"/>
            </a:avLst>
          </a:prstGeom>
          <a:solidFill>
            <a:schemeClr val="bg1"/>
          </a:solidFill>
          <a:ln w="12700">
            <a:solidFill>
              <a:schemeClr val="accent6"/>
            </a:solidFill>
            <a:prstDash val="solid"/>
          </a:ln>
        </p:spPr>
      </p:sp>
      <p:sp>
        <p:nvSpPr>
          <p:cNvPr id="139" name="Text 137"/>
          <p:cNvSpPr txBox="1"/>
          <p:nvPr/>
        </p:nvSpPr>
        <p:spPr>
          <a:xfrm>
            <a:off x="6537960" y="374904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31% vs. 10%</a:t>
            </a:r>
            <a:endParaRPr lang="en-US" sz="2600" dirty="0"/>
          </a:p>
        </p:txBody>
      </p:sp>
      <p:sp>
        <p:nvSpPr>
          <p:cNvPr id="140" name="Text 138"/>
          <p:cNvSpPr txBox="1"/>
          <p:nvPr/>
        </p:nvSpPr>
        <p:spPr>
          <a:xfrm>
            <a:off x="6537960" y="4343400"/>
            <a:ext cx="2118208" cy="731520"/>
          </a:xfrm>
          <a:prstGeom prst="rect">
            <a:avLst/>
          </a:prstGeom>
          <a:noFill/>
          <a:ln/>
        </p:spPr>
        <p:txBody>
          <a:bodyPr wrap="square" lIns="0" tIns="0" rIns="0" bIns="0" rtlCol="0" anchor="t"/>
          <a:lstStyle/>
          <a:p>
            <a:pPr indent="0" marL="0">
              <a:buNone/>
            </a:pPr>
            <a:r>
              <a:rPr lang="en-US" sz="1300" dirty="0">
                <a:solidFill>
                  <a:schemeClr val="tx2"/>
                </a:solidFill>
              </a:rPr>
              <a:t>mora en billeteras virtuales contra mora en bancos, en la provincia.</a:t>
            </a:r>
            <a:endParaRPr lang="en-US" sz="1300" dirty="0"/>
          </a:p>
        </p:txBody>
      </p:sp>
      <p:sp>
        <p:nvSpPr>
          <p:cNvPr id="141" name="Dato Santa Fe 4"/>
          <p:cNvSpPr/>
          <p:nvPr/>
        </p:nvSpPr>
        <p:spPr>
          <a:xfrm>
            <a:off x="9067648" y="3566160"/>
            <a:ext cx="2575408" cy="1600200"/>
          </a:xfrm>
          <a:prstGeom prst="roundRect">
            <a:avLst>
              <a:gd name="adj" fmla="val 9143"/>
            </a:avLst>
          </a:prstGeom>
          <a:solidFill>
            <a:schemeClr val="bg1"/>
          </a:solidFill>
          <a:ln w="12700">
            <a:solidFill>
              <a:schemeClr val="accent6"/>
            </a:solidFill>
            <a:prstDash val="solid"/>
          </a:ln>
        </p:spPr>
      </p:sp>
      <p:sp>
        <p:nvSpPr>
          <p:cNvPr id="142" name="Text 140"/>
          <p:cNvSpPr txBox="1"/>
          <p:nvPr/>
        </p:nvSpPr>
        <p:spPr>
          <a:xfrm>
            <a:off x="9296248" y="374904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$2,3 millones</a:t>
            </a:r>
            <a:endParaRPr lang="en-US" sz="2600" dirty="0"/>
          </a:p>
        </p:txBody>
      </p:sp>
      <p:sp>
        <p:nvSpPr>
          <p:cNvPr id="143" name="Text 141"/>
          <p:cNvSpPr txBox="1"/>
          <p:nvPr/>
        </p:nvSpPr>
        <p:spPr>
          <a:xfrm>
            <a:off x="9296248" y="4343400"/>
            <a:ext cx="2118208" cy="731520"/>
          </a:xfrm>
          <a:prstGeom prst="rect">
            <a:avLst/>
          </a:prstGeom>
          <a:noFill/>
          <a:ln/>
        </p:spPr>
        <p:txBody>
          <a:bodyPr wrap="square" lIns="0" tIns="0" rIns="0" bIns="0" rtlCol="0" anchor="t"/>
          <a:lstStyle/>
          <a:p>
            <a:pPr indent="0" marL="0">
              <a:buNone/>
            </a:pPr>
            <a:r>
              <a:rPr lang="en-US" sz="1300" dirty="0">
                <a:solidFill>
                  <a:schemeClr val="tx2"/>
                </a:solidFill>
              </a:rPr>
              <a:t>deuda promedio en mora; en el país, $2,6 millones.</a:t>
            </a:r>
            <a:endParaRPr lang="en-US" sz="1300" dirty="0"/>
          </a:p>
        </p:txBody>
      </p:sp>
      <p:sp>
        <p:nvSpPr>
          <p:cNvPr id="144"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45" name="Text 143"/>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Algo mejor que el promedio, pero grande en cantidad: </a:t>
            </a:r>
            <a:pPr indent="0" marL="0">
              <a:buNone/>
            </a:pPr>
            <a:r>
              <a:rPr lang="en-US" sz="1500" dirty="0">
                <a:solidFill>
                  <a:schemeClr val="tx2"/>
                </a:solidFill>
              </a:rPr>
              <a:t>es la tercera provincia con más morosos del país.</a:t>
            </a:r>
            <a:endParaRPr lang="en-US" sz="1500" dirty="0"/>
          </a:p>
        </p:txBody>
      </p:sp>
      <p:sp>
        <p:nvSpPr>
          <p:cNvPr id="146"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CEPA en base a la Central de Deudores del BCRA (julio de 2026). Mora: atrasos de más de 90 días por persona (CUIT). Ladrillos redondeados: 25% = 10/40 y 64% de los morosos ≈ 6/10.</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EJEMPLO REAL · SANTA FE</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En Santa Fe ya hay iniciativas en marcha</a:t>
            </a:r>
            <a:endParaRPr lang="en-US" sz="3200" dirty="0"/>
          </a:p>
        </p:txBody>
      </p:sp>
      <p:sp>
        <p:nvSpPr>
          <p:cNvPr id="4" name="Panel plan vigente"/>
          <p:cNvSpPr/>
          <p:nvPr/>
        </p:nvSpPr>
        <p:spPr>
          <a:xfrm>
            <a:off x="548640" y="1783080"/>
            <a:ext cx="5029200" cy="3200400"/>
          </a:xfrm>
          <a:prstGeom prst="roundRect">
            <a:avLst>
              <a:gd name="adj" fmla="val 4571"/>
            </a:avLst>
          </a:prstGeom>
          <a:solidFill>
            <a:schemeClr val="bg1"/>
          </a:solidFill>
          <a:ln w="12700">
            <a:solidFill>
              <a:schemeClr val="accent6"/>
            </a:solidFill>
            <a:prstDash val="solid"/>
          </a:ln>
        </p:spPr>
      </p:sp>
      <p:sp>
        <p:nvSpPr>
          <p:cNvPr id="5" name="Shape 3"/>
          <p:cNvSpPr/>
          <p:nvPr/>
        </p:nvSpPr>
        <p:spPr>
          <a:xfrm>
            <a:off x="822960" y="2103120"/>
            <a:ext cx="329184" cy="201168"/>
          </a:xfrm>
          <a:prstGeom prst="roundRect">
            <a:avLst>
              <a:gd name="adj" fmla="val 18182"/>
            </a:avLst>
          </a:prstGeom>
          <a:solidFill>
            <a:schemeClr val="accent2"/>
          </a:solidFill>
          <a:ln/>
        </p:spPr>
      </p:sp>
      <p:sp>
        <p:nvSpPr>
          <p:cNvPr id="6" name="Text 4"/>
          <p:cNvSpPr txBox="1"/>
          <p:nvPr/>
        </p:nvSpPr>
        <p:spPr>
          <a:xfrm>
            <a:off x="1280160" y="2029968"/>
            <a:ext cx="2743200" cy="329184"/>
          </a:xfrm>
          <a:prstGeom prst="rect">
            <a:avLst/>
          </a:prstGeom>
          <a:noFill/>
          <a:ln/>
        </p:spPr>
        <p:txBody>
          <a:bodyPr wrap="square" lIns="0" tIns="0" rIns="0" bIns="0" rtlCol="0" anchor="ctr"/>
          <a:lstStyle/>
          <a:p>
            <a:pPr indent="0" marL="0">
              <a:buNone/>
            </a:pPr>
            <a:r>
              <a:rPr lang="en-US" sz="1100" b="1" spc="150" kern="0" dirty="0">
                <a:solidFill>
                  <a:schemeClr val="accent5"/>
                </a:solidFill>
              </a:rPr>
              <a:t>YA FUNCIONA</a:t>
            </a:r>
            <a:endParaRPr lang="en-US" sz="1100" dirty="0"/>
          </a:p>
        </p:txBody>
      </p:sp>
      <p:sp>
        <p:nvSpPr>
          <p:cNvPr id="7" name="Text 5"/>
          <p:cNvSpPr txBox="1"/>
          <p:nvPr/>
        </p:nvSpPr>
        <p:spPr>
          <a:xfrm>
            <a:off x="822960" y="2468880"/>
            <a:ext cx="4480560" cy="411480"/>
          </a:xfrm>
          <a:prstGeom prst="rect">
            <a:avLst/>
          </a:prstGeom>
          <a:noFill/>
          <a:ln/>
        </p:spPr>
        <p:txBody>
          <a:bodyPr wrap="square" lIns="0" tIns="0" rIns="0" bIns="0" rtlCol="0" anchor="ctr"/>
          <a:lstStyle/>
          <a:p>
            <a:pPr indent="0" marL="0">
              <a:buNone/>
            </a:pPr>
            <a:r>
              <a:rPr lang="en-US" sz="2000" b="1" dirty="0">
                <a:solidFill>
                  <a:schemeClr val="tx1"/>
                </a:solidFill>
              </a:rPr>
              <a:t>Plan de Protección de los Ingresos</a:t>
            </a:r>
            <a:endParaRPr lang="en-US" sz="2000" dirty="0"/>
          </a:p>
        </p:txBody>
      </p:sp>
      <p:sp>
        <p:nvSpPr>
          <p:cNvPr id="8" name="Text 6"/>
          <p:cNvSpPr txBox="1"/>
          <p:nvPr/>
        </p:nvSpPr>
        <p:spPr>
          <a:xfrm>
            <a:off x="822960" y="2926080"/>
            <a:ext cx="4480560" cy="868680"/>
          </a:xfrm>
          <a:prstGeom prst="rect">
            <a:avLst/>
          </a:prstGeom>
          <a:noFill/>
          <a:ln/>
        </p:spPr>
        <p:txBody>
          <a:bodyPr wrap="square" lIns="0" tIns="0" rIns="0" bIns="0" rtlCol="0" anchor="t"/>
          <a:lstStyle/>
          <a:p>
            <a:pPr indent="0" marL="0">
              <a:buNone/>
            </a:pPr>
            <a:r>
              <a:rPr lang="en-US" sz="1500" dirty="0">
                <a:solidFill>
                  <a:schemeClr val="tx2"/>
                </a:solidFill>
              </a:rPr>
              <a:t>Gobierno provincial y Banco Santa Fe: varias deudas pasan a un solo préstamo de hasta 60 cuotas, con dos meses de gracia.</a:t>
            </a:r>
            <a:endParaRPr lang="en-US" sz="1500" dirty="0"/>
          </a:p>
        </p:txBody>
      </p:sp>
      <p:sp>
        <p:nvSpPr>
          <p:cNvPr id="9" name="Text 7"/>
          <p:cNvSpPr txBox="1"/>
          <p:nvPr/>
        </p:nvSpPr>
        <p:spPr>
          <a:xfrm>
            <a:off x="822960" y="3886200"/>
            <a:ext cx="2194560" cy="685800"/>
          </a:xfrm>
          <a:prstGeom prst="rect">
            <a:avLst/>
          </a:prstGeom>
          <a:noFill/>
          <a:ln/>
        </p:spPr>
        <p:txBody>
          <a:bodyPr wrap="square" lIns="0" tIns="0" rIns="0" bIns="0" rtlCol="0" anchor="ctr"/>
          <a:lstStyle/>
          <a:p>
            <a:pPr indent="0" marL="0">
              <a:buNone/>
            </a:pPr>
            <a:r>
              <a:rPr lang="en-US" sz="3600" b="1" dirty="0">
                <a:solidFill>
                  <a:schemeClr val="tx1"/>
                </a:solidFill>
              </a:rPr>
              <a:t>+18.500</a:t>
            </a:r>
            <a:endParaRPr lang="en-US" sz="3600" dirty="0"/>
          </a:p>
        </p:txBody>
      </p:sp>
      <p:sp>
        <p:nvSpPr>
          <p:cNvPr id="10" name="Text 8"/>
          <p:cNvSpPr txBox="1"/>
          <p:nvPr/>
        </p:nvSpPr>
        <p:spPr>
          <a:xfrm>
            <a:off x="3063240" y="3931920"/>
            <a:ext cx="2240280" cy="640080"/>
          </a:xfrm>
          <a:prstGeom prst="rect">
            <a:avLst/>
          </a:prstGeom>
          <a:noFill/>
          <a:ln/>
        </p:spPr>
        <p:txBody>
          <a:bodyPr wrap="square" lIns="0" tIns="0" rIns="0" bIns="0" rtlCol="0" anchor="ctr"/>
          <a:lstStyle/>
          <a:p>
            <a:pPr indent="0" marL="0">
              <a:buNone/>
            </a:pPr>
            <a:r>
              <a:rPr lang="en-US" sz="1400" dirty="0">
                <a:solidFill>
                  <a:schemeClr val="tx2"/>
                </a:solidFill>
              </a:rPr>
              <a:t>adhesiones al 11 de agosto de 2026</a:t>
            </a:r>
            <a:endParaRPr lang="en-US" sz="1400" dirty="0"/>
          </a:p>
        </p:txBody>
      </p:sp>
      <p:sp>
        <p:nvSpPr>
          <p:cNvPr id="11" name="Panel proyectos"/>
          <p:cNvSpPr/>
          <p:nvPr/>
        </p:nvSpPr>
        <p:spPr>
          <a:xfrm>
            <a:off x="5852160" y="1783080"/>
            <a:ext cx="5790895" cy="3200400"/>
          </a:xfrm>
          <a:prstGeom prst="roundRect">
            <a:avLst>
              <a:gd name="adj" fmla="val 4571"/>
            </a:avLst>
          </a:prstGeom>
          <a:solidFill>
            <a:schemeClr val="bg1"/>
          </a:solidFill>
          <a:ln w="12700">
            <a:solidFill>
              <a:schemeClr val="accent6"/>
            </a:solidFill>
            <a:prstDash val="solid"/>
          </a:ln>
        </p:spPr>
      </p:sp>
      <p:sp>
        <p:nvSpPr>
          <p:cNvPr id="12" name="Shape 10"/>
          <p:cNvSpPr/>
          <p:nvPr/>
        </p:nvSpPr>
        <p:spPr>
          <a:xfrm>
            <a:off x="6126480" y="2103120"/>
            <a:ext cx="329184" cy="201168"/>
          </a:xfrm>
          <a:prstGeom prst="roundRect">
            <a:avLst>
              <a:gd name="adj" fmla="val 18182"/>
            </a:avLst>
          </a:prstGeom>
          <a:solidFill>
            <a:schemeClr val="accent3"/>
          </a:solidFill>
          <a:ln/>
        </p:spPr>
      </p:sp>
      <p:sp>
        <p:nvSpPr>
          <p:cNvPr id="13" name="Text 11"/>
          <p:cNvSpPr txBox="1"/>
          <p:nvPr/>
        </p:nvSpPr>
        <p:spPr>
          <a:xfrm>
            <a:off x="6583680" y="2029968"/>
            <a:ext cx="3657600" cy="329184"/>
          </a:xfrm>
          <a:prstGeom prst="rect">
            <a:avLst/>
          </a:prstGeom>
          <a:noFill/>
          <a:ln/>
        </p:spPr>
        <p:txBody>
          <a:bodyPr wrap="square" lIns="0" tIns="0" rIns="0" bIns="0" rtlCol="0" anchor="ctr"/>
          <a:lstStyle/>
          <a:p>
            <a:pPr indent="0" marL="0">
              <a:buNone/>
            </a:pPr>
            <a:r>
              <a:rPr lang="en-US" sz="1100" b="1" spc="150" kern="0" dirty="0">
                <a:solidFill>
                  <a:schemeClr val="accent5"/>
                </a:solidFill>
              </a:rPr>
              <a:t>EN LA LEGISLATURA</a:t>
            </a:r>
            <a:endParaRPr lang="en-US" sz="1100" dirty="0"/>
          </a:p>
        </p:txBody>
      </p:sp>
      <p:sp>
        <p:nvSpPr>
          <p:cNvPr id="14" name="Text 12"/>
          <p:cNvSpPr txBox="1"/>
          <p:nvPr/>
        </p:nvSpPr>
        <p:spPr>
          <a:xfrm>
            <a:off x="6126480" y="2514600"/>
            <a:ext cx="5242255" cy="731520"/>
          </a:xfrm>
          <a:prstGeom prst="rect">
            <a:avLst/>
          </a:prstGeom>
          <a:noFill/>
          <a:ln/>
        </p:spPr>
        <p:txBody>
          <a:bodyPr wrap="square" lIns="0" tIns="0" rIns="0" bIns="0" rtlCol="0" anchor="t"/>
          <a:lstStyle/>
          <a:p>
            <a:pPr indent="0" marL="0">
              <a:buNone/>
            </a:pPr>
            <a:r>
              <a:rPr lang="en-US" sz="1400" b="1" dirty="0">
                <a:solidFill>
                  <a:schemeClr val="tx1"/>
                </a:solidFill>
              </a:rPr>
              <a:t>Código de derechos de consumidores</a:t>
            </a:r>
            <a:pPr indent="0" marL="0">
              <a:buNone/>
            </a:pPr>
            <a:r>
              <a:rPr lang="en-US" sz="1400" dirty="0">
                <a:solidFill>
                  <a:schemeClr val="tx1"/>
                </a:solidFill>
              </a:rPr>
              <a:t>: </a:t>
            </a:r>
            <a:pPr indent="0" marL="0">
              <a:buNone/>
            </a:pPr>
            <a:r>
              <a:rPr lang="en-US" sz="1400" dirty="0">
                <a:solidFill>
                  <a:schemeClr val="tx2"/>
                </a:solidFill>
              </a:rPr>
              <a:t>préstamo responsable también para fintech y billeteras, y una audiencia única para renegociar todas las deudas.</a:t>
            </a:r>
            <a:endParaRPr lang="en-US" sz="1400" dirty="0"/>
          </a:p>
        </p:txBody>
      </p:sp>
      <p:sp>
        <p:nvSpPr>
          <p:cNvPr id="15" name="Text 13"/>
          <p:cNvSpPr txBox="1"/>
          <p:nvPr/>
        </p:nvSpPr>
        <p:spPr>
          <a:xfrm>
            <a:off x="6126480" y="3291840"/>
            <a:ext cx="5242255" cy="731520"/>
          </a:xfrm>
          <a:prstGeom prst="rect">
            <a:avLst/>
          </a:prstGeom>
          <a:noFill/>
          <a:ln/>
        </p:spPr>
        <p:txBody>
          <a:bodyPr wrap="square" lIns="0" tIns="0" rIns="0" bIns="0" rtlCol="0" anchor="t"/>
          <a:lstStyle/>
          <a:p>
            <a:pPr indent="0" marL="0">
              <a:buNone/>
            </a:pPr>
            <a:r>
              <a:rPr lang="en-US" sz="1400" b="1" dirty="0">
                <a:solidFill>
                  <a:schemeClr val="tx1"/>
                </a:solidFill>
              </a:rPr>
              <a:t>Refinanciación de deudas</a:t>
            </a:r>
            <a:pPr indent="0" marL="0">
              <a:buNone/>
            </a:pPr>
            <a:r>
              <a:rPr lang="en-US" sz="1400" dirty="0">
                <a:solidFill>
                  <a:schemeClr val="tx1"/>
                </a:solidFill>
              </a:rPr>
              <a:t>: </a:t>
            </a:r>
            <a:pPr indent="0" marL="0">
              <a:buNone/>
            </a:pPr>
            <a:r>
              <a:rPr lang="en-US" sz="1400" dirty="0">
                <a:solidFill>
                  <a:schemeClr val="tx2"/>
                </a:solidFill>
              </a:rPr>
              <a:t>créditos a tasa fija de hasta 35% anual y 24 meses o más.</a:t>
            </a:r>
            <a:endParaRPr lang="en-US" sz="1400" dirty="0"/>
          </a:p>
        </p:txBody>
      </p:sp>
      <p:sp>
        <p:nvSpPr>
          <p:cNvPr id="16" name="Text 14"/>
          <p:cNvSpPr txBox="1"/>
          <p:nvPr/>
        </p:nvSpPr>
        <p:spPr>
          <a:xfrm>
            <a:off x="6126480" y="4069080"/>
            <a:ext cx="5242255" cy="731520"/>
          </a:xfrm>
          <a:prstGeom prst="rect">
            <a:avLst/>
          </a:prstGeom>
          <a:noFill/>
          <a:ln/>
        </p:spPr>
        <p:txBody>
          <a:bodyPr wrap="square" lIns="0" tIns="0" rIns="0" bIns="0" rtlCol="0" anchor="t"/>
          <a:lstStyle/>
          <a:p>
            <a:pPr indent="0" marL="0">
              <a:buNone/>
            </a:pPr>
            <a:r>
              <a:rPr lang="en-US" sz="1400" b="1" dirty="0">
                <a:solidFill>
                  <a:schemeClr val="tx1"/>
                </a:solidFill>
              </a:rPr>
              <a:t>Sistema provincial de asistencia</a:t>
            </a:r>
            <a:pPr indent="0" marL="0">
              <a:buNone/>
            </a:pPr>
            <a:r>
              <a:rPr lang="en-US" sz="1400" dirty="0">
                <a:solidFill>
                  <a:schemeClr val="tx1"/>
                </a:solidFill>
              </a:rPr>
              <a:t>: </a:t>
            </a:r>
            <a:pPr indent="0" marL="0">
              <a:buNone/>
            </a:pPr>
            <a:r>
              <a:rPr lang="en-US" sz="1400" dirty="0">
                <a:solidFill>
                  <a:schemeClr val="tx2"/>
                </a:solidFill>
              </a:rPr>
              <a:t>asesoramiento gratuito y una mesa de mediación con los acreedores.</a:t>
            </a:r>
            <a:endParaRPr lang="en-US" sz="1400" dirty="0"/>
          </a:p>
        </p:txBody>
      </p:sp>
      <p:sp>
        <p:nvSpPr>
          <p:cNvPr id="17"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8" name="Text 16"/>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Encaja con la propuesta provincial: </a:t>
            </a:r>
            <a:pPr indent="0" marL="0">
              <a:buNone/>
            </a:pPr>
            <a:r>
              <a:rPr lang="en-US" sz="1500" dirty="0">
                <a:solidFill>
                  <a:schemeClr val="tx2"/>
                </a:solidFill>
              </a:rPr>
              <a:t>una defensa del consumidor provincial que pueda mediar y sancionar.</a:t>
            </a:r>
            <a:endParaRPr lang="en-US" sz="1500" dirty="0"/>
          </a:p>
        </p:txBody>
      </p:sp>
      <p:sp>
        <p:nvSpPr>
          <p:cNvPr id="19"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Gobierno de Santa Fe, La Capital, El Litoral, Infocielo y Parlamentario. Los tres proyectos no tienen aprobación según la prensa (octubre de 2026).</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ADVERTENCIA DEL FABRICANTE</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Ninguna propuesta reemplaza a la primera pieza</a:t>
            </a:r>
            <a:endParaRPr lang="en-US" sz="3200" dirty="0"/>
          </a:p>
        </p:txBody>
      </p:sp>
      <p:sp>
        <p:nvSpPr>
          <p:cNvPr id="4" name="Panel advertencia"/>
          <p:cNvSpPr/>
          <p:nvPr/>
        </p:nvSpPr>
        <p:spPr>
          <a:xfrm>
            <a:off x="548640" y="1783080"/>
            <a:ext cx="11094415" cy="2377440"/>
          </a:xfrm>
          <a:prstGeom prst="roundRect">
            <a:avLst>
              <a:gd name="adj" fmla="val 6154"/>
            </a:avLst>
          </a:prstGeom>
          <a:solidFill>
            <a:schemeClr val="bg1"/>
          </a:solidFill>
          <a:ln w="12700">
            <a:solidFill>
              <a:schemeClr val="accent6"/>
            </a:solidFill>
            <a:prstDash val="solid"/>
          </a:ln>
        </p:spPr>
      </p:sp>
      <p:sp>
        <p:nvSpPr>
          <p:cNvPr id="5" name="Shape 3"/>
          <p:cNvSpPr/>
          <p:nvPr/>
        </p:nvSpPr>
        <p:spPr>
          <a:xfrm>
            <a:off x="1083308" y="2267712"/>
            <a:ext cx="163275" cy="73152"/>
          </a:xfrm>
          <a:prstGeom prst="roundRect">
            <a:avLst>
              <a:gd name="adj" fmla="val 37500"/>
            </a:avLst>
          </a:prstGeom>
          <a:solidFill>
            <a:schemeClr val="accent3"/>
          </a:solidFill>
          <a:ln/>
        </p:spPr>
      </p:sp>
      <p:sp>
        <p:nvSpPr>
          <p:cNvPr id="6" name="Shape 4"/>
          <p:cNvSpPr/>
          <p:nvPr/>
        </p:nvSpPr>
        <p:spPr>
          <a:xfrm>
            <a:off x="1346655" y="2267712"/>
            <a:ext cx="163275" cy="73152"/>
          </a:xfrm>
          <a:prstGeom prst="roundRect">
            <a:avLst>
              <a:gd name="adj" fmla="val 37500"/>
            </a:avLst>
          </a:prstGeom>
          <a:solidFill>
            <a:schemeClr val="accent3"/>
          </a:solidFill>
          <a:ln/>
        </p:spPr>
      </p:sp>
      <p:sp>
        <p:nvSpPr>
          <p:cNvPr id="7" name="Shape 5"/>
          <p:cNvSpPr/>
          <p:nvPr/>
        </p:nvSpPr>
        <p:spPr>
          <a:xfrm>
            <a:off x="1610002" y="2267712"/>
            <a:ext cx="163275" cy="73152"/>
          </a:xfrm>
          <a:prstGeom prst="roundRect">
            <a:avLst>
              <a:gd name="adj" fmla="val 37500"/>
            </a:avLst>
          </a:prstGeom>
          <a:solidFill>
            <a:schemeClr val="accent3"/>
          </a:solidFill>
          <a:ln/>
        </p:spPr>
      </p:sp>
      <p:sp>
        <p:nvSpPr>
          <p:cNvPr id="8" name="Shape 6"/>
          <p:cNvSpPr/>
          <p:nvPr/>
        </p:nvSpPr>
        <p:spPr>
          <a:xfrm>
            <a:off x="1873350" y="2267712"/>
            <a:ext cx="163275" cy="73152"/>
          </a:xfrm>
          <a:prstGeom prst="roundRect">
            <a:avLst>
              <a:gd name="adj" fmla="val 37500"/>
            </a:avLst>
          </a:prstGeom>
          <a:solidFill>
            <a:schemeClr val="accent3"/>
          </a:solidFill>
          <a:ln/>
        </p:spPr>
      </p:sp>
      <p:sp>
        <p:nvSpPr>
          <p:cNvPr id="9" name="Shape 7"/>
          <p:cNvSpPr/>
          <p:nvPr/>
        </p:nvSpPr>
        <p:spPr>
          <a:xfrm>
            <a:off x="2136697" y="2267712"/>
            <a:ext cx="163275" cy="73152"/>
          </a:xfrm>
          <a:prstGeom prst="roundRect">
            <a:avLst>
              <a:gd name="adj" fmla="val 37500"/>
            </a:avLst>
          </a:prstGeom>
          <a:solidFill>
            <a:schemeClr val="accent3"/>
          </a:solidFill>
          <a:ln/>
        </p:spPr>
      </p:sp>
      <p:sp>
        <p:nvSpPr>
          <p:cNvPr id="10" name="Shape 8"/>
          <p:cNvSpPr/>
          <p:nvPr/>
        </p:nvSpPr>
        <p:spPr>
          <a:xfrm>
            <a:off x="960120" y="2331720"/>
            <a:ext cx="1463040" cy="548640"/>
          </a:xfrm>
          <a:prstGeom prst="roundRect">
            <a:avLst>
              <a:gd name="adj" fmla="val 8333"/>
            </a:avLst>
          </a:prstGeom>
          <a:solidFill>
            <a:schemeClr val="accent3"/>
          </a:solidFill>
          <a:ln/>
        </p:spPr>
      </p:sp>
      <p:sp>
        <p:nvSpPr>
          <p:cNvPr id="11" name="Shape 9"/>
          <p:cNvSpPr/>
          <p:nvPr/>
        </p:nvSpPr>
        <p:spPr>
          <a:xfrm>
            <a:off x="987552" y="2807208"/>
            <a:ext cx="1408176" cy="73152"/>
          </a:xfrm>
          <a:prstGeom prst="rect">
            <a:avLst/>
          </a:prstGeom>
          <a:solidFill>
            <a:srgbClr val="1F4E9E"/>
          </a:solidFill>
          <a:ln/>
        </p:spPr>
      </p:sp>
      <p:sp>
        <p:nvSpPr>
          <p:cNvPr id="12" name="Text 10"/>
          <p:cNvSpPr txBox="1"/>
          <p:nvPr/>
        </p:nvSpPr>
        <p:spPr>
          <a:xfrm>
            <a:off x="2834640" y="2011680"/>
            <a:ext cx="8442655" cy="1188720"/>
          </a:xfrm>
          <a:prstGeom prst="rect">
            <a:avLst/>
          </a:prstGeom>
          <a:noFill/>
          <a:ln/>
        </p:spPr>
        <p:txBody>
          <a:bodyPr wrap="square" lIns="0" tIns="0" rIns="0" bIns="0" rtlCol="0" anchor="ctr"/>
          <a:lstStyle/>
          <a:p>
            <a:pPr indent="0" marL="0">
              <a:buNone/>
            </a:pPr>
            <a:r>
              <a:rPr lang="en-US" sz="2800" b="1" dirty="0">
                <a:solidFill>
                  <a:schemeClr val="tx1"/>
                </a:solidFill>
              </a:rPr>
              <a:t>Sin recuperación del ingreso real, ninguna solución financiera alcanza.</a:t>
            </a:r>
            <a:endParaRPr lang="en-US" sz="2800" dirty="0"/>
          </a:p>
        </p:txBody>
      </p:sp>
      <p:sp>
        <p:nvSpPr>
          <p:cNvPr id="13" name="Text 11"/>
          <p:cNvSpPr txBox="1"/>
          <p:nvPr/>
        </p:nvSpPr>
        <p:spPr>
          <a:xfrm>
            <a:off x="2834640" y="3246120"/>
            <a:ext cx="8442655" cy="731520"/>
          </a:xfrm>
          <a:prstGeom prst="rect">
            <a:avLst/>
          </a:prstGeom>
          <a:noFill/>
          <a:ln/>
        </p:spPr>
        <p:txBody>
          <a:bodyPr wrap="square" lIns="0" tIns="0" rIns="0" bIns="0" rtlCol="0" anchor="t"/>
          <a:lstStyle/>
          <a:p>
            <a:pPr indent="0" marL="0">
              <a:buNone/>
            </a:pPr>
            <a:r>
              <a:rPr lang="en-US" sz="1700" dirty="0">
                <a:solidFill>
                  <a:schemeClr val="tx2"/>
                </a:solidFill>
              </a:rPr>
              <a:t>Las medidas alivian a quien ya debe y ordenan el crédito. Pero si lo que entra no alcanza, el agujero se vuelve a abrir.</a:t>
            </a:r>
            <a:endParaRPr lang="en-US" sz="1700" dirty="0"/>
          </a:p>
        </p:txBody>
      </p:sp>
      <p:sp>
        <p:nvSpPr>
          <p:cNvPr id="14" name="Text 12"/>
          <p:cNvSpPr txBox="1"/>
          <p:nvPr/>
        </p:nvSpPr>
        <p:spPr>
          <a:xfrm>
            <a:off x="548640" y="4526280"/>
            <a:ext cx="11094415" cy="365760"/>
          </a:xfrm>
          <a:prstGeom prst="rect">
            <a:avLst/>
          </a:prstGeom>
          <a:noFill/>
          <a:ln/>
        </p:spPr>
        <p:txBody>
          <a:bodyPr wrap="square" lIns="0" tIns="0" rIns="0" bIns="0" rtlCol="0" anchor="ctr"/>
          <a:lstStyle/>
          <a:p>
            <a:pPr indent="0" marL="0">
              <a:buNone/>
            </a:pPr>
            <a:r>
              <a:rPr lang="en-US" sz="1200" b="1" dirty="0">
                <a:solidFill>
                  <a:schemeClr val="accent5"/>
                </a:solidFill>
              </a:rPr>
              <a:t>Fuentes: </a:t>
            </a:r>
            <a:pPr indent="0" marL="0">
              <a:buNone/>
            </a:pPr>
            <a:r>
              <a:rPr lang="en-US" sz="1200" dirty="0">
                <a:solidFill>
                  <a:schemeClr val="accent5"/>
                </a:solidFill>
              </a:rPr>
              <a:t>BCRA (Informe sobre Bancos; BADLAR bancos privados; Central de Deudores, procesada por Mati Fernández), INDEC (Censo 2022), CEPA, Equilibra, EcoGo-Universidad Austral, IPYPP, UCA, First Capital Group y Max Capital.</a:t>
            </a:r>
            <a:endParaRPr lang="en-US" sz="1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undar Ladrillos">
  <a:themeElements>
    <a:clrScheme name="Fundar Ladrillos">
      <a:dk1>
        <a:srgbClr val="1D1F24"/>
      </a:dk1>
      <a:lt1>
        <a:srgbClr val="FFFFFF"/>
      </a:lt1>
      <a:dk2>
        <a:srgbClr val="4A4E57"/>
      </a:dk2>
      <a:lt2>
        <a:srgbClr val="F6F6F3"/>
      </a:lt2>
      <a:accent1>
        <a:srgbClr val="D23A2F"/>
      </a:accent1>
      <a:accent2>
        <a:srgbClr val="F1B20C"/>
      </a:accent2>
      <a:accent3>
        <a:srgbClr val="2861C4"/>
      </a:accent3>
      <a:accent4>
        <a:srgbClr val="9A9EA6"/>
      </a:accent4>
      <a:accent5>
        <a:srgbClr val="767A83"/>
      </a:accent5>
      <a:accent6>
        <a:srgbClr val="DCDCD6"/>
      </a:accent6>
      <a:hlink>
        <a:srgbClr val="2861C4"/>
      </a:hlink>
      <a:folHlink>
        <a:srgbClr val="767A83"/>
      </a:folHlink>
    </a:clrScheme>
    <a:fontScheme name="Fundar Ladrillo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crisis de endeudamiento de los hogares</dc:title>
  <dc:subject>PptxGenJS Presentation</dc:subject>
  <dc:creator>Fundar</dc:creator>
  <cp:lastModifiedBy>Fundar</cp:lastModifiedBy>
  <cp:revision>1</cp:revision>
  <dcterms:created xsi:type="dcterms:W3CDTF">2026-10-19T18:43:13Z</dcterms:created>
  <dcterms:modified xsi:type="dcterms:W3CDTF">2026-10-19T18:43:13Z</dcterms:modified>
</cp:coreProperties>
</file>