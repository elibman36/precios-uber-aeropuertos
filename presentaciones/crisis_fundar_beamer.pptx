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e2f7c0b3-92bc-5ee7-bf87-1ef156e98e1c}">
          <p14:sldIdLst>
            <p14:sldId id="256"/>
            <p14:sldId id="257"/>
          </p14:sldIdLst>
        </p14:section>
        <p14:section name="Resumen" id="{7d16b9a8-9311-91e5-c060-bf66c8b54328}">
          <p14:sldIdLst>
            <p14:sldId id="258"/>
          </p14:sldIdLst>
        </p14:section>
        <p14:section name="Diagnóstico" id="{c85ed726-f0fc-2d94-e977-69920dab5f3b}">
          <p14:sldIdLst>
            <p14:sldId id="259"/>
            <p14:sldId id="260"/>
            <p14:sldId id="261"/>
          </p14:sldIdLst>
        </p14:section>
        <p14:section name="Mora" id="{02882145-0671-1aee-f885-563faf91e693}">
          <p14:sldIdLst>
            <p14:sldId id="262"/>
          </p14:sldIdLst>
        </p14:section>
        <p14:section name="Propuestas" id="{c1b5e5e4-cfe9-c206-ac02-54e4336850d0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A1A1A"/>
                </a:solidFill>
                <a:latin typeface="+mn-lt"/>
              </a:rPr>
              <a:t>Crecimiento real del crédito a las familias (dic. contra dic.,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00707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Préstamos personales</c:v>
                  </c:pt>
                  <c:pt idx="1">
                    <c:v>Tarjetas de crédito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134</c:v>
                </c:pt>
                <c:pt idx="1">
                  <c:v>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6BFD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Préstamos personales</c:v>
                  </c:pt>
                  <c:pt idx="1">
                    <c:v>Tarjetas de crédito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44.3</c:v>
                </c:pt>
                <c:pt idx="1">
                  <c:v>16.6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A1A1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1A1A1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A1A1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9"/>
          <c:y val="0.1"/>
          <c:w val="0.89"/>
          <c:h val="0.8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BADLAR real anualizada</c:v>
                </c:pt>
              </c:strCache>
            </c:strRef>
          </c:tx>
          <c:spPr>
            <a:solidFill>
              <a:srgbClr val="00707C"/>
            </a:solidFill>
            <a:ln w="25400" cap="flat">
              <a:solidFill>
                <a:srgbClr val="00707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707C"/>
              </a:solidFill>
              <a:ln w="9525" cap="flat">
                <a:solidFill>
                  <a:srgbClr val="00707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Sheet1!$A$2:$A$419</c:f>
              <c:multiLvlStrCache>
                <c:ptCount val="418"/>
                <c:lvl>
                  <c:pt idx="0">
                    <c:v>ene-25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>mar-25</c:v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>may-25</c:v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>jul-25</c:v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>sep-25</c:v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>nov-25</c:v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>ene-26</c:v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  <c:pt idx="264">
                    <c:v/>
                  </c:pt>
                  <c:pt idx="265">
                    <c:v/>
                  </c:pt>
                  <c:pt idx="266">
                    <c:v/>
                  </c:pt>
                  <c:pt idx="267">
                    <c:v/>
                  </c:pt>
                  <c:pt idx="268">
                    <c:v/>
                  </c:pt>
                  <c:pt idx="269">
                    <c:v/>
                  </c:pt>
                  <c:pt idx="270">
                    <c:v/>
                  </c:pt>
                  <c:pt idx="271">
                    <c:v/>
                  </c:pt>
                  <c:pt idx="272">
                    <c:v/>
                  </c:pt>
                  <c:pt idx="273">
                    <c:v/>
                  </c:pt>
                  <c:pt idx="274">
                    <c:v/>
                  </c:pt>
                  <c:pt idx="275">
                    <c:v/>
                  </c:pt>
                  <c:pt idx="276">
                    <c:v/>
                  </c:pt>
                  <c:pt idx="277">
                    <c:v/>
                  </c:pt>
                  <c:pt idx="278">
                    <c:v/>
                  </c:pt>
                  <c:pt idx="279">
                    <c:v>mar-26</c:v>
                  </c:pt>
                  <c:pt idx="280">
                    <c:v/>
                  </c:pt>
                  <c:pt idx="281">
                    <c:v/>
                  </c:pt>
                  <c:pt idx="282">
                    <c:v/>
                  </c:pt>
                  <c:pt idx="283">
                    <c:v/>
                  </c:pt>
                  <c:pt idx="284">
                    <c:v/>
                  </c:pt>
                  <c:pt idx="285">
                    <c:v/>
                  </c:pt>
                  <c:pt idx="286">
                    <c:v/>
                  </c:pt>
                  <c:pt idx="287">
                    <c:v/>
                  </c:pt>
                  <c:pt idx="288">
                    <c:v/>
                  </c:pt>
                  <c:pt idx="289">
                    <c:v/>
                  </c:pt>
                  <c:pt idx="290">
                    <c:v/>
                  </c:pt>
                  <c:pt idx="291">
                    <c:v/>
                  </c:pt>
                  <c:pt idx="292">
                    <c:v/>
                  </c:pt>
                  <c:pt idx="293">
                    <c:v/>
                  </c:pt>
                  <c:pt idx="294">
                    <c:v/>
                  </c:pt>
                  <c:pt idx="295">
                    <c:v/>
                  </c:pt>
                  <c:pt idx="296">
                    <c:v/>
                  </c:pt>
                  <c:pt idx="297">
                    <c:v/>
                  </c:pt>
                  <c:pt idx="298">
                    <c:v/>
                  </c:pt>
                  <c:pt idx="299">
                    <c:v/>
                  </c:pt>
                  <c:pt idx="300">
                    <c:v/>
                  </c:pt>
                  <c:pt idx="301">
                    <c:v/>
                  </c:pt>
                  <c:pt idx="302">
                    <c:v/>
                  </c:pt>
                  <c:pt idx="303">
                    <c:v/>
                  </c:pt>
                  <c:pt idx="304">
                    <c:v/>
                  </c:pt>
                  <c:pt idx="305">
                    <c:v/>
                  </c:pt>
                  <c:pt idx="306">
                    <c:v/>
                  </c:pt>
                  <c:pt idx="307">
                    <c:v/>
                  </c:pt>
                  <c:pt idx="308">
                    <c:v/>
                  </c:pt>
                  <c:pt idx="309">
                    <c:v/>
                  </c:pt>
                  <c:pt idx="310">
                    <c:v/>
                  </c:pt>
                  <c:pt idx="311">
                    <c:v/>
                  </c:pt>
                  <c:pt idx="312">
                    <c:v/>
                  </c:pt>
                  <c:pt idx="313">
                    <c:v/>
                  </c:pt>
                  <c:pt idx="314">
                    <c:v/>
                  </c:pt>
                  <c:pt idx="315">
                    <c:v/>
                  </c:pt>
                  <c:pt idx="316">
                    <c:v/>
                  </c:pt>
                  <c:pt idx="317">
                    <c:v/>
                  </c:pt>
                  <c:pt idx="318">
                    <c:v/>
                  </c:pt>
                  <c:pt idx="319">
                    <c:v>may-26</c:v>
                  </c:pt>
                  <c:pt idx="320">
                    <c:v/>
                  </c:pt>
                  <c:pt idx="321">
                    <c:v/>
                  </c:pt>
                  <c:pt idx="322">
                    <c:v/>
                  </c:pt>
                  <c:pt idx="323">
                    <c:v/>
                  </c:pt>
                  <c:pt idx="324">
                    <c:v/>
                  </c:pt>
                  <c:pt idx="325">
                    <c:v/>
                  </c:pt>
                  <c:pt idx="326">
                    <c:v/>
                  </c:pt>
                  <c:pt idx="327">
                    <c:v/>
                  </c:pt>
                  <c:pt idx="328">
                    <c:v/>
                  </c:pt>
                  <c:pt idx="329">
                    <c:v/>
                  </c:pt>
                  <c:pt idx="330">
                    <c:v/>
                  </c:pt>
                  <c:pt idx="331">
                    <c:v/>
                  </c:pt>
                  <c:pt idx="332">
                    <c:v/>
                  </c:pt>
                  <c:pt idx="333">
                    <c:v/>
                  </c:pt>
                  <c:pt idx="334">
                    <c:v/>
                  </c:pt>
                  <c:pt idx="335">
                    <c:v/>
                  </c:pt>
                  <c:pt idx="336">
                    <c:v/>
                  </c:pt>
                  <c:pt idx="337">
                    <c:v/>
                  </c:pt>
                  <c:pt idx="338">
                    <c:v/>
                  </c:pt>
                  <c:pt idx="339">
                    <c:v/>
                  </c:pt>
                  <c:pt idx="340">
                    <c:v/>
                  </c:pt>
                  <c:pt idx="341">
                    <c:v/>
                  </c:pt>
                  <c:pt idx="342">
                    <c:v/>
                  </c:pt>
                  <c:pt idx="343">
                    <c:v/>
                  </c:pt>
                  <c:pt idx="344">
                    <c:v/>
                  </c:pt>
                  <c:pt idx="345">
                    <c:v/>
                  </c:pt>
                  <c:pt idx="346">
                    <c:v/>
                  </c:pt>
                  <c:pt idx="347">
                    <c:v/>
                  </c:pt>
                  <c:pt idx="348">
                    <c:v/>
                  </c:pt>
                  <c:pt idx="349">
                    <c:v/>
                  </c:pt>
                  <c:pt idx="350">
                    <c:v/>
                  </c:pt>
                  <c:pt idx="351">
                    <c:v/>
                  </c:pt>
                  <c:pt idx="352">
                    <c:v/>
                  </c:pt>
                  <c:pt idx="353">
                    <c:v/>
                  </c:pt>
                  <c:pt idx="354">
                    <c:v/>
                  </c:pt>
                  <c:pt idx="355">
                    <c:v/>
                  </c:pt>
                  <c:pt idx="356">
                    <c:v/>
                  </c:pt>
                  <c:pt idx="357">
                    <c:v/>
                  </c:pt>
                  <c:pt idx="358">
                    <c:v/>
                  </c:pt>
                  <c:pt idx="359">
                    <c:v>jul-26</c:v>
                  </c:pt>
                  <c:pt idx="360">
                    <c:v/>
                  </c:pt>
                  <c:pt idx="361">
                    <c:v/>
                  </c:pt>
                  <c:pt idx="362">
                    <c:v/>
                  </c:pt>
                  <c:pt idx="363">
                    <c:v/>
                  </c:pt>
                  <c:pt idx="364">
                    <c:v/>
                  </c:pt>
                  <c:pt idx="365">
                    <c:v/>
                  </c:pt>
                  <c:pt idx="366">
                    <c:v/>
                  </c:pt>
                  <c:pt idx="367">
                    <c:v/>
                  </c:pt>
                  <c:pt idx="368">
                    <c:v/>
                  </c:pt>
                  <c:pt idx="369">
                    <c:v/>
                  </c:pt>
                  <c:pt idx="370">
                    <c:v/>
                  </c:pt>
                  <c:pt idx="371">
                    <c:v/>
                  </c:pt>
                  <c:pt idx="372">
                    <c:v/>
                  </c:pt>
                  <c:pt idx="373">
                    <c:v/>
                  </c:pt>
                  <c:pt idx="374">
                    <c:v/>
                  </c:pt>
                  <c:pt idx="375">
                    <c:v/>
                  </c:pt>
                  <c:pt idx="376">
                    <c:v/>
                  </c:pt>
                  <c:pt idx="377">
                    <c:v/>
                  </c:pt>
                  <c:pt idx="378">
                    <c:v/>
                  </c:pt>
                  <c:pt idx="379">
                    <c:v/>
                  </c:pt>
                  <c:pt idx="380">
                    <c:v/>
                  </c:pt>
                  <c:pt idx="381">
                    <c:v/>
                  </c:pt>
                  <c:pt idx="382">
                    <c:v/>
                  </c:pt>
                  <c:pt idx="383">
                    <c:v/>
                  </c:pt>
                  <c:pt idx="384">
                    <c:v/>
                  </c:pt>
                  <c:pt idx="385">
                    <c:v/>
                  </c:pt>
                  <c:pt idx="386">
                    <c:v/>
                  </c:pt>
                  <c:pt idx="387">
                    <c:v/>
                  </c:pt>
                  <c:pt idx="388">
                    <c:v/>
                  </c:pt>
                  <c:pt idx="389">
                    <c:v/>
                  </c:pt>
                  <c:pt idx="390">
                    <c:v/>
                  </c:pt>
                  <c:pt idx="391">
                    <c:v/>
                  </c:pt>
                  <c:pt idx="392">
                    <c:v/>
                  </c:pt>
                  <c:pt idx="393">
                    <c:v/>
                  </c:pt>
                  <c:pt idx="394">
                    <c:v/>
                  </c:pt>
                  <c:pt idx="395">
                    <c:v/>
                  </c:pt>
                  <c:pt idx="396">
                    <c:v/>
                  </c:pt>
                  <c:pt idx="397">
                    <c:v/>
                  </c:pt>
                  <c:pt idx="398">
                    <c:v/>
                  </c:pt>
                  <c:pt idx="399">
                    <c:v/>
                  </c:pt>
                  <c:pt idx="400">
                    <c:v>sep-26</c:v>
                  </c:pt>
                  <c:pt idx="401">
                    <c:v/>
                  </c:pt>
                  <c:pt idx="402">
                    <c:v/>
                  </c:pt>
                  <c:pt idx="403">
                    <c:v/>
                  </c:pt>
                  <c:pt idx="404">
                    <c:v/>
                  </c:pt>
                  <c:pt idx="405">
                    <c:v/>
                  </c:pt>
                  <c:pt idx="406">
                    <c:v/>
                  </c:pt>
                  <c:pt idx="407">
                    <c:v/>
                  </c:pt>
                  <c:pt idx="408">
                    <c:v/>
                  </c:pt>
                  <c:pt idx="409">
                    <c:v/>
                  </c:pt>
                  <c:pt idx="410">
                    <c:v/>
                  </c:pt>
                  <c:pt idx="411">
                    <c:v/>
                  </c:pt>
                  <c:pt idx="412">
                    <c:v/>
                  </c:pt>
                  <c:pt idx="413">
                    <c:v/>
                  </c:pt>
                  <c:pt idx="414">
                    <c:v/>
                  </c:pt>
                  <c:pt idx="415">
                    <c:v/>
                  </c:pt>
                  <c:pt idx="416">
                    <c:v/>
                  </c:pt>
                  <c:pt idx="417">
                    <c:v/>
                  </c:pt>
                </c:lvl>
              </c:multiLvlStrCache>
            </c:multiLvlStrRef>
          </c:cat>
          <c:val>
            <c:numRef>
              <c:f>Sheet1!$B$2:$B$419</c:f>
              <c:numCache>
                <c:formatCode>General</c:formatCode>
                <c:ptCount val="418"/>
                <c:pt idx="0">
                  <c:v>2.2</c:v>
                </c:pt>
                <c:pt idx="1">
                  <c:v>2.9</c:v>
                </c:pt>
                <c:pt idx="2">
                  <c:v>4.1</c:v>
                </c:pt>
                <c:pt idx="3">
                  <c:v>4</c:v>
                </c:pt>
                <c:pt idx="4">
                  <c:v>2.8</c:v>
                </c:pt>
                <c:pt idx="5">
                  <c:v>3.3</c:v>
                </c:pt>
                <c:pt idx="6">
                  <c:v>3.4</c:v>
                </c:pt>
                <c:pt idx="7">
                  <c:v>4.4</c:v>
                </c:pt>
                <c:pt idx="8">
                  <c:v>5.6</c:v>
                </c:pt>
                <c:pt idx="9">
                  <c:v>4.9</c:v>
                </c:pt>
                <c:pt idx="10">
                  <c:v>3.8</c:v>
                </c:pt>
                <c:pt idx="11">
                  <c:v>4.3</c:v>
                </c:pt>
                <c:pt idx="12">
                  <c:v>3.6</c:v>
                </c:pt>
                <c:pt idx="13">
                  <c:v>4.3</c:v>
                </c:pt>
                <c:pt idx="14">
                  <c:v>3.9</c:v>
                </c:pt>
                <c:pt idx="15">
                  <c:v>3.8</c:v>
                </c:pt>
                <c:pt idx="16">
                  <c:v>5.1</c:v>
                </c:pt>
                <c:pt idx="17">
                  <c:v>2.7</c:v>
                </c:pt>
                <c:pt idx="18">
                  <c:v>4.4</c:v>
                </c:pt>
                <c:pt idx="19">
                  <c:v>3.6</c:v>
                </c:pt>
                <c:pt idx="20">
                  <c:v>3.4</c:v>
                </c:pt>
                <c:pt idx="21">
                  <c:v>1.3</c:v>
                </c:pt>
                <c:pt idx="22">
                  <c:v>0.2</c:v>
                </c:pt>
                <c:pt idx="23">
                  <c:v>1.1</c:v>
                </c:pt>
                <c:pt idx="24">
                  <c:v>1.2</c:v>
                </c:pt>
                <c:pt idx="25">
                  <c:v>0.9</c:v>
                </c:pt>
                <c:pt idx="26">
                  <c:v>0.2</c:v>
                </c:pt>
                <c:pt idx="27">
                  <c:v>-0.3</c:v>
                </c:pt>
                <c:pt idx="28">
                  <c:v>0.3</c:v>
                </c:pt>
                <c:pt idx="29">
                  <c:v>-0.3</c:v>
                </c:pt>
                <c:pt idx="30">
                  <c:v>-0.9</c:v>
                </c:pt>
                <c:pt idx="31">
                  <c:v>-0.1</c:v>
                </c:pt>
                <c:pt idx="32">
                  <c:v>-1.8</c:v>
                </c:pt>
                <c:pt idx="33">
                  <c:v>-2.7</c:v>
                </c:pt>
                <c:pt idx="34">
                  <c:v>-3.4</c:v>
                </c:pt>
                <c:pt idx="35">
                  <c:v>-4.3</c:v>
                </c:pt>
                <c:pt idx="36">
                  <c:v>-4.2</c:v>
                </c:pt>
                <c:pt idx="37">
                  <c:v>-5.9</c:v>
                </c:pt>
                <c:pt idx="38">
                  <c:v>-5.9</c:v>
                </c:pt>
                <c:pt idx="39">
                  <c:v>-7.3</c:v>
                </c:pt>
                <c:pt idx="40">
                  <c:v>-7.4</c:v>
                </c:pt>
                <c:pt idx="41">
                  <c:v>-7.7</c:v>
                </c:pt>
                <c:pt idx="42">
                  <c:v>-10.6</c:v>
                </c:pt>
                <c:pt idx="43">
                  <c:v>-10.1</c:v>
                </c:pt>
                <c:pt idx="44">
                  <c:v>-10.6</c:v>
                </c:pt>
                <c:pt idx="45">
                  <c:v>-12.4</c:v>
                </c:pt>
                <c:pt idx="46">
                  <c:v>-12.3</c:v>
                </c:pt>
                <c:pt idx="47">
                  <c:v>-12.9</c:v>
                </c:pt>
                <c:pt idx="48">
                  <c:v>-13.4</c:v>
                </c:pt>
                <c:pt idx="49">
                  <c:v>-13.5</c:v>
                </c:pt>
                <c:pt idx="50">
                  <c:v>-13.4</c:v>
                </c:pt>
                <c:pt idx="51">
                  <c:v>-12.3</c:v>
                </c:pt>
                <c:pt idx="52">
                  <c:v>-11.9</c:v>
                </c:pt>
                <c:pt idx="53">
                  <c:v>-11.4</c:v>
                </c:pt>
                <c:pt idx="54">
                  <c:v>-11.5</c:v>
                </c:pt>
                <c:pt idx="55">
                  <c:v>-10.7</c:v>
                </c:pt>
                <c:pt idx="56">
                  <c:v>-9.7</c:v>
                </c:pt>
                <c:pt idx="57">
                  <c:v>-9.4</c:v>
                </c:pt>
                <c:pt idx="58">
                  <c:v>-9.6</c:v>
                </c:pt>
                <c:pt idx="59">
                  <c:v>-8.4</c:v>
                </c:pt>
                <c:pt idx="60">
                  <c:v>-7.3</c:v>
                </c:pt>
                <c:pt idx="61">
                  <c:v>-6.7</c:v>
                </c:pt>
                <c:pt idx="62">
                  <c:v>-7.3</c:v>
                </c:pt>
                <c:pt idx="63">
                  <c:v>-5.2</c:v>
                </c:pt>
                <c:pt idx="64">
                  <c:v>-4.4</c:v>
                </c:pt>
                <c:pt idx="65">
                  <c:v>-5.2</c:v>
                </c:pt>
                <c:pt idx="66">
                  <c:v>-3.6</c:v>
                </c:pt>
                <c:pt idx="67">
                  <c:v>-3.2</c:v>
                </c:pt>
                <c:pt idx="68">
                  <c:v>1.8</c:v>
                </c:pt>
                <c:pt idx="69">
                  <c:v>1.5</c:v>
                </c:pt>
                <c:pt idx="70">
                  <c:v>3.6</c:v>
                </c:pt>
                <c:pt idx="71">
                  <c:v>4</c:v>
                </c:pt>
                <c:pt idx="72">
                  <c:v>4</c:v>
                </c:pt>
                <c:pt idx="73">
                  <c:v>4.7</c:v>
                </c:pt>
                <c:pt idx="74">
                  <c:v>4.2</c:v>
                </c:pt>
                <c:pt idx="75">
                  <c:v>4.8</c:v>
                </c:pt>
                <c:pt idx="76">
                  <c:v>5.8</c:v>
                </c:pt>
                <c:pt idx="77">
                  <c:v>6.5</c:v>
                </c:pt>
                <c:pt idx="78">
                  <c:v>6.8</c:v>
                </c:pt>
                <c:pt idx="79">
                  <c:v>8.7</c:v>
                </c:pt>
                <c:pt idx="80">
                  <c:v>10.8</c:v>
                </c:pt>
                <c:pt idx="81">
                  <c:v>10.8</c:v>
                </c:pt>
                <c:pt idx="82">
                  <c:v>11.6</c:v>
                </c:pt>
                <c:pt idx="83">
                  <c:v>11.2</c:v>
                </c:pt>
                <c:pt idx="84">
                  <c:v>12.7</c:v>
                </c:pt>
                <c:pt idx="85">
                  <c:v>14.8</c:v>
                </c:pt>
                <c:pt idx="86">
                  <c:v>14.5</c:v>
                </c:pt>
                <c:pt idx="87">
                  <c:v>15.7</c:v>
                </c:pt>
                <c:pt idx="88">
                  <c:v>14</c:v>
                </c:pt>
                <c:pt idx="89">
                  <c:v>15.8</c:v>
                </c:pt>
                <c:pt idx="90">
                  <c:v>15.9</c:v>
                </c:pt>
                <c:pt idx="91">
                  <c:v>14.2</c:v>
                </c:pt>
                <c:pt idx="92">
                  <c:v>14.5</c:v>
                </c:pt>
                <c:pt idx="93">
                  <c:v>15.5</c:v>
                </c:pt>
                <c:pt idx="94">
                  <c:v>13.6</c:v>
                </c:pt>
                <c:pt idx="95">
                  <c:v>14.8</c:v>
                </c:pt>
                <c:pt idx="96">
                  <c:v>13.6</c:v>
                </c:pt>
                <c:pt idx="97">
                  <c:v>13.9</c:v>
                </c:pt>
                <c:pt idx="98">
                  <c:v>13.4</c:v>
                </c:pt>
                <c:pt idx="99">
                  <c:v>14.2</c:v>
                </c:pt>
                <c:pt idx="100">
                  <c:v>13.9</c:v>
                </c:pt>
                <c:pt idx="101">
                  <c:v>12.7</c:v>
                </c:pt>
                <c:pt idx="102">
                  <c:v>13</c:v>
                </c:pt>
                <c:pt idx="103">
                  <c:v>13.2</c:v>
                </c:pt>
                <c:pt idx="104">
                  <c:v>12.4</c:v>
                </c:pt>
                <c:pt idx="105">
                  <c:v>13.2</c:v>
                </c:pt>
                <c:pt idx="106">
                  <c:v>13</c:v>
                </c:pt>
                <c:pt idx="107">
                  <c:v>13.2</c:v>
                </c:pt>
                <c:pt idx="108">
                  <c:v>12.8</c:v>
                </c:pt>
                <c:pt idx="109">
                  <c:v>12.9</c:v>
                </c:pt>
                <c:pt idx="110">
                  <c:v>12.4</c:v>
                </c:pt>
                <c:pt idx="111">
                  <c:v>13.5</c:v>
                </c:pt>
                <c:pt idx="112">
                  <c:v>11.8</c:v>
                </c:pt>
                <c:pt idx="113">
                  <c:v>12.7</c:v>
                </c:pt>
                <c:pt idx="114">
                  <c:v>11.9</c:v>
                </c:pt>
                <c:pt idx="115">
                  <c:v>11.7</c:v>
                </c:pt>
                <c:pt idx="116">
                  <c:v>11.8</c:v>
                </c:pt>
                <c:pt idx="117">
                  <c:v>10.9</c:v>
                </c:pt>
                <c:pt idx="118">
                  <c:v>11.5</c:v>
                </c:pt>
                <c:pt idx="119">
                  <c:v>11.1</c:v>
                </c:pt>
                <c:pt idx="120">
                  <c:v>11</c:v>
                </c:pt>
                <c:pt idx="121">
                  <c:v>10</c:v>
                </c:pt>
                <c:pt idx="122">
                  <c:v>9.7</c:v>
                </c:pt>
                <c:pt idx="123">
                  <c:v>10.3</c:v>
                </c:pt>
                <c:pt idx="124">
                  <c:v>8.9</c:v>
                </c:pt>
                <c:pt idx="125">
                  <c:v>7.8</c:v>
                </c:pt>
                <c:pt idx="126">
                  <c:v>5.8</c:v>
                </c:pt>
                <c:pt idx="127">
                  <c:v>5.6</c:v>
                </c:pt>
                <c:pt idx="128">
                  <c:v>6.9</c:v>
                </c:pt>
                <c:pt idx="129">
                  <c:v>7.1</c:v>
                </c:pt>
                <c:pt idx="130">
                  <c:v>8.4</c:v>
                </c:pt>
                <c:pt idx="131">
                  <c:v>9.1</c:v>
                </c:pt>
                <c:pt idx="132">
                  <c:v>11.5</c:v>
                </c:pt>
                <c:pt idx="133">
                  <c:v>11.7</c:v>
                </c:pt>
                <c:pt idx="134">
                  <c:v>11.8</c:v>
                </c:pt>
                <c:pt idx="135">
                  <c:v>10.9</c:v>
                </c:pt>
                <c:pt idx="136">
                  <c:v>10.2</c:v>
                </c:pt>
                <c:pt idx="137">
                  <c:v>12.6</c:v>
                </c:pt>
                <c:pt idx="138">
                  <c:v>12.5</c:v>
                </c:pt>
                <c:pt idx="139">
                  <c:v>14.1</c:v>
                </c:pt>
                <c:pt idx="140">
                  <c:v>15.4</c:v>
                </c:pt>
                <c:pt idx="141">
                  <c:v>16.3</c:v>
                </c:pt>
                <c:pt idx="142">
                  <c:v>16.9</c:v>
                </c:pt>
                <c:pt idx="143">
                  <c:v>15.6</c:v>
                </c:pt>
                <c:pt idx="144">
                  <c:v>17</c:v>
                </c:pt>
                <c:pt idx="145">
                  <c:v>18.5</c:v>
                </c:pt>
                <c:pt idx="146">
                  <c:v>19.7</c:v>
                </c:pt>
                <c:pt idx="147">
                  <c:v>24.5</c:v>
                </c:pt>
                <c:pt idx="148">
                  <c:v>22.6</c:v>
                </c:pt>
                <c:pt idx="149">
                  <c:v>25.4</c:v>
                </c:pt>
                <c:pt idx="150">
                  <c:v>28.7</c:v>
                </c:pt>
                <c:pt idx="151">
                  <c:v>34.1</c:v>
                </c:pt>
                <c:pt idx="152">
                  <c:v>33.1</c:v>
                </c:pt>
                <c:pt idx="153">
                  <c:v>33.5</c:v>
                </c:pt>
                <c:pt idx="154">
                  <c:v>32.5</c:v>
                </c:pt>
                <c:pt idx="155">
                  <c:v>31.1</c:v>
                </c:pt>
                <c:pt idx="156">
                  <c:v>38.8</c:v>
                </c:pt>
                <c:pt idx="157">
                  <c:v>34.9</c:v>
                </c:pt>
                <c:pt idx="158">
                  <c:v>39.5</c:v>
                </c:pt>
                <c:pt idx="159">
                  <c:v>38</c:v>
                </c:pt>
                <c:pt idx="160">
                  <c:v>38</c:v>
                </c:pt>
                <c:pt idx="161">
                  <c:v>34.7</c:v>
                </c:pt>
                <c:pt idx="162">
                  <c:v>35.7</c:v>
                </c:pt>
                <c:pt idx="163">
                  <c:v>36.4</c:v>
                </c:pt>
                <c:pt idx="164">
                  <c:v>33.8</c:v>
                </c:pt>
                <c:pt idx="165">
                  <c:v>35.1</c:v>
                </c:pt>
                <c:pt idx="166">
                  <c:v>38.2</c:v>
                </c:pt>
                <c:pt idx="167">
                  <c:v>31.3</c:v>
                </c:pt>
                <c:pt idx="168">
                  <c:v>27.9</c:v>
                </c:pt>
                <c:pt idx="169">
                  <c:v>22.1</c:v>
                </c:pt>
                <c:pt idx="170">
                  <c:v>20.1</c:v>
                </c:pt>
                <c:pt idx="171">
                  <c:v>18.6</c:v>
                </c:pt>
                <c:pt idx="172">
                  <c:v>18.3</c:v>
                </c:pt>
                <c:pt idx="173">
                  <c:v>19.4</c:v>
                </c:pt>
                <c:pt idx="174">
                  <c:v>20.4</c:v>
                </c:pt>
                <c:pt idx="175">
                  <c:v>20.3</c:v>
                </c:pt>
                <c:pt idx="176">
                  <c:v>21.4</c:v>
                </c:pt>
                <c:pt idx="177">
                  <c:v>18</c:v>
                </c:pt>
                <c:pt idx="178">
                  <c:v>14.4</c:v>
                </c:pt>
                <c:pt idx="179">
                  <c:v>13.1</c:v>
                </c:pt>
                <c:pt idx="180">
                  <c:v>13.2</c:v>
                </c:pt>
                <c:pt idx="181">
                  <c:v>14.6</c:v>
                </c:pt>
                <c:pt idx="182">
                  <c:v>14.1</c:v>
                </c:pt>
                <c:pt idx="183">
                  <c:v>13.8</c:v>
                </c:pt>
                <c:pt idx="184">
                  <c:v>14.2</c:v>
                </c:pt>
                <c:pt idx="185">
                  <c:v>13.9</c:v>
                </c:pt>
                <c:pt idx="186">
                  <c:v>17.5</c:v>
                </c:pt>
                <c:pt idx="187">
                  <c:v>17.6</c:v>
                </c:pt>
                <c:pt idx="188">
                  <c:v>23.5</c:v>
                </c:pt>
                <c:pt idx="189">
                  <c:v>19.6</c:v>
                </c:pt>
                <c:pt idx="190">
                  <c:v>25.8</c:v>
                </c:pt>
                <c:pt idx="191">
                  <c:v>30.9</c:v>
                </c:pt>
                <c:pt idx="192">
                  <c:v>32.1</c:v>
                </c:pt>
                <c:pt idx="193">
                  <c:v>26.9</c:v>
                </c:pt>
                <c:pt idx="194">
                  <c:v>22.2</c:v>
                </c:pt>
                <c:pt idx="195">
                  <c:v>21.4</c:v>
                </c:pt>
                <c:pt idx="196">
                  <c:v>20.6</c:v>
                </c:pt>
                <c:pt idx="197">
                  <c:v>21.1</c:v>
                </c:pt>
                <c:pt idx="198">
                  <c:v>21.9</c:v>
                </c:pt>
                <c:pt idx="199">
                  <c:v>13.1</c:v>
                </c:pt>
                <c:pt idx="200">
                  <c:v>16</c:v>
                </c:pt>
                <c:pt idx="201">
                  <c:v>12.3</c:v>
                </c:pt>
                <c:pt idx="202">
                  <c:v>12</c:v>
                </c:pt>
                <c:pt idx="203">
                  <c:v>7.9</c:v>
                </c:pt>
                <c:pt idx="204">
                  <c:v>5.2</c:v>
                </c:pt>
                <c:pt idx="205">
                  <c:v>5.4</c:v>
                </c:pt>
                <c:pt idx="206">
                  <c:v>4.4</c:v>
                </c:pt>
                <c:pt idx="207">
                  <c:v>3.1</c:v>
                </c:pt>
                <c:pt idx="208">
                  <c:v>2.4</c:v>
                </c:pt>
                <c:pt idx="209">
                  <c:v>3.2</c:v>
                </c:pt>
                <c:pt idx="210">
                  <c:v>1.1</c:v>
                </c:pt>
                <c:pt idx="211">
                  <c:v>1.3</c:v>
                </c:pt>
                <c:pt idx="212">
                  <c:v>1.7</c:v>
                </c:pt>
                <c:pt idx="213">
                  <c:v>0.4</c:v>
                </c:pt>
                <c:pt idx="214">
                  <c:v>1.6</c:v>
                </c:pt>
                <c:pt idx="215">
                  <c:v>1.2</c:v>
                </c:pt>
                <c:pt idx="216">
                  <c:v>0</c:v>
                </c:pt>
                <c:pt idx="217">
                  <c:v>-1.4</c:v>
                </c:pt>
                <c:pt idx="218">
                  <c:v>-1.9</c:v>
                </c:pt>
                <c:pt idx="219">
                  <c:v>-1.6</c:v>
                </c:pt>
                <c:pt idx="220">
                  <c:v>-2</c:v>
                </c:pt>
                <c:pt idx="221">
                  <c:v>-2.8</c:v>
                </c:pt>
                <c:pt idx="222">
                  <c:v>-3.8</c:v>
                </c:pt>
                <c:pt idx="223">
                  <c:v>-5.7</c:v>
                </c:pt>
                <c:pt idx="224">
                  <c:v>-6.3</c:v>
                </c:pt>
                <c:pt idx="225">
                  <c:v>-6.6</c:v>
                </c:pt>
                <c:pt idx="226">
                  <c:v>-7.5</c:v>
                </c:pt>
                <c:pt idx="227">
                  <c:v>-7.4</c:v>
                </c:pt>
                <c:pt idx="228">
                  <c:v>-7.3</c:v>
                </c:pt>
                <c:pt idx="229">
                  <c:v>-8.1</c:v>
                </c:pt>
                <c:pt idx="230">
                  <c:v>-8.1</c:v>
                </c:pt>
                <c:pt idx="231">
                  <c:v>-7.7</c:v>
                </c:pt>
                <c:pt idx="232">
                  <c:v>-7.7</c:v>
                </c:pt>
                <c:pt idx="233">
                  <c:v>-7.4</c:v>
                </c:pt>
                <c:pt idx="234">
                  <c:v>-6.7</c:v>
                </c:pt>
                <c:pt idx="235">
                  <c:v>-6.9</c:v>
                </c:pt>
                <c:pt idx="236">
                  <c:v>-5.4</c:v>
                </c:pt>
                <c:pt idx="237">
                  <c:v>-7.1</c:v>
                </c:pt>
                <c:pt idx="238">
                  <c:v>-7.9</c:v>
                </c:pt>
                <c:pt idx="239">
                  <c:v>-7.4</c:v>
                </c:pt>
                <c:pt idx="240">
                  <c:v>-7.5</c:v>
                </c:pt>
                <c:pt idx="241">
                  <c:v>-7.4</c:v>
                </c:pt>
                <c:pt idx="242">
                  <c:v>-6.4</c:v>
                </c:pt>
                <c:pt idx="243">
                  <c:v>-4.7</c:v>
                </c:pt>
                <c:pt idx="244">
                  <c:v>-4.5</c:v>
                </c:pt>
                <c:pt idx="245">
                  <c:v>-5.2</c:v>
                </c:pt>
                <c:pt idx="246">
                  <c:v>-7.2</c:v>
                </c:pt>
                <c:pt idx="247">
                  <c:v>-5.6</c:v>
                </c:pt>
                <c:pt idx="248">
                  <c:v>-3.8</c:v>
                </c:pt>
                <c:pt idx="249">
                  <c:v>-3.2</c:v>
                </c:pt>
                <c:pt idx="250">
                  <c:v>-2.3</c:v>
                </c:pt>
                <c:pt idx="251">
                  <c:v>-2.4</c:v>
                </c:pt>
                <c:pt idx="252">
                  <c:v>-0.4</c:v>
                </c:pt>
                <c:pt idx="253">
                  <c:v>-0.6</c:v>
                </c:pt>
                <c:pt idx="254">
                  <c:v>0.3</c:v>
                </c:pt>
                <c:pt idx="255">
                  <c:v>1.1</c:v>
                </c:pt>
                <c:pt idx="256">
                  <c:v>-3.1</c:v>
                </c:pt>
                <c:pt idx="257">
                  <c:v>-2.2</c:v>
                </c:pt>
                <c:pt idx="258">
                  <c:v>-4.3</c:v>
                </c:pt>
                <c:pt idx="259">
                  <c:v>-4.8</c:v>
                </c:pt>
                <c:pt idx="260">
                  <c:v>-3.9</c:v>
                </c:pt>
                <c:pt idx="261">
                  <c:v>-5.5</c:v>
                </c:pt>
                <c:pt idx="262">
                  <c:v>-3.5</c:v>
                </c:pt>
                <c:pt idx="263">
                  <c:v>-4.5</c:v>
                </c:pt>
                <c:pt idx="264">
                  <c:v>-4.7</c:v>
                </c:pt>
                <c:pt idx="265">
                  <c:v>-4.5</c:v>
                </c:pt>
                <c:pt idx="266">
                  <c:v>-5.7</c:v>
                </c:pt>
                <c:pt idx="267">
                  <c:v>-4.9</c:v>
                </c:pt>
                <c:pt idx="268">
                  <c:v>-6.1</c:v>
                </c:pt>
                <c:pt idx="269">
                  <c:v>-5.1</c:v>
                </c:pt>
                <c:pt idx="270">
                  <c:v>-3.7</c:v>
                </c:pt>
                <c:pt idx="271">
                  <c:v>-5.1</c:v>
                </c:pt>
                <c:pt idx="272">
                  <c:v>-4.1</c:v>
                </c:pt>
                <c:pt idx="273">
                  <c:v>-3.5</c:v>
                </c:pt>
                <c:pt idx="274">
                  <c:v>-3.7</c:v>
                </c:pt>
                <c:pt idx="275">
                  <c:v>-2.8</c:v>
                </c:pt>
                <c:pt idx="276">
                  <c:v>-6.2</c:v>
                </c:pt>
                <c:pt idx="277">
                  <c:v>-6.9</c:v>
                </c:pt>
                <c:pt idx="278">
                  <c:v>-7.7</c:v>
                </c:pt>
                <c:pt idx="279">
                  <c:v>-8.8</c:v>
                </c:pt>
                <c:pt idx="280">
                  <c:v>-8.5</c:v>
                </c:pt>
                <c:pt idx="281">
                  <c:v>-9.6</c:v>
                </c:pt>
                <c:pt idx="282">
                  <c:v>-8.9</c:v>
                </c:pt>
                <c:pt idx="283">
                  <c:v>-10.1</c:v>
                </c:pt>
                <c:pt idx="284">
                  <c:v>-10.5</c:v>
                </c:pt>
                <c:pt idx="285">
                  <c:v>-10</c:v>
                </c:pt>
                <c:pt idx="286">
                  <c:v>-10.4</c:v>
                </c:pt>
                <c:pt idx="287">
                  <c:v>-10.3</c:v>
                </c:pt>
                <c:pt idx="288">
                  <c:v>-11.2</c:v>
                </c:pt>
                <c:pt idx="289">
                  <c:v>-11.3</c:v>
                </c:pt>
                <c:pt idx="290">
                  <c:v>-11.3</c:v>
                </c:pt>
                <c:pt idx="291">
                  <c:v>-12.2</c:v>
                </c:pt>
                <c:pt idx="292">
                  <c:v>-12.5</c:v>
                </c:pt>
                <c:pt idx="293">
                  <c:v>-12.7</c:v>
                </c:pt>
                <c:pt idx="294">
                  <c:v>-11.6</c:v>
                </c:pt>
                <c:pt idx="295">
                  <c:v>-11.1</c:v>
                </c:pt>
                <c:pt idx="296">
                  <c:v>-11.6</c:v>
                </c:pt>
                <c:pt idx="297">
                  <c:v>-10.6</c:v>
                </c:pt>
                <c:pt idx="298">
                  <c:v>-10</c:v>
                </c:pt>
                <c:pt idx="299">
                  <c:v>-9.9</c:v>
                </c:pt>
                <c:pt idx="300">
                  <c:v>-9.2</c:v>
                </c:pt>
                <c:pt idx="301">
                  <c:v>-8.2</c:v>
                </c:pt>
                <c:pt idx="302">
                  <c:v>-8.2</c:v>
                </c:pt>
                <c:pt idx="303">
                  <c:v>-9.4</c:v>
                </c:pt>
                <c:pt idx="304">
                  <c:v>-9.9</c:v>
                </c:pt>
                <c:pt idx="305">
                  <c:v>-9.7</c:v>
                </c:pt>
                <c:pt idx="306">
                  <c:v>-8.7</c:v>
                </c:pt>
                <c:pt idx="307">
                  <c:v>-8.8</c:v>
                </c:pt>
                <c:pt idx="308">
                  <c:v>-8.3</c:v>
                </c:pt>
                <c:pt idx="309">
                  <c:v>-8.2</c:v>
                </c:pt>
                <c:pt idx="310">
                  <c:v>-8.6</c:v>
                </c:pt>
                <c:pt idx="311">
                  <c:v>-8</c:v>
                </c:pt>
                <c:pt idx="312">
                  <c:v>-7.6</c:v>
                </c:pt>
                <c:pt idx="313">
                  <c:v>-7.4</c:v>
                </c:pt>
                <c:pt idx="314">
                  <c:v>-7.9</c:v>
                </c:pt>
                <c:pt idx="315">
                  <c:v>-8.2</c:v>
                </c:pt>
                <c:pt idx="316">
                  <c:v>-6.9</c:v>
                </c:pt>
                <c:pt idx="317">
                  <c:v>-7.3</c:v>
                </c:pt>
                <c:pt idx="318">
                  <c:v>-7.2</c:v>
                </c:pt>
                <c:pt idx="319">
                  <c:v>-5.9</c:v>
                </c:pt>
                <c:pt idx="320">
                  <c:v>-5</c:v>
                </c:pt>
                <c:pt idx="321">
                  <c:v>-6</c:v>
                </c:pt>
                <c:pt idx="322">
                  <c:v>-5.5</c:v>
                </c:pt>
                <c:pt idx="323">
                  <c:v>-5.7</c:v>
                </c:pt>
                <c:pt idx="324">
                  <c:v>-5.2</c:v>
                </c:pt>
                <c:pt idx="325">
                  <c:v>-4.3</c:v>
                </c:pt>
                <c:pt idx="326">
                  <c:v>-5.4</c:v>
                </c:pt>
                <c:pt idx="327">
                  <c:v>-4.3</c:v>
                </c:pt>
                <c:pt idx="328">
                  <c:v>-4.2</c:v>
                </c:pt>
                <c:pt idx="329">
                  <c:v>-3.6</c:v>
                </c:pt>
                <c:pt idx="330">
                  <c:v>-3.1</c:v>
                </c:pt>
                <c:pt idx="331">
                  <c:v>-3.7</c:v>
                </c:pt>
                <c:pt idx="332">
                  <c:v>-2.9</c:v>
                </c:pt>
                <c:pt idx="333">
                  <c:v>-2.9</c:v>
                </c:pt>
                <c:pt idx="334">
                  <c:v>-3</c:v>
                </c:pt>
                <c:pt idx="335">
                  <c:v>-3.7</c:v>
                </c:pt>
                <c:pt idx="336">
                  <c:v>-2.5</c:v>
                </c:pt>
                <c:pt idx="337">
                  <c:v>-3.6</c:v>
                </c:pt>
                <c:pt idx="338">
                  <c:v>-3.2</c:v>
                </c:pt>
                <c:pt idx="339">
                  <c:v>-2.3</c:v>
                </c:pt>
                <c:pt idx="340">
                  <c:v>-2.9</c:v>
                </c:pt>
                <c:pt idx="341">
                  <c:v>-2.8</c:v>
                </c:pt>
                <c:pt idx="342">
                  <c:v>-3.9</c:v>
                </c:pt>
                <c:pt idx="343">
                  <c:v>-3.6</c:v>
                </c:pt>
                <c:pt idx="344">
                  <c:v>-3.1</c:v>
                </c:pt>
                <c:pt idx="345">
                  <c:v>-3.6</c:v>
                </c:pt>
                <c:pt idx="346">
                  <c:v>-3.1</c:v>
                </c:pt>
                <c:pt idx="347">
                  <c:v>-3.2</c:v>
                </c:pt>
                <c:pt idx="348">
                  <c:v>-3.1</c:v>
                </c:pt>
                <c:pt idx="349">
                  <c:v>-2.4</c:v>
                </c:pt>
                <c:pt idx="350">
                  <c:v>-2.3</c:v>
                </c:pt>
                <c:pt idx="351">
                  <c:v>-2.6</c:v>
                </c:pt>
                <c:pt idx="352">
                  <c:v>-2.7</c:v>
                </c:pt>
                <c:pt idx="353">
                  <c:v>-2</c:v>
                </c:pt>
                <c:pt idx="354">
                  <c:v>-2.2</c:v>
                </c:pt>
                <c:pt idx="355">
                  <c:v>-2.6</c:v>
                </c:pt>
                <c:pt idx="356">
                  <c:v>-3.6</c:v>
                </c:pt>
                <c:pt idx="357">
                  <c:v>-3.1</c:v>
                </c:pt>
                <c:pt idx="358">
                  <c:v>-3.2</c:v>
                </c:pt>
                <c:pt idx="359">
                  <c:v>-3.3</c:v>
                </c:pt>
                <c:pt idx="360">
                  <c:v>-3</c:v>
                </c:pt>
                <c:pt idx="361">
                  <c:v>-3.6</c:v>
                </c:pt>
                <c:pt idx="362">
                  <c:v>-4.3</c:v>
                </c:pt>
                <c:pt idx="363">
                  <c:v>-3.7</c:v>
                </c:pt>
                <c:pt idx="364">
                  <c:v>-4.2</c:v>
                </c:pt>
                <c:pt idx="365">
                  <c:v>-5.1</c:v>
                </c:pt>
                <c:pt idx="366">
                  <c:v>-3.9</c:v>
                </c:pt>
                <c:pt idx="367">
                  <c:v>-3.5</c:v>
                </c:pt>
                <c:pt idx="368">
                  <c:v>-4.2</c:v>
                </c:pt>
                <c:pt idx="369">
                  <c:v>-3.4</c:v>
                </c:pt>
                <c:pt idx="370">
                  <c:v>-3.5</c:v>
                </c:pt>
                <c:pt idx="371">
                  <c:v>-2.6</c:v>
                </c:pt>
                <c:pt idx="372">
                  <c:v>-2.3</c:v>
                </c:pt>
                <c:pt idx="373">
                  <c:v>-2</c:v>
                </c:pt>
                <c:pt idx="374">
                  <c:v>-2</c:v>
                </c:pt>
                <c:pt idx="375">
                  <c:v>-2.6</c:v>
                </c:pt>
                <c:pt idx="376">
                  <c:v>-1.5</c:v>
                </c:pt>
                <c:pt idx="377">
                  <c:v>-2</c:v>
                </c:pt>
                <c:pt idx="378">
                  <c:v>-1.2</c:v>
                </c:pt>
                <c:pt idx="379">
                  <c:v>-1.4</c:v>
                </c:pt>
                <c:pt idx="380">
                  <c:v>-1.1</c:v>
                </c:pt>
                <c:pt idx="381">
                  <c:v>-0.1</c:v>
                </c:pt>
                <c:pt idx="382">
                  <c:v>-1.3</c:v>
                </c:pt>
                <c:pt idx="383">
                  <c:v>-0.1</c:v>
                </c:pt>
                <c:pt idx="384">
                  <c:v>-0.4</c:v>
                </c:pt>
                <c:pt idx="385">
                  <c:v>0.2</c:v>
                </c:pt>
                <c:pt idx="386">
                  <c:v>1.5</c:v>
                </c:pt>
                <c:pt idx="387">
                  <c:v>-0.1</c:v>
                </c:pt>
                <c:pt idx="388">
                  <c:v>1.5</c:v>
                </c:pt>
                <c:pt idx="389">
                  <c:v>2.4</c:v>
                </c:pt>
                <c:pt idx="390">
                  <c:v>1.5</c:v>
                </c:pt>
                <c:pt idx="391">
                  <c:v>2.3</c:v>
                </c:pt>
                <c:pt idx="392">
                  <c:v>3.6</c:v>
                </c:pt>
                <c:pt idx="393">
                  <c:v>3.4</c:v>
                </c:pt>
                <c:pt idx="394">
                  <c:v>2.9</c:v>
                </c:pt>
                <c:pt idx="395">
                  <c:v>3.6</c:v>
                </c:pt>
                <c:pt idx="396">
                  <c:v>2.5</c:v>
                </c:pt>
                <c:pt idx="397">
                  <c:v>3.2</c:v>
                </c:pt>
                <c:pt idx="398">
                  <c:v>2.5</c:v>
                </c:pt>
                <c:pt idx="399">
                  <c:v>2.3</c:v>
                </c:pt>
                <c:pt idx="400">
                  <c:v>2.3</c:v>
                </c:pt>
                <c:pt idx="401">
                  <c:v>2.4</c:v>
                </c:pt>
                <c:pt idx="402">
                  <c:v>2.5</c:v>
                </c:pt>
                <c:pt idx="403">
                  <c:v>1.3</c:v>
                </c:pt>
                <c:pt idx="404">
                  <c:v>1.4</c:v>
                </c:pt>
                <c:pt idx="405">
                  <c:v>2</c:v>
                </c:pt>
                <c:pt idx="406">
                  <c:v>1.7</c:v>
                </c:pt>
                <c:pt idx="407">
                  <c:v>1.6</c:v>
                </c:pt>
                <c:pt idx="408">
                  <c:v>0.7</c:v>
                </c:pt>
                <c:pt idx="409">
                  <c:v>1.4</c:v>
                </c:pt>
                <c:pt idx="410">
                  <c:v>1.8</c:v>
                </c:pt>
                <c:pt idx="411">
                  <c:v>2</c:v>
                </c:pt>
                <c:pt idx="412">
                  <c:v>1.3</c:v>
                </c:pt>
                <c:pt idx="413">
                  <c:v>1.3</c:v>
                </c:pt>
                <c:pt idx="414">
                  <c:v>1.3</c:v>
                </c:pt>
                <c:pt idx="415">
                  <c:v>1.8</c:v>
                </c:pt>
                <c:pt idx="416">
                  <c:v>1.8</c:v>
                </c:pt>
                <c:pt idx="417">
                  <c:v>2.3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A1A1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-2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1A1A1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A1A1A"/>
                </a:solidFill>
                <a:latin typeface="+mn-lt"/>
              </a:rPr>
              <a:t>Mora de las familias (% de la cartera, mayo)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Mora de las familias</c:v>
                </c:pt>
              </c:strCache>
            </c:strRef>
          </c:tx>
          <c:spPr>
            <a:solidFill>
              <a:srgbClr val="A6A6A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6A6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6A6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372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May-2024</c:v>
                  </c:pt>
                  <c:pt idx="1">
                    <c:v>May-2025</c:v>
                  </c:pt>
                  <c:pt idx="2">
                    <c:v>May-2026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2.8</c:v>
                </c:pt>
                <c:pt idx="1">
                  <c:v>4.5</c:v>
                </c:pt>
                <c:pt idx="2">
                  <c:v>12.8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A1A1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1A1A1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A1A1A"/>
                </a:solidFill>
                <a:latin typeface="+mn-lt"/>
              </a:rPr>
              <a:t>Mora por línea de crédito (%, mayo de 2026)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Mora por línea</c:v>
                </c:pt>
              </c:strCache>
            </c:strRef>
          </c:tx>
          <c:spPr>
            <a:solidFill>
              <a:srgbClr val="A6A6A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6A6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6A6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372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8372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Hipotecarios</c:v>
                  </c:pt>
                  <c:pt idx="1">
                    <c:v>Prendarios</c:v>
                  </c:pt>
                  <c:pt idx="2">
                    <c:v>Tarjetas</c:v>
                  </c:pt>
                  <c:pt idx="3">
                    <c:v>Personales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7.7</c:v>
                </c:pt>
                <c:pt idx="2">
                  <c:v>13.1</c:v>
                </c:pt>
                <c:pt idx="3">
                  <c:v>15.9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A1A1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b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1A1A1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Fundar sobre el sobreendeudamiento de las familias: de dónde viene, qué tan grave es y qué se puede hacer.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Recorrido: ingresos, crédito, tasas y mora; al final, recomendaciones.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cuatro números que resumen la crisis. El resto de la presentación recorre cada eslabón de la cadena: ingresos, crédito, tasas y mora.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de partida: la caída del ingreso real. Cuando el ingreso no alcanza para los gastos fijos, el crédito se vuelve la vía para cerrar el 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2024 el crédito creció 58% real y los préstamos personales más de 130%. En 2025 siguió creciendo, a menor ritmo: 44% en personales y 17% en tarjetas.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2025 el Gobierno liberó las tasas. Con el acuerdo con el FMI salió el cepo (abril) y con el fin de las LEFIs (julio) el BCRA dejó de fijar una tasa de referencia: la BADLAR nominal pasó de 32% a casi 60% en agosto. La incertidumbre electoral (bonaerenses en septiembre, legislativas en octubre) llevó la tasa real a casi 40%; recién bajó con el swap con EE.UU. y después de las legislativas.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mora de las familias pasó de 2,8% en mayo de 2024 a 12,8% en mayo de 2026. Los préstamos personales (15,9%) y las tarjetas (13,1%) concentran el problema; la mora hipotecaria sigue baja.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propuestas de alcance nacional —precio, transparencia y alivio— y una agenda propia para la provincia en defensa del consumidor financiero.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de cierre: las medidas financieras alivian, pero el problema de fondo es el ingreso.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4063898" cy="2743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6583680"/>
            <a:ext cx="4063898" cy="2743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6583680"/>
            <a:ext cx="4063898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6583680"/>
            <a:ext cx="4063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Fundar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063898" y="6583680"/>
            <a:ext cx="4063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La crisis de endeudamiento de los hogares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127797" y="6583680"/>
            <a:ext cx="4063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2026</a:t>
            </a:r>
            <a:endParaRPr lang="en-US" sz="1000" dirty="0"/>
          </a:p>
        </p:txBody>
      </p:sp>
      <p:pic>
        <p:nvPicPr>
          <p:cNvPr id="8" name="Image 0" descr="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4368" y="5623560"/>
            <a:ext cx="822960" cy="4023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5836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AM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3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287" y="333756"/>
            <a:ext cx="566928" cy="292608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11480" y="91440"/>
            <a:ext cx="10545775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11480" y="621792"/>
            <a:ext cx="1054577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6" name="Shape 1"/>
          <p:cNvSpPr/>
          <p:nvPr/>
        </p:nvSpPr>
        <p:spPr>
          <a:xfrm>
            <a:off x="0" y="6583680"/>
            <a:ext cx="4063898" cy="2743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" name="Shape 2"/>
          <p:cNvSpPr/>
          <p:nvPr/>
        </p:nvSpPr>
        <p:spPr>
          <a:xfrm>
            <a:off x="4063898" y="6583680"/>
            <a:ext cx="4063898" cy="2743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8" name="Shape 3"/>
          <p:cNvSpPr/>
          <p:nvPr/>
        </p:nvSpPr>
        <p:spPr>
          <a:xfrm>
            <a:off x="8127797" y="6583680"/>
            <a:ext cx="4063898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4"/>
          <p:cNvSpPr/>
          <p:nvPr/>
        </p:nvSpPr>
        <p:spPr>
          <a:xfrm>
            <a:off x="0" y="6583680"/>
            <a:ext cx="4063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Fundar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4063898" y="6583680"/>
            <a:ext cx="4063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La crisis de endeudamiento de los hogares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8127797" y="6583680"/>
            <a:ext cx="4063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5836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5836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 título"/>
          <p:cNvSpPr/>
          <p:nvPr/>
        </p:nvSpPr>
        <p:spPr>
          <a:xfrm>
            <a:off x="1737360" y="1188720"/>
            <a:ext cx="8716975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/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1920240" y="1188720"/>
            <a:ext cx="83512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400" dirty="0">
                <a:solidFill>
                  <a:schemeClr val="bg1"/>
                </a:solidFill>
              </a:rPr>
              <a:t>La crisis de endeudamiento de los hogares</a:t>
            </a:r>
            <a:endParaRPr lang="en-US" sz="34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Ingresos, crédito y mora: diagnóstico y propuestas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3291840"/>
            <a:ext cx="85340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Fundar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2026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5836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91440"/>
            <a:ext cx="105457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Contenido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377440" y="1600200"/>
            <a:ext cx="384048" cy="384048"/>
          </a:xfrm>
          <a:prstGeom prst="ellipse">
            <a:avLst/>
          </a:prstGeom>
          <a:solidFill>
            <a:schemeClr val="tx2"/>
          </a:solidFill>
          <a:ln/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23774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971800" y="155448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Un nuevo piso de ingresos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377440" y="2377440"/>
            <a:ext cx="384048" cy="384048"/>
          </a:xfrm>
          <a:prstGeom prst="ellipse">
            <a:avLst/>
          </a:prstGeom>
          <a:solidFill>
            <a:schemeClr val="tx2"/>
          </a:solidFill>
          <a:ln/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37744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971800" y="233172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El crédito como parche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377440" y="3154680"/>
            <a:ext cx="384048" cy="384048"/>
          </a:xfrm>
          <a:prstGeom prst="ellipse">
            <a:avLst/>
          </a:prstGeom>
          <a:solidFill>
            <a:schemeClr val="tx2"/>
          </a:solidFill>
          <a:ln/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37744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310896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El quiebre: 2025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377440" y="3931920"/>
            <a:ext cx="384048" cy="384048"/>
          </a:xfrm>
          <a:prstGeom prst="ellipse">
            <a:avLst/>
          </a:prstGeom>
          <a:solidFill>
            <a:schemeClr val="tx2"/>
          </a:solidFill>
          <a:ln/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3774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388620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La mora hoy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377440" y="4709160"/>
            <a:ext cx="384048" cy="384048"/>
          </a:xfrm>
          <a:prstGeom prst="ellipse">
            <a:avLst/>
          </a:prstGeom>
          <a:solidFill>
            <a:schemeClr val="tx2"/>
          </a:solidFill>
          <a:ln/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237744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971800" y="466344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Recomendaciones</a:t>
            </a:r>
            <a:endParaRPr lang="en-US" sz="2200" dirty="0"/>
          </a:p>
        </p:txBody>
      </p:sp>
      <p:sp>
        <p:nvSpPr>
          <p:cNvPr id="19" name="Text 1"/>
          <p:cNvSpPr/>
          <p:nvPr>
            <p:ph idx="103" type="body" hasCustomPrompt="1"/>
          </p:nvPr>
        </p:nvSpPr>
        <p:spPr>
          <a:xfrm>
            <a:off x="411480" y="62179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5836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91440"/>
            <a:ext cx="105457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En dos años, el crédito pasó de parche a problema</a:t>
            </a:r>
            <a:endParaRPr lang="en-US" sz="2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62179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En síntesis</a:t>
            </a:r>
            <a:endParaRPr lang="en-US" sz="1400" dirty="0"/>
          </a:p>
        </p:txBody>
      </p:sp>
      <p:sp>
        <p:nvSpPr>
          <p:cNvPr id="4" name="Bloque Crédito"/>
          <p:cNvSpPr/>
          <p:nvPr/>
        </p:nvSpPr>
        <p:spPr>
          <a:xfrm>
            <a:off x="411480" y="1325880"/>
            <a:ext cx="2636444" cy="2514600"/>
          </a:xfrm>
          <a:prstGeom prst="roundRect">
            <a:avLst>
              <a:gd name="adj" fmla="val 2909"/>
            </a:avLst>
          </a:prstGeom>
          <a:solidFill>
            <a:srgbClr val="E5F1F2"/>
          </a:solidFill>
          <a:ln/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25880"/>
            <a:ext cx="2636444" cy="384048"/>
          </a:xfrm>
          <a:prstGeom prst="roundRect">
            <a:avLst>
              <a:gd name="adj" fmla="val 19048"/>
            </a:avLst>
          </a:prstGeom>
          <a:solidFill>
            <a:srgbClr val="00707C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517904"/>
            <a:ext cx="2636444" cy="192024"/>
          </a:xfrm>
          <a:prstGeom prst="rect">
            <a:avLst/>
          </a:prstGeom>
          <a:solidFill>
            <a:srgbClr val="00707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325880"/>
            <a:ext cx="2362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Crédito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47088"/>
            <a:ext cx="22706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0707C"/>
                </a:solidFill>
              </a:rPr>
              <a:t>+58%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624328"/>
            <a:ext cx="22706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creció en términos reales el crédito a las familias en 2024</a:t>
            </a:r>
            <a:endParaRPr lang="en-US" sz="1500" dirty="0"/>
          </a:p>
        </p:txBody>
      </p:sp>
      <p:sp>
        <p:nvSpPr>
          <p:cNvPr id="10" name="Bloque Tasas"/>
          <p:cNvSpPr/>
          <p:nvPr/>
        </p:nvSpPr>
        <p:spPr>
          <a:xfrm>
            <a:off x="3322244" y="1325880"/>
            <a:ext cx="2636444" cy="2514600"/>
          </a:xfrm>
          <a:prstGeom prst="roundRect">
            <a:avLst>
              <a:gd name="adj" fmla="val 2909"/>
            </a:avLst>
          </a:prstGeom>
          <a:solidFill>
            <a:srgbClr val="E5F1F2"/>
          </a:solidFill>
          <a:ln/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22244" y="1325880"/>
            <a:ext cx="2636444" cy="384048"/>
          </a:xfrm>
          <a:prstGeom prst="roundRect">
            <a:avLst>
              <a:gd name="adj" fmla="val 19048"/>
            </a:avLst>
          </a:prstGeom>
          <a:solidFill>
            <a:srgbClr val="00707C"/>
          </a:solidFill>
          <a:ln/>
        </p:spPr>
      </p:sp>
      <p:sp>
        <p:nvSpPr>
          <p:cNvPr id="12" name="Shape 10"/>
          <p:cNvSpPr/>
          <p:nvPr/>
        </p:nvSpPr>
        <p:spPr>
          <a:xfrm>
            <a:off x="3322244" y="1517904"/>
            <a:ext cx="2636444" cy="192024"/>
          </a:xfrm>
          <a:prstGeom prst="rect">
            <a:avLst/>
          </a:prstGeom>
          <a:solidFill>
            <a:srgbClr val="00707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59404" y="1325880"/>
            <a:ext cx="2362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Tasas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05124" y="1847088"/>
            <a:ext cx="22706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0707C"/>
                </a:solidFill>
              </a:rPr>
              <a:t>32% → 60%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3505124" y="2624328"/>
            <a:ext cx="22706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BADLAR nominal, de julio a agosto de 2025 (casi 60%)</a:t>
            </a:r>
            <a:endParaRPr lang="en-US" sz="1500" dirty="0"/>
          </a:p>
        </p:txBody>
      </p:sp>
      <p:sp>
        <p:nvSpPr>
          <p:cNvPr id="16" name="Bloque Mora (I)"/>
          <p:cNvSpPr/>
          <p:nvPr/>
        </p:nvSpPr>
        <p:spPr>
          <a:xfrm>
            <a:off x="6233008" y="1325880"/>
            <a:ext cx="2636444" cy="2514600"/>
          </a:xfrm>
          <a:prstGeom prst="roundRect">
            <a:avLst>
              <a:gd name="adj" fmla="val 2909"/>
            </a:avLst>
          </a:prstGeom>
          <a:solidFill>
            <a:srgbClr val="F6E3E1"/>
          </a:solidFill>
          <a:ln/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33008" y="1325880"/>
            <a:ext cx="2636444" cy="384048"/>
          </a:xfrm>
          <a:prstGeom prst="roundRect">
            <a:avLst>
              <a:gd name="adj" fmla="val 19048"/>
            </a:avLst>
          </a:prstGeom>
          <a:solidFill>
            <a:srgbClr val="B8372A"/>
          </a:solidFill>
          <a:ln/>
        </p:spPr>
      </p:sp>
      <p:sp>
        <p:nvSpPr>
          <p:cNvPr id="18" name="Shape 16"/>
          <p:cNvSpPr/>
          <p:nvPr/>
        </p:nvSpPr>
        <p:spPr>
          <a:xfrm>
            <a:off x="6233008" y="1517904"/>
            <a:ext cx="2636444" cy="192024"/>
          </a:xfrm>
          <a:prstGeom prst="rect">
            <a:avLst/>
          </a:prstGeom>
          <a:solidFill>
            <a:srgbClr val="B8372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70168" y="1325880"/>
            <a:ext cx="2362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Mora (I)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15888" y="1847088"/>
            <a:ext cx="22706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B8372A"/>
                </a:solidFill>
              </a:rPr>
              <a:t>12,8%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6415888" y="2624328"/>
            <a:ext cx="22706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mora de las familias en mayo de 2026, desde 2,8% en 2024</a:t>
            </a:r>
            <a:endParaRPr lang="en-US" sz="1500" dirty="0"/>
          </a:p>
        </p:txBody>
      </p:sp>
      <p:sp>
        <p:nvSpPr>
          <p:cNvPr id="22" name="Bloque Mora (II)"/>
          <p:cNvSpPr/>
          <p:nvPr/>
        </p:nvSpPr>
        <p:spPr>
          <a:xfrm>
            <a:off x="9143771" y="1325880"/>
            <a:ext cx="2636444" cy="2514600"/>
          </a:xfrm>
          <a:prstGeom prst="roundRect">
            <a:avLst>
              <a:gd name="adj" fmla="val 2909"/>
            </a:avLst>
          </a:prstGeom>
          <a:solidFill>
            <a:srgbClr val="F6E3E1"/>
          </a:solidFill>
          <a:ln/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3771" y="1325880"/>
            <a:ext cx="2636444" cy="384048"/>
          </a:xfrm>
          <a:prstGeom prst="roundRect">
            <a:avLst>
              <a:gd name="adj" fmla="val 19048"/>
            </a:avLst>
          </a:prstGeom>
          <a:solidFill>
            <a:srgbClr val="B8372A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3771" y="1517904"/>
            <a:ext cx="2636444" cy="192024"/>
          </a:xfrm>
          <a:prstGeom prst="rect">
            <a:avLst/>
          </a:prstGeom>
          <a:solidFill>
            <a:srgbClr val="B8372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80931" y="1325880"/>
            <a:ext cx="2362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Mora (II)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326651" y="1847088"/>
            <a:ext cx="22706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B8372A"/>
                </a:solidFill>
              </a:rPr>
              <a:t>15,9%</a:t>
            </a:r>
            <a:endParaRPr lang="en-US" sz="3200" dirty="0"/>
          </a:p>
        </p:txBody>
      </p:sp>
      <p:sp>
        <p:nvSpPr>
          <p:cNvPr id="27" name="Text 25"/>
          <p:cNvSpPr txBox="1"/>
          <p:nvPr/>
        </p:nvSpPr>
        <p:spPr>
          <a:xfrm>
            <a:off x="9326651" y="2624328"/>
            <a:ext cx="22706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mora en préstamos personales, la línea más castigada</a:t>
            </a:r>
            <a:endParaRPr lang="en-US" sz="1500" dirty="0"/>
          </a:p>
        </p:txBody>
      </p:sp>
      <p:sp>
        <p:nvSpPr>
          <p:cNvPr id="28" name="Bloque Diagnóstico"/>
          <p:cNvSpPr/>
          <p:nvPr/>
        </p:nvSpPr>
        <p:spPr>
          <a:xfrm>
            <a:off x="411480" y="4206240"/>
            <a:ext cx="11368735" cy="1508760"/>
          </a:xfrm>
          <a:prstGeom prst="roundRect">
            <a:avLst>
              <a:gd name="adj" fmla="val 4848"/>
            </a:avLst>
          </a:prstGeom>
          <a:solidFill>
            <a:srgbClr val="E5F1F2"/>
          </a:solidFill>
          <a:ln/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4206240"/>
            <a:ext cx="11368735" cy="384048"/>
          </a:xfrm>
          <a:prstGeom prst="roundRect">
            <a:avLst>
              <a:gd name="adj" fmla="val 19048"/>
            </a:avLst>
          </a:prstGeom>
          <a:solidFill>
            <a:srgbClr val="00707C"/>
          </a:solidFill>
          <a:ln/>
        </p:spPr>
      </p:sp>
      <p:sp>
        <p:nvSpPr>
          <p:cNvPr id="30" name="Shape 28"/>
          <p:cNvSpPr/>
          <p:nvPr/>
        </p:nvSpPr>
        <p:spPr>
          <a:xfrm>
            <a:off x="411480" y="4398264"/>
            <a:ext cx="11368735" cy="192024"/>
          </a:xfrm>
          <a:prstGeom prst="rect">
            <a:avLst/>
          </a:prstGeom>
          <a:solidFill>
            <a:srgbClr val="00707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8640" y="420624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Diagnóstico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4727448"/>
            <a:ext cx="1100297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El ingreso real cayó, las familias se endeudaron para sostener el consumo y, con las tasas liberadas y la incertidumbre electoral de 2025, esas deudas se volvieron impagables.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5836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91440"/>
            <a:ext cx="105457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El ingreso de los hogares dejó de cubrir sus gastos fijos</a:t>
            </a:r>
            <a:endParaRPr lang="en-US" sz="2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62179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1. Un nuevo piso de ingresos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 rot="5400000">
            <a:off x="685800" y="1701546"/>
            <a:ext cx="112014" cy="112014"/>
          </a:xfrm>
          <a:prstGeom prst="triangl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6002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El ajuste: </a:t>
            </a:r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licuó salarios y jubilaciones, y el consumo cayó.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 rot="5400000">
            <a:off x="685800" y="2433066"/>
            <a:ext cx="112014" cy="112014"/>
          </a:xfrm>
          <a:prstGeom prst="triangle">
            <a:avLst/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3317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La brecha: </a:t>
            </a:r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el ingreso disponible de los hogares quedó por debajo de sus gastos fijos.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 rot="5400000">
            <a:off x="685800" y="3164586"/>
            <a:ext cx="112014" cy="112014"/>
          </a:xfrm>
          <a:prstGeom prst="triangle">
            <a:avLst/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306324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La consecuencia: </a:t>
            </a:r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para cerrar el mes, las familias recurrieron al crédito.</a:t>
            </a:r>
            <a:endParaRPr lang="en-US" sz="2100" dirty="0"/>
          </a:p>
        </p:txBody>
      </p:sp>
      <p:sp>
        <p:nvSpPr>
          <p:cNvPr id="10" name="Bloque Diagnóstico"/>
          <p:cNvSpPr/>
          <p:nvPr/>
        </p:nvSpPr>
        <p:spPr>
          <a:xfrm>
            <a:off x="1508760" y="3977640"/>
            <a:ext cx="9174175" cy="1554480"/>
          </a:xfrm>
          <a:prstGeom prst="roundRect">
            <a:avLst>
              <a:gd name="adj" fmla="val 4706"/>
            </a:avLst>
          </a:prstGeom>
          <a:solidFill>
            <a:srgbClr val="F6E3E1"/>
          </a:solidFill>
          <a:ln/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508760" y="3977640"/>
            <a:ext cx="9174175" cy="384048"/>
          </a:xfrm>
          <a:prstGeom prst="roundRect">
            <a:avLst>
              <a:gd name="adj" fmla="val 19048"/>
            </a:avLst>
          </a:prstGeom>
          <a:solidFill>
            <a:srgbClr val="B8372A"/>
          </a:solidFill>
          <a:ln/>
        </p:spPr>
      </p:sp>
      <p:sp>
        <p:nvSpPr>
          <p:cNvPr id="12" name="Shape 10"/>
          <p:cNvSpPr/>
          <p:nvPr/>
        </p:nvSpPr>
        <p:spPr>
          <a:xfrm>
            <a:off x="1508760" y="4169664"/>
            <a:ext cx="9174175" cy="192024"/>
          </a:xfrm>
          <a:prstGeom prst="rect">
            <a:avLst/>
          </a:prstGeom>
          <a:solidFill>
            <a:srgbClr val="B837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645920" y="3977640"/>
            <a:ext cx="8899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Diagnóstico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498848"/>
            <a:ext cx="8808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No fue un shock transitorio: es un problema estructural.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5836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91440"/>
            <a:ext cx="105457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Las familias se endeudaron para sostener el consumo</a:t>
            </a:r>
            <a:endParaRPr lang="en-US" sz="2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62179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2. El crédito como parche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188720"/>
          <a:ext cx="70408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Bloque Lectura"/>
          <p:cNvSpPr/>
          <p:nvPr/>
        </p:nvSpPr>
        <p:spPr>
          <a:xfrm>
            <a:off x="7818120" y="1371600"/>
            <a:ext cx="3962095" cy="4206240"/>
          </a:xfrm>
          <a:prstGeom prst="roundRect">
            <a:avLst>
              <a:gd name="adj" fmla="val 1846"/>
            </a:avLst>
          </a:prstGeom>
          <a:solidFill>
            <a:srgbClr val="E5F1F2"/>
          </a:solidFill>
          <a:ln/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818120" y="1371600"/>
            <a:ext cx="3962095" cy="384048"/>
          </a:xfrm>
          <a:prstGeom prst="roundRect">
            <a:avLst>
              <a:gd name="adj" fmla="val 19048"/>
            </a:avLst>
          </a:prstGeom>
          <a:solidFill>
            <a:srgbClr val="00707C"/>
          </a:solidFill>
          <a:ln/>
        </p:spPr>
      </p:sp>
      <p:sp>
        <p:nvSpPr>
          <p:cNvPr id="7" name="Shape 4"/>
          <p:cNvSpPr/>
          <p:nvPr/>
        </p:nvSpPr>
        <p:spPr>
          <a:xfrm>
            <a:off x="7818120" y="1563624"/>
            <a:ext cx="3962095" cy="192024"/>
          </a:xfrm>
          <a:prstGeom prst="rect">
            <a:avLst/>
          </a:prstGeom>
          <a:solidFill>
            <a:srgbClr val="00707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955280" y="1371600"/>
            <a:ext cx="3687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Lectura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 rot="5400000">
            <a:off x="8001000" y="2015744"/>
            <a:ext cx="85344" cy="85344"/>
          </a:xfrm>
          <a:prstGeom prst="triangle">
            <a:avLst/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1938528"/>
            <a:ext cx="3322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+58%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real creció el crédito total a las familias en 2024.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 rot="5400000">
            <a:off x="8001000" y="3021584"/>
            <a:ext cx="85344" cy="85344"/>
          </a:xfrm>
          <a:prstGeom prst="triangle">
            <a:avLst/>
          </a:prstGeom>
          <a:solidFill>
            <a:schemeClr val="tx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75320" y="2944368"/>
            <a:ext cx="3322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+134%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los préstamos personales, la línea que más se expandió.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rot="5400000">
            <a:off x="8001000" y="4027424"/>
            <a:ext cx="85344" cy="85344"/>
          </a:xfrm>
          <a:prstGeom prst="triangle">
            <a:avLst/>
          </a:prstGeom>
          <a:solidFill>
            <a:schemeClr val="tx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75320" y="3950208"/>
            <a:ext cx="3322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 2025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siguió creciendo, a menor ritmo: 44% en personales y 17% en tarjetas.</a:t>
            </a:r>
            <a:endParaRPr lang="en-US" sz="1600" dirty="0"/>
          </a:p>
        </p:txBody>
      </p:sp>
      <p:sp>
        <p:nvSpPr>
          <p:cNvPr id="15" name="Fuente"/>
          <p:cNvSpPr txBox="1"/>
          <p:nvPr/>
        </p:nvSpPr>
        <p:spPr>
          <a:xfrm>
            <a:off x="411480" y="6236208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Fuente: First Capital Group en base a BCRA e INDEC.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5836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91440"/>
            <a:ext cx="105457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Tasas libres y elecciones dispararon el costo del crédito</a:t>
            </a:r>
            <a:endParaRPr lang="en-US" sz="2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62179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3. El quiebre: 2025</a:t>
            </a:r>
            <a:endParaRPr lang="en-US" sz="1400" dirty="0"/>
          </a:p>
        </p:txBody>
      </p:sp>
      <p:sp>
        <p:nvSpPr>
          <p:cNvPr id="4" name="Período tasas altas"/>
          <p:cNvSpPr/>
          <p:nvPr/>
        </p:nvSpPr>
        <p:spPr>
          <a:xfrm>
            <a:off x="2944051" y="1851660"/>
            <a:ext cx="1108581" cy="3474720"/>
          </a:xfrm>
          <a:prstGeom prst="rect">
            <a:avLst/>
          </a:prstGeom>
          <a:solidFill>
            <a:srgbClr val="F6E3E1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411480" y="1417320"/>
          <a:ext cx="713232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1053389" y="5326380"/>
            <a:ext cx="634776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60982" y="5326380"/>
            <a:ext cx="0" cy="4572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8" name="Eje x ene-25"/>
          <p:cNvSpPr txBox="1"/>
          <p:nvPr/>
        </p:nvSpPr>
        <p:spPr>
          <a:xfrm>
            <a:off x="695222" y="53903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ene-25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698796" y="5326380"/>
            <a:ext cx="0" cy="4572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0" name="Eje x mar-25"/>
          <p:cNvSpPr txBox="1"/>
          <p:nvPr/>
        </p:nvSpPr>
        <p:spPr>
          <a:xfrm>
            <a:off x="1333036" y="53903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mar-25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260679" y="5326380"/>
            <a:ext cx="0" cy="4572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2" name="Eje x may-25"/>
          <p:cNvSpPr txBox="1"/>
          <p:nvPr/>
        </p:nvSpPr>
        <p:spPr>
          <a:xfrm>
            <a:off x="1894919" y="53903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may-25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852935" y="5326380"/>
            <a:ext cx="0" cy="4572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4" name="Eje x jul-25"/>
          <p:cNvSpPr txBox="1"/>
          <p:nvPr/>
        </p:nvSpPr>
        <p:spPr>
          <a:xfrm>
            <a:off x="2487175" y="53903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jul-25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490748" y="5326380"/>
            <a:ext cx="0" cy="4572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6" name="Eje x sep-25"/>
          <p:cNvSpPr txBox="1"/>
          <p:nvPr/>
        </p:nvSpPr>
        <p:spPr>
          <a:xfrm>
            <a:off x="3124988" y="53903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sep-25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58934" y="5326380"/>
            <a:ext cx="0" cy="4572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8" name="Eje x nov-25"/>
          <p:cNvSpPr txBox="1"/>
          <p:nvPr/>
        </p:nvSpPr>
        <p:spPr>
          <a:xfrm>
            <a:off x="3793174" y="53903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nov-25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05631" y="5326380"/>
            <a:ext cx="0" cy="4572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20" name="Eje x ene-26"/>
          <p:cNvSpPr txBox="1"/>
          <p:nvPr/>
        </p:nvSpPr>
        <p:spPr>
          <a:xfrm>
            <a:off x="4339871" y="53903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ene-26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297887" y="5326380"/>
            <a:ext cx="0" cy="4572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22" name="Eje x mar-26"/>
          <p:cNvSpPr txBox="1"/>
          <p:nvPr/>
        </p:nvSpPr>
        <p:spPr>
          <a:xfrm>
            <a:off x="4932127" y="53903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mar-26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905329" y="5326380"/>
            <a:ext cx="0" cy="4572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24" name="Eje x may-26"/>
          <p:cNvSpPr txBox="1"/>
          <p:nvPr/>
        </p:nvSpPr>
        <p:spPr>
          <a:xfrm>
            <a:off x="5539569" y="53903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may-26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512770" y="5326380"/>
            <a:ext cx="0" cy="4572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26" name="Eje x jul-26"/>
          <p:cNvSpPr txBox="1"/>
          <p:nvPr/>
        </p:nvSpPr>
        <p:spPr>
          <a:xfrm>
            <a:off x="6147010" y="53903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jul-26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135398" y="5326380"/>
            <a:ext cx="0" cy="4572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28" name="Eje x sep-26"/>
          <p:cNvSpPr txBox="1"/>
          <p:nvPr/>
        </p:nvSpPr>
        <p:spPr>
          <a:xfrm>
            <a:off x="6769638" y="53903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sep-26</a:t>
            </a:r>
            <a:endParaRPr lang="en-US" sz="1200" dirty="0"/>
          </a:p>
        </p:txBody>
      </p:sp>
      <p:sp>
        <p:nvSpPr>
          <p:cNvPr id="29" name="Evento 1"/>
          <p:cNvSpPr/>
          <p:nvPr/>
        </p:nvSpPr>
        <p:spPr>
          <a:xfrm>
            <a:off x="2078447" y="2034540"/>
            <a:ext cx="0" cy="3291840"/>
          </a:xfrm>
          <a:prstGeom prst="line">
            <a:avLst/>
          </a:prstGeom>
          <a:noFill/>
          <a:ln w="9525">
            <a:solidFill>
              <a:srgbClr val="1A1A1A"/>
            </a:solidFill>
            <a:prstDash val="dash"/>
          </a:ln>
        </p:spPr>
      </p:sp>
      <p:sp>
        <p:nvSpPr>
          <p:cNvPr id="30" name="Shape 27"/>
          <p:cNvSpPr/>
          <p:nvPr/>
        </p:nvSpPr>
        <p:spPr>
          <a:xfrm>
            <a:off x="1959575" y="1778508"/>
            <a:ext cx="237744" cy="237744"/>
          </a:xfrm>
          <a:prstGeom prst="ellipse">
            <a:avLst/>
          </a:prstGeom>
          <a:solidFill>
            <a:schemeClr val="tx2"/>
          </a:solidFill>
          <a:ln/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1959575" y="17785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32" name="Evento 2"/>
          <p:cNvSpPr/>
          <p:nvPr/>
        </p:nvSpPr>
        <p:spPr>
          <a:xfrm>
            <a:off x="2944051" y="2034540"/>
            <a:ext cx="0" cy="3291840"/>
          </a:xfrm>
          <a:prstGeom prst="line">
            <a:avLst/>
          </a:prstGeom>
          <a:noFill/>
          <a:ln w="9525">
            <a:solidFill>
              <a:srgbClr val="1A1A1A"/>
            </a:solidFill>
            <a:prstDash val="dash"/>
          </a:ln>
        </p:spPr>
      </p:sp>
      <p:sp>
        <p:nvSpPr>
          <p:cNvPr id="33" name="Shape 30"/>
          <p:cNvSpPr/>
          <p:nvPr/>
        </p:nvSpPr>
        <p:spPr>
          <a:xfrm>
            <a:off x="2825179" y="1778508"/>
            <a:ext cx="237744" cy="237744"/>
          </a:xfrm>
          <a:prstGeom prst="ellipse">
            <a:avLst/>
          </a:prstGeom>
          <a:solidFill>
            <a:schemeClr val="tx2"/>
          </a:solidFill>
          <a:ln/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2825179" y="17785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35" name="Evento 3"/>
          <p:cNvSpPr/>
          <p:nvPr/>
        </p:nvSpPr>
        <p:spPr>
          <a:xfrm>
            <a:off x="3566678" y="2034540"/>
            <a:ext cx="0" cy="3291840"/>
          </a:xfrm>
          <a:prstGeom prst="line">
            <a:avLst/>
          </a:prstGeom>
          <a:noFill/>
          <a:ln w="9525">
            <a:solidFill>
              <a:srgbClr val="1A1A1A"/>
            </a:solidFill>
            <a:prstDash val="dash"/>
          </a:ln>
        </p:spPr>
      </p:sp>
      <p:sp>
        <p:nvSpPr>
          <p:cNvPr id="36" name="Shape 33"/>
          <p:cNvSpPr/>
          <p:nvPr/>
        </p:nvSpPr>
        <p:spPr>
          <a:xfrm>
            <a:off x="3447806" y="1778508"/>
            <a:ext cx="237744" cy="237744"/>
          </a:xfrm>
          <a:prstGeom prst="ellipse">
            <a:avLst/>
          </a:prstGeom>
          <a:solidFill>
            <a:schemeClr val="tx2"/>
          </a:solidFill>
          <a:ln/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37" name="Text 34"/>
          <p:cNvSpPr txBox="1"/>
          <p:nvPr/>
        </p:nvSpPr>
        <p:spPr>
          <a:xfrm>
            <a:off x="3447806" y="17785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38" name="Evento 4"/>
          <p:cNvSpPr/>
          <p:nvPr/>
        </p:nvSpPr>
        <p:spPr>
          <a:xfrm>
            <a:off x="4052632" y="2034540"/>
            <a:ext cx="0" cy="3291840"/>
          </a:xfrm>
          <a:prstGeom prst="line">
            <a:avLst/>
          </a:prstGeom>
          <a:noFill/>
          <a:ln w="9525">
            <a:solidFill>
              <a:srgbClr val="1A1A1A"/>
            </a:solidFill>
            <a:prstDash val="dash"/>
          </a:ln>
        </p:spPr>
      </p:sp>
      <p:sp>
        <p:nvSpPr>
          <p:cNvPr id="39" name="Shape 36"/>
          <p:cNvSpPr/>
          <p:nvPr/>
        </p:nvSpPr>
        <p:spPr>
          <a:xfrm>
            <a:off x="3933760" y="1778508"/>
            <a:ext cx="237744" cy="237744"/>
          </a:xfrm>
          <a:prstGeom prst="ellipse">
            <a:avLst/>
          </a:prstGeom>
          <a:solidFill>
            <a:schemeClr val="tx2"/>
          </a:solidFill>
          <a:ln/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3933760" y="17785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411480" y="11887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Tasa BADLAR real anualizada, serie diaria (%)</a:t>
            </a:r>
            <a:endParaRPr lang="en-US" sz="1400" dirty="0"/>
          </a:p>
        </p:txBody>
      </p:sp>
      <p:sp>
        <p:nvSpPr>
          <p:cNvPr id="42" name="Bloque Hitos de 2025"/>
          <p:cNvSpPr/>
          <p:nvPr/>
        </p:nvSpPr>
        <p:spPr>
          <a:xfrm>
            <a:off x="7863840" y="1280160"/>
            <a:ext cx="3916375" cy="4572000"/>
          </a:xfrm>
          <a:prstGeom prst="roundRect">
            <a:avLst>
              <a:gd name="adj" fmla="val 1868"/>
            </a:avLst>
          </a:prstGeom>
          <a:solidFill>
            <a:srgbClr val="E5F1F2"/>
          </a:solidFill>
          <a:ln/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7863840" y="1280160"/>
            <a:ext cx="3916375" cy="384048"/>
          </a:xfrm>
          <a:prstGeom prst="roundRect">
            <a:avLst>
              <a:gd name="adj" fmla="val 19048"/>
            </a:avLst>
          </a:prstGeom>
          <a:solidFill>
            <a:srgbClr val="00707C"/>
          </a:solidFill>
          <a:ln/>
        </p:spPr>
      </p:sp>
      <p:sp>
        <p:nvSpPr>
          <p:cNvPr id="44" name="Shape 41"/>
          <p:cNvSpPr/>
          <p:nvPr/>
        </p:nvSpPr>
        <p:spPr>
          <a:xfrm>
            <a:off x="7863840" y="1472184"/>
            <a:ext cx="3916375" cy="192024"/>
          </a:xfrm>
          <a:prstGeom prst="rect">
            <a:avLst/>
          </a:prstGeom>
          <a:solidFill>
            <a:srgbClr val="00707C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8001000" y="1280160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Hitos de 2025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8046720" y="1837944"/>
            <a:ext cx="256032" cy="256032"/>
          </a:xfrm>
          <a:prstGeom prst="ellipse">
            <a:avLst/>
          </a:prstGeom>
          <a:solidFill>
            <a:schemeClr val="tx2"/>
          </a:solidFill>
          <a:ln/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47" name="Text 44"/>
          <p:cNvSpPr txBox="1"/>
          <p:nvPr/>
        </p:nvSpPr>
        <p:spPr>
          <a:xfrm>
            <a:off x="8046720" y="1837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8430768" y="1819656"/>
            <a:ext cx="31665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Abr-25. Acuerdo con el FMI y salida del cepo: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 dólar flota dentro de bandas y el BCRA pasa a un esquema de agregados.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8046720" y="2843784"/>
            <a:ext cx="256032" cy="256032"/>
          </a:xfrm>
          <a:prstGeom prst="ellipse">
            <a:avLst/>
          </a:prstGeom>
          <a:solidFill>
            <a:schemeClr val="tx2"/>
          </a:solidFill>
          <a:ln/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50" name="Text 47"/>
          <p:cNvSpPr txBox="1"/>
          <p:nvPr/>
        </p:nvSpPr>
        <p:spPr>
          <a:xfrm>
            <a:off x="8046720" y="2843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8430768" y="2825496"/>
            <a:ext cx="31665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Jul-25. Fin de las LEFIs: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 Gobierno deja de fijar la tasa; la BADLAR nominal pasa de 32% a casi 60%.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8046720" y="3849624"/>
            <a:ext cx="256032" cy="256032"/>
          </a:xfrm>
          <a:prstGeom prst="ellipse">
            <a:avLst/>
          </a:prstGeom>
          <a:solidFill>
            <a:schemeClr val="tx2"/>
          </a:solidFill>
          <a:ln/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53" name="Text 50"/>
          <p:cNvSpPr txBox="1"/>
          <p:nvPr/>
        </p:nvSpPr>
        <p:spPr>
          <a:xfrm>
            <a:off x="8046720" y="3849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8430768" y="3831336"/>
            <a:ext cx="31665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Sep-25. Elecciones bonaerenses: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incertidumbre electoral lleva la tasa real a casi 40%.</a:t>
            </a:r>
            <a:endParaRPr lang="en-US" sz="1300" dirty="0"/>
          </a:p>
        </p:txBody>
      </p:sp>
      <p:sp>
        <p:nvSpPr>
          <p:cNvPr id="55" name="Shape 52"/>
          <p:cNvSpPr/>
          <p:nvPr/>
        </p:nvSpPr>
        <p:spPr>
          <a:xfrm>
            <a:off x="8046720" y="4855464"/>
            <a:ext cx="256032" cy="256032"/>
          </a:xfrm>
          <a:prstGeom prst="ellipse">
            <a:avLst/>
          </a:prstGeom>
          <a:solidFill>
            <a:schemeClr val="tx2"/>
          </a:solidFill>
          <a:ln/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8046720" y="4855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8430768" y="4837176"/>
            <a:ext cx="31665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Oct-25. Swap con EE.UU. y legislativas: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tras el 20 y el 26 de octubre, las tasas bajan.</a:t>
            </a:r>
            <a:endParaRPr lang="en-US" sz="1300" dirty="0"/>
          </a:p>
        </p:txBody>
      </p:sp>
      <p:sp>
        <p:nvSpPr>
          <p:cNvPr id="58" name="Fuente"/>
          <p:cNvSpPr txBox="1"/>
          <p:nvPr/>
        </p:nvSpPr>
        <p:spPr>
          <a:xfrm>
            <a:off x="411480" y="6236208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Fuente: BCRA (BADLAR bancos privados) e INDEC. Sombreado: tasas altas, entre el fin de las LEFIs y las elecciones legislativas.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5836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91440"/>
            <a:ext cx="105457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La mora familiar se multiplicó por 4,6 en dos años</a:t>
            </a:r>
            <a:endParaRPr lang="en-US" sz="2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62179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4. La mora hoy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188720"/>
          <a:ext cx="5455768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24448" y="1188720"/>
          <a:ext cx="5455768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Fuente"/>
          <p:cNvSpPr txBox="1"/>
          <p:nvPr/>
        </p:nvSpPr>
        <p:spPr>
          <a:xfrm>
            <a:off x="411480" y="6236208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Fuente: BCRA, Informe sobre Bancos; Max Capital.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5836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91440"/>
            <a:ext cx="105457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Regular, transparentar, aliviar y proteger</a:t>
            </a:r>
            <a:endParaRPr lang="en-US" sz="2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62179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5. Recomendaciones</a:t>
            </a:r>
            <a:endParaRPr lang="en-US" sz="1400" dirty="0"/>
          </a:p>
        </p:txBody>
      </p:sp>
      <p:sp>
        <p:nvSpPr>
          <p:cNvPr id="4" name="Bloque Regular el precio del crédito (Nación)"/>
          <p:cNvSpPr/>
          <p:nvPr/>
        </p:nvSpPr>
        <p:spPr>
          <a:xfrm>
            <a:off x="411480" y="1325880"/>
            <a:ext cx="5524348" cy="2148840"/>
          </a:xfrm>
          <a:prstGeom prst="roundRect">
            <a:avLst>
              <a:gd name="adj" fmla="val 3404"/>
            </a:avLst>
          </a:prstGeom>
          <a:solidFill>
            <a:srgbClr val="E5F1F2"/>
          </a:solidFill>
          <a:ln/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25880"/>
            <a:ext cx="5524348" cy="384048"/>
          </a:xfrm>
          <a:prstGeom prst="roundRect">
            <a:avLst>
              <a:gd name="adj" fmla="val 19048"/>
            </a:avLst>
          </a:prstGeom>
          <a:solidFill>
            <a:srgbClr val="00707C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517904"/>
            <a:ext cx="5524348" cy="192024"/>
          </a:xfrm>
          <a:prstGeom prst="rect">
            <a:avLst/>
          </a:prstGeom>
          <a:solidFill>
            <a:srgbClr val="00707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325880"/>
            <a:ext cx="5250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Regular el precio del crédito (Nación)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47088"/>
            <a:ext cx="515858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Restituir los topes a las tasas y a los punitorios, incluidas las billeteras y los proveedores no financieros.</a:t>
            </a:r>
            <a:endParaRPr lang="en-US" sz="1800" dirty="0"/>
          </a:p>
        </p:txBody>
      </p:sp>
      <p:sp>
        <p:nvSpPr>
          <p:cNvPr id="9" name="Bloque Transparencia (Nación)"/>
          <p:cNvSpPr/>
          <p:nvPr/>
        </p:nvSpPr>
        <p:spPr>
          <a:xfrm>
            <a:off x="6255868" y="1325880"/>
            <a:ext cx="5524348" cy="2148840"/>
          </a:xfrm>
          <a:prstGeom prst="roundRect">
            <a:avLst>
              <a:gd name="adj" fmla="val 3404"/>
            </a:avLst>
          </a:prstGeom>
          <a:solidFill>
            <a:srgbClr val="E5F1F2"/>
          </a:solidFill>
          <a:ln/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55868" y="1325880"/>
            <a:ext cx="5524348" cy="384048"/>
          </a:xfrm>
          <a:prstGeom prst="roundRect">
            <a:avLst>
              <a:gd name="adj" fmla="val 19048"/>
            </a:avLst>
          </a:prstGeom>
          <a:solidFill>
            <a:srgbClr val="00707C"/>
          </a:solidFill>
          <a:ln/>
        </p:spPr>
      </p:sp>
      <p:sp>
        <p:nvSpPr>
          <p:cNvPr id="11" name="Shape 9"/>
          <p:cNvSpPr/>
          <p:nvPr/>
        </p:nvSpPr>
        <p:spPr>
          <a:xfrm>
            <a:off x="6255868" y="1517904"/>
            <a:ext cx="5524348" cy="192024"/>
          </a:xfrm>
          <a:prstGeom prst="rect">
            <a:avLst/>
          </a:prstGeom>
          <a:solidFill>
            <a:srgbClr val="00707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93028" y="1325880"/>
            <a:ext cx="5250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Transparencia (Nación)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38748" y="1847088"/>
            <a:ext cx="515858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Que las fintechs reporten a la Central de Deudores y que todas las entidades informen costos y condiciones con la máxima claridad.</a:t>
            </a:r>
            <a:endParaRPr lang="en-US" sz="1800" dirty="0"/>
          </a:p>
        </p:txBody>
      </p:sp>
      <p:sp>
        <p:nvSpPr>
          <p:cNvPr id="14" name="Bloque Alivio a deudores (Nación)"/>
          <p:cNvSpPr/>
          <p:nvPr/>
        </p:nvSpPr>
        <p:spPr>
          <a:xfrm>
            <a:off x="411480" y="3794760"/>
            <a:ext cx="5524348" cy="2148840"/>
          </a:xfrm>
          <a:prstGeom prst="roundRect">
            <a:avLst>
              <a:gd name="adj" fmla="val 3404"/>
            </a:avLst>
          </a:prstGeom>
          <a:solidFill>
            <a:srgbClr val="E5F1F2"/>
          </a:solidFill>
          <a:ln/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794760"/>
            <a:ext cx="5524348" cy="384048"/>
          </a:xfrm>
          <a:prstGeom prst="roundRect">
            <a:avLst>
              <a:gd name="adj" fmla="val 19048"/>
            </a:avLst>
          </a:prstGeom>
          <a:solidFill>
            <a:srgbClr val="00707C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3986784"/>
            <a:ext cx="5524348" cy="192024"/>
          </a:xfrm>
          <a:prstGeom prst="rect">
            <a:avLst/>
          </a:prstGeom>
          <a:solidFill>
            <a:srgbClr val="00707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794760"/>
            <a:ext cx="5250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Alivio a deudores (Nación)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4315968"/>
            <a:ext cx="515858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Un régimen de reestructuración para hogares sobreendeudados y una reclasificación temporal de deudores, como en la pandemia.</a:t>
            </a:r>
            <a:endParaRPr lang="en-US" sz="1800" dirty="0"/>
          </a:p>
        </p:txBody>
      </p:sp>
      <p:sp>
        <p:nvSpPr>
          <p:cNvPr id="19" name="Bloque Rol de la provincia"/>
          <p:cNvSpPr/>
          <p:nvPr/>
        </p:nvSpPr>
        <p:spPr>
          <a:xfrm>
            <a:off x="6255868" y="3794760"/>
            <a:ext cx="5524348" cy="2148840"/>
          </a:xfrm>
          <a:prstGeom prst="roundRect">
            <a:avLst>
              <a:gd name="adj" fmla="val 3404"/>
            </a:avLst>
          </a:prstGeom>
          <a:solidFill>
            <a:srgbClr val="E9EAF6"/>
          </a:solidFill>
          <a:ln/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55868" y="3794760"/>
            <a:ext cx="5524348" cy="384048"/>
          </a:xfrm>
          <a:prstGeom prst="roundRect">
            <a:avLst>
              <a:gd name="adj" fmla="val 19048"/>
            </a:avLst>
          </a:prstGeom>
          <a:solidFill>
            <a:srgbClr val="5E62B8"/>
          </a:solidFill>
          <a:ln/>
        </p:spPr>
      </p:sp>
      <p:sp>
        <p:nvSpPr>
          <p:cNvPr id="21" name="Shape 19"/>
          <p:cNvSpPr/>
          <p:nvPr/>
        </p:nvSpPr>
        <p:spPr>
          <a:xfrm>
            <a:off x="6255868" y="3986784"/>
            <a:ext cx="5524348" cy="192024"/>
          </a:xfrm>
          <a:prstGeom prst="rect">
            <a:avLst/>
          </a:prstGeom>
          <a:solidFill>
            <a:srgbClr val="5E62B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93028" y="3794760"/>
            <a:ext cx="5250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Rol de la provincia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38748" y="4315968"/>
            <a:ext cx="515858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Defensa del consumidor financiero con mediación y capacidad de sancionar, y una campaña sobre el costo real de endeudarse.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5836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11480" y="91440"/>
            <a:ext cx="105457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Conclusión</a:t>
            </a:r>
            <a:endParaRPr lang="en-US" sz="2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62179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De fondo</a:t>
            </a:r>
            <a:endParaRPr lang="en-US" sz="1400" dirty="0"/>
          </a:p>
        </p:txBody>
      </p:sp>
      <p:sp>
        <p:nvSpPr>
          <p:cNvPr id="4" name="Bloque Mensaje final"/>
          <p:cNvSpPr/>
          <p:nvPr/>
        </p:nvSpPr>
        <p:spPr>
          <a:xfrm>
            <a:off x="1463040" y="2011680"/>
            <a:ext cx="9265615" cy="2377440"/>
          </a:xfrm>
          <a:prstGeom prst="roundRect">
            <a:avLst>
              <a:gd name="adj" fmla="val 3077"/>
            </a:avLst>
          </a:prstGeom>
          <a:solidFill>
            <a:srgbClr val="F6E3E1"/>
          </a:solidFill>
          <a:ln/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2011680"/>
            <a:ext cx="9265615" cy="384048"/>
          </a:xfrm>
          <a:prstGeom prst="roundRect">
            <a:avLst>
              <a:gd name="adj" fmla="val 19048"/>
            </a:avLst>
          </a:prstGeom>
          <a:solidFill>
            <a:srgbClr val="B8372A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2203704"/>
            <a:ext cx="9265615" cy="192024"/>
          </a:xfrm>
          <a:prstGeom prst="rect">
            <a:avLst/>
          </a:prstGeom>
          <a:solidFill>
            <a:srgbClr val="B837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00200" y="2011680"/>
            <a:ext cx="8991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Mensaje final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532888"/>
            <a:ext cx="8899855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Sin recuperación del ingreso real, ninguna solución financiera alcanza.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5836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ndar Beamer">
  <a:themeElements>
    <a:clrScheme name="Fundar Beamer">
      <a:dk1>
        <a:srgbClr val="1A1A1A"/>
      </a:dk1>
      <a:lt1>
        <a:srgbClr val="FFFFFF"/>
      </a:lt1>
      <a:dk2>
        <a:srgbClr val="00707C"/>
      </a:dk2>
      <a:lt2>
        <a:srgbClr val="E5F1F2"/>
      </a:lt2>
      <a:accent1>
        <a:srgbClr val="0097A7"/>
      </a:accent1>
      <a:accent2>
        <a:srgbClr val="76BFDD"/>
      </a:accent2>
      <a:accent3>
        <a:srgbClr val="00505A"/>
      </a:accent3>
      <a:accent4>
        <a:srgbClr val="5E62B8"/>
      </a:accent4>
      <a:accent5>
        <a:srgbClr val="B8372A"/>
      </a:accent5>
      <a:accent6>
        <a:srgbClr val="A6A6A6"/>
      </a:accent6>
      <a:hlink>
        <a:srgbClr val="00707C"/>
      </a:hlink>
      <a:folHlink>
        <a:srgbClr val="5E62B8"/>
      </a:folHlink>
    </a:clrScheme>
    <a:fontScheme name="Fundar Beam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crisis de endeudamiento de los hogares</dc:title>
  <dc:subject>PptxGenJS Presentation</dc:subject>
  <dc:creator>Fundar</dc:creator>
  <cp:lastModifiedBy>Fundar</cp:lastModifiedBy>
  <cp:revision>1</cp:revision>
  <dcterms:created xsi:type="dcterms:W3CDTF">2026-10-15T15:09:18Z</dcterms:created>
  <dcterms:modified xsi:type="dcterms:W3CDTF">2026-10-15T15:09:18Z</dcterms:modified>
</cp:coreProperties>
</file>