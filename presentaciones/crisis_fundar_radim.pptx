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rtada" id="{2c9be519-763f-3407-44df-967b7a8663f6}">
          <p14:sldIdLst>
            <p14:sldId id="256"/>
          </p14:sldIdLst>
        </p14:section>
        <p14:section name="Resumen" id="{b52a372f-a3fd-c045-01ea-6e594869cf57}">
          <p14:sldIdLst>
            <p14:sldId id="257"/>
            <p14:sldId id="258"/>
            <p14:sldId id="259"/>
            <p14:sldId id="260"/>
          </p14:sldIdLst>
        </p14:section>
        <p14:section name="Cómo se armó" id="{cf96f5ce-217c-5e97-d29c-553e32879035}">
          <p14:sldIdLst>
            <p14:sldId id="261"/>
            <p14:sldId id="262"/>
            <p14:sldId id="263"/>
            <p14:sldId id="264"/>
          </p14:sldIdLst>
        </p14:section>
        <p14:section name="Qué hacer" id="{40cf627f-ea57-36d4-5e84-4748d8a4c4cc}">
          <p14:sldIdLst>
            <p14:sldId id="265"/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1D2B4F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1D2B4F"/>
                </a:solidFill>
                <a:latin typeface="+mn-lt"/>
              </a:rPr>
              <a:t>Cuánto creció el crédito, descontada la inflación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F2B13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D2B4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Préstamos personales</c:v>
                  </c:pt>
                  <c:pt idx="1">
                    <c:v>Tarjetas de crédito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134</c:v>
                </c:pt>
                <c:pt idx="1">
                  <c:v>31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F7D985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D2B4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Préstamos personales</c:v>
                  </c:pt>
                  <c:pt idx="1">
                    <c:v>Tarjetas de crédito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44.3</c:v>
                </c:pt>
                <c:pt idx="1">
                  <c:v>16.6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D2B4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DCE3EA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56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0"/>
          <c:min val="0"/>
        </c:scaling>
        <c:delete val="0"/>
        <c:axPos val="l"/>
        <c:majorGridlines>
          <c:spPr>
            <a:ln w="9525" cap="flat">
              <a:solidFill>
                <a:srgbClr val="DCE3EA"/>
              </a:solidFill>
              <a:prstDash val="solid"/>
              <a:round/>
            </a:ln>
          </c:spPr>
        </c:majorGridlines>
        <c:numFmt formatCode="0&quot;%&quot;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56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4A556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09"/>
          <c:y val="0.1"/>
          <c:w val="0.88"/>
          <c:h val="0.8"/>
        </c:manualLayout>
      </c:layout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BADLAR real anualizada</c:v>
                </c:pt>
              </c:strCache>
            </c:strRef>
          </c:tx>
          <c:spPr>
            <a:solidFill>
              <a:srgbClr val="E8604C"/>
            </a:solidFill>
            <a:ln w="25400" cap="flat">
              <a:solidFill>
                <a:srgbClr val="E860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D2B4F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E8604C"/>
              </a:solidFill>
              <a:ln w="9525" cap="flat">
                <a:solidFill>
                  <a:srgbClr val="E8604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Sheet1!$A$2:$A$419</c:f>
              <c:multiLvlStrCache>
                <c:ptCount val="418"/>
                <c:lvl>
                  <c:pt idx="0">
                    <c:v>ene-25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/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/>
                  </c:pt>
                  <c:pt idx="42">
                    <c:v>mar-25</c:v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  <c:pt idx="46">
                    <c:v/>
                  </c:pt>
                  <c:pt idx="47">
                    <c:v/>
                  </c:pt>
                  <c:pt idx="48">
                    <c:v/>
                  </c:pt>
                  <c:pt idx="49">
                    <c:v/>
                  </c:pt>
                  <c:pt idx="50">
                    <c:v/>
                  </c:pt>
                  <c:pt idx="51">
                    <c:v/>
                  </c:pt>
                  <c:pt idx="52">
                    <c:v/>
                  </c:pt>
                  <c:pt idx="53">
                    <c:v/>
                  </c:pt>
                  <c:pt idx="54">
                    <c:v/>
                  </c:pt>
                  <c:pt idx="55">
                    <c:v/>
                  </c:pt>
                  <c:pt idx="56">
                    <c:v/>
                  </c:pt>
                  <c:pt idx="57">
                    <c:v/>
                  </c:pt>
                  <c:pt idx="58">
                    <c:v/>
                  </c:pt>
                  <c:pt idx="59">
                    <c:v/>
                  </c:pt>
                  <c:pt idx="60">
                    <c:v/>
                  </c:pt>
                  <c:pt idx="61">
                    <c:v/>
                  </c:pt>
                  <c:pt idx="62">
                    <c:v/>
                  </c:pt>
                  <c:pt idx="63">
                    <c:v/>
                  </c:pt>
                  <c:pt idx="64">
                    <c:v/>
                  </c:pt>
                  <c:pt idx="65">
                    <c:v/>
                  </c:pt>
                  <c:pt idx="66">
                    <c:v/>
                  </c:pt>
                  <c:pt idx="67">
                    <c:v/>
                  </c:pt>
                  <c:pt idx="68">
                    <c:v/>
                  </c:pt>
                  <c:pt idx="69">
                    <c:v/>
                  </c:pt>
                  <c:pt idx="70">
                    <c:v/>
                  </c:pt>
                  <c:pt idx="71">
                    <c:v/>
                  </c:pt>
                  <c:pt idx="72">
                    <c:v/>
                  </c:pt>
                  <c:pt idx="73">
                    <c:v/>
                  </c:pt>
                  <c:pt idx="74">
                    <c:v/>
                  </c:pt>
                  <c:pt idx="75">
                    <c:v/>
                  </c:pt>
                  <c:pt idx="76">
                    <c:v/>
                  </c:pt>
                  <c:pt idx="77">
                    <c:v/>
                  </c:pt>
                  <c:pt idx="78">
                    <c:v/>
                  </c:pt>
                  <c:pt idx="79">
                    <c:v>may-25</c:v>
                  </c:pt>
                  <c:pt idx="80">
                    <c:v/>
                  </c:pt>
                  <c:pt idx="81">
                    <c:v/>
                  </c:pt>
                  <c:pt idx="82">
                    <c:v/>
                  </c:pt>
                  <c:pt idx="83">
                    <c:v/>
                  </c:pt>
                  <c:pt idx="84">
                    <c:v/>
                  </c:pt>
                  <c:pt idx="85">
                    <c:v/>
                  </c:pt>
                  <c:pt idx="86">
                    <c:v/>
                  </c:pt>
                  <c:pt idx="87">
                    <c:v/>
                  </c:pt>
                  <c:pt idx="88">
                    <c:v/>
                  </c:pt>
                  <c:pt idx="89">
                    <c:v/>
                  </c:pt>
                  <c:pt idx="90">
                    <c:v/>
                  </c:pt>
                  <c:pt idx="91">
                    <c:v/>
                  </c:pt>
                  <c:pt idx="92">
                    <c:v/>
                  </c:pt>
                  <c:pt idx="93">
                    <c:v/>
                  </c:pt>
                  <c:pt idx="94">
                    <c:v/>
                  </c:pt>
                  <c:pt idx="95">
                    <c:v/>
                  </c:pt>
                  <c:pt idx="96">
                    <c:v/>
                  </c:pt>
                  <c:pt idx="97">
                    <c:v/>
                  </c:pt>
                  <c:pt idx="98">
                    <c:v/>
                  </c:pt>
                  <c:pt idx="99">
                    <c:v/>
                  </c:pt>
                  <c:pt idx="100">
                    <c:v/>
                  </c:pt>
                  <c:pt idx="101">
                    <c:v/>
                  </c:pt>
                  <c:pt idx="102">
                    <c:v/>
                  </c:pt>
                  <c:pt idx="103">
                    <c:v/>
                  </c:pt>
                  <c:pt idx="104">
                    <c:v/>
                  </c:pt>
                  <c:pt idx="105">
                    <c:v/>
                  </c:pt>
                  <c:pt idx="106">
                    <c:v/>
                  </c:pt>
                  <c:pt idx="107">
                    <c:v/>
                  </c:pt>
                  <c:pt idx="108">
                    <c:v/>
                  </c:pt>
                  <c:pt idx="109">
                    <c:v/>
                  </c:pt>
                  <c:pt idx="110">
                    <c:v/>
                  </c:pt>
                  <c:pt idx="111">
                    <c:v/>
                  </c:pt>
                  <c:pt idx="112">
                    <c:v/>
                  </c:pt>
                  <c:pt idx="113">
                    <c:v/>
                  </c:pt>
                  <c:pt idx="114">
                    <c:v/>
                  </c:pt>
                  <c:pt idx="115">
                    <c:v/>
                  </c:pt>
                  <c:pt idx="116">
                    <c:v/>
                  </c:pt>
                  <c:pt idx="117">
                    <c:v/>
                  </c:pt>
                  <c:pt idx="118">
                    <c:v>jul-25</c:v>
                  </c:pt>
                  <c:pt idx="119">
                    <c:v/>
                  </c:pt>
                  <c:pt idx="120">
                    <c:v/>
                  </c:pt>
                  <c:pt idx="121">
                    <c:v/>
                  </c:pt>
                  <c:pt idx="122">
                    <c:v/>
                  </c:pt>
                  <c:pt idx="123">
                    <c:v/>
                  </c:pt>
                  <c:pt idx="124">
                    <c:v/>
                  </c:pt>
                  <c:pt idx="125">
                    <c:v/>
                  </c:pt>
                  <c:pt idx="126">
                    <c:v/>
                  </c:pt>
                  <c:pt idx="127">
                    <c:v/>
                  </c:pt>
                  <c:pt idx="128">
                    <c:v/>
                  </c:pt>
                  <c:pt idx="129">
                    <c:v/>
                  </c:pt>
                  <c:pt idx="130">
                    <c:v/>
                  </c:pt>
                  <c:pt idx="131">
                    <c:v/>
                  </c:pt>
                  <c:pt idx="132">
                    <c:v/>
                  </c:pt>
                  <c:pt idx="133">
                    <c:v/>
                  </c:pt>
                  <c:pt idx="134">
                    <c:v/>
                  </c:pt>
                  <c:pt idx="135">
                    <c:v/>
                  </c:pt>
                  <c:pt idx="136">
                    <c:v/>
                  </c:pt>
                  <c:pt idx="137">
                    <c:v/>
                  </c:pt>
                  <c:pt idx="138">
                    <c:v/>
                  </c:pt>
                  <c:pt idx="139">
                    <c:v/>
                  </c:pt>
                  <c:pt idx="140">
                    <c:v/>
                  </c:pt>
                  <c:pt idx="141">
                    <c:v/>
                  </c:pt>
                  <c:pt idx="142">
                    <c:v/>
                  </c:pt>
                  <c:pt idx="143">
                    <c:v/>
                  </c:pt>
                  <c:pt idx="144">
                    <c:v/>
                  </c:pt>
                  <c:pt idx="145">
                    <c:v/>
                  </c:pt>
                  <c:pt idx="146">
                    <c:v/>
                  </c:pt>
                  <c:pt idx="147">
                    <c:v/>
                  </c:pt>
                  <c:pt idx="148">
                    <c:v/>
                  </c:pt>
                  <c:pt idx="149">
                    <c:v/>
                  </c:pt>
                  <c:pt idx="150">
                    <c:v/>
                  </c:pt>
                  <c:pt idx="151">
                    <c:v/>
                  </c:pt>
                  <c:pt idx="152">
                    <c:v/>
                  </c:pt>
                  <c:pt idx="153">
                    <c:v/>
                  </c:pt>
                  <c:pt idx="154">
                    <c:v/>
                  </c:pt>
                  <c:pt idx="155">
                    <c:v/>
                  </c:pt>
                  <c:pt idx="156">
                    <c:v/>
                  </c:pt>
                  <c:pt idx="157">
                    <c:v/>
                  </c:pt>
                  <c:pt idx="158">
                    <c:v/>
                  </c:pt>
                  <c:pt idx="159">
                    <c:v/>
                  </c:pt>
                  <c:pt idx="160">
                    <c:v>sep-25</c:v>
                  </c:pt>
                  <c:pt idx="161">
                    <c:v/>
                  </c:pt>
                  <c:pt idx="162">
                    <c:v/>
                  </c:pt>
                  <c:pt idx="163">
                    <c:v/>
                  </c:pt>
                  <c:pt idx="164">
                    <c:v/>
                  </c:pt>
                  <c:pt idx="165">
                    <c:v/>
                  </c:pt>
                  <c:pt idx="166">
                    <c:v/>
                  </c:pt>
                  <c:pt idx="167">
                    <c:v/>
                  </c:pt>
                  <c:pt idx="168">
                    <c:v/>
                  </c:pt>
                  <c:pt idx="169">
                    <c:v/>
                  </c:pt>
                  <c:pt idx="170">
                    <c:v/>
                  </c:pt>
                  <c:pt idx="171">
                    <c:v/>
                  </c:pt>
                  <c:pt idx="172">
                    <c:v/>
                  </c:pt>
                  <c:pt idx="173">
                    <c:v/>
                  </c:pt>
                  <c:pt idx="174">
                    <c:v/>
                  </c:pt>
                  <c:pt idx="175">
                    <c:v/>
                  </c:pt>
                  <c:pt idx="176">
                    <c:v/>
                  </c:pt>
                  <c:pt idx="177">
                    <c:v/>
                  </c:pt>
                  <c:pt idx="178">
                    <c:v/>
                  </c:pt>
                  <c:pt idx="179">
                    <c:v/>
                  </c:pt>
                  <c:pt idx="180">
                    <c:v/>
                  </c:pt>
                  <c:pt idx="181">
                    <c:v/>
                  </c:pt>
                  <c:pt idx="182">
                    <c:v/>
                  </c:pt>
                  <c:pt idx="183">
                    <c:v/>
                  </c:pt>
                  <c:pt idx="184">
                    <c:v/>
                  </c:pt>
                  <c:pt idx="185">
                    <c:v/>
                  </c:pt>
                  <c:pt idx="186">
                    <c:v/>
                  </c:pt>
                  <c:pt idx="187">
                    <c:v/>
                  </c:pt>
                  <c:pt idx="188">
                    <c:v/>
                  </c:pt>
                  <c:pt idx="189">
                    <c:v/>
                  </c:pt>
                  <c:pt idx="190">
                    <c:v/>
                  </c:pt>
                  <c:pt idx="191">
                    <c:v/>
                  </c:pt>
                  <c:pt idx="192">
                    <c:v/>
                  </c:pt>
                  <c:pt idx="193">
                    <c:v/>
                  </c:pt>
                  <c:pt idx="194">
                    <c:v/>
                  </c:pt>
                  <c:pt idx="195">
                    <c:v/>
                  </c:pt>
                  <c:pt idx="196">
                    <c:v/>
                  </c:pt>
                  <c:pt idx="197">
                    <c:v/>
                  </c:pt>
                  <c:pt idx="198">
                    <c:v/>
                  </c:pt>
                  <c:pt idx="199">
                    <c:v/>
                  </c:pt>
                  <c:pt idx="200">
                    <c:v/>
                  </c:pt>
                  <c:pt idx="201">
                    <c:v/>
                  </c:pt>
                  <c:pt idx="202">
                    <c:v/>
                  </c:pt>
                  <c:pt idx="203">
                    <c:v/>
                  </c:pt>
                  <c:pt idx="204">
                    <c:v>nov-25</c:v>
                  </c:pt>
                  <c:pt idx="205">
                    <c:v/>
                  </c:pt>
                  <c:pt idx="206">
                    <c:v/>
                  </c:pt>
                  <c:pt idx="207">
                    <c:v/>
                  </c:pt>
                  <c:pt idx="208">
                    <c:v/>
                  </c:pt>
                  <c:pt idx="209">
                    <c:v/>
                  </c:pt>
                  <c:pt idx="210">
                    <c:v/>
                  </c:pt>
                  <c:pt idx="211">
                    <c:v/>
                  </c:pt>
                  <c:pt idx="212">
                    <c:v/>
                  </c:pt>
                  <c:pt idx="213">
                    <c:v/>
                  </c:pt>
                  <c:pt idx="214">
                    <c:v/>
                  </c:pt>
                  <c:pt idx="215">
                    <c:v/>
                  </c:pt>
                  <c:pt idx="216">
                    <c:v/>
                  </c:pt>
                  <c:pt idx="217">
                    <c:v/>
                  </c:pt>
                  <c:pt idx="218">
                    <c:v/>
                  </c:pt>
                  <c:pt idx="219">
                    <c:v/>
                  </c:pt>
                  <c:pt idx="220">
                    <c:v/>
                  </c:pt>
                  <c:pt idx="221">
                    <c:v/>
                  </c:pt>
                  <c:pt idx="222">
                    <c:v/>
                  </c:pt>
                  <c:pt idx="223">
                    <c:v/>
                  </c:pt>
                  <c:pt idx="224">
                    <c:v/>
                  </c:pt>
                  <c:pt idx="225">
                    <c:v/>
                  </c:pt>
                  <c:pt idx="226">
                    <c:v/>
                  </c:pt>
                  <c:pt idx="227">
                    <c:v/>
                  </c:pt>
                  <c:pt idx="228">
                    <c:v/>
                  </c:pt>
                  <c:pt idx="229">
                    <c:v/>
                  </c:pt>
                  <c:pt idx="230">
                    <c:v/>
                  </c:pt>
                  <c:pt idx="231">
                    <c:v/>
                  </c:pt>
                  <c:pt idx="232">
                    <c:v/>
                  </c:pt>
                  <c:pt idx="233">
                    <c:v/>
                  </c:pt>
                  <c:pt idx="234">
                    <c:v/>
                  </c:pt>
                  <c:pt idx="235">
                    <c:v/>
                  </c:pt>
                  <c:pt idx="236">
                    <c:v/>
                  </c:pt>
                  <c:pt idx="237">
                    <c:v/>
                  </c:pt>
                  <c:pt idx="238">
                    <c:v/>
                  </c:pt>
                  <c:pt idx="239">
                    <c:v/>
                  </c:pt>
                  <c:pt idx="240">
                    <c:v>ene-26</c:v>
                  </c:pt>
                  <c:pt idx="241">
                    <c:v/>
                  </c:pt>
                  <c:pt idx="242">
                    <c:v/>
                  </c:pt>
                  <c:pt idx="243">
                    <c:v/>
                  </c:pt>
                  <c:pt idx="244">
                    <c:v/>
                  </c:pt>
                  <c:pt idx="245">
                    <c:v/>
                  </c:pt>
                  <c:pt idx="246">
                    <c:v/>
                  </c:pt>
                  <c:pt idx="247">
                    <c:v/>
                  </c:pt>
                  <c:pt idx="248">
                    <c:v/>
                  </c:pt>
                  <c:pt idx="249">
                    <c:v/>
                  </c:pt>
                  <c:pt idx="250">
                    <c:v/>
                  </c:pt>
                  <c:pt idx="251">
                    <c:v/>
                  </c:pt>
                  <c:pt idx="252">
                    <c:v/>
                  </c:pt>
                  <c:pt idx="253">
                    <c:v/>
                  </c:pt>
                  <c:pt idx="254">
                    <c:v/>
                  </c:pt>
                  <c:pt idx="255">
                    <c:v/>
                  </c:pt>
                  <c:pt idx="256">
                    <c:v/>
                  </c:pt>
                  <c:pt idx="257">
                    <c:v/>
                  </c:pt>
                  <c:pt idx="258">
                    <c:v/>
                  </c:pt>
                  <c:pt idx="259">
                    <c:v/>
                  </c:pt>
                  <c:pt idx="260">
                    <c:v/>
                  </c:pt>
                  <c:pt idx="261">
                    <c:v/>
                  </c:pt>
                  <c:pt idx="262">
                    <c:v/>
                  </c:pt>
                  <c:pt idx="263">
                    <c:v/>
                  </c:pt>
                  <c:pt idx="264">
                    <c:v/>
                  </c:pt>
                  <c:pt idx="265">
                    <c:v/>
                  </c:pt>
                  <c:pt idx="266">
                    <c:v/>
                  </c:pt>
                  <c:pt idx="267">
                    <c:v/>
                  </c:pt>
                  <c:pt idx="268">
                    <c:v/>
                  </c:pt>
                  <c:pt idx="269">
                    <c:v/>
                  </c:pt>
                  <c:pt idx="270">
                    <c:v/>
                  </c:pt>
                  <c:pt idx="271">
                    <c:v/>
                  </c:pt>
                  <c:pt idx="272">
                    <c:v/>
                  </c:pt>
                  <c:pt idx="273">
                    <c:v/>
                  </c:pt>
                  <c:pt idx="274">
                    <c:v/>
                  </c:pt>
                  <c:pt idx="275">
                    <c:v/>
                  </c:pt>
                  <c:pt idx="276">
                    <c:v/>
                  </c:pt>
                  <c:pt idx="277">
                    <c:v/>
                  </c:pt>
                  <c:pt idx="278">
                    <c:v/>
                  </c:pt>
                  <c:pt idx="279">
                    <c:v>mar-26</c:v>
                  </c:pt>
                  <c:pt idx="280">
                    <c:v/>
                  </c:pt>
                  <c:pt idx="281">
                    <c:v/>
                  </c:pt>
                  <c:pt idx="282">
                    <c:v/>
                  </c:pt>
                  <c:pt idx="283">
                    <c:v/>
                  </c:pt>
                  <c:pt idx="284">
                    <c:v/>
                  </c:pt>
                  <c:pt idx="285">
                    <c:v/>
                  </c:pt>
                  <c:pt idx="286">
                    <c:v/>
                  </c:pt>
                  <c:pt idx="287">
                    <c:v/>
                  </c:pt>
                  <c:pt idx="288">
                    <c:v/>
                  </c:pt>
                  <c:pt idx="289">
                    <c:v/>
                  </c:pt>
                  <c:pt idx="290">
                    <c:v/>
                  </c:pt>
                  <c:pt idx="291">
                    <c:v/>
                  </c:pt>
                  <c:pt idx="292">
                    <c:v/>
                  </c:pt>
                  <c:pt idx="293">
                    <c:v/>
                  </c:pt>
                  <c:pt idx="294">
                    <c:v/>
                  </c:pt>
                  <c:pt idx="295">
                    <c:v/>
                  </c:pt>
                  <c:pt idx="296">
                    <c:v/>
                  </c:pt>
                  <c:pt idx="297">
                    <c:v/>
                  </c:pt>
                  <c:pt idx="298">
                    <c:v/>
                  </c:pt>
                  <c:pt idx="299">
                    <c:v/>
                  </c:pt>
                  <c:pt idx="300">
                    <c:v/>
                  </c:pt>
                  <c:pt idx="301">
                    <c:v/>
                  </c:pt>
                  <c:pt idx="302">
                    <c:v/>
                  </c:pt>
                  <c:pt idx="303">
                    <c:v/>
                  </c:pt>
                  <c:pt idx="304">
                    <c:v/>
                  </c:pt>
                  <c:pt idx="305">
                    <c:v/>
                  </c:pt>
                  <c:pt idx="306">
                    <c:v/>
                  </c:pt>
                  <c:pt idx="307">
                    <c:v/>
                  </c:pt>
                  <c:pt idx="308">
                    <c:v/>
                  </c:pt>
                  <c:pt idx="309">
                    <c:v/>
                  </c:pt>
                  <c:pt idx="310">
                    <c:v/>
                  </c:pt>
                  <c:pt idx="311">
                    <c:v/>
                  </c:pt>
                  <c:pt idx="312">
                    <c:v/>
                  </c:pt>
                  <c:pt idx="313">
                    <c:v/>
                  </c:pt>
                  <c:pt idx="314">
                    <c:v/>
                  </c:pt>
                  <c:pt idx="315">
                    <c:v/>
                  </c:pt>
                  <c:pt idx="316">
                    <c:v/>
                  </c:pt>
                  <c:pt idx="317">
                    <c:v/>
                  </c:pt>
                  <c:pt idx="318">
                    <c:v/>
                  </c:pt>
                  <c:pt idx="319">
                    <c:v>may-26</c:v>
                  </c:pt>
                  <c:pt idx="320">
                    <c:v/>
                  </c:pt>
                  <c:pt idx="321">
                    <c:v/>
                  </c:pt>
                  <c:pt idx="322">
                    <c:v/>
                  </c:pt>
                  <c:pt idx="323">
                    <c:v/>
                  </c:pt>
                  <c:pt idx="324">
                    <c:v/>
                  </c:pt>
                  <c:pt idx="325">
                    <c:v/>
                  </c:pt>
                  <c:pt idx="326">
                    <c:v/>
                  </c:pt>
                  <c:pt idx="327">
                    <c:v/>
                  </c:pt>
                  <c:pt idx="328">
                    <c:v/>
                  </c:pt>
                  <c:pt idx="329">
                    <c:v/>
                  </c:pt>
                  <c:pt idx="330">
                    <c:v/>
                  </c:pt>
                  <c:pt idx="331">
                    <c:v/>
                  </c:pt>
                  <c:pt idx="332">
                    <c:v/>
                  </c:pt>
                  <c:pt idx="333">
                    <c:v/>
                  </c:pt>
                  <c:pt idx="334">
                    <c:v/>
                  </c:pt>
                  <c:pt idx="335">
                    <c:v/>
                  </c:pt>
                  <c:pt idx="336">
                    <c:v/>
                  </c:pt>
                  <c:pt idx="337">
                    <c:v/>
                  </c:pt>
                  <c:pt idx="338">
                    <c:v/>
                  </c:pt>
                  <c:pt idx="339">
                    <c:v/>
                  </c:pt>
                  <c:pt idx="340">
                    <c:v/>
                  </c:pt>
                  <c:pt idx="341">
                    <c:v/>
                  </c:pt>
                  <c:pt idx="342">
                    <c:v/>
                  </c:pt>
                  <c:pt idx="343">
                    <c:v/>
                  </c:pt>
                  <c:pt idx="344">
                    <c:v/>
                  </c:pt>
                  <c:pt idx="345">
                    <c:v/>
                  </c:pt>
                  <c:pt idx="346">
                    <c:v/>
                  </c:pt>
                  <c:pt idx="347">
                    <c:v/>
                  </c:pt>
                  <c:pt idx="348">
                    <c:v/>
                  </c:pt>
                  <c:pt idx="349">
                    <c:v/>
                  </c:pt>
                  <c:pt idx="350">
                    <c:v/>
                  </c:pt>
                  <c:pt idx="351">
                    <c:v/>
                  </c:pt>
                  <c:pt idx="352">
                    <c:v/>
                  </c:pt>
                  <c:pt idx="353">
                    <c:v/>
                  </c:pt>
                  <c:pt idx="354">
                    <c:v/>
                  </c:pt>
                  <c:pt idx="355">
                    <c:v/>
                  </c:pt>
                  <c:pt idx="356">
                    <c:v/>
                  </c:pt>
                  <c:pt idx="357">
                    <c:v/>
                  </c:pt>
                  <c:pt idx="358">
                    <c:v/>
                  </c:pt>
                  <c:pt idx="359">
                    <c:v>jul-26</c:v>
                  </c:pt>
                  <c:pt idx="360">
                    <c:v/>
                  </c:pt>
                  <c:pt idx="361">
                    <c:v/>
                  </c:pt>
                  <c:pt idx="362">
                    <c:v/>
                  </c:pt>
                  <c:pt idx="363">
                    <c:v/>
                  </c:pt>
                  <c:pt idx="364">
                    <c:v/>
                  </c:pt>
                  <c:pt idx="365">
                    <c:v/>
                  </c:pt>
                  <c:pt idx="366">
                    <c:v/>
                  </c:pt>
                  <c:pt idx="367">
                    <c:v/>
                  </c:pt>
                  <c:pt idx="368">
                    <c:v/>
                  </c:pt>
                  <c:pt idx="369">
                    <c:v/>
                  </c:pt>
                  <c:pt idx="370">
                    <c:v/>
                  </c:pt>
                  <c:pt idx="371">
                    <c:v/>
                  </c:pt>
                  <c:pt idx="372">
                    <c:v/>
                  </c:pt>
                  <c:pt idx="373">
                    <c:v/>
                  </c:pt>
                  <c:pt idx="374">
                    <c:v/>
                  </c:pt>
                  <c:pt idx="375">
                    <c:v/>
                  </c:pt>
                  <c:pt idx="376">
                    <c:v/>
                  </c:pt>
                  <c:pt idx="377">
                    <c:v/>
                  </c:pt>
                  <c:pt idx="378">
                    <c:v/>
                  </c:pt>
                  <c:pt idx="379">
                    <c:v/>
                  </c:pt>
                  <c:pt idx="380">
                    <c:v/>
                  </c:pt>
                  <c:pt idx="381">
                    <c:v/>
                  </c:pt>
                  <c:pt idx="382">
                    <c:v/>
                  </c:pt>
                  <c:pt idx="383">
                    <c:v/>
                  </c:pt>
                  <c:pt idx="384">
                    <c:v/>
                  </c:pt>
                  <c:pt idx="385">
                    <c:v/>
                  </c:pt>
                  <c:pt idx="386">
                    <c:v/>
                  </c:pt>
                  <c:pt idx="387">
                    <c:v/>
                  </c:pt>
                  <c:pt idx="388">
                    <c:v/>
                  </c:pt>
                  <c:pt idx="389">
                    <c:v/>
                  </c:pt>
                  <c:pt idx="390">
                    <c:v/>
                  </c:pt>
                  <c:pt idx="391">
                    <c:v/>
                  </c:pt>
                  <c:pt idx="392">
                    <c:v/>
                  </c:pt>
                  <c:pt idx="393">
                    <c:v/>
                  </c:pt>
                  <c:pt idx="394">
                    <c:v/>
                  </c:pt>
                  <c:pt idx="395">
                    <c:v/>
                  </c:pt>
                  <c:pt idx="396">
                    <c:v/>
                  </c:pt>
                  <c:pt idx="397">
                    <c:v/>
                  </c:pt>
                  <c:pt idx="398">
                    <c:v/>
                  </c:pt>
                  <c:pt idx="399">
                    <c:v/>
                  </c:pt>
                  <c:pt idx="400">
                    <c:v>sep-26</c:v>
                  </c:pt>
                  <c:pt idx="401">
                    <c:v/>
                  </c:pt>
                  <c:pt idx="402">
                    <c:v/>
                  </c:pt>
                  <c:pt idx="403">
                    <c:v/>
                  </c:pt>
                  <c:pt idx="404">
                    <c:v/>
                  </c:pt>
                  <c:pt idx="405">
                    <c:v/>
                  </c:pt>
                  <c:pt idx="406">
                    <c:v/>
                  </c:pt>
                  <c:pt idx="407">
                    <c:v/>
                  </c:pt>
                  <c:pt idx="408">
                    <c:v/>
                  </c:pt>
                  <c:pt idx="409">
                    <c:v/>
                  </c:pt>
                  <c:pt idx="410">
                    <c:v/>
                  </c:pt>
                  <c:pt idx="411">
                    <c:v/>
                  </c:pt>
                  <c:pt idx="412">
                    <c:v/>
                  </c:pt>
                  <c:pt idx="413">
                    <c:v/>
                  </c:pt>
                  <c:pt idx="414">
                    <c:v/>
                  </c:pt>
                  <c:pt idx="415">
                    <c:v/>
                  </c:pt>
                  <c:pt idx="416">
                    <c:v/>
                  </c:pt>
                  <c:pt idx="417">
                    <c:v/>
                  </c:pt>
                </c:lvl>
              </c:multiLvlStrCache>
            </c:multiLvlStrRef>
          </c:cat>
          <c:val>
            <c:numRef>
              <c:f>Sheet1!$B$2:$B$419</c:f>
              <c:numCache>
                <c:formatCode>General</c:formatCode>
                <c:ptCount val="418"/>
                <c:pt idx="0">
                  <c:v>2.2</c:v>
                </c:pt>
                <c:pt idx="1">
                  <c:v>2.9</c:v>
                </c:pt>
                <c:pt idx="2">
                  <c:v>4.1</c:v>
                </c:pt>
                <c:pt idx="3">
                  <c:v>4</c:v>
                </c:pt>
                <c:pt idx="4">
                  <c:v>2.8</c:v>
                </c:pt>
                <c:pt idx="5">
                  <c:v>3.3</c:v>
                </c:pt>
                <c:pt idx="6">
                  <c:v>3.4</c:v>
                </c:pt>
                <c:pt idx="7">
                  <c:v>4.4</c:v>
                </c:pt>
                <c:pt idx="8">
                  <c:v>5.6</c:v>
                </c:pt>
                <c:pt idx="9">
                  <c:v>4.9</c:v>
                </c:pt>
                <c:pt idx="10">
                  <c:v>3.8</c:v>
                </c:pt>
                <c:pt idx="11">
                  <c:v>4.3</c:v>
                </c:pt>
                <c:pt idx="12">
                  <c:v>3.6</c:v>
                </c:pt>
                <c:pt idx="13">
                  <c:v>4.3</c:v>
                </c:pt>
                <c:pt idx="14">
                  <c:v>3.9</c:v>
                </c:pt>
                <c:pt idx="15">
                  <c:v>3.8</c:v>
                </c:pt>
                <c:pt idx="16">
                  <c:v>5.1</c:v>
                </c:pt>
                <c:pt idx="17">
                  <c:v>2.7</c:v>
                </c:pt>
                <c:pt idx="18">
                  <c:v>4.4</c:v>
                </c:pt>
                <c:pt idx="19">
                  <c:v>3.6</c:v>
                </c:pt>
                <c:pt idx="20">
                  <c:v>3.4</c:v>
                </c:pt>
                <c:pt idx="21">
                  <c:v>1.3</c:v>
                </c:pt>
                <c:pt idx="22">
                  <c:v>0.2</c:v>
                </c:pt>
                <c:pt idx="23">
                  <c:v>1.1</c:v>
                </c:pt>
                <c:pt idx="24">
                  <c:v>1.2</c:v>
                </c:pt>
                <c:pt idx="25">
                  <c:v>0.9</c:v>
                </c:pt>
                <c:pt idx="26">
                  <c:v>0.2</c:v>
                </c:pt>
                <c:pt idx="27">
                  <c:v>-0.3</c:v>
                </c:pt>
                <c:pt idx="28">
                  <c:v>0.3</c:v>
                </c:pt>
                <c:pt idx="29">
                  <c:v>-0.3</c:v>
                </c:pt>
                <c:pt idx="30">
                  <c:v>-0.9</c:v>
                </c:pt>
                <c:pt idx="31">
                  <c:v>-0.1</c:v>
                </c:pt>
                <c:pt idx="32">
                  <c:v>-1.8</c:v>
                </c:pt>
                <c:pt idx="33">
                  <c:v>-2.7</c:v>
                </c:pt>
                <c:pt idx="34">
                  <c:v>-3.4</c:v>
                </c:pt>
                <c:pt idx="35">
                  <c:v>-4.3</c:v>
                </c:pt>
                <c:pt idx="36">
                  <c:v>-4.2</c:v>
                </c:pt>
                <c:pt idx="37">
                  <c:v>-5.9</c:v>
                </c:pt>
                <c:pt idx="38">
                  <c:v>-5.9</c:v>
                </c:pt>
                <c:pt idx="39">
                  <c:v>-7.3</c:v>
                </c:pt>
                <c:pt idx="40">
                  <c:v>-7.4</c:v>
                </c:pt>
                <c:pt idx="41">
                  <c:v>-7.7</c:v>
                </c:pt>
                <c:pt idx="42">
                  <c:v>-10.6</c:v>
                </c:pt>
                <c:pt idx="43">
                  <c:v>-10.1</c:v>
                </c:pt>
                <c:pt idx="44">
                  <c:v>-10.6</c:v>
                </c:pt>
                <c:pt idx="45">
                  <c:v>-12.4</c:v>
                </c:pt>
                <c:pt idx="46">
                  <c:v>-12.3</c:v>
                </c:pt>
                <c:pt idx="47">
                  <c:v>-12.9</c:v>
                </c:pt>
                <c:pt idx="48">
                  <c:v>-13.4</c:v>
                </c:pt>
                <c:pt idx="49">
                  <c:v>-13.5</c:v>
                </c:pt>
                <c:pt idx="50">
                  <c:v>-13.4</c:v>
                </c:pt>
                <c:pt idx="51">
                  <c:v>-12.3</c:v>
                </c:pt>
                <c:pt idx="52">
                  <c:v>-11.9</c:v>
                </c:pt>
                <c:pt idx="53">
                  <c:v>-11.4</c:v>
                </c:pt>
                <c:pt idx="54">
                  <c:v>-11.5</c:v>
                </c:pt>
                <c:pt idx="55">
                  <c:v>-10.7</c:v>
                </c:pt>
                <c:pt idx="56">
                  <c:v>-9.7</c:v>
                </c:pt>
                <c:pt idx="57">
                  <c:v>-9.4</c:v>
                </c:pt>
                <c:pt idx="58">
                  <c:v>-9.6</c:v>
                </c:pt>
                <c:pt idx="59">
                  <c:v>-8.4</c:v>
                </c:pt>
                <c:pt idx="60">
                  <c:v>-7.3</c:v>
                </c:pt>
                <c:pt idx="61">
                  <c:v>-6.7</c:v>
                </c:pt>
                <c:pt idx="62">
                  <c:v>-7.3</c:v>
                </c:pt>
                <c:pt idx="63">
                  <c:v>-5.2</c:v>
                </c:pt>
                <c:pt idx="64">
                  <c:v>-4.4</c:v>
                </c:pt>
                <c:pt idx="65">
                  <c:v>-5.2</c:v>
                </c:pt>
                <c:pt idx="66">
                  <c:v>-3.6</c:v>
                </c:pt>
                <c:pt idx="67">
                  <c:v>-3.2</c:v>
                </c:pt>
                <c:pt idx="68">
                  <c:v>1.8</c:v>
                </c:pt>
                <c:pt idx="69">
                  <c:v>1.5</c:v>
                </c:pt>
                <c:pt idx="70">
                  <c:v>3.6</c:v>
                </c:pt>
                <c:pt idx="71">
                  <c:v>4</c:v>
                </c:pt>
                <c:pt idx="72">
                  <c:v>4</c:v>
                </c:pt>
                <c:pt idx="73">
                  <c:v>4.7</c:v>
                </c:pt>
                <c:pt idx="74">
                  <c:v>4.2</c:v>
                </c:pt>
                <c:pt idx="75">
                  <c:v>4.8</c:v>
                </c:pt>
                <c:pt idx="76">
                  <c:v>5.8</c:v>
                </c:pt>
                <c:pt idx="77">
                  <c:v>6.5</c:v>
                </c:pt>
                <c:pt idx="78">
                  <c:v>6.8</c:v>
                </c:pt>
                <c:pt idx="79">
                  <c:v>8.7</c:v>
                </c:pt>
                <c:pt idx="80">
                  <c:v>10.8</c:v>
                </c:pt>
                <c:pt idx="81">
                  <c:v>10.8</c:v>
                </c:pt>
                <c:pt idx="82">
                  <c:v>11.6</c:v>
                </c:pt>
                <c:pt idx="83">
                  <c:v>11.2</c:v>
                </c:pt>
                <c:pt idx="84">
                  <c:v>12.7</c:v>
                </c:pt>
                <c:pt idx="85">
                  <c:v>14.8</c:v>
                </c:pt>
                <c:pt idx="86">
                  <c:v>14.5</c:v>
                </c:pt>
                <c:pt idx="87">
                  <c:v>15.7</c:v>
                </c:pt>
                <c:pt idx="88">
                  <c:v>14</c:v>
                </c:pt>
                <c:pt idx="89">
                  <c:v>15.8</c:v>
                </c:pt>
                <c:pt idx="90">
                  <c:v>15.9</c:v>
                </c:pt>
                <c:pt idx="91">
                  <c:v>14.2</c:v>
                </c:pt>
                <c:pt idx="92">
                  <c:v>14.5</c:v>
                </c:pt>
                <c:pt idx="93">
                  <c:v>15.5</c:v>
                </c:pt>
                <c:pt idx="94">
                  <c:v>13.6</c:v>
                </c:pt>
                <c:pt idx="95">
                  <c:v>14.8</c:v>
                </c:pt>
                <c:pt idx="96">
                  <c:v>13.6</c:v>
                </c:pt>
                <c:pt idx="97">
                  <c:v>13.9</c:v>
                </c:pt>
                <c:pt idx="98">
                  <c:v>13.4</c:v>
                </c:pt>
                <c:pt idx="99">
                  <c:v>14.2</c:v>
                </c:pt>
                <c:pt idx="100">
                  <c:v>13.9</c:v>
                </c:pt>
                <c:pt idx="101">
                  <c:v>12.7</c:v>
                </c:pt>
                <c:pt idx="102">
                  <c:v>13</c:v>
                </c:pt>
                <c:pt idx="103">
                  <c:v>13.2</c:v>
                </c:pt>
                <c:pt idx="104">
                  <c:v>12.4</c:v>
                </c:pt>
                <c:pt idx="105">
                  <c:v>13.2</c:v>
                </c:pt>
                <c:pt idx="106">
                  <c:v>13</c:v>
                </c:pt>
                <c:pt idx="107">
                  <c:v>13.2</c:v>
                </c:pt>
                <c:pt idx="108">
                  <c:v>12.8</c:v>
                </c:pt>
                <c:pt idx="109">
                  <c:v>12.9</c:v>
                </c:pt>
                <c:pt idx="110">
                  <c:v>12.4</c:v>
                </c:pt>
                <c:pt idx="111">
                  <c:v>13.5</c:v>
                </c:pt>
                <c:pt idx="112">
                  <c:v>11.8</c:v>
                </c:pt>
                <c:pt idx="113">
                  <c:v>12.7</c:v>
                </c:pt>
                <c:pt idx="114">
                  <c:v>11.9</c:v>
                </c:pt>
                <c:pt idx="115">
                  <c:v>11.7</c:v>
                </c:pt>
                <c:pt idx="116">
                  <c:v>11.8</c:v>
                </c:pt>
                <c:pt idx="117">
                  <c:v>10.9</c:v>
                </c:pt>
                <c:pt idx="118">
                  <c:v>11.5</c:v>
                </c:pt>
                <c:pt idx="119">
                  <c:v>11.1</c:v>
                </c:pt>
                <c:pt idx="120">
                  <c:v>11</c:v>
                </c:pt>
                <c:pt idx="121">
                  <c:v>10</c:v>
                </c:pt>
                <c:pt idx="122">
                  <c:v>9.7</c:v>
                </c:pt>
                <c:pt idx="123">
                  <c:v>10.3</c:v>
                </c:pt>
                <c:pt idx="124">
                  <c:v>8.9</c:v>
                </c:pt>
                <c:pt idx="125">
                  <c:v>7.8</c:v>
                </c:pt>
                <c:pt idx="126">
                  <c:v>5.8</c:v>
                </c:pt>
                <c:pt idx="127">
                  <c:v>5.6</c:v>
                </c:pt>
                <c:pt idx="128">
                  <c:v>6.9</c:v>
                </c:pt>
                <c:pt idx="129">
                  <c:v>7.1</c:v>
                </c:pt>
                <c:pt idx="130">
                  <c:v>8.4</c:v>
                </c:pt>
                <c:pt idx="131">
                  <c:v>9.1</c:v>
                </c:pt>
                <c:pt idx="132">
                  <c:v>11.5</c:v>
                </c:pt>
                <c:pt idx="133">
                  <c:v>11.7</c:v>
                </c:pt>
                <c:pt idx="134">
                  <c:v>11.8</c:v>
                </c:pt>
                <c:pt idx="135">
                  <c:v>10.9</c:v>
                </c:pt>
                <c:pt idx="136">
                  <c:v>10.2</c:v>
                </c:pt>
                <c:pt idx="137">
                  <c:v>12.6</c:v>
                </c:pt>
                <c:pt idx="138">
                  <c:v>12.5</c:v>
                </c:pt>
                <c:pt idx="139">
                  <c:v>14.1</c:v>
                </c:pt>
                <c:pt idx="140">
                  <c:v>15.4</c:v>
                </c:pt>
                <c:pt idx="141">
                  <c:v>16.3</c:v>
                </c:pt>
                <c:pt idx="142">
                  <c:v>16.9</c:v>
                </c:pt>
                <c:pt idx="143">
                  <c:v>15.6</c:v>
                </c:pt>
                <c:pt idx="144">
                  <c:v>17</c:v>
                </c:pt>
                <c:pt idx="145">
                  <c:v>18.5</c:v>
                </c:pt>
                <c:pt idx="146">
                  <c:v>19.7</c:v>
                </c:pt>
                <c:pt idx="147">
                  <c:v>24.5</c:v>
                </c:pt>
                <c:pt idx="148">
                  <c:v>22.6</c:v>
                </c:pt>
                <c:pt idx="149">
                  <c:v>25.4</c:v>
                </c:pt>
                <c:pt idx="150">
                  <c:v>28.7</c:v>
                </c:pt>
                <c:pt idx="151">
                  <c:v>34.1</c:v>
                </c:pt>
                <c:pt idx="152">
                  <c:v>33.1</c:v>
                </c:pt>
                <c:pt idx="153">
                  <c:v>33.5</c:v>
                </c:pt>
                <c:pt idx="154">
                  <c:v>32.5</c:v>
                </c:pt>
                <c:pt idx="155">
                  <c:v>31.1</c:v>
                </c:pt>
                <c:pt idx="156">
                  <c:v>38.8</c:v>
                </c:pt>
                <c:pt idx="157">
                  <c:v>34.9</c:v>
                </c:pt>
                <c:pt idx="158">
                  <c:v>39.5</c:v>
                </c:pt>
                <c:pt idx="159">
                  <c:v>38</c:v>
                </c:pt>
                <c:pt idx="160">
                  <c:v>38</c:v>
                </c:pt>
                <c:pt idx="161">
                  <c:v>34.7</c:v>
                </c:pt>
                <c:pt idx="162">
                  <c:v>35.7</c:v>
                </c:pt>
                <c:pt idx="163">
                  <c:v>36.4</c:v>
                </c:pt>
                <c:pt idx="164">
                  <c:v>33.8</c:v>
                </c:pt>
                <c:pt idx="165">
                  <c:v>35.1</c:v>
                </c:pt>
                <c:pt idx="166">
                  <c:v>38.2</c:v>
                </c:pt>
                <c:pt idx="167">
                  <c:v>31.3</c:v>
                </c:pt>
                <c:pt idx="168">
                  <c:v>27.9</c:v>
                </c:pt>
                <c:pt idx="169">
                  <c:v>22.1</c:v>
                </c:pt>
                <c:pt idx="170">
                  <c:v>20.1</c:v>
                </c:pt>
                <c:pt idx="171">
                  <c:v>18.6</c:v>
                </c:pt>
                <c:pt idx="172">
                  <c:v>18.3</c:v>
                </c:pt>
                <c:pt idx="173">
                  <c:v>19.4</c:v>
                </c:pt>
                <c:pt idx="174">
                  <c:v>20.4</c:v>
                </c:pt>
                <c:pt idx="175">
                  <c:v>20.3</c:v>
                </c:pt>
                <c:pt idx="176">
                  <c:v>21.4</c:v>
                </c:pt>
                <c:pt idx="177">
                  <c:v>18</c:v>
                </c:pt>
                <c:pt idx="178">
                  <c:v>14.4</c:v>
                </c:pt>
                <c:pt idx="179">
                  <c:v>13.1</c:v>
                </c:pt>
                <c:pt idx="180">
                  <c:v>13.2</c:v>
                </c:pt>
                <c:pt idx="181">
                  <c:v>14.6</c:v>
                </c:pt>
                <c:pt idx="182">
                  <c:v>14.1</c:v>
                </c:pt>
                <c:pt idx="183">
                  <c:v>13.8</c:v>
                </c:pt>
                <c:pt idx="184">
                  <c:v>14.2</c:v>
                </c:pt>
                <c:pt idx="185">
                  <c:v>13.9</c:v>
                </c:pt>
                <c:pt idx="186">
                  <c:v>17.5</c:v>
                </c:pt>
                <c:pt idx="187">
                  <c:v>17.6</c:v>
                </c:pt>
                <c:pt idx="188">
                  <c:v>23.5</c:v>
                </c:pt>
                <c:pt idx="189">
                  <c:v>19.6</c:v>
                </c:pt>
                <c:pt idx="190">
                  <c:v>25.8</c:v>
                </c:pt>
                <c:pt idx="191">
                  <c:v>30.9</c:v>
                </c:pt>
                <c:pt idx="192">
                  <c:v>32.1</c:v>
                </c:pt>
                <c:pt idx="193">
                  <c:v>26.9</c:v>
                </c:pt>
                <c:pt idx="194">
                  <c:v>22.2</c:v>
                </c:pt>
                <c:pt idx="195">
                  <c:v>21.4</c:v>
                </c:pt>
                <c:pt idx="196">
                  <c:v>20.6</c:v>
                </c:pt>
                <c:pt idx="197">
                  <c:v>21.1</c:v>
                </c:pt>
                <c:pt idx="198">
                  <c:v>21.9</c:v>
                </c:pt>
                <c:pt idx="199">
                  <c:v>13.1</c:v>
                </c:pt>
                <c:pt idx="200">
                  <c:v>16</c:v>
                </c:pt>
                <c:pt idx="201">
                  <c:v>12.3</c:v>
                </c:pt>
                <c:pt idx="202">
                  <c:v>12</c:v>
                </c:pt>
                <c:pt idx="203">
                  <c:v>7.9</c:v>
                </c:pt>
                <c:pt idx="204">
                  <c:v>5.2</c:v>
                </c:pt>
                <c:pt idx="205">
                  <c:v>5.4</c:v>
                </c:pt>
                <c:pt idx="206">
                  <c:v>4.4</c:v>
                </c:pt>
                <c:pt idx="207">
                  <c:v>3.1</c:v>
                </c:pt>
                <c:pt idx="208">
                  <c:v>2.4</c:v>
                </c:pt>
                <c:pt idx="209">
                  <c:v>3.2</c:v>
                </c:pt>
                <c:pt idx="210">
                  <c:v>1.1</c:v>
                </c:pt>
                <c:pt idx="211">
                  <c:v>1.3</c:v>
                </c:pt>
                <c:pt idx="212">
                  <c:v>1.7</c:v>
                </c:pt>
                <c:pt idx="213">
                  <c:v>0.4</c:v>
                </c:pt>
                <c:pt idx="214">
                  <c:v>1.6</c:v>
                </c:pt>
                <c:pt idx="215">
                  <c:v>1.2</c:v>
                </c:pt>
                <c:pt idx="216">
                  <c:v>0</c:v>
                </c:pt>
                <c:pt idx="217">
                  <c:v>-1.4</c:v>
                </c:pt>
                <c:pt idx="218">
                  <c:v>-1.9</c:v>
                </c:pt>
                <c:pt idx="219">
                  <c:v>-1.6</c:v>
                </c:pt>
                <c:pt idx="220">
                  <c:v>-2</c:v>
                </c:pt>
                <c:pt idx="221">
                  <c:v>-2.8</c:v>
                </c:pt>
                <c:pt idx="222">
                  <c:v>-3.8</c:v>
                </c:pt>
                <c:pt idx="223">
                  <c:v>-5.7</c:v>
                </c:pt>
                <c:pt idx="224">
                  <c:v>-6.3</c:v>
                </c:pt>
                <c:pt idx="225">
                  <c:v>-6.6</c:v>
                </c:pt>
                <c:pt idx="226">
                  <c:v>-7.5</c:v>
                </c:pt>
                <c:pt idx="227">
                  <c:v>-7.4</c:v>
                </c:pt>
                <c:pt idx="228">
                  <c:v>-7.3</c:v>
                </c:pt>
                <c:pt idx="229">
                  <c:v>-8.1</c:v>
                </c:pt>
                <c:pt idx="230">
                  <c:v>-8.1</c:v>
                </c:pt>
                <c:pt idx="231">
                  <c:v>-7.7</c:v>
                </c:pt>
                <c:pt idx="232">
                  <c:v>-7.7</c:v>
                </c:pt>
                <c:pt idx="233">
                  <c:v>-7.4</c:v>
                </c:pt>
                <c:pt idx="234">
                  <c:v>-6.7</c:v>
                </c:pt>
                <c:pt idx="235">
                  <c:v>-6.9</c:v>
                </c:pt>
                <c:pt idx="236">
                  <c:v>-5.4</c:v>
                </c:pt>
                <c:pt idx="237">
                  <c:v>-7.1</c:v>
                </c:pt>
                <c:pt idx="238">
                  <c:v>-7.9</c:v>
                </c:pt>
                <c:pt idx="239">
                  <c:v>-7.4</c:v>
                </c:pt>
                <c:pt idx="240">
                  <c:v>-7.5</c:v>
                </c:pt>
                <c:pt idx="241">
                  <c:v>-7.4</c:v>
                </c:pt>
                <c:pt idx="242">
                  <c:v>-6.4</c:v>
                </c:pt>
                <c:pt idx="243">
                  <c:v>-4.7</c:v>
                </c:pt>
                <c:pt idx="244">
                  <c:v>-4.5</c:v>
                </c:pt>
                <c:pt idx="245">
                  <c:v>-5.2</c:v>
                </c:pt>
                <c:pt idx="246">
                  <c:v>-7.2</c:v>
                </c:pt>
                <c:pt idx="247">
                  <c:v>-5.6</c:v>
                </c:pt>
                <c:pt idx="248">
                  <c:v>-3.8</c:v>
                </c:pt>
                <c:pt idx="249">
                  <c:v>-3.2</c:v>
                </c:pt>
                <c:pt idx="250">
                  <c:v>-2.3</c:v>
                </c:pt>
                <c:pt idx="251">
                  <c:v>-2.4</c:v>
                </c:pt>
                <c:pt idx="252">
                  <c:v>-0.4</c:v>
                </c:pt>
                <c:pt idx="253">
                  <c:v>-0.6</c:v>
                </c:pt>
                <c:pt idx="254">
                  <c:v>0.3</c:v>
                </c:pt>
                <c:pt idx="255">
                  <c:v>1.1</c:v>
                </c:pt>
                <c:pt idx="256">
                  <c:v>-3.1</c:v>
                </c:pt>
                <c:pt idx="257">
                  <c:v>-2.2</c:v>
                </c:pt>
                <c:pt idx="258">
                  <c:v>-4.3</c:v>
                </c:pt>
                <c:pt idx="259">
                  <c:v>-4.8</c:v>
                </c:pt>
                <c:pt idx="260">
                  <c:v>-3.9</c:v>
                </c:pt>
                <c:pt idx="261">
                  <c:v>-5.5</c:v>
                </c:pt>
                <c:pt idx="262">
                  <c:v>-3.5</c:v>
                </c:pt>
                <c:pt idx="263">
                  <c:v>-4.5</c:v>
                </c:pt>
                <c:pt idx="264">
                  <c:v>-4.7</c:v>
                </c:pt>
                <c:pt idx="265">
                  <c:v>-4.5</c:v>
                </c:pt>
                <c:pt idx="266">
                  <c:v>-5.7</c:v>
                </c:pt>
                <c:pt idx="267">
                  <c:v>-4.9</c:v>
                </c:pt>
                <c:pt idx="268">
                  <c:v>-6.1</c:v>
                </c:pt>
                <c:pt idx="269">
                  <c:v>-5.1</c:v>
                </c:pt>
                <c:pt idx="270">
                  <c:v>-3.7</c:v>
                </c:pt>
                <c:pt idx="271">
                  <c:v>-5.1</c:v>
                </c:pt>
                <c:pt idx="272">
                  <c:v>-4.1</c:v>
                </c:pt>
                <c:pt idx="273">
                  <c:v>-3.5</c:v>
                </c:pt>
                <c:pt idx="274">
                  <c:v>-3.7</c:v>
                </c:pt>
                <c:pt idx="275">
                  <c:v>-2.8</c:v>
                </c:pt>
                <c:pt idx="276">
                  <c:v>-6.2</c:v>
                </c:pt>
                <c:pt idx="277">
                  <c:v>-6.9</c:v>
                </c:pt>
                <c:pt idx="278">
                  <c:v>-7.7</c:v>
                </c:pt>
                <c:pt idx="279">
                  <c:v>-8.8</c:v>
                </c:pt>
                <c:pt idx="280">
                  <c:v>-8.5</c:v>
                </c:pt>
                <c:pt idx="281">
                  <c:v>-9.6</c:v>
                </c:pt>
                <c:pt idx="282">
                  <c:v>-8.9</c:v>
                </c:pt>
                <c:pt idx="283">
                  <c:v>-10.1</c:v>
                </c:pt>
                <c:pt idx="284">
                  <c:v>-10.5</c:v>
                </c:pt>
                <c:pt idx="285">
                  <c:v>-10</c:v>
                </c:pt>
                <c:pt idx="286">
                  <c:v>-10.4</c:v>
                </c:pt>
                <c:pt idx="287">
                  <c:v>-10.3</c:v>
                </c:pt>
                <c:pt idx="288">
                  <c:v>-11.2</c:v>
                </c:pt>
                <c:pt idx="289">
                  <c:v>-11.3</c:v>
                </c:pt>
                <c:pt idx="290">
                  <c:v>-11.3</c:v>
                </c:pt>
                <c:pt idx="291">
                  <c:v>-12.2</c:v>
                </c:pt>
                <c:pt idx="292">
                  <c:v>-12.5</c:v>
                </c:pt>
                <c:pt idx="293">
                  <c:v>-12.7</c:v>
                </c:pt>
                <c:pt idx="294">
                  <c:v>-11.6</c:v>
                </c:pt>
                <c:pt idx="295">
                  <c:v>-11.1</c:v>
                </c:pt>
                <c:pt idx="296">
                  <c:v>-11.6</c:v>
                </c:pt>
                <c:pt idx="297">
                  <c:v>-10.6</c:v>
                </c:pt>
                <c:pt idx="298">
                  <c:v>-10</c:v>
                </c:pt>
                <c:pt idx="299">
                  <c:v>-9.9</c:v>
                </c:pt>
                <c:pt idx="300">
                  <c:v>-9.2</c:v>
                </c:pt>
                <c:pt idx="301">
                  <c:v>-8.2</c:v>
                </c:pt>
                <c:pt idx="302">
                  <c:v>-8.2</c:v>
                </c:pt>
                <c:pt idx="303">
                  <c:v>-9.4</c:v>
                </c:pt>
                <c:pt idx="304">
                  <c:v>-9.9</c:v>
                </c:pt>
                <c:pt idx="305">
                  <c:v>-9.7</c:v>
                </c:pt>
                <c:pt idx="306">
                  <c:v>-8.7</c:v>
                </c:pt>
                <c:pt idx="307">
                  <c:v>-8.8</c:v>
                </c:pt>
                <c:pt idx="308">
                  <c:v>-8.3</c:v>
                </c:pt>
                <c:pt idx="309">
                  <c:v>-8.2</c:v>
                </c:pt>
                <c:pt idx="310">
                  <c:v>-8.6</c:v>
                </c:pt>
                <c:pt idx="311">
                  <c:v>-8</c:v>
                </c:pt>
                <c:pt idx="312">
                  <c:v>-7.6</c:v>
                </c:pt>
                <c:pt idx="313">
                  <c:v>-7.4</c:v>
                </c:pt>
                <c:pt idx="314">
                  <c:v>-7.9</c:v>
                </c:pt>
                <c:pt idx="315">
                  <c:v>-8.2</c:v>
                </c:pt>
                <c:pt idx="316">
                  <c:v>-6.9</c:v>
                </c:pt>
                <c:pt idx="317">
                  <c:v>-7.3</c:v>
                </c:pt>
                <c:pt idx="318">
                  <c:v>-7.2</c:v>
                </c:pt>
                <c:pt idx="319">
                  <c:v>-5.9</c:v>
                </c:pt>
                <c:pt idx="320">
                  <c:v>-5</c:v>
                </c:pt>
                <c:pt idx="321">
                  <c:v>-6</c:v>
                </c:pt>
                <c:pt idx="322">
                  <c:v>-5.5</c:v>
                </c:pt>
                <c:pt idx="323">
                  <c:v>-5.7</c:v>
                </c:pt>
                <c:pt idx="324">
                  <c:v>-5.2</c:v>
                </c:pt>
                <c:pt idx="325">
                  <c:v>-4.3</c:v>
                </c:pt>
                <c:pt idx="326">
                  <c:v>-5.4</c:v>
                </c:pt>
                <c:pt idx="327">
                  <c:v>-4.3</c:v>
                </c:pt>
                <c:pt idx="328">
                  <c:v>-4.2</c:v>
                </c:pt>
                <c:pt idx="329">
                  <c:v>-3.6</c:v>
                </c:pt>
                <c:pt idx="330">
                  <c:v>-3.1</c:v>
                </c:pt>
                <c:pt idx="331">
                  <c:v>-3.7</c:v>
                </c:pt>
                <c:pt idx="332">
                  <c:v>-2.9</c:v>
                </c:pt>
                <c:pt idx="333">
                  <c:v>-2.9</c:v>
                </c:pt>
                <c:pt idx="334">
                  <c:v>-3</c:v>
                </c:pt>
                <c:pt idx="335">
                  <c:v>-3.7</c:v>
                </c:pt>
                <c:pt idx="336">
                  <c:v>-2.5</c:v>
                </c:pt>
                <c:pt idx="337">
                  <c:v>-3.6</c:v>
                </c:pt>
                <c:pt idx="338">
                  <c:v>-3.2</c:v>
                </c:pt>
                <c:pt idx="339">
                  <c:v>-2.3</c:v>
                </c:pt>
                <c:pt idx="340">
                  <c:v>-2.9</c:v>
                </c:pt>
                <c:pt idx="341">
                  <c:v>-2.8</c:v>
                </c:pt>
                <c:pt idx="342">
                  <c:v>-3.9</c:v>
                </c:pt>
                <c:pt idx="343">
                  <c:v>-3.6</c:v>
                </c:pt>
                <c:pt idx="344">
                  <c:v>-3.1</c:v>
                </c:pt>
                <c:pt idx="345">
                  <c:v>-3.6</c:v>
                </c:pt>
                <c:pt idx="346">
                  <c:v>-3.1</c:v>
                </c:pt>
                <c:pt idx="347">
                  <c:v>-3.2</c:v>
                </c:pt>
                <c:pt idx="348">
                  <c:v>-3.1</c:v>
                </c:pt>
                <c:pt idx="349">
                  <c:v>-2.4</c:v>
                </c:pt>
                <c:pt idx="350">
                  <c:v>-2.3</c:v>
                </c:pt>
                <c:pt idx="351">
                  <c:v>-2.6</c:v>
                </c:pt>
                <c:pt idx="352">
                  <c:v>-2.7</c:v>
                </c:pt>
                <c:pt idx="353">
                  <c:v>-2</c:v>
                </c:pt>
                <c:pt idx="354">
                  <c:v>-2.2</c:v>
                </c:pt>
                <c:pt idx="355">
                  <c:v>-2.6</c:v>
                </c:pt>
                <c:pt idx="356">
                  <c:v>-3.6</c:v>
                </c:pt>
                <c:pt idx="357">
                  <c:v>-3.1</c:v>
                </c:pt>
                <c:pt idx="358">
                  <c:v>-3.2</c:v>
                </c:pt>
                <c:pt idx="359">
                  <c:v>-3.3</c:v>
                </c:pt>
                <c:pt idx="360">
                  <c:v>-3</c:v>
                </c:pt>
                <c:pt idx="361">
                  <c:v>-3.6</c:v>
                </c:pt>
                <c:pt idx="362">
                  <c:v>-4.3</c:v>
                </c:pt>
                <c:pt idx="363">
                  <c:v>-3.7</c:v>
                </c:pt>
                <c:pt idx="364">
                  <c:v>-4.2</c:v>
                </c:pt>
                <c:pt idx="365">
                  <c:v>-5.1</c:v>
                </c:pt>
                <c:pt idx="366">
                  <c:v>-3.9</c:v>
                </c:pt>
                <c:pt idx="367">
                  <c:v>-3.5</c:v>
                </c:pt>
                <c:pt idx="368">
                  <c:v>-4.2</c:v>
                </c:pt>
                <c:pt idx="369">
                  <c:v>-3.4</c:v>
                </c:pt>
                <c:pt idx="370">
                  <c:v>-3.5</c:v>
                </c:pt>
                <c:pt idx="371">
                  <c:v>-2.6</c:v>
                </c:pt>
                <c:pt idx="372">
                  <c:v>-2.3</c:v>
                </c:pt>
                <c:pt idx="373">
                  <c:v>-2</c:v>
                </c:pt>
                <c:pt idx="374">
                  <c:v>-2</c:v>
                </c:pt>
                <c:pt idx="375">
                  <c:v>-2.6</c:v>
                </c:pt>
                <c:pt idx="376">
                  <c:v>-1.5</c:v>
                </c:pt>
                <c:pt idx="377">
                  <c:v>-2</c:v>
                </c:pt>
                <c:pt idx="378">
                  <c:v>-1.2</c:v>
                </c:pt>
                <c:pt idx="379">
                  <c:v>-1.4</c:v>
                </c:pt>
                <c:pt idx="380">
                  <c:v>-1.1</c:v>
                </c:pt>
                <c:pt idx="381">
                  <c:v>-0.1</c:v>
                </c:pt>
                <c:pt idx="382">
                  <c:v>-1.3</c:v>
                </c:pt>
                <c:pt idx="383">
                  <c:v>-0.1</c:v>
                </c:pt>
                <c:pt idx="384">
                  <c:v>-0.4</c:v>
                </c:pt>
                <c:pt idx="385">
                  <c:v>0.2</c:v>
                </c:pt>
                <c:pt idx="386">
                  <c:v>1.5</c:v>
                </c:pt>
                <c:pt idx="387">
                  <c:v>-0.1</c:v>
                </c:pt>
                <c:pt idx="388">
                  <c:v>1.5</c:v>
                </c:pt>
                <c:pt idx="389">
                  <c:v>2.4</c:v>
                </c:pt>
                <c:pt idx="390">
                  <c:v>1.5</c:v>
                </c:pt>
                <c:pt idx="391">
                  <c:v>2.3</c:v>
                </c:pt>
                <c:pt idx="392">
                  <c:v>3.6</c:v>
                </c:pt>
                <c:pt idx="393">
                  <c:v>3.4</c:v>
                </c:pt>
                <c:pt idx="394">
                  <c:v>2.9</c:v>
                </c:pt>
                <c:pt idx="395">
                  <c:v>3.6</c:v>
                </c:pt>
                <c:pt idx="396">
                  <c:v>2.5</c:v>
                </c:pt>
                <c:pt idx="397">
                  <c:v>3.2</c:v>
                </c:pt>
                <c:pt idx="398">
                  <c:v>2.5</c:v>
                </c:pt>
                <c:pt idx="399">
                  <c:v>2.3</c:v>
                </c:pt>
                <c:pt idx="400">
                  <c:v>2.3</c:v>
                </c:pt>
                <c:pt idx="401">
                  <c:v>2.4</c:v>
                </c:pt>
                <c:pt idx="402">
                  <c:v>2.5</c:v>
                </c:pt>
                <c:pt idx="403">
                  <c:v>1.3</c:v>
                </c:pt>
                <c:pt idx="404">
                  <c:v>1.4</c:v>
                </c:pt>
                <c:pt idx="405">
                  <c:v>2</c:v>
                </c:pt>
                <c:pt idx="406">
                  <c:v>1.7</c:v>
                </c:pt>
                <c:pt idx="407">
                  <c:v>1.6</c:v>
                </c:pt>
                <c:pt idx="408">
                  <c:v>0.7</c:v>
                </c:pt>
                <c:pt idx="409">
                  <c:v>1.4</c:v>
                </c:pt>
                <c:pt idx="410">
                  <c:v>1.8</c:v>
                </c:pt>
                <c:pt idx="411">
                  <c:v>2</c:v>
                </c:pt>
                <c:pt idx="412">
                  <c:v>1.3</c:v>
                </c:pt>
                <c:pt idx="413">
                  <c:v>1.3</c:v>
                </c:pt>
                <c:pt idx="414">
                  <c:v>1.3</c:v>
                </c:pt>
                <c:pt idx="415">
                  <c:v>1.8</c:v>
                </c:pt>
                <c:pt idx="416">
                  <c:v>1.8</c:v>
                </c:pt>
                <c:pt idx="417">
                  <c:v>2.3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1D2B4F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DCE3EA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56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-20"/>
        </c:scaling>
        <c:delete val="0"/>
        <c:axPos val="l"/>
        <c:majorGridlines>
          <c:spPr>
            <a:ln w="9525" cap="flat">
              <a:solidFill>
                <a:srgbClr val="DCE3EA"/>
              </a:solidFill>
              <a:prstDash val="solid"/>
              <a:round/>
            </a:ln>
          </c:spPr>
        </c:majorGridlines>
        <c:numFmt formatCode="0&quot;%&quot;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56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1D2B4F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1D2B4F"/>
                </a:solidFill>
                <a:latin typeface="+mn-lt"/>
              </a:rPr>
              <a:t>Mora de las familias con bancos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Mora de las familias</c:v>
                </c:pt>
              </c:strCache>
            </c:strRef>
          </c:tx>
          <c:spPr>
            <a:solidFill>
              <a:srgbClr val="A9B4C2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D2B4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9B4C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9B4C2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8604C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Mayo 2024</c:v>
                  </c:pt>
                  <c:pt idx="1">
                    <c:v>Mayo 2025</c:v>
                  </c:pt>
                  <c:pt idx="2">
                    <c:v>Mayo 2026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2.8</c:v>
                </c:pt>
                <c:pt idx="1">
                  <c:v>4.5</c:v>
                </c:pt>
                <c:pt idx="2">
                  <c:v>12.8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D2B4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DCE3EA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56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"/>
          <c:min val="0"/>
        </c:scaling>
        <c:delete val="0"/>
        <c:axPos val="l"/>
        <c:majorGridlines>
          <c:spPr>
            <a:ln w="9525" cap="flat">
              <a:solidFill>
                <a:srgbClr val="DCE3EA"/>
              </a:solidFill>
              <a:prstDash val="solid"/>
              <a:round/>
            </a:ln>
          </c:spPr>
        </c:majorGridlines>
        <c:numFmt formatCode="0&quot;%&quot;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56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1" i="0" u="none" strike="noStrike">
                <a:solidFill>
                  <a:srgbClr val="1D2B4F"/>
                </a:solidFill>
                <a:latin typeface="+mn-lt"/>
              </a:defRPr>
            </a:pPr>
            <a:r>
              <a:rPr sz="1400" b="1" i="0" u="none" strike="noStrike">
                <a:solidFill>
                  <a:srgbClr val="1D2B4F"/>
                </a:solidFill>
                <a:latin typeface="+mn-lt"/>
              </a:rPr>
              <a:t>Mora por tipo de préstamo, mayo 2026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Mora por línea</c:v>
                </c:pt>
              </c:strCache>
            </c:strRef>
          </c:tx>
          <c:spPr>
            <a:solidFill>
              <a:srgbClr val="A9B4C2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D2B4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9B4C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9B4C2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8604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8604C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Hipotecarios</c:v>
                  </c:pt>
                  <c:pt idx="1">
                    <c:v>Prendarios</c:v>
                  </c:pt>
                  <c:pt idx="2">
                    <c:v>Tarjetas</c:v>
                  </c:pt>
                  <c:pt idx="3">
                    <c:v>Personales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1.6</c:v>
                </c:pt>
                <c:pt idx="1">
                  <c:v>7.7</c:v>
                </c:pt>
                <c:pt idx="2">
                  <c:v>13.1</c:v>
                </c:pt>
                <c:pt idx="3">
                  <c:v>15.9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D2B4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DCE3EA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56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b"/>
        <c:majorGridlines>
          <c:spPr>
            <a:ln w="9525" cap="flat">
              <a:solidFill>
                <a:srgbClr val="DCE3EA"/>
              </a:solidFill>
              <a:prstDash val="solid"/>
              <a:round/>
            </a:ln>
          </c:spPr>
        </c:majorGridlines>
        <c:numFmt formatCode="0&quot;%&quot;" sourceLinked="0"/>
        <c:majorTickMark val="none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56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Presentación de Fundar sobre el sobreendeudamiento de las familias: qué pasó, cuánto pesa y qué se puede hacer. Presentada en la XIX Jornada Anual de Microfinanzas de RADIM.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resultado final: en 18 meses la mora del crédito a personas (bancos, fintech y billeteras) pasó de 3,6% a 17,5% de lo prestado. Antes era uno de cada 40 pesos; hoy, más de uno de cada seis. Una sola serie (EcoGo y Universidad Austral), así que los tres momentos son comparables. El resto de la presentación muestra cómo se llegó acá.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5,86 millones de personas tenían al menos una deuda en mora en junio de 2026: uno de cada ocho habitantes y el 27% de quienes tienen deudas registradas en la Central de Deudores. Deben $17,8 billones. No hay un dato público de hogares en mora; sí sabemos que 6 de cada 10 hogares usan alguna forma de financiamiento (IPYPP, EPH).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billeteras y fintech concentran 4 de cada 10 personas en mora, pero solo 1 de cada 10 pesos en mora: son muchas deudas chicas. Los bancos privados tienen el 27% de los morosos y el 45% de la plata. La tasa de mora en fintech (31%) duplica la del sistema financiero (15%).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cuatro claves de la crisis, en el orden en que se encadenaron: ingresos, crédito, tasas y mora.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Punto de partida: la caída del ingreso real. Cuando el ingreso no alcanza para los gastos fijos, el crédito se vuelve la vía para cerrar el 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2024 el crédito creció 58% real y los préstamos personales más de 130%. En 2025 siguió creciendo, a menor ritmo: 44% en personales y 17% en tarjetas.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2025 el Gobierno liberó las tasas. Con el acuerdo con el FMI salió el cepo (abril) y con el fin de las LEFIs (julio) el BCRA dejó de fijar una tasa de referencia: la BADLAR nominal pasó de 32% a casi 60% en agosto. La incertidumbre electoral (bonaerenses en septiembre, legislativas en octubre) llevó la tasa real a casi 40%; recién bajó con el swap con EE.UU. y después de las legislativas.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mora de las familias pasó de 2,8% en mayo de 2024 a 12,8% en mayo de 2026. Los préstamos personales (15,9%) y las tarjetas (13,1%) concentran el problema; la mora hipotecaria sigue baja.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propuestas de alcance nacional —precio, transparencia y alivio— y una agenda propia para la provincia en defensa del consumidor financiero.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Preguntas abiertas para el debate con el sector de microfinanzas. No son datos: son los dilemas que deja el diagnóstico (préstamo responsable, cobranza, competencia con billeteras y sostenibilidad de la cartera). El dato de mora en billeteras (31%) es de EcoGo-Universidad Austral, junio de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Mensaje de cierre: las medidas financieras alivian, pero el problema de fondo es el ingreso. El ingreso es la primera clave y la que sostiene todo lo demás.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accent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943600"/>
            <a:ext cx="749808" cy="38404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OJA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Fundar · XIX Jornada Anual de Microfinanzas · RADIM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spc="150" kern="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749808"/>
            <a:ext cx="110944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SO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Fundar · XIX Jornada Anual de Microfinanzas · RADIM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1463040" y="457200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b="1" spc="150" kern="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1463040" y="749808"/>
            <a:ext cx="101800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CDEFF2"/>
                </a:solidFill>
              </a:rPr>
              <a:t>XIX JORNADA ANUAL DE MICROFINANZAS · FINANZAS SOSTENIBLES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08760"/>
            <a:ext cx="7680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La crisis de endeudamiento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de los hogares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24612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Qué pasó, cuánto pesa y qué podemos hacer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886200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F6F7"/>
                </a:solidFill>
              </a:rPr>
              <a:t>Muchas familias deben más de lo que pueden pagar. Cómo llegamos hasta acá, en cuatro pasos, y qué se puede hacer.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9326880" y="1828800"/>
            <a:ext cx="1737360" cy="17373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Shape 5"/>
          <p:cNvSpPr/>
          <p:nvPr/>
        </p:nvSpPr>
        <p:spPr>
          <a:xfrm>
            <a:off x="9604858" y="2106778"/>
            <a:ext cx="1181405" cy="1181405"/>
          </a:xfrm>
          <a:prstGeom prst="ellipse">
            <a:avLst/>
          </a:prstGeom>
          <a:ln w="72390">
            <a:solidFill>
              <a:srgbClr val="B8432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03920" y="3246120"/>
            <a:ext cx="1188720" cy="11887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Shape 7"/>
          <p:cNvSpPr/>
          <p:nvPr/>
        </p:nvSpPr>
        <p:spPr>
          <a:xfrm>
            <a:off x="8694115" y="3436315"/>
            <a:ext cx="808330" cy="808330"/>
          </a:xfrm>
          <a:prstGeom prst="ellipse">
            <a:avLst/>
          </a:prstGeom>
          <a:ln w="49530">
            <a:solidFill>
              <a:srgbClr val="C98A1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058400" y="3429000"/>
            <a:ext cx="1417320" cy="14173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10285171" y="3655771"/>
            <a:ext cx="963778" cy="963778"/>
          </a:xfrm>
          <a:prstGeom prst="ellipse">
            <a:avLst/>
          </a:prstGeom>
          <a:ln w="59055">
            <a:solidFill>
              <a:srgbClr val="C9E7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915400" y="4572000"/>
            <a:ext cx="777240" cy="77724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9039758" y="4696358"/>
            <a:ext cx="528523" cy="528523"/>
          </a:xfrm>
          <a:prstGeom prst="ellipse">
            <a:avLst/>
          </a:prstGeom>
          <a:ln w="32385">
            <a:solidFill>
              <a:srgbClr val="C9E7E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561320" y="114300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63733" y="1245413"/>
            <a:ext cx="435254" cy="435254"/>
          </a:xfrm>
          <a:prstGeom prst="ellipse">
            <a:avLst/>
          </a:prstGeom>
          <a:ln w="26670">
            <a:solidFill>
              <a:srgbClr val="C98A1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921240" y="49834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Shape 15"/>
          <p:cNvSpPr/>
          <p:nvPr/>
        </p:nvSpPr>
        <p:spPr>
          <a:xfrm>
            <a:off x="10009022" y="5071262"/>
            <a:ext cx="373075" cy="373075"/>
          </a:xfrm>
          <a:prstGeom prst="ellipse">
            <a:avLst/>
          </a:prstGeom>
          <a:ln w="22860">
            <a:solidFill>
              <a:srgbClr val="B8432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899855" y="6035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E6F6F7"/>
                </a:solidFill>
              </a:rPr>
              <a:t>Fundar · RADIM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3"/>
                </a:solidFill>
              </a:rPr>
              <a:t>LA FOTO DE HOY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4980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Hoy, más de 1 de cada 6 pesos prestados está en mora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La mora es la parte de lo prestado que no se paga hace más de 90 días. Cada fila es toda la deuda de las personas con bancos, fintech y billeteras, partida en 40 monedas iguales.</a:t>
            </a:r>
            <a:endParaRPr lang="en-US" sz="1600" dirty="0"/>
          </a:p>
        </p:txBody>
      </p:sp>
      <p:sp>
        <p:nvSpPr>
          <p:cNvPr id="5" name="Panel filas"/>
          <p:cNvSpPr/>
          <p:nvPr/>
        </p:nvSpPr>
        <p:spPr>
          <a:xfrm>
            <a:off x="548640" y="2286000"/>
            <a:ext cx="11094415" cy="3611880"/>
          </a:xfrm>
          <a:prstGeom prst="roundRect">
            <a:avLst>
              <a:gd name="adj" fmla="val 405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46888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Diciembre de 2024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   3,6% en mora: 1 moneda de cada 40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965446" y="2852928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" name="Shape 6"/>
          <p:cNvSpPr/>
          <p:nvPr/>
        </p:nvSpPr>
        <p:spPr>
          <a:xfrm>
            <a:off x="1018116" y="2905597"/>
            <a:ext cx="223845" cy="223845"/>
          </a:xfrm>
          <a:prstGeom prst="ellipse">
            <a:avLst/>
          </a:prstGeom>
          <a:ln w="13716">
            <a:solidFill>
              <a:srgbClr val="B8432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88163" y="285292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0" name="Shape 8"/>
          <p:cNvSpPr/>
          <p:nvPr/>
        </p:nvSpPr>
        <p:spPr>
          <a:xfrm>
            <a:off x="1540833" y="290559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010880" y="285292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2" name="Shape 10"/>
          <p:cNvSpPr/>
          <p:nvPr/>
        </p:nvSpPr>
        <p:spPr>
          <a:xfrm>
            <a:off x="2063549" y="290559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33597" y="285292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4" name="Shape 12"/>
          <p:cNvSpPr/>
          <p:nvPr/>
        </p:nvSpPr>
        <p:spPr>
          <a:xfrm>
            <a:off x="2586266" y="290559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056313" y="285292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6" name="Shape 14"/>
          <p:cNvSpPr/>
          <p:nvPr/>
        </p:nvSpPr>
        <p:spPr>
          <a:xfrm>
            <a:off x="3108983" y="290559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579030" y="285292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8" name="Shape 16"/>
          <p:cNvSpPr/>
          <p:nvPr/>
        </p:nvSpPr>
        <p:spPr>
          <a:xfrm>
            <a:off x="3631700" y="290559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01747" y="285292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0" name="Shape 18"/>
          <p:cNvSpPr/>
          <p:nvPr/>
        </p:nvSpPr>
        <p:spPr>
          <a:xfrm>
            <a:off x="4154416" y="290559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624464" y="285292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2" name="Shape 20"/>
          <p:cNvSpPr/>
          <p:nvPr/>
        </p:nvSpPr>
        <p:spPr>
          <a:xfrm>
            <a:off x="4677133" y="290559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147180" y="285292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4" name="Shape 22"/>
          <p:cNvSpPr/>
          <p:nvPr/>
        </p:nvSpPr>
        <p:spPr>
          <a:xfrm>
            <a:off x="5199850" y="290559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669897" y="285292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6" name="Shape 24"/>
          <p:cNvSpPr/>
          <p:nvPr/>
        </p:nvSpPr>
        <p:spPr>
          <a:xfrm>
            <a:off x="5722567" y="290559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192614" y="285292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8" name="Shape 26"/>
          <p:cNvSpPr/>
          <p:nvPr/>
        </p:nvSpPr>
        <p:spPr>
          <a:xfrm>
            <a:off x="6245283" y="290559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715331" y="285292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30" name="Shape 28"/>
          <p:cNvSpPr/>
          <p:nvPr/>
        </p:nvSpPr>
        <p:spPr>
          <a:xfrm>
            <a:off x="6768000" y="290559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238048" y="285292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32" name="Shape 30"/>
          <p:cNvSpPr/>
          <p:nvPr/>
        </p:nvSpPr>
        <p:spPr>
          <a:xfrm>
            <a:off x="7290717" y="290559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760764" y="285292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34" name="Shape 32"/>
          <p:cNvSpPr/>
          <p:nvPr/>
        </p:nvSpPr>
        <p:spPr>
          <a:xfrm>
            <a:off x="7813434" y="290559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83481" y="285292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36" name="Shape 34"/>
          <p:cNvSpPr/>
          <p:nvPr/>
        </p:nvSpPr>
        <p:spPr>
          <a:xfrm>
            <a:off x="8336150" y="290559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806198" y="285292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38" name="Shape 36"/>
          <p:cNvSpPr/>
          <p:nvPr/>
        </p:nvSpPr>
        <p:spPr>
          <a:xfrm>
            <a:off x="8858867" y="290559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328915" y="285292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40" name="Shape 38"/>
          <p:cNvSpPr/>
          <p:nvPr/>
        </p:nvSpPr>
        <p:spPr>
          <a:xfrm>
            <a:off x="9381584" y="290559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851631" y="285292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42" name="Shape 40"/>
          <p:cNvSpPr/>
          <p:nvPr/>
        </p:nvSpPr>
        <p:spPr>
          <a:xfrm>
            <a:off x="9904301" y="290559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0374348" y="285292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44" name="Shape 42"/>
          <p:cNvSpPr/>
          <p:nvPr/>
        </p:nvSpPr>
        <p:spPr>
          <a:xfrm>
            <a:off x="10427018" y="290559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0897065" y="285292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46" name="Shape 44"/>
          <p:cNvSpPr/>
          <p:nvPr/>
        </p:nvSpPr>
        <p:spPr>
          <a:xfrm>
            <a:off x="10949734" y="290559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965446" y="321868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48" name="Shape 46"/>
          <p:cNvSpPr/>
          <p:nvPr/>
        </p:nvSpPr>
        <p:spPr>
          <a:xfrm>
            <a:off x="1018116" y="327135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488163" y="321868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50" name="Shape 48"/>
          <p:cNvSpPr/>
          <p:nvPr/>
        </p:nvSpPr>
        <p:spPr>
          <a:xfrm>
            <a:off x="1540833" y="327135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010880" y="321868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52" name="Shape 50"/>
          <p:cNvSpPr/>
          <p:nvPr/>
        </p:nvSpPr>
        <p:spPr>
          <a:xfrm>
            <a:off x="2063549" y="327135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2533597" y="321868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54" name="Shape 52"/>
          <p:cNvSpPr/>
          <p:nvPr/>
        </p:nvSpPr>
        <p:spPr>
          <a:xfrm>
            <a:off x="2586266" y="327135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056313" y="321868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56" name="Shape 54"/>
          <p:cNvSpPr/>
          <p:nvPr/>
        </p:nvSpPr>
        <p:spPr>
          <a:xfrm>
            <a:off x="3108983" y="327135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579030" y="321868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58" name="Shape 56"/>
          <p:cNvSpPr/>
          <p:nvPr/>
        </p:nvSpPr>
        <p:spPr>
          <a:xfrm>
            <a:off x="3631700" y="327135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101747" y="321868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60" name="Shape 58"/>
          <p:cNvSpPr/>
          <p:nvPr/>
        </p:nvSpPr>
        <p:spPr>
          <a:xfrm>
            <a:off x="4154416" y="327135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624464" y="321868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62" name="Shape 60"/>
          <p:cNvSpPr/>
          <p:nvPr/>
        </p:nvSpPr>
        <p:spPr>
          <a:xfrm>
            <a:off x="4677133" y="327135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147180" y="321868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64" name="Shape 62"/>
          <p:cNvSpPr/>
          <p:nvPr/>
        </p:nvSpPr>
        <p:spPr>
          <a:xfrm>
            <a:off x="5199850" y="327135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669897" y="321868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66" name="Shape 64"/>
          <p:cNvSpPr/>
          <p:nvPr/>
        </p:nvSpPr>
        <p:spPr>
          <a:xfrm>
            <a:off x="5722567" y="327135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192614" y="321868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68" name="Shape 66"/>
          <p:cNvSpPr/>
          <p:nvPr/>
        </p:nvSpPr>
        <p:spPr>
          <a:xfrm>
            <a:off x="6245283" y="327135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6715331" y="321868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70" name="Shape 68"/>
          <p:cNvSpPr/>
          <p:nvPr/>
        </p:nvSpPr>
        <p:spPr>
          <a:xfrm>
            <a:off x="6768000" y="327135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238048" y="321868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72" name="Shape 70"/>
          <p:cNvSpPr/>
          <p:nvPr/>
        </p:nvSpPr>
        <p:spPr>
          <a:xfrm>
            <a:off x="7290717" y="327135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7760764" y="321868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74" name="Shape 72"/>
          <p:cNvSpPr/>
          <p:nvPr/>
        </p:nvSpPr>
        <p:spPr>
          <a:xfrm>
            <a:off x="7813434" y="327135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8283481" y="321868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76" name="Shape 74"/>
          <p:cNvSpPr/>
          <p:nvPr/>
        </p:nvSpPr>
        <p:spPr>
          <a:xfrm>
            <a:off x="8336150" y="327135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8806198" y="321868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78" name="Shape 76"/>
          <p:cNvSpPr/>
          <p:nvPr/>
        </p:nvSpPr>
        <p:spPr>
          <a:xfrm>
            <a:off x="8858867" y="327135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9328915" y="321868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80" name="Shape 78"/>
          <p:cNvSpPr/>
          <p:nvPr/>
        </p:nvSpPr>
        <p:spPr>
          <a:xfrm>
            <a:off x="9381584" y="327135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9851631" y="321868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82" name="Shape 80"/>
          <p:cNvSpPr/>
          <p:nvPr/>
        </p:nvSpPr>
        <p:spPr>
          <a:xfrm>
            <a:off x="9904301" y="327135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10374348" y="321868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84" name="Shape 82"/>
          <p:cNvSpPr/>
          <p:nvPr/>
        </p:nvSpPr>
        <p:spPr>
          <a:xfrm>
            <a:off x="10427018" y="327135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10897065" y="321868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86" name="Shape 84"/>
          <p:cNvSpPr/>
          <p:nvPr/>
        </p:nvSpPr>
        <p:spPr>
          <a:xfrm>
            <a:off x="10949734" y="327135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868680" y="361188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Diciembre de 2025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   12,6% en mora: 5 de cada 40</a:t>
            </a:r>
            <a:endParaRPr lang="en-US" sz="1500" dirty="0"/>
          </a:p>
        </p:txBody>
      </p:sp>
      <p:sp>
        <p:nvSpPr>
          <p:cNvPr id="88" name="Shape 86"/>
          <p:cNvSpPr/>
          <p:nvPr/>
        </p:nvSpPr>
        <p:spPr>
          <a:xfrm>
            <a:off x="965446" y="3995928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89" name="Shape 87"/>
          <p:cNvSpPr/>
          <p:nvPr/>
        </p:nvSpPr>
        <p:spPr>
          <a:xfrm>
            <a:off x="1018116" y="4048597"/>
            <a:ext cx="223845" cy="223845"/>
          </a:xfrm>
          <a:prstGeom prst="ellipse">
            <a:avLst/>
          </a:prstGeom>
          <a:ln w="13716">
            <a:solidFill>
              <a:srgbClr val="B8432F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1488163" y="3995928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1" name="Shape 89"/>
          <p:cNvSpPr/>
          <p:nvPr/>
        </p:nvSpPr>
        <p:spPr>
          <a:xfrm>
            <a:off x="1540833" y="4048597"/>
            <a:ext cx="223845" cy="223845"/>
          </a:xfrm>
          <a:prstGeom prst="ellipse">
            <a:avLst/>
          </a:prstGeom>
          <a:ln w="13716">
            <a:solidFill>
              <a:srgbClr val="B8432F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2010880" y="3995928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3" name="Shape 91"/>
          <p:cNvSpPr/>
          <p:nvPr/>
        </p:nvSpPr>
        <p:spPr>
          <a:xfrm>
            <a:off x="2063549" y="4048597"/>
            <a:ext cx="223845" cy="223845"/>
          </a:xfrm>
          <a:prstGeom prst="ellipse">
            <a:avLst/>
          </a:prstGeom>
          <a:ln w="13716">
            <a:solidFill>
              <a:srgbClr val="B8432F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2533597" y="3995928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5" name="Shape 93"/>
          <p:cNvSpPr/>
          <p:nvPr/>
        </p:nvSpPr>
        <p:spPr>
          <a:xfrm>
            <a:off x="2586266" y="4048597"/>
            <a:ext cx="223845" cy="223845"/>
          </a:xfrm>
          <a:prstGeom prst="ellipse">
            <a:avLst/>
          </a:prstGeom>
          <a:ln w="13716">
            <a:solidFill>
              <a:srgbClr val="B8432F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3056313" y="3995928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7" name="Shape 95"/>
          <p:cNvSpPr/>
          <p:nvPr/>
        </p:nvSpPr>
        <p:spPr>
          <a:xfrm>
            <a:off x="3108983" y="4048597"/>
            <a:ext cx="223845" cy="223845"/>
          </a:xfrm>
          <a:prstGeom prst="ellipse">
            <a:avLst/>
          </a:prstGeom>
          <a:ln w="13716">
            <a:solidFill>
              <a:srgbClr val="B8432F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3579030" y="399592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99" name="Shape 97"/>
          <p:cNvSpPr/>
          <p:nvPr/>
        </p:nvSpPr>
        <p:spPr>
          <a:xfrm>
            <a:off x="3631700" y="404859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4101747" y="399592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01" name="Shape 99"/>
          <p:cNvSpPr/>
          <p:nvPr/>
        </p:nvSpPr>
        <p:spPr>
          <a:xfrm>
            <a:off x="4154416" y="404859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4624464" y="399592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03" name="Shape 101"/>
          <p:cNvSpPr/>
          <p:nvPr/>
        </p:nvSpPr>
        <p:spPr>
          <a:xfrm>
            <a:off x="4677133" y="404859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5147180" y="399592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05" name="Shape 103"/>
          <p:cNvSpPr/>
          <p:nvPr/>
        </p:nvSpPr>
        <p:spPr>
          <a:xfrm>
            <a:off x="5199850" y="404859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5669897" y="399592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07" name="Shape 105"/>
          <p:cNvSpPr/>
          <p:nvPr/>
        </p:nvSpPr>
        <p:spPr>
          <a:xfrm>
            <a:off x="5722567" y="404859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6192614" y="399592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09" name="Shape 107"/>
          <p:cNvSpPr/>
          <p:nvPr/>
        </p:nvSpPr>
        <p:spPr>
          <a:xfrm>
            <a:off x="6245283" y="404859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6715331" y="399592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11" name="Shape 109"/>
          <p:cNvSpPr/>
          <p:nvPr/>
        </p:nvSpPr>
        <p:spPr>
          <a:xfrm>
            <a:off x="6768000" y="404859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7238048" y="399592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13" name="Shape 111"/>
          <p:cNvSpPr/>
          <p:nvPr/>
        </p:nvSpPr>
        <p:spPr>
          <a:xfrm>
            <a:off x="7290717" y="404859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7760764" y="399592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15" name="Shape 113"/>
          <p:cNvSpPr/>
          <p:nvPr/>
        </p:nvSpPr>
        <p:spPr>
          <a:xfrm>
            <a:off x="7813434" y="404859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8283481" y="399592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17" name="Shape 115"/>
          <p:cNvSpPr/>
          <p:nvPr/>
        </p:nvSpPr>
        <p:spPr>
          <a:xfrm>
            <a:off x="8336150" y="404859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8806198" y="399592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19" name="Shape 117"/>
          <p:cNvSpPr/>
          <p:nvPr/>
        </p:nvSpPr>
        <p:spPr>
          <a:xfrm>
            <a:off x="8858867" y="404859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9328915" y="399592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21" name="Shape 119"/>
          <p:cNvSpPr/>
          <p:nvPr/>
        </p:nvSpPr>
        <p:spPr>
          <a:xfrm>
            <a:off x="9381584" y="404859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9851631" y="399592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23" name="Shape 121"/>
          <p:cNvSpPr/>
          <p:nvPr/>
        </p:nvSpPr>
        <p:spPr>
          <a:xfrm>
            <a:off x="9904301" y="404859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10374348" y="399592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25" name="Shape 123"/>
          <p:cNvSpPr/>
          <p:nvPr/>
        </p:nvSpPr>
        <p:spPr>
          <a:xfrm>
            <a:off x="10427018" y="404859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10897065" y="399592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27" name="Shape 125"/>
          <p:cNvSpPr/>
          <p:nvPr/>
        </p:nvSpPr>
        <p:spPr>
          <a:xfrm>
            <a:off x="10949734" y="404859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965446" y="436168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29" name="Shape 127"/>
          <p:cNvSpPr/>
          <p:nvPr/>
        </p:nvSpPr>
        <p:spPr>
          <a:xfrm>
            <a:off x="1018116" y="441435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1488163" y="436168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31" name="Shape 129"/>
          <p:cNvSpPr/>
          <p:nvPr/>
        </p:nvSpPr>
        <p:spPr>
          <a:xfrm>
            <a:off x="1540833" y="441435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2010880" y="436168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33" name="Shape 131"/>
          <p:cNvSpPr/>
          <p:nvPr/>
        </p:nvSpPr>
        <p:spPr>
          <a:xfrm>
            <a:off x="2063549" y="441435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2533597" y="436168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35" name="Shape 133"/>
          <p:cNvSpPr/>
          <p:nvPr/>
        </p:nvSpPr>
        <p:spPr>
          <a:xfrm>
            <a:off x="2586266" y="441435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3056313" y="436168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37" name="Shape 135"/>
          <p:cNvSpPr/>
          <p:nvPr/>
        </p:nvSpPr>
        <p:spPr>
          <a:xfrm>
            <a:off x="3108983" y="441435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3579030" y="436168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39" name="Shape 137"/>
          <p:cNvSpPr/>
          <p:nvPr/>
        </p:nvSpPr>
        <p:spPr>
          <a:xfrm>
            <a:off x="3631700" y="441435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4101747" y="436168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41" name="Shape 139"/>
          <p:cNvSpPr/>
          <p:nvPr/>
        </p:nvSpPr>
        <p:spPr>
          <a:xfrm>
            <a:off x="4154416" y="441435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4624464" y="436168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43" name="Shape 141"/>
          <p:cNvSpPr/>
          <p:nvPr/>
        </p:nvSpPr>
        <p:spPr>
          <a:xfrm>
            <a:off x="4677133" y="441435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5147180" y="436168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199850" y="441435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5669897" y="436168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722567" y="441435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6192614" y="436168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49" name="Shape 147"/>
          <p:cNvSpPr/>
          <p:nvPr/>
        </p:nvSpPr>
        <p:spPr>
          <a:xfrm>
            <a:off x="6245283" y="441435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6715331" y="436168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51" name="Shape 149"/>
          <p:cNvSpPr/>
          <p:nvPr/>
        </p:nvSpPr>
        <p:spPr>
          <a:xfrm>
            <a:off x="6768000" y="441435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7238048" y="436168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53" name="Shape 151"/>
          <p:cNvSpPr/>
          <p:nvPr/>
        </p:nvSpPr>
        <p:spPr>
          <a:xfrm>
            <a:off x="7290717" y="441435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7760764" y="436168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55" name="Shape 153"/>
          <p:cNvSpPr/>
          <p:nvPr/>
        </p:nvSpPr>
        <p:spPr>
          <a:xfrm>
            <a:off x="7813434" y="441435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8283481" y="436168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57" name="Shape 155"/>
          <p:cNvSpPr/>
          <p:nvPr/>
        </p:nvSpPr>
        <p:spPr>
          <a:xfrm>
            <a:off x="8336150" y="441435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806198" y="436168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59" name="Shape 157"/>
          <p:cNvSpPr/>
          <p:nvPr/>
        </p:nvSpPr>
        <p:spPr>
          <a:xfrm>
            <a:off x="8858867" y="441435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9328915" y="436168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61" name="Shape 159"/>
          <p:cNvSpPr/>
          <p:nvPr/>
        </p:nvSpPr>
        <p:spPr>
          <a:xfrm>
            <a:off x="9381584" y="441435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9851631" y="436168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63" name="Shape 161"/>
          <p:cNvSpPr/>
          <p:nvPr/>
        </p:nvSpPr>
        <p:spPr>
          <a:xfrm>
            <a:off x="9904301" y="441435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10374348" y="436168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65" name="Shape 163"/>
          <p:cNvSpPr/>
          <p:nvPr/>
        </p:nvSpPr>
        <p:spPr>
          <a:xfrm>
            <a:off x="10427018" y="441435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10897065" y="436168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67" name="Shape 165"/>
          <p:cNvSpPr/>
          <p:nvPr/>
        </p:nvSpPr>
        <p:spPr>
          <a:xfrm>
            <a:off x="10949734" y="441435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168" name="Text 166"/>
          <p:cNvSpPr txBox="1"/>
          <p:nvPr/>
        </p:nvSpPr>
        <p:spPr>
          <a:xfrm>
            <a:off x="868680" y="475488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Junio de 2026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   17,5% en mora: 7 de cada 40, más de 1 de cada 6</a:t>
            </a:r>
            <a:endParaRPr lang="en-US" sz="1500" dirty="0"/>
          </a:p>
        </p:txBody>
      </p:sp>
      <p:sp>
        <p:nvSpPr>
          <p:cNvPr id="169" name="Shape 167"/>
          <p:cNvSpPr/>
          <p:nvPr/>
        </p:nvSpPr>
        <p:spPr>
          <a:xfrm>
            <a:off x="965446" y="5138928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0" name="Shape 168"/>
          <p:cNvSpPr/>
          <p:nvPr/>
        </p:nvSpPr>
        <p:spPr>
          <a:xfrm>
            <a:off x="1018116" y="5191597"/>
            <a:ext cx="223845" cy="223845"/>
          </a:xfrm>
          <a:prstGeom prst="ellipse">
            <a:avLst/>
          </a:prstGeom>
          <a:ln w="13716">
            <a:solidFill>
              <a:srgbClr val="B8432F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1488163" y="5138928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2" name="Shape 170"/>
          <p:cNvSpPr/>
          <p:nvPr/>
        </p:nvSpPr>
        <p:spPr>
          <a:xfrm>
            <a:off x="1540833" y="5191597"/>
            <a:ext cx="223845" cy="223845"/>
          </a:xfrm>
          <a:prstGeom prst="ellipse">
            <a:avLst/>
          </a:prstGeom>
          <a:ln w="13716">
            <a:solidFill>
              <a:srgbClr val="B8432F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2010880" y="5138928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4" name="Shape 172"/>
          <p:cNvSpPr/>
          <p:nvPr/>
        </p:nvSpPr>
        <p:spPr>
          <a:xfrm>
            <a:off x="2063549" y="5191597"/>
            <a:ext cx="223845" cy="223845"/>
          </a:xfrm>
          <a:prstGeom prst="ellipse">
            <a:avLst/>
          </a:prstGeom>
          <a:ln w="13716">
            <a:solidFill>
              <a:srgbClr val="B8432F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2533597" y="5138928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6" name="Shape 174"/>
          <p:cNvSpPr/>
          <p:nvPr/>
        </p:nvSpPr>
        <p:spPr>
          <a:xfrm>
            <a:off x="2586266" y="5191597"/>
            <a:ext cx="223845" cy="223845"/>
          </a:xfrm>
          <a:prstGeom prst="ellipse">
            <a:avLst/>
          </a:prstGeom>
          <a:ln w="13716">
            <a:solidFill>
              <a:srgbClr val="B8432F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3056313" y="5138928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8" name="Shape 176"/>
          <p:cNvSpPr/>
          <p:nvPr/>
        </p:nvSpPr>
        <p:spPr>
          <a:xfrm>
            <a:off x="3108983" y="5191597"/>
            <a:ext cx="223845" cy="223845"/>
          </a:xfrm>
          <a:prstGeom prst="ellipse">
            <a:avLst/>
          </a:prstGeom>
          <a:ln w="13716">
            <a:solidFill>
              <a:srgbClr val="B8432F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3579030" y="5138928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0" name="Shape 178"/>
          <p:cNvSpPr/>
          <p:nvPr/>
        </p:nvSpPr>
        <p:spPr>
          <a:xfrm>
            <a:off x="3631700" y="5191597"/>
            <a:ext cx="223845" cy="223845"/>
          </a:xfrm>
          <a:prstGeom prst="ellipse">
            <a:avLst/>
          </a:prstGeom>
          <a:ln w="13716">
            <a:solidFill>
              <a:srgbClr val="B8432F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4101747" y="5138928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2" name="Shape 180"/>
          <p:cNvSpPr/>
          <p:nvPr/>
        </p:nvSpPr>
        <p:spPr>
          <a:xfrm>
            <a:off x="4154416" y="5191597"/>
            <a:ext cx="223845" cy="223845"/>
          </a:xfrm>
          <a:prstGeom prst="ellipse">
            <a:avLst/>
          </a:prstGeom>
          <a:ln w="13716">
            <a:solidFill>
              <a:srgbClr val="B8432F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4624464" y="513892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84" name="Shape 182"/>
          <p:cNvSpPr/>
          <p:nvPr/>
        </p:nvSpPr>
        <p:spPr>
          <a:xfrm>
            <a:off x="4677133" y="519159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147180" y="513892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86" name="Shape 184"/>
          <p:cNvSpPr/>
          <p:nvPr/>
        </p:nvSpPr>
        <p:spPr>
          <a:xfrm>
            <a:off x="5199850" y="519159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669897" y="513892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88" name="Shape 186"/>
          <p:cNvSpPr/>
          <p:nvPr/>
        </p:nvSpPr>
        <p:spPr>
          <a:xfrm>
            <a:off x="5722567" y="519159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6192614" y="513892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90" name="Shape 188"/>
          <p:cNvSpPr/>
          <p:nvPr/>
        </p:nvSpPr>
        <p:spPr>
          <a:xfrm>
            <a:off x="6245283" y="519159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6715331" y="513892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92" name="Shape 190"/>
          <p:cNvSpPr/>
          <p:nvPr/>
        </p:nvSpPr>
        <p:spPr>
          <a:xfrm>
            <a:off x="6768000" y="519159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7238048" y="513892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290717" y="519159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7760764" y="513892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96" name="Shape 194"/>
          <p:cNvSpPr/>
          <p:nvPr/>
        </p:nvSpPr>
        <p:spPr>
          <a:xfrm>
            <a:off x="7813434" y="519159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8283481" y="513892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98" name="Shape 196"/>
          <p:cNvSpPr/>
          <p:nvPr/>
        </p:nvSpPr>
        <p:spPr>
          <a:xfrm>
            <a:off x="8336150" y="519159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8806198" y="513892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00" name="Shape 198"/>
          <p:cNvSpPr/>
          <p:nvPr/>
        </p:nvSpPr>
        <p:spPr>
          <a:xfrm>
            <a:off x="8858867" y="519159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9328915" y="513892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02" name="Shape 200"/>
          <p:cNvSpPr/>
          <p:nvPr/>
        </p:nvSpPr>
        <p:spPr>
          <a:xfrm>
            <a:off x="9381584" y="519159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9851631" y="513892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04" name="Shape 202"/>
          <p:cNvSpPr/>
          <p:nvPr/>
        </p:nvSpPr>
        <p:spPr>
          <a:xfrm>
            <a:off x="9904301" y="519159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10374348" y="513892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06" name="Shape 204"/>
          <p:cNvSpPr/>
          <p:nvPr/>
        </p:nvSpPr>
        <p:spPr>
          <a:xfrm>
            <a:off x="10427018" y="519159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10897065" y="513892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08" name="Shape 206"/>
          <p:cNvSpPr/>
          <p:nvPr/>
        </p:nvSpPr>
        <p:spPr>
          <a:xfrm>
            <a:off x="10949734" y="519159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965446" y="550468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10" name="Shape 208"/>
          <p:cNvSpPr/>
          <p:nvPr/>
        </p:nvSpPr>
        <p:spPr>
          <a:xfrm>
            <a:off x="1018116" y="555735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1488163" y="550468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12" name="Shape 210"/>
          <p:cNvSpPr/>
          <p:nvPr/>
        </p:nvSpPr>
        <p:spPr>
          <a:xfrm>
            <a:off x="1540833" y="555735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2010880" y="550468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14" name="Shape 212"/>
          <p:cNvSpPr/>
          <p:nvPr/>
        </p:nvSpPr>
        <p:spPr>
          <a:xfrm>
            <a:off x="2063549" y="555735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2533597" y="550468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16" name="Shape 214"/>
          <p:cNvSpPr/>
          <p:nvPr/>
        </p:nvSpPr>
        <p:spPr>
          <a:xfrm>
            <a:off x="2586266" y="555735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3056313" y="550468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18" name="Shape 216"/>
          <p:cNvSpPr/>
          <p:nvPr/>
        </p:nvSpPr>
        <p:spPr>
          <a:xfrm>
            <a:off x="3108983" y="555735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3579030" y="550468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20" name="Shape 218"/>
          <p:cNvSpPr/>
          <p:nvPr/>
        </p:nvSpPr>
        <p:spPr>
          <a:xfrm>
            <a:off x="3631700" y="555735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4101747" y="550468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22" name="Shape 220"/>
          <p:cNvSpPr/>
          <p:nvPr/>
        </p:nvSpPr>
        <p:spPr>
          <a:xfrm>
            <a:off x="4154416" y="555735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4624464" y="550468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24" name="Shape 222"/>
          <p:cNvSpPr/>
          <p:nvPr/>
        </p:nvSpPr>
        <p:spPr>
          <a:xfrm>
            <a:off x="4677133" y="555735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5147180" y="550468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26" name="Shape 224"/>
          <p:cNvSpPr/>
          <p:nvPr/>
        </p:nvSpPr>
        <p:spPr>
          <a:xfrm>
            <a:off x="5199850" y="555735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5669897" y="550468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28" name="Shape 226"/>
          <p:cNvSpPr/>
          <p:nvPr/>
        </p:nvSpPr>
        <p:spPr>
          <a:xfrm>
            <a:off x="5722567" y="555735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6192614" y="550468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30" name="Shape 228"/>
          <p:cNvSpPr/>
          <p:nvPr/>
        </p:nvSpPr>
        <p:spPr>
          <a:xfrm>
            <a:off x="6245283" y="555735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6715331" y="550468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32" name="Shape 230"/>
          <p:cNvSpPr/>
          <p:nvPr/>
        </p:nvSpPr>
        <p:spPr>
          <a:xfrm>
            <a:off x="6768000" y="555735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7238048" y="550468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34" name="Shape 232"/>
          <p:cNvSpPr/>
          <p:nvPr/>
        </p:nvSpPr>
        <p:spPr>
          <a:xfrm>
            <a:off x="7290717" y="555735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7760764" y="550468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36" name="Shape 234"/>
          <p:cNvSpPr/>
          <p:nvPr/>
        </p:nvSpPr>
        <p:spPr>
          <a:xfrm>
            <a:off x="7813434" y="555735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237" name="Shape 235"/>
          <p:cNvSpPr/>
          <p:nvPr/>
        </p:nvSpPr>
        <p:spPr>
          <a:xfrm>
            <a:off x="8283481" y="550468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38" name="Shape 236"/>
          <p:cNvSpPr/>
          <p:nvPr/>
        </p:nvSpPr>
        <p:spPr>
          <a:xfrm>
            <a:off x="8336150" y="555735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8806198" y="550468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40" name="Shape 238"/>
          <p:cNvSpPr/>
          <p:nvPr/>
        </p:nvSpPr>
        <p:spPr>
          <a:xfrm>
            <a:off x="8858867" y="555735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241" name="Shape 239"/>
          <p:cNvSpPr/>
          <p:nvPr/>
        </p:nvSpPr>
        <p:spPr>
          <a:xfrm>
            <a:off x="9328915" y="550468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42" name="Shape 240"/>
          <p:cNvSpPr/>
          <p:nvPr/>
        </p:nvSpPr>
        <p:spPr>
          <a:xfrm>
            <a:off x="9381584" y="555735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243" name="Shape 241"/>
          <p:cNvSpPr/>
          <p:nvPr/>
        </p:nvSpPr>
        <p:spPr>
          <a:xfrm>
            <a:off x="9851631" y="550468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44" name="Shape 242"/>
          <p:cNvSpPr/>
          <p:nvPr/>
        </p:nvSpPr>
        <p:spPr>
          <a:xfrm>
            <a:off x="9904301" y="555735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245" name="Shape 243"/>
          <p:cNvSpPr/>
          <p:nvPr/>
        </p:nvSpPr>
        <p:spPr>
          <a:xfrm>
            <a:off x="10374348" y="550468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46" name="Shape 244"/>
          <p:cNvSpPr/>
          <p:nvPr/>
        </p:nvSpPr>
        <p:spPr>
          <a:xfrm>
            <a:off x="10427018" y="555735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10897065" y="5504688"/>
            <a:ext cx="329184" cy="32918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48" name="Shape 246"/>
          <p:cNvSpPr/>
          <p:nvPr/>
        </p:nvSpPr>
        <p:spPr>
          <a:xfrm>
            <a:off x="10949734" y="5557357"/>
            <a:ext cx="223845" cy="223845"/>
          </a:xfrm>
          <a:prstGeom prst="ellipse">
            <a:avLst/>
          </a:prstGeom>
          <a:ln w="13716">
            <a:solidFill>
              <a:srgbClr val="7F8C9C"/>
            </a:solidFill>
            <a:prstDash val="solid"/>
          </a:ln>
        </p:spPr>
      </p:sp>
      <p:sp>
        <p:nvSpPr>
          <p:cNvPr id="249" name="Fuente"/>
          <p:cNvSpPr txBox="1"/>
          <p:nvPr/>
        </p:nvSpPr>
        <p:spPr>
          <a:xfrm>
            <a:off x="548640" y="603504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Fuente: EcoGo y Universidad Austral en base a la Central de Deudores del BCRA (crédito a personas: bancos, fintech y billeteras). Redondeado: 3,6% ≈ 1/40; 12,6% ≈ 5/40; 17,5% = 7/40.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3"/>
                </a:solidFill>
              </a:rPr>
              <a:t>EL MAPA DE LA MORA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4980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Casi 6 millones de personas tienen deudas en mora</a:t>
            </a:r>
            <a:endParaRPr lang="en-US" sz="3200" dirty="0"/>
          </a:p>
        </p:txBody>
      </p:sp>
      <p:pic>
        <p:nvPicPr>
          <p:cNvPr id="4" name="Image 0" descr="Mapa de Argentina por provincias con 460 puntos ubicados según la población de cada provincia: 59 rojos (en mora), 158 grises (con deudas al día) y 243 claros (sin deudas registradas). CABA aparece ampliada al costad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600200"/>
            <a:ext cx="2687320" cy="4206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647440" y="1737360"/>
            <a:ext cx="237744" cy="23774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3994912" y="1664208"/>
            <a:ext cx="22537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En mora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5,9 millones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312645" y="1737360"/>
            <a:ext cx="237744" cy="237744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660117" y="1664208"/>
            <a:ext cx="22537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Con deudas al día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15,8 millones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8977850" y="1737360"/>
            <a:ext cx="237744" cy="237744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9325322" y="1664208"/>
            <a:ext cx="22537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Sin deudas registradas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24,4 millones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3647440" y="2240280"/>
            <a:ext cx="79956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Cada punto ≈ 100.000 habitantes, cerca de sus ciudades; CABA, ampliada. Donde hay menos de 50.000 morosos (La Pampa, Santa Cruz y Tierra del Fuego), el color de mora ocupa solo una parte del punto.</a:t>
            </a:r>
            <a:endParaRPr lang="en-US" sz="1200" dirty="0"/>
          </a:p>
        </p:txBody>
      </p:sp>
      <p:sp>
        <p:nvSpPr>
          <p:cNvPr id="12" name="Dato Personas"/>
          <p:cNvSpPr/>
          <p:nvPr/>
        </p:nvSpPr>
        <p:spPr>
          <a:xfrm>
            <a:off x="3647440" y="2788920"/>
            <a:ext cx="2482325" cy="2240280"/>
          </a:xfrm>
          <a:prstGeom prst="roundRect">
            <a:avLst>
              <a:gd name="adj" fmla="val 653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876040" y="2990088"/>
            <a:ext cx="202512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5"/>
                </a:solidFill>
              </a:rPr>
              <a:t>PERSONAS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3876040" y="3291840"/>
            <a:ext cx="20251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1 de cada 8</a:t>
            </a:r>
            <a:endParaRPr lang="en-US" sz="2600" dirty="0"/>
          </a:p>
        </p:txBody>
      </p:sp>
      <p:sp>
        <p:nvSpPr>
          <p:cNvPr id="15" name="Text 12"/>
          <p:cNvSpPr txBox="1"/>
          <p:nvPr/>
        </p:nvSpPr>
        <p:spPr>
          <a:xfrm>
            <a:off x="3876040" y="3886200"/>
            <a:ext cx="202512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habitantes tiene deudas en mora. Entre quienes deben algo, son el 27%.</a:t>
            </a:r>
            <a:endParaRPr lang="en-US" sz="1300" dirty="0"/>
          </a:p>
        </p:txBody>
      </p:sp>
      <p:sp>
        <p:nvSpPr>
          <p:cNvPr id="16" name="Dato Pesos"/>
          <p:cNvSpPr/>
          <p:nvPr/>
        </p:nvSpPr>
        <p:spPr>
          <a:xfrm>
            <a:off x="6404085" y="2788920"/>
            <a:ext cx="2482325" cy="2240280"/>
          </a:xfrm>
          <a:prstGeom prst="roundRect">
            <a:avLst>
              <a:gd name="adj" fmla="val 653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632685" y="2990088"/>
            <a:ext cx="202512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5"/>
                </a:solidFill>
              </a:rPr>
              <a:t>PESOS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632685" y="3291840"/>
            <a:ext cx="20251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$17,8</a:t>
            </a:r>
            <a:endParaRPr lang="en-US" sz="2600" dirty="0"/>
          </a:p>
        </p:txBody>
      </p:sp>
      <p:sp>
        <p:nvSpPr>
          <p:cNvPr id="19" name="Text 16"/>
          <p:cNvSpPr txBox="1"/>
          <p:nvPr/>
        </p:nvSpPr>
        <p:spPr>
          <a:xfrm>
            <a:off x="6632685" y="3886200"/>
            <a:ext cx="202512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billones de pesos están en mora, sumando todas las deudas atrasadas de las personas.</a:t>
            </a:r>
            <a:endParaRPr lang="en-US" sz="1300" dirty="0"/>
          </a:p>
        </p:txBody>
      </p:sp>
      <p:sp>
        <p:nvSpPr>
          <p:cNvPr id="20" name="Dato Familias"/>
          <p:cNvSpPr/>
          <p:nvPr/>
        </p:nvSpPr>
        <p:spPr>
          <a:xfrm>
            <a:off x="9160730" y="2788920"/>
            <a:ext cx="2482325" cy="2240280"/>
          </a:xfrm>
          <a:prstGeom prst="roundRect">
            <a:avLst>
              <a:gd name="adj" fmla="val 653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389330" y="2990088"/>
            <a:ext cx="202512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chemeClr val="accent5"/>
                </a:solidFill>
              </a:rPr>
              <a:t>FAMILIAS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9389330" y="3291840"/>
            <a:ext cx="20251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6 de cada 10</a:t>
            </a:r>
            <a:endParaRPr lang="en-US" sz="2600" dirty="0"/>
          </a:p>
        </p:txBody>
      </p:sp>
      <p:sp>
        <p:nvSpPr>
          <p:cNvPr id="23" name="Text 20"/>
          <p:cNvSpPr txBox="1"/>
          <p:nvPr/>
        </p:nvSpPr>
        <p:spPr>
          <a:xfrm>
            <a:off x="9389330" y="3886200"/>
            <a:ext cx="202512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hogares usan alguna forma de financiamiento. No hay un dato público de hogares en mora.</a:t>
            </a:r>
            <a:endParaRPr lang="en-US" sz="1300" dirty="0"/>
          </a:p>
        </p:txBody>
      </p:sp>
      <p:sp>
        <p:nvSpPr>
          <p:cNvPr id="24" name="Ejemplo"/>
          <p:cNvSpPr/>
          <p:nvPr/>
        </p:nvSpPr>
        <p:spPr>
          <a:xfrm>
            <a:off x="3647440" y="5212080"/>
            <a:ext cx="7995615" cy="68580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830320" y="5321808"/>
            <a:ext cx="7629855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Deudas chicas: 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casi 4 de cada 10 morosos deben menos de un salario mínimo.</a:t>
            </a:r>
            <a:endParaRPr lang="en-US" sz="1400" dirty="0"/>
          </a:p>
        </p:txBody>
      </p:sp>
      <p:sp>
        <p:nvSpPr>
          <p:cNvPr id="26" name="Fuente"/>
          <p:cNvSpPr txBox="1"/>
          <p:nvPr/>
        </p:nvSpPr>
        <p:spPr>
          <a:xfrm>
            <a:off x="548640" y="603504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Fuentes: Mati Fernández y CEPA sobre la Central de Deudores del BCRA (2026); INDEC, Censo 2022; IPYPP; UCA. Morosos por provincia: CEPA para las cinco provincias con datos publicados; el resto, estimado por población y tasa de mora (EcoGo-Austral).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3"/>
                </a:solidFill>
              </a:rPr>
              <a:t>DÓNDE ESTÁ LA MORA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4980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Billeteras: más morosos. Bancos: más plata en mora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18488"/>
            <a:ext cx="256032" cy="25603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5840" y="1591056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Billeteras y fintech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703320" y="1618488"/>
            <a:ext cx="256032" cy="256032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114800" y="1591056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Bancos privados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12280" y="1618488"/>
            <a:ext cx="256032" cy="256032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0" y="1591056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Bancos públicos y otros</a:t>
            </a:r>
            <a:endParaRPr lang="en-US" sz="1400" dirty="0"/>
          </a:p>
        </p:txBody>
      </p:sp>
      <p:sp>
        <p:nvSpPr>
          <p:cNvPr id="10" name="Panel barras"/>
          <p:cNvSpPr/>
          <p:nvPr/>
        </p:nvSpPr>
        <p:spPr>
          <a:xfrm>
            <a:off x="548640" y="2057400"/>
            <a:ext cx="11094415" cy="2743200"/>
          </a:xfrm>
          <a:prstGeom prst="roundRect">
            <a:avLst>
              <a:gd name="adj" fmla="val 5333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2240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De cada 100 personas en mora…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68680" y="2651760"/>
            <a:ext cx="4335957" cy="56692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68680" y="2651760"/>
            <a:ext cx="4335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42%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259501" y="2651760"/>
            <a:ext cx="2767807" cy="56692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259501" y="2651760"/>
            <a:ext cx="276780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27%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8082171" y="2651760"/>
            <a:ext cx="3185980" cy="566928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082171" y="2651760"/>
            <a:ext cx="31859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31%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68680" y="3520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De cada 100 pesos en mora…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868680" y="3931920"/>
            <a:ext cx="1095113" cy="56692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68680" y="3931920"/>
            <a:ext cx="10951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11%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2018657" y="3931920"/>
            <a:ext cx="4649587" cy="56692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2018657" y="3931920"/>
            <a:ext cx="464958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45%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6723108" y="3931920"/>
            <a:ext cx="4545043" cy="566928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723108" y="3931920"/>
            <a:ext cx="45450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44%</a:t>
            </a:r>
            <a:endParaRPr lang="en-US" sz="1800" dirty="0"/>
          </a:p>
        </p:txBody>
      </p:sp>
      <p:sp>
        <p:nvSpPr>
          <p:cNvPr id="25" name="Ejemplo"/>
          <p:cNvSpPr/>
          <p:nvPr/>
        </p:nvSpPr>
        <p:spPr>
          <a:xfrm>
            <a:off x="548640" y="4956048"/>
            <a:ext cx="5410048" cy="91440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31520" y="5065776"/>
            <a:ext cx="504428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Tasa de mora: 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31% de lo prestado por billeteras y fintech, contra 15% en bancos y financieras.</a:t>
            </a:r>
            <a:endParaRPr lang="en-US" sz="1400" dirty="0"/>
          </a:p>
        </p:txBody>
      </p:sp>
      <p:sp>
        <p:nvSpPr>
          <p:cNvPr id="27" name="Ejemplo"/>
          <p:cNvSpPr/>
          <p:nvPr/>
        </p:nvSpPr>
        <p:spPr>
          <a:xfrm>
            <a:off x="6233008" y="4956048"/>
            <a:ext cx="5410048" cy="91440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15888" y="5065776"/>
            <a:ext cx="504428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Deuda típica en mora: 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$116.000 en Mercado Pago, contra $1.458.000 en bancos privados.</a:t>
            </a:r>
            <a:endParaRPr lang="en-US" sz="1400" dirty="0"/>
          </a:p>
        </p:txBody>
      </p:sp>
      <p:sp>
        <p:nvSpPr>
          <p:cNvPr id="29" name="Fuente"/>
          <p:cNvSpPr txBox="1"/>
          <p:nvPr/>
        </p:nvSpPr>
        <p:spPr>
          <a:xfrm>
            <a:off x="548640" y="603504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Fuentes: Mati Fernández (Central de Deudores, BCRA) y EcoGo-Austral, junio de 2026. Billeteras y fintech: Mercado Pago y prestamistas no bancarios. Deuda típica = mediana.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3"/>
                </a:solidFill>
              </a:rPr>
              <a:t>EN CUATRO NÚMEROS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4980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Cuatro claves, una detrás de otra</a:t>
            </a:r>
            <a:endParaRPr lang="en-US" sz="3200" dirty="0"/>
          </a:p>
        </p:txBody>
      </p:sp>
      <p:sp>
        <p:nvSpPr>
          <p:cNvPr id="4" name="Clave Ingresos"/>
          <p:cNvSpPr/>
          <p:nvPr/>
        </p:nvSpPr>
        <p:spPr>
          <a:xfrm>
            <a:off x="548640" y="1783080"/>
            <a:ext cx="2567864" cy="4023360"/>
          </a:xfrm>
          <a:prstGeom prst="roundRect">
            <a:avLst>
              <a:gd name="adj" fmla="val 5697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86968" y="2075688"/>
            <a:ext cx="274320" cy="2743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2029968"/>
            <a:ext cx="1653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Ingresos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56032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¿Alcanza la plata a fin de mes?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383280"/>
            <a:ext cx="2019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−16,5%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25196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cayó el ingreso disponible entre 2023 y mayo de 2026.</a:t>
            </a:r>
            <a:endParaRPr lang="en-US" sz="1500" dirty="0"/>
          </a:p>
        </p:txBody>
      </p:sp>
      <p:sp>
        <p:nvSpPr>
          <p:cNvPr id="10" name="Clave Crédito"/>
          <p:cNvSpPr/>
          <p:nvPr/>
        </p:nvSpPr>
        <p:spPr>
          <a:xfrm>
            <a:off x="3390824" y="1783080"/>
            <a:ext cx="2567864" cy="4023360"/>
          </a:xfrm>
          <a:prstGeom prst="roundRect">
            <a:avLst>
              <a:gd name="adj" fmla="val 5697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729152" y="2075688"/>
            <a:ext cx="274320" cy="2743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122344" y="2029968"/>
            <a:ext cx="1653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Crédito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3665144" y="256032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¿Cómo se tapó el agujero?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665144" y="3383280"/>
            <a:ext cx="2019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+58%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3665144" y="425196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creció el crédito a las familias en 2024, por encima de la inflación.</a:t>
            </a:r>
            <a:endParaRPr lang="en-US" sz="1500" dirty="0"/>
          </a:p>
        </p:txBody>
      </p:sp>
      <p:sp>
        <p:nvSpPr>
          <p:cNvPr id="16" name="Clave Tasas"/>
          <p:cNvSpPr/>
          <p:nvPr/>
        </p:nvSpPr>
        <p:spPr>
          <a:xfrm>
            <a:off x="6233008" y="1783080"/>
            <a:ext cx="2567864" cy="4023360"/>
          </a:xfrm>
          <a:prstGeom prst="roundRect">
            <a:avLst>
              <a:gd name="adj" fmla="val 5697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71336" y="2075688"/>
            <a:ext cx="274320" cy="2743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964528" y="2029968"/>
            <a:ext cx="1653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Tasas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6507328" y="256032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¿Por qué se encareció la deuda?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507328" y="3383280"/>
            <a:ext cx="2019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32→60%</a:t>
            </a:r>
            <a:endParaRPr lang="en-US" sz="4000" dirty="0"/>
          </a:p>
        </p:txBody>
      </p:sp>
      <p:sp>
        <p:nvSpPr>
          <p:cNvPr id="21" name="Text 19"/>
          <p:cNvSpPr txBox="1"/>
          <p:nvPr/>
        </p:nvSpPr>
        <p:spPr>
          <a:xfrm>
            <a:off x="6507328" y="425196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saltó la BADLAR nominal entre julio y agosto de 2025.</a:t>
            </a:r>
            <a:endParaRPr lang="en-US" sz="1500" dirty="0"/>
          </a:p>
        </p:txBody>
      </p:sp>
      <p:sp>
        <p:nvSpPr>
          <p:cNvPr id="22" name="Clave Mora"/>
          <p:cNvSpPr/>
          <p:nvPr/>
        </p:nvSpPr>
        <p:spPr>
          <a:xfrm>
            <a:off x="9075191" y="1783080"/>
            <a:ext cx="2567864" cy="4023360"/>
          </a:xfrm>
          <a:prstGeom prst="roundRect">
            <a:avLst>
              <a:gd name="adj" fmla="val 5697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413519" y="2075688"/>
            <a:ext cx="274320" cy="274320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806711" y="2029968"/>
            <a:ext cx="16534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Mora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9349511" y="256032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¿Cuántos no pueden pagar?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9349511" y="3383280"/>
            <a:ext cx="2019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17,5%</a:t>
            </a:r>
            <a:endParaRPr lang="en-US" sz="4000" dirty="0"/>
          </a:p>
        </p:txBody>
      </p:sp>
      <p:sp>
        <p:nvSpPr>
          <p:cNvPr id="27" name="Text 25"/>
          <p:cNvSpPr txBox="1"/>
          <p:nvPr/>
        </p:nvSpPr>
        <p:spPr>
          <a:xfrm>
            <a:off x="9349511" y="425196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de lo prestado a las personas está en mora, con bancos, fintech y billeteras (junio de 2026).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14630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3"/>
                </a:solidFill>
              </a:rPr>
              <a:t>PASO 1 DE 4 · INGRESOS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1463040" y="749808"/>
            <a:ext cx="10180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El ingreso dejó de alcanzar</a:t>
            </a:r>
            <a:endParaRPr lang="en-US" sz="3200" dirty="0"/>
          </a:p>
        </p:txBody>
      </p:sp>
      <p:sp>
        <p:nvSpPr>
          <p:cNvPr id="4" name="Paso 1"/>
          <p:cNvSpPr/>
          <p:nvPr/>
        </p:nvSpPr>
        <p:spPr>
          <a:xfrm>
            <a:off x="548640" y="502920"/>
            <a:ext cx="713232" cy="713232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502920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1</a:t>
            </a:r>
            <a:endParaRPr lang="en-US" sz="2600" dirty="0"/>
          </a:p>
        </p:txBody>
      </p:sp>
      <p:sp>
        <p:nvSpPr>
          <p:cNvPr id="6" name="Panel texto"/>
          <p:cNvSpPr/>
          <p:nvPr/>
        </p:nvSpPr>
        <p:spPr>
          <a:xfrm>
            <a:off x="548640" y="1783080"/>
            <a:ext cx="6035040" cy="4069080"/>
          </a:xfrm>
          <a:prstGeom prst="roundRect">
            <a:avLst>
              <a:gd name="adj" fmla="val 3596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057400"/>
            <a:ext cx="5394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El ajuste licuó salarios y jubilaciones, y el consumo cayó.</a:t>
            </a:r>
            <a:endParaRPr lang="en-US" sz="1800" dirty="0"/>
          </a:p>
          <a:p>
            <a:pPr indent="0" marL="0">
              <a:buNone/>
            </a:pPr>
            <a:r>
              <a:rPr lang="en-US" sz="800" dirty="0">
                <a:solidFill>
                  <a:schemeClr val="tx2"/>
                </a:solidFill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Resultado: </a:t>
            </a:r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en mayo de 2026, lo que le queda a una familia después de pagar los gastos fijos fue 16,5% menor que en 2023.</a:t>
            </a:r>
            <a:endParaRPr lang="en-US" sz="1800" dirty="0"/>
          </a:p>
        </p:txBody>
      </p:sp>
      <p:sp>
        <p:nvSpPr>
          <p:cNvPr id="8" name="Ejemplo"/>
          <p:cNvSpPr/>
          <p:nvPr/>
        </p:nvSpPr>
        <p:spPr>
          <a:xfrm>
            <a:off x="868680" y="4251960"/>
            <a:ext cx="5394960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51560" y="4361688"/>
            <a:ext cx="5029200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No fue un mal mes.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No fue un shock transitorio: es un problema estructural. Por eso el agujero se volvió a abrir cada mes.</a:t>
            </a:r>
            <a:endParaRPr lang="en-US" sz="1500" dirty="0"/>
          </a:p>
        </p:txBody>
      </p:sp>
      <p:sp>
        <p:nvSpPr>
          <p:cNvPr id="10" name="Panel esquema"/>
          <p:cNvSpPr/>
          <p:nvPr/>
        </p:nvSpPr>
        <p:spPr>
          <a:xfrm>
            <a:off x="6858000" y="1783080"/>
            <a:ext cx="4785055" cy="4069080"/>
          </a:xfrm>
          <a:prstGeom prst="roundRect">
            <a:avLst>
              <a:gd name="adj" fmla="val 3596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178040" y="201168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Ingreso disponible: lo que queda del sueldo después de pagar los gastos fijos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178040" y="27889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2023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  100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178040" y="3200400"/>
            <a:ext cx="4114800" cy="54864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78040" y="39776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Mayo de 2026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  83,5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178040" y="4389120"/>
            <a:ext cx="3435858" cy="54864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16" name="Caída"/>
          <p:cNvSpPr/>
          <p:nvPr/>
        </p:nvSpPr>
        <p:spPr>
          <a:xfrm>
            <a:off x="10650474" y="4389120"/>
            <a:ext cx="642366" cy="54864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9050">
            <a:solidFill>
              <a:schemeClr val="accent1"/>
            </a:solidFill>
            <a:prstDash val="dash"/>
          </a:ln>
        </p:spPr>
      </p:sp>
      <p:sp>
        <p:nvSpPr>
          <p:cNvPr id="17" name="Text 15"/>
          <p:cNvSpPr txBox="1"/>
          <p:nvPr/>
        </p:nvSpPr>
        <p:spPr>
          <a:xfrm>
            <a:off x="10613898" y="4389120"/>
            <a:ext cx="67894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−16,5%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178040" y="52120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Índice, 2023 = 100. Barras a escala.</a:t>
            </a:r>
            <a:endParaRPr lang="en-US" sz="1100" dirty="0"/>
          </a:p>
        </p:txBody>
      </p:sp>
      <p:sp>
        <p:nvSpPr>
          <p:cNvPr id="19" name="Fuente"/>
          <p:cNvSpPr txBox="1"/>
          <p:nvPr/>
        </p:nvSpPr>
        <p:spPr>
          <a:xfrm>
            <a:off x="548640" y="603504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Fuente: Equilibra, citado por Infobae (22 de julio de 2026). Ingreso disponible = ingresos menos gastos fijos de los hogares.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14630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3"/>
                </a:solidFill>
              </a:rPr>
              <a:t>PASO 2 DE 4 · CRÉDITO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1463040" y="749808"/>
            <a:ext cx="10180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El crédito tapó el agujero</a:t>
            </a:r>
            <a:endParaRPr lang="en-US" sz="3200" dirty="0"/>
          </a:p>
        </p:txBody>
      </p:sp>
      <p:sp>
        <p:nvSpPr>
          <p:cNvPr id="4" name="Paso 2"/>
          <p:cNvSpPr/>
          <p:nvPr/>
        </p:nvSpPr>
        <p:spPr>
          <a:xfrm>
            <a:off x="548640" y="502920"/>
            <a:ext cx="713232" cy="713232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502920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2</a:t>
            </a:r>
            <a:endParaRPr lang="en-US" sz="2600" dirty="0"/>
          </a:p>
        </p:txBody>
      </p:sp>
      <p:sp>
        <p:nvSpPr>
          <p:cNvPr id="6" name="Panel gráfico"/>
          <p:cNvSpPr/>
          <p:nvPr/>
        </p:nvSpPr>
        <p:spPr>
          <a:xfrm>
            <a:off x="548640" y="1783080"/>
            <a:ext cx="6858000" cy="4069080"/>
          </a:xfrm>
          <a:prstGeom prst="roundRect">
            <a:avLst>
              <a:gd name="adj" fmla="val 3596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graphicFrame>
        <p:nvGraphicFramePr>
          <p:cNvPr id="7" name="Chart 0" descr=""/>
          <p:cNvGraphicFramePr/>
          <p:nvPr/>
        </p:nvGraphicFramePr>
        <p:xfrm>
          <a:off x="731520" y="1920240"/>
          <a:ext cx="64922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Panel lectura"/>
          <p:cNvSpPr/>
          <p:nvPr/>
        </p:nvSpPr>
        <p:spPr>
          <a:xfrm>
            <a:off x="7680960" y="1783080"/>
            <a:ext cx="3962095" cy="4069080"/>
          </a:xfrm>
          <a:prstGeom prst="roundRect">
            <a:avLst>
              <a:gd name="adj" fmla="val 3693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955280" y="2057400"/>
            <a:ext cx="341345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En 2024 el crédito a las familias creció </a:t>
            </a:r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58%</a:t>
            </a:r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 por encima de la inflación. Los préstamos personales, </a:t>
            </a:r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134%</a:t>
            </a:r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. En 2025 siguió creciendo, más despacio.</a:t>
            </a:r>
            <a:endParaRPr lang="en-US" sz="1700" dirty="0"/>
          </a:p>
        </p:txBody>
      </p:sp>
      <p:sp>
        <p:nvSpPr>
          <p:cNvPr id="10" name="Ejemplo"/>
          <p:cNvSpPr/>
          <p:nvPr/>
        </p:nvSpPr>
        <p:spPr>
          <a:xfrm>
            <a:off x="7955280" y="3977640"/>
            <a:ext cx="3413455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138160" y="4087368"/>
            <a:ext cx="3047695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Como pagar el súper con tarjeta: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resuelve este mes, pero le suma una cuota al que viene.</a:t>
            </a:r>
            <a:endParaRPr lang="en-US" sz="1500" dirty="0"/>
          </a:p>
        </p:txBody>
      </p:sp>
      <p:sp>
        <p:nvSpPr>
          <p:cNvPr id="12" name="Fuente"/>
          <p:cNvSpPr txBox="1"/>
          <p:nvPr/>
        </p:nvSpPr>
        <p:spPr>
          <a:xfrm>
            <a:off x="548640" y="603504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Fuente: First Capital Group en base a BCRA e INDEC. Variación real, diciembre contra diciembre.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14630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3"/>
                </a:solidFill>
              </a:rPr>
              <a:t>PASO 3 DE 4 · TASAS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1463040" y="749808"/>
            <a:ext cx="10180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La deuda se volvió cara de golpe</a:t>
            </a:r>
            <a:endParaRPr lang="en-US" sz="3200" dirty="0"/>
          </a:p>
        </p:txBody>
      </p:sp>
      <p:sp>
        <p:nvSpPr>
          <p:cNvPr id="4" name="Paso 3"/>
          <p:cNvSpPr/>
          <p:nvPr/>
        </p:nvSpPr>
        <p:spPr>
          <a:xfrm>
            <a:off x="548640" y="502920"/>
            <a:ext cx="713232" cy="713232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502920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3</a:t>
            </a:r>
            <a:endParaRPr lang="en-US" sz="2600" dirty="0"/>
          </a:p>
        </p:txBody>
      </p:sp>
      <p:sp>
        <p:nvSpPr>
          <p:cNvPr id="6" name="Panel gráfico"/>
          <p:cNvSpPr/>
          <p:nvPr/>
        </p:nvSpPr>
        <p:spPr>
          <a:xfrm>
            <a:off x="548640" y="1783080"/>
            <a:ext cx="7086600" cy="4069080"/>
          </a:xfrm>
          <a:prstGeom prst="roundRect">
            <a:avLst>
              <a:gd name="adj" fmla="val 3596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190195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Tasa BADLAR real (por encima de la inflación), % anual</a:t>
            </a:r>
            <a:endParaRPr lang="en-US" sz="1400" dirty="0"/>
          </a:p>
        </p:txBody>
      </p:sp>
      <p:sp>
        <p:nvSpPr>
          <p:cNvPr id="8" name="Período tasas altas"/>
          <p:cNvSpPr/>
          <p:nvPr/>
        </p:nvSpPr>
        <p:spPr>
          <a:xfrm>
            <a:off x="3084440" y="2487168"/>
            <a:ext cx="1046940" cy="2706624"/>
          </a:xfrm>
          <a:prstGeom prst="rect">
            <a:avLst/>
          </a:prstGeom>
          <a:solidFill>
            <a:srgbClr val="FBE7E5"/>
          </a:solidFill>
          <a:ln/>
        </p:spPr>
      </p:sp>
      <p:graphicFrame>
        <p:nvGraphicFramePr>
          <p:cNvPr id="9" name="Chart 0" descr=""/>
          <p:cNvGraphicFramePr/>
          <p:nvPr/>
        </p:nvGraphicFramePr>
        <p:xfrm>
          <a:off x="685800" y="2148840"/>
          <a:ext cx="681228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Eje x ene-25"/>
          <p:cNvSpPr txBox="1"/>
          <p:nvPr/>
        </p:nvSpPr>
        <p:spPr>
          <a:xfrm>
            <a:off x="940316" y="524865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ene-25</a:t>
            </a:r>
            <a:endParaRPr lang="en-US" sz="1100" dirty="0"/>
          </a:p>
        </p:txBody>
      </p:sp>
      <p:sp>
        <p:nvSpPr>
          <p:cNvPr id="11" name="Eje x mar-25"/>
          <p:cNvSpPr txBox="1"/>
          <p:nvPr/>
        </p:nvSpPr>
        <p:spPr>
          <a:xfrm>
            <a:off x="1542665" y="524865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mar-25</a:t>
            </a:r>
            <a:endParaRPr lang="en-US" sz="1100" dirty="0"/>
          </a:p>
        </p:txBody>
      </p:sp>
      <p:sp>
        <p:nvSpPr>
          <p:cNvPr id="12" name="Eje x may-25"/>
          <p:cNvSpPr txBox="1"/>
          <p:nvPr/>
        </p:nvSpPr>
        <p:spPr>
          <a:xfrm>
            <a:off x="2073306" y="524865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may-25</a:t>
            </a:r>
            <a:endParaRPr lang="en-US" sz="1100" dirty="0"/>
          </a:p>
        </p:txBody>
      </p:sp>
      <p:sp>
        <p:nvSpPr>
          <p:cNvPr id="13" name="Eje x jul-25"/>
          <p:cNvSpPr txBox="1"/>
          <p:nvPr/>
        </p:nvSpPr>
        <p:spPr>
          <a:xfrm>
            <a:off x="2632630" y="524865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jul-25</a:t>
            </a:r>
            <a:endParaRPr lang="en-US" sz="1100" dirty="0"/>
          </a:p>
        </p:txBody>
      </p:sp>
      <p:sp>
        <p:nvSpPr>
          <p:cNvPr id="14" name="Eje x sep-25"/>
          <p:cNvSpPr txBox="1"/>
          <p:nvPr/>
        </p:nvSpPr>
        <p:spPr>
          <a:xfrm>
            <a:off x="3234979" y="524865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sep-25</a:t>
            </a:r>
            <a:endParaRPr lang="en-US" sz="1100" dirty="0"/>
          </a:p>
        </p:txBody>
      </p:sp>
      <p:sp>
        <p:nvSpPr>
          <p:cNvPr id="15" name="Eje x nov-25"/>
          <p:cNvSpPr txBox="1"/>
          <p:nvPr/>
        </p:nvSpPr>
        <p:spPr>
          <a:xfrm>
            <a:off x="3866011" y="524865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nov-25</a:t>
            </a:r>
            <a:endParaRPr lang="en-US" sz="1100" dirty="0"/>
          </a:p>
        </p:txBody>
      </p:sp>
      <p:sp>
        <p:nvSpPr>
          <p:cNvPr id="16" name="Eje x ene-26"/>
          <p:cNvSpPr txBox="1"/>
          <p:nvPr/>
        </p:nvSpPr>
        <p:spPr>
          <a:xfrm>
            <a:off x="4382310" y="524865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ene-26</a:t>
            </a:r>
            <a:endParaRPr lang="en-US" sz="1100" dirty="0"/>
          </a:p>
        </p:txBody>
      </p:sp>
      <p:sp>
        <p:nvSpPr>
          <p:cNvPr id="17" name="Eje x mar-26"/>
          <p:cNvSpPr txBox="1"/>
          <p:nvPr/>
        </p:nvSpPr>
        <p:spPr>
          <a:xfrm>
            <a:off x="4941634" y="524865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mar-26</a:t>
            </a:r>
            <a:endParaRPr lang="en-US" sz="1100" dirty="0"/>
          </a:p>
        </p:txBody>
      </p:sp>
      <p:sp>
        <p:nvSpPr>
          <p:cNvPr id="18" name="Eje x may-26"/>
          <p:cNvSpPr txBox="1"/>
          <p:nvPr/>
        </p:nvSpPr>
        <p:spPr>
          <a:xfrm>
            <a:off x="5515300" y="524865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may-26</a:t>
            </a:r>
            <a:endParaRPr lang="en-US" sz="1100" dirty="0"/>
          </a:p>
        </p:txBody>
      </p:sp>
      <p:sp>
        <p:nvSpPr>
          <p:cNvPr id="19" name="Eje x jul-26"/>
          <p:cNvSpPr txBox="1"/>
          <p:nvPr/>
        </p:nvSpPr>
        <p:spPr>
          <a:xfrm>
            <a:off x="6088966" y="524865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jul-26</a:t>
            </a:r>
            <a:endParaRPr lang="en-US" sz="1100" dirty="0"/>
          </a:p>
        </p:txBody>
      </p:sp>
      <p:sp>
        <p:nvSpPr>
          <p:cNvPr id="20" name="Eje x sep-26"/>
          <p:cNvSpPr txBox="1"/>
          <p:nvPr/>
        </p:nvSpPr>
        <p:spPr>
          <a:xfrm>
            <a:off x="6676973" y="524865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sep-26</a:t>
            </a:r>
            <a:endParaRPr lang="en-US" sz="1100" dirty="0"/>
          </a:p>
        </p:txBody>
      </p:sp>
      <p:sp>
        <p:nvSpPr>
          <p:cNvPr id="21" name="Evento 1"/>
          <p:cNvSpPr/>
          <p:nvPr/>
        </p:nvSpPr>
        <p:spPr>
          <a:xfrm>
            <a:off x="2266966" y="2670048"/>
            <a:ext cx="0" cy="2523744"/>
          </a:xfrm>
          <a:prstGeom prst="line">
            <a:avLst/>
          </a:prstGeom>
          <a:noFill/>
          <a:ln w="12700">
            <a:solidFill>
              <a:srgbClr val="1D2B4F"/>
            </a:solidFill>
            <a:prstDash val="dash"/>
          </a:ln>
        </p:spPr>
      </p:sp>
      <p:sp>
        <p:nvSpPr>
          <p:cNvPr id="22" name="Shape 19"/>
          <p:cNvSpPr/>
          <p:nvPr/>
        </p:nvSpPr>
        <p:spPr>
          <a:xfrm>
            <a:off x="2138950" y="2395728"/>
            <a:ext cx="256032" cy="256032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138950" y="23957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1</a:t>
            </a:r>
            <a:endParaRPr lang="en-US" sz="1000" dirty="0"/>
          </a:p>
        </p:txBody>
      </p:sp>
      <p:sp>
        <p:nvSpPr>
          <p:cNvPr id="24" name="Evento 2"/>
          <p:cNvSpPr/>
          <p:nvPr/>
        </p:nvSpPr>
        <p:spPr>
          <a:xfrm>
            <a:off x="3084440" y="2670048"/>
            <a:ext cx="0" cy="2523744"/>
          </a:xfrm>
          <a:prstGeom prst="line">
            <a:avLst/>
          </a:prstGeom>
          <a:noFill/>
          <a:ln w="12700">
            <a:solidFill>
              <a:srgbClr val="1D2B4F"/>
            </a:solidFill>
            <a:prstDash val="dash"/>
          </a:ln>
        </p:spPr>
      </p:sp>
      <p:sp>
        <p:nvSpPr>
          <p:cNvPr id="25" name="Shape 22"/>
          <p:cNvSpPr/>
          <p:nvPr/>
        </p:nvSpPr>
        <p:spPr>
          <a:xfrm>
            <a:off x="2956424" y="2395728"/>
            <a:ext cx="256032" cy="256032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956424" y="23957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2</a:t>
            </a:r>
            <a:endParaRPr lang="en-US" sz="1000" dirty="0"/>
          </a:p>
        </p:txBody>
      </p:sp>
      <p:sp>
        <p:nvSpPr>
          <p:cNvPr id="27" name="Evento 3"/>
          <p:cNvSpPr/>
          <p:nvPr/>
        </p:nvSpPr>
        <p:spPr>
          <a:xfrm>
            <a:off x="3672447" y="2670048"/>
            <a:ext cx="0" cy="2523744"/>
          </a:xfrm>
          <a:prstGeom prst="line">
            <a:avLst/>
          </a:prstGeom>
          <a:noFill/>
          <a:ln w="12700">
            <a:solidFill>
              <a:srgbClr val="1D2B4F"/>
            </a:solidFill>
            <a:prstDash val="dash"/>
          </a:ln>
        </p:spPr>
      </p:sp>
      <p:sp>
        <p:nvSpPr>
          <p:cNvPr id="28" name="Shape 25"/>
          <p:cNvSpPr/>
          <p:nvPr/>
        </p:nvSpPr>
        <p:spPr>
          <a:xfrm>
            <a:off x="3544431" y="2395728"/>
            <a:ext cx="256032" cy="256032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544431" y="23957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3</a:t>
            </a:r>
            <a:endParaRPr lang="en-US" sz="1000" dirty="0"/>
          </a:p>
        </p:txBody>
      </p:sp>
      <p:sp>
        <p:nvSpPr>
          <p:cNvPr id="30" name="Evento 4"/>
          <p:cNvSpPr/>
          <p:nvPr/>
        </p:nvSpPr>
        <p:spPr>
          <a:xfrm>
            <a:off x="4131380" y="2670048"/>
            <a:ext cx="0" cy="2523744"/>
          </a:xfrm>
          <a:prstGeom prst="line">
            <a:avLst/>
          </a:prstGeom>
          <a:noFill/>
          <a:ln w="12700">
            <a:solidFill>
              <a:srgbClr val="1D2B4F"/>
            </a:solidFill>
            <a:prstDash val="dash"/>
          </a:ln>
        </p:spPr>
      </p:sp>
      <p:sp>
        <p:nvSpPr>
          <p:cNvPr id="31" name="Shape 28"/>
          <p:cNvSpPr/>
          <p:nvPr/>
        </p:nvSpPr>
        <p:spPr>
          <a:xfrm>
            <a:off x="4003364" y="2395728"/>
            <a:ext cx="256032" cy="256032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003364" y="23957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1"/>
                </a:solidFill>
              </a:rPr>
              <a:t>4</a:t>
            </a:r>
            <a:endParaRPr lang="en-US" sz="1000" dirty="0"/>
          </a:p>
        </p:txBody>
      </p:sp>
      <p:sp>
        <p:nvSpPr>
          <p:cNvPr id="33" name="Panel hitos"/>
          <p:cNvSpPr/>
          <p:nvPr/>
        </p:nvSpPr>
        <p:spPr>
          <a:xfrm>
            <a:off x="7909560" y="1783080"/>
            <a:ext cx="3733495" cy="4069080"/>
          </a:xfrm>
          <a:prstGeom prst="roundRect">
            <a:avLst>
              <a:gd name="adj" fmla="val 3919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183880" y="1965960"/>
            <a:ext cx="31848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2025, mes a mes</a:t>
            </a:r>
            <a:endParaRPr lang="en-US" sz="1500" dirty="0"/>
          </a:p>
        </p:txBody>
      </p:sp>
      <p:sp>
        <p:nvSpPr>
          <p:cNvPr id="35" name="Shape 32"/>
          <p:cNvSpPr/>
          <p:nvPr/>
        </p:nvSpPr>
        <p:spPr>
          <a:xfrm>
            <a:off x="8183880" y="2377440"/>
            <a:ext cx="274320" cy="27432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183880" y="2377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1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8595360" y="2340864"/>
            <a:ext cx="28190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Abril.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Acuerdo con el FMI y salida del cepo.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8183880" y="2999232"/>
            <a:ext cx="274320" cy="27432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8183880" y="29992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2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8595360" y="2962656"/>
            <a:ext cx="28190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Julio.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Fin de las LEFIs: el Gobierno deja de fijar la tasa.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8183880" y="3621024"/>
            <a:ext cx="274320" cy="27432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183880" y="36210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3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8595360" y="3584448"/>
            <a:ext cx="28190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Septiembre.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Elecciones bonaerenses: tasa real de casi 40%.</a:t>
            </a:r>
            <a:endParaRPr lang="en-US" sz="1300" dirty="0"/>
          </a:p>
        </p:txBody>
      </p:sp>
      <p:sp>
        <p:nvSpPr>
          <p:cNvPr id="44" name="Shape 41"/>
          <p:cNvSpPr/>
          <p:nvPr/>
        </p:nvSpPr>
        <p:spPr>
          <a:xfrm>
            <a:off x="8183880" y="4242816"/>
            <a:ext cx="274320" cy="27432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183880" y="4242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4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8595360" y="4206240"/>
            <a:ext cx="28190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Octubre.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Swap con EE.UU. y legislativas: las tasas bajan.</a:t>
            </a:r>
            <a:endParaRPr lang="en-US" sz="1300" dirty="0"/>
          </a:p>
        </p:txBody>
      </p:sp>
      <p:sp>
        <p:nvSpPr>
          <p:cNvPr id="47" name="Ejemplo"/>
          <p:cNvSpPr/>
          <p:nvPr/>
        </p:nvSpPr>
        <p:spPr>
          <a:xfrm>
            <a:off x="8183880" y="4937760"/>
            <a:ext cx="3184855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8366760" y="5047488"/>
            <a:ext cx="2819095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Tasa real: </a:t>
            </a:r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si es negativa, la inflación achica la deuda; si es positiva, la agranda.</a:t>
            </a:r>
            <a:endParaRPr lang="en-US" sz="1300" dirty="0"/>
          </a:p>
        </p:txBody>
      </p:sp>
      <p:sp>
        <p:nvSpPr>
          <p:cNvPr id="49" name="Fuente"/>
          <p:cNvSpPr txBox="1"/>
          <p:nvPr/>
        </p:nvSpPr>
        <p:spPr>
          <a:xfrm>
            <a:off x="548640" y="603504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Fuente: BCRA (BADLAR bancos privados) e INDEC. Sombreado: tasas altas, del fin de las LEFIs a las legislativas. La BADLAR nominal pasó de 32% en julio a casi 60% en agosto.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14630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3"/>
                </a:solidFill>
              </a:rPr>
              <a:t>PASO 4 DE 4 · MORA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1463040" y="749808"/>
            <a:ext cx="10180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Y la deuda dejó de pagarse</a:t>
            </a:r>
            <a:endParaRPr lang="en-US" sz="3200" dirty="0"/>
          </a:p>
        </p:txBody>
      </p:sp>
      <p:sp>
        <p:nvSpPr>
          <p:cNvPr id="4" name="Paso 4"/>
          <p:cNvSpPr/>
          <p:nvPr/>
        </p:nvSpPr>
        <p:spPr>
          <a:xfrm>
            <a:off x="548640" y="502920"/>
            <a:ext cx="713232" cy="713232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502920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4</a:t>
            </a:r>
            <a:endParaRPr lang="en-US" sz="2600" dirty="0"/>
          </a:p>
        </p:txBody>
      </p:sp>
      <p:sp>
        <p:nvSpPr>
          <p:cNvPr id="6" name="Panel mora evolución"/>
          <p:cNvSpPr/>
          <p:nvPr/>
        </p:nvSpPr>
        <p:spPr>
          <a:xfrm>
            <a:off x="548640" y="1783080"/>
            <a:ext cx="5410048" cy="3383280"/>
          </a:xfrm>
          <a:prstGeom prst="roundRect">
            <a:avLst>
              <a:gd name="adj" fmla="val 4324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graphicFrame>
        <p:nvGraphicFramePr>
          <p:cNvPr id="7" name="Chart 0" descr=""/>
          <p:cNvGraphicFramePr/>
          <p:nvPr/>
        </p:nvGraphicFramePr>
        <p:xfrm>
          <a:off x="685800" y="1874520"/>
          <a:ext cx="5135728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Panel mora por línea"/>
          <p:cNvSpPr/>
          <p:nvPr/>
        </p:nvSpPr>
        <p:spPr>
          <a:xfrm>
            <a:off x="6233008" y="1783080"/>
            <a:ext cx="5410048" cy="3383280"/>
          </a:xfrm>
          <a:prstGeom prst="roundRect">
            <a:avLst>
              <a:gd name="adj" fmla="val 4324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graphicFrame>
        <p:nvGraphicFramePr>
          <p:cNvPr id="9" name="Chart 1" descr=""/>
          <p:cNvGraphicFramePr/>
          <p:nvPr/>
        </p:nvGraphicFramePr>
        <p:xfrm>
          <a:off x="6370168" y="1874520"/>
          <a:ext cx="5135728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Ejemplo"/>
          <p:cNvSpPr/>
          <p:nvPr/>
        </p:nvSpPr>
        <p:spPr>
          <a:xfrm>
            <a:off x="548640" y="5321808"/>
            <a:ext cx="11094415" cy="594360"/>
          </a:xfrm>
          <a:prstGeom prst="roundRect">
            <a:avLst>
              <a:gd name="adj" fmla="val 15385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31520" y="5431536"/>
            <a:ext cx="10728655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Fallan más los préstamos que más crecieron: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personales y tarjetas. La mora hipotecaria sigue baja.</a:t>
            </a:r>
            <a:endParaRPr lang="en-US" sz="1500" dirty="0"/>
          </a:p>
        </p:txBody>
      </p:sp>
      <p:sp>
        <p:nvSpPr>
          <p:cNvPr id="12" name="Fuente"/>
          <p:cNvSpPr txBox="1"/>
          <p:nvPr/>
        </p:nvSpPr>
        <p:spPr>
          <a:xfrm>
            <a:off x="548640" y="605332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Fuente: BCRA, Informe sobre Bancos; Max Capital.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3"/>
                </a:solidFill>
              </a:rPr>
              <a:t>QUÉ HACER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4980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Cuatro propuestas para sacar a las familias de la deuda</a:t>
            </a:r>
            <a:endParaRPr lang="en-US" sz="3200" dirty="0"/>
          </a:p>
        </p:txBody>
      </p:sp>
      <p:sp>
        <p:nvSpPr>
          <p:cNvPr id="4" name="Propuesta 1"/>
          <p:cNvSpPr/>
          <p:nvPr/>
        </p:nvSpPr>
        <p:spPr>
          <a:xfrm>
            <a:off x="548640" y="1783080"/>
            <a:ext cx="5410048" cy="192024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86968" y="2093976"/>
            <a:ext cx="274320" cy="2743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80160" y="2039112"/>
            <a:ext cx="321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Ponerle techo al precio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4495648" y="205740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50" kern="0" dirty="0">
                <a:solidFill>
                  <a:schemeClr val="accent5"/>
                </a:solidFill>
              </a:rPr>
              <a:t>NACIÓN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560320"/>
            <a:ext cx="48614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Volver a poner topes a las tasas y a los punitorios, también en billeteras virtuales y proveedores no financieros.</a:t>
            </a:r>
            <a:endParaRPr lang="en-US" sz="1500" dirty="0"/>
          </a:p>
        </p:txBody>
      </p:sp>
      <p:sp>
        <p:nvSpPr>
          <p:cNvPr id="9" name="Propuesta 2"/>
          <p:cNvSpPr/>
          <p:nvPr/>
        </p:nvSpPr>
        <p:spPr>
          <a:xfrm>
            <a:off x="6233008" y="1783080"/>
            <a:ext cx="5410048" cy="192024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71336" y="2093976"/>
            <a:ext cx="274320" cy="2743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964528" y="2039112"/>
            <a:ext cx="321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Que se vea todo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10180015" y="205740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50" kern="0" dirty="0">
                <a:solidFill>
                  <a:schemeClr val="accent5"/>
                </a:solidFill>
              </a:rPr>
              <a:t>NACIÓN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507328" y="2560320"/>
            <a:ext cx="48614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Que las fintechs informen a la Central de Deudores y que todas las entidades muestren costos y condiciones con la máxima claridad.</a:t>
            </a:r>
            <a:endParaRPr lang="en-US" sz="1500" dirty="0"/>
          </a:p>
        </p:txBody>
      </p:sp>
      <p:sp>
        <p:nvSpPr>
          <p:cNvPr id="14" name="Propuesta 3"/>
          <p:cNvSpPr/>
          <p:nvPr/>
        </p:nvSpPr>
        <p:spPr>
          <a:xfrm>
            <a:off x="548640" y="3977640"/>
            <a:ext cx="5410048" cy="192024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86968" y="4288536"/>
            <a:ext cx="274320" cy="2743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280160" y="4233672"/>
            <a:ext cx="321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Alivio a los deudores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4495648" y="425196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50" kern="0" dirty="0">
                <a:solidFill>
                  <a:schemeClr val="accent5"/>
                </a:solidFill>
              </a:rPr>
              <a:t>NACIÓN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754880"/>
            <a:ext cx="48614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Un régimen para reestructurar deudas de hogares sobreendeudados y una reclasificación temporal de deudores, como en la pandemia.</a:t>
            </a:r>
            <a:endParaRPr lang="en-US" sz="1500" dirty="0"/>
          </a:p>
        </p:txBody>
      </p:sp>
      <p:sp>
        <p:nvSpPr>
          <p:cNvPr id="19" name="Propuesta 4"/>
          <p:cNvSpPr/>
          <p:nvPr/>
        </p:nvSpPr>
        <p:spPr>
          <a:xfrm>
            <a:off x="6233008" y="3977640"/>
            <a:ext cx="5410048" cy="192024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71336" y="4288536"/>
            <a:ext cx="274320" cy="2743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964528" y="4233672"/>
            <a:ext cx="321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Defender al que se endeuda</a:t>
            </a:r>
            <a:endParaRPr lang="en-US" sz="1900" dirty="0"/>
          </a:p>
        </p:txBody>
      </p:sp>
      <p:sp>
        <p:nvSpPr>
          <p:cNvPr id="22" name="Text 20"/>
          <p:cNvSpPr txBox="1"/>
          <p:nvPr/>
        </p:nvSpPr>
        <p:spPr>
          <a:xfrm>
            <a:off x="10180015" y="425196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50" kern="0" dirty="0">
                <a:solidFill>
                  <a:schemeClr val="accent5"/>
                </a:solidFill>
              </a:rPr>
              <a:t>PROVINCIA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507328" y="4754880"/>
            <a:ext cx="48614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Defensa del consumidor financiero que pueda mediar y sancionar, y una campaña sobre lo que de verdad cuesta endeudarse.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3"/>
                </a:solidFill>
              </a:rPr>
              <a:t>FINANZAS SOSTENIBLES · PARA LA CONVERSACIÓN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4980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¿Qué significa esto para las microfinanzas?</a:t>
            </a:r>
            <a:endParaRPr lang="en-US" sz="3200" dirty="0"/>
          </a:p>
        </p:txBody>
      </p:sp>
      <p:sp>
        <p:nvSpPr>
          <p:cNvPr id="4" name="Pregunta 1"/>
          <p:cNvSpPr/>
          <p:nvPr/>
        </p:nvSpPr>
        <p:spPr>
          <a:xfrm>
            <a:off x="548640" y="1783080"/>
            <a:ext cx="5410048" cy="192024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05740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057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?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2057400"/>
            <a:ext cx="4129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Prestar con responsabilidad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2697480"/>
            <a:ext cx="41298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¿Cómo medir la capacidad de pago cuando el ingreso cae y los gastos fijos suben?</a:t>
            </a:r>
            <a:endParaRPr lang="en-US" sz="1600" dirty="0"/>
          </a:p>
        </p:txBody>
      </p:sp>
      <p:sp>
        <p:nvSpPr>
          <p:cNvPr id="9" name="Pregunta 2"/>
          <p:cNvSpPr/>
          <p:nvPr/>
        </p:nvSpPr>
        <p:spPr>
          <a:xfrm>
            <a:off x="6233008" y="1783080"/>
            <a:ext cx="5410048" cy="192024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0574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07328" y="2057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?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238848" y="2057400"/>
            <a:ext cx="4129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Cobrar sin hundir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7238848" y="2697480"/>
            <a:ext cx="41298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¿Qué prácticas de cobranza y de reestructuración sostienen a la vez al cliente y a la cartera?</a:t>
            </a:r>
            <a:endParaRPr lang="en-US" sz="1600" dirty="0"/>
          </a:p>
        </p:txBody>
      </p:sp>
      <p:sp>
        <p:nvSpPr>
          <p:cNvPr id="14" name="Pregunta 3"/>
          <p:cNvSpPr/>
          <p:nvPr/>
        </p:nvSpPr>
        <p:spPr>
          <a:xfrm>
            <a:off x="548640" y="3977640"/>
            <a:ext cx="5410048" cy="192024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425196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2960" y="4251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?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1554480" y="4251960"/>
            <a:ext cx="4129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Competir con el crédito de un clic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554480" y="4892040"/>
            <a:ext cx="41298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¿Qué ventaja da el vínculo cercano frente a las billeteras, donde la mora ya supera el 30%?</a:t>
            </a:r>
            <a:endParaRPr lang="en-US" sz="1600" dirty="0"/>
          </a:p>
        </p:txBody>
      </p:sp>
      <p:sp>
        <p:nvSpPr>
          <p:cNvPr id="19" name="Pregunta 4"/>
          <p:cNvSpPr/>
          <p:nvPr/>
        </p:nvSpPr>
        <p:spPr>
          <a:xfrm>
            <a:off x="6233008" y="3977640"/>
            <a:ext cx="5410048" cy="192024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07328" y="4251960"/>
            <a:ext cx="548640" cy="548640"/>
          </a:xfrm>
          <a:prstGeom prst="ellipse">
            <a:avLst/>
          </a:prstGeom>
          <a:solidFill>
            <a:schemeClr val="tx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507328" y="4251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?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7238848" y="4251960"/>
            <a:ext cx="4129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Cuidar la cartera sin excluir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7238848" y="4892040"/>
            <a:ext cx="41298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¿Cómo bajar la mora sin dejar afuera a quienes más necesitan crédito?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chemeClr val="accent3"/>
                </a:solidFill>
              </a:rPr>
              <a:t>LO QUE NO HAY QUE OLVIDAR</a:t>
            </a:r>
            <a:endParaRPr lang="en-US" sz="1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74980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Ninguna propuesta reemplaza al ingreso</a:t>
            </a:r>
            <a:endParaRPr lang="en-US" sz="3200" dirty="0"/>
          </a:p>
        </p:txBody>
      </p:sp>
      <p:sp>
        <p:nvSpPr>
          <p:cNvPr id="4" name="Panel advertencia"/>
          <p:cNvSpPr/>
          <p:nvPr/>
        </p:nvSpPr>
        <p:spPr>
          <a:xfrm>
            <a:off x="548640" y="1783080"/>
            <a:ext cx="11094415" cy="237744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5840" y="2240280"/>
            <a:ext cx="1280160" cy="128016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6" name="Shape 4"/>
          <p:cNvSpPr/>
          <p:nvPr/>
        </p:nvSpPr>
        <p:spPr>
          <a:xfrm>
            <a:off x="1210666" y="2445106"/>
            <a:ext cx="870509" cy="870509"/>
          </a:xfrm>
          <a:prstGeom prst="ellipse">
            <a:avLst/>
          </a:prstGeom>
          <a:ln w="53340">
            <a:solidFill>
              <a:srgbClr val="006E7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834640" y="2011680"/>
            <a:ext cx="84426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Sin recuperación del ingreso real, ninguna solución financiera alcanza.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2834640" y="3246120"/>
            <a:ext cx="84426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Las medidas alivian a quien ya debe y ordenan el crédito. Pero si lo que entra no alcanza, el agujero se vuelve a abrir.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5262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Fuentes: </a:t>
            </a:r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BCRA (Informe sobre Bancos; BADLAR bancos privados; Central de Deudores, procesada por Mati Fernández), INDEC (Censo 2022), CEPA, Equilibra, EcoGo-Universidad Austral, IPYPP, UCA, First Capital Group y Max Capital.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undar RADIM">
  <a:themeElements>
    <a:clrScheme name="Fundar RADIM">
      <a:dk1>
        <a:srgbClr val="1D2B4F"/>
      </a:dk1>
      <a:lt1>
        <a:srgbClr val="FFFFFF"/>
      </a:lt1>
      <a:dk2>
        <a:srgbClr val="4A5568"/>
      </a:dk2>
      <a:lt2>
        <a:srgbClr val="F2F7F8"/>
      </a:lt2>
      <a:accent1>
        <a:srgbClr val="E8604C"/>
      </a:accent1>
      <a:accent2>
        <a:srgbClr val="F2B134"/>
      </a:accent2>
      <a:accent3>
        <a:srgbClr val="0097A7"/>
      </a:accent3>
      <a:accent4>
        <a:srgbClr val="A9B4C2"/>
      </a:accent4>
      <a:accent5>
        <a:srgbClr val="6B7785"/>
      </a:accent5>
      <a:accent6>
        <a:srgbClr val="DCE3EA"/>
      </a:accent6>
      <a:hlink>
        <a:srgbClr val="0097A7"/>
      </a:hlink>
      <a:folHlink>
        <a:srgbClr val="6B7785"/>
      </a:folHlink>
    </a:clrScheme>
    <a:fontScheme name="Fundar RADIM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 crisis de endeudamiento de los hogares</dc:title>
  <dc:subject>PptxGenJS Presentation</dc:subject>
  <dc:creator>Fundar</dc:creator>
  <cp:lastModifiedBy>Fundar</cp:lastModifiedBy>
  <cp:revision>1</cp:revision>
  <dcterms:created xsi:type="dcterms:W3CDTF">2026-10-26T19:45:19Z</dcterms:created>
  <dcterms:modified xsi:type="dcterms:W3CDTF">2026-10-26T19:45:19Z</dcterms:modified>
</cp:coreProperties>
</file>