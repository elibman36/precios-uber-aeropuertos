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ortada" id="{9c4f3877-3a6f-b0a2-54d3-b59271752e04}">
          <p14:sldIdLst>
            <p14:sldId id="256"/>
          </p14:sldIdLst>
        </p14:section>
        <p14:section name="Resumen" id="{fca703bc-2ea9-64e6-8679-07809b0d9037}">
          <p14:sldIdLst>
            <p14:sldId id="257"/>
            <p14:sldId id="258"/>
            <p14:sldId id="259"/>
            <p14:sldId id="260"/>
          </p14:sldIdLst>
        </p14:section>
        <p14:section name="Cómo se armó" id="{bb4d7a26-f7ee-6625-f24f-01e2aee04ed6}">
          <p14:sldIdLst>
            <p14:sldId id="261"/>
            <p14:sldId id="262"/>
            <p14:sldId id="263"/>
            <p14:sldId id="264"/>
          </p14:sldIdLst>
        </p14:section>
        <p14:section name="Qué hacer" id="{cbff2ff3-af3b-7c13-8aa5-de147a90e1ba}">
          <p14:sldIdLst>
            <p14:sldId id="265"/>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1" i="0" u="none" strike="noStrike">
                <a:solidFill>
                  <a:srgbClr val="1D2B4F"/>
                </a:solidFill>
                <a:latin typeface="+mn-lt"/>
              </a:defRPr>
            </a:pPr>
            <a:r>
              <a:rPr sz="1400" b="1" i="0" u="none" strike="noStrike">
                <a:solidFill>
                  <a:srgbClr val="1D2B4F"/>
                </a:solidFill>
                <a:latin typeface="+mn-lt"/>
              </a:rPr>
              <a:t>Cuánto creció el crédito, descontada la inflación</a:t>
            </a:r>
          </a:p>
        </c:rich>
      </c:tx>
      <c:layout/>
      <c:overlay val="0"/>
    </c:title>
    <c:autoTitleDeleted val="0"/>
    <c:plotArea>
      <c:layout/>
      <c:barChart>
        <c:barDir val="col"/>
        <c:grouping val="clustered"/>
        <c:varyColors val="0"/>
        <c:ser>
          <c:idx val="0"/>
          <c:order val="0"/>
          <c:tx>
            <c:strRef>
              <c:f>Sheet1!$B$1</c:f>
              <c:strCache>
                <c:ptCount val="1"/>
                <c:pt idx="0">
                  <c:v>2024</c:v>
                </c:pt>
              </c:strCache>
            </c:strRef>
          </c:tx>
          <c:spPr>
            <a:solidFill>
              <a:srgbClr val="F2B134"/>
            </a:solidFill>
            <a:effectLst/>
          </c:spPr>
          <c:invertIfNegative val="0"/>
          <c:dLbls>
            <c:numFmt formatCode="0&quot;%&quot;" sourceLinked="0"/>
            <c:txPr>
              <a:bodyPr/>
              <a:lstStyle/>
              <a:p>
                <a:pPr>
                  <a:defRPr b="1" i="0" strike="noStrike" sz="1300" u="none">
                    <a:solidFill>
                      <a:srgbClr val="1D2B4F"/>
                    </a:solidFill>
                    <a:latin typeface="+mn-lt"/>
                  </a:defRPr>
                </a:pPr>
              </a:p>
            </c:txPr>
            <c:showLegendKey val="0"/>
            <c:showVal val="1"/>
            <c:showCatName val="0"/>
            <c:showSerName val="0"/>
            <c:showPercent val="0"/>
            <c:showBubbleSize val="0"/>
            <c:showLeaderLines val="0"/>
          </c:dLbls>
          <c:cat>
            <c:multiLvlStrRef>
              <c:f>Sheet1!$A$2:$A$3</c:f>
              <c:multiLvlStrCache>
                <c:ptCount val="2"/>
                <c:lvl>
                  <c:pt idx="0">
                    <c:v>Préstamos personales</c:v>
                  </c:pt>
                  <c:pt idx="1">
                    <c:v>Tarjetas de crédito</c:v>
                  </c:pt>
                </c:lvl>
              </c:multiLvlStrCache>
            </c:multiLvlStrRef>
          </c:cat>
          <c:val>
            <c:numRef>
              <c:f>Sheet1!$B$2:$B$3</c:f>
              <c:numCache>
                <c:formatCode>General</c:formatCode>
                <c:ptCount val="2"/>
                <c:pt idx="0">
                  <c:v>134</c:v>
                </c:pt>
                <c:pt idx="1">
                  <c:v>31</c:v>
                </c:pt>
              </c:numCache>
            </c:numRef>
          </c:val>
        </c:ser>
        <c:ser>
          <c:idx val="1"/>
          <c:order val="1"/>
          <c:tx>
            <c:strRef>
              <c:f>Sheet1!$C$1</c:f>
              <c:strCache>
                <c:ptCount val="1"/>
                <c:pt idx="0">
                  <c:v>2025</c:v>
                </c:pt>
              </c:strCache>
            </c:strRef>
          </c:tx>
          <c:spPr>
            <a:solidFill>
              <a:srgbClr val="F7D985"/>
            </a:solidFill>
            <a:effectLst/>
          </c:spPr>
          <c:invertIfNegative val="0"/>
          <c:dLbls>
            <c:numFmt formatCode="0&quot;%&quot;" sourceLinked="0"/>
            <c:txPr>
              <a:bodyPr/>
              <a:lstStyle/>
              <a:p>
                <a:pPr>
                  <a:defRPr b="1" i="0" strike="noStrike" sz="1300" u="none">
                    <a:solidFill>
                      <a:srgbClr val="1D2B4F"/>
                    </a:solidFill>
                    <a:latin typeface="+mn-lt"/>
                  </a:defRPr>
                </a:pPr>
              </a:p>
            </c:txPr>
            <c:showLegendKey val="0"/>
            <c:showVal val="1"/>
            <c:showCatName val="0"/>
            <c:showSerName val="0"/>
            <c:showPercent val="0"/>
            <c:showBubbleSize val="0"/>
            <c:showLeaderLines val="0"/>
          </c:dLbls>
          <c:cat>
            <c:multiLvlStrRef>
              <c:f>Sheet1!$A$2:$A$3</c:f>
              <c:multiLvlStrCache>
                <c:ptCount val="2"/>
                <c:lvl>
                  <c:pt idx="0">
                    <c:v>Préstamos personales</c:v>
                  </c:pt>
                  <c:pt idx="1">
                    <c:v>Tarjetas de crédito</c:v>
                  </c:pt>
                </c:lvl>
              </c:multiLvlStrCache>
            </c:multiLvlStrRef>
          </c:cat>
          <c:val>
            <c:numRef>
              <c:f>Sheet1!$C$2:$C$3</c:f>
              <c:numCache>
                <c:formatCode>General</c:formatCode>
                <c:ptCount val="2"/>
                <c:pt idx="0">
                  <c:v>44.3</c:v>
                </c:pt>
                <c:pt idx="1">
                  <c:v>16.6</c:v>
                </c:pt>
              </c:numCache>
            </c:numRef>
          </c:val>
        </c:ser>
        <c:dLbls>
          <c:numFmt formatCode="0&quot;%&quot;" sourceLinked="0"/>
          <c:txPr>
            <a:bodyPr/>
            <a:lstStyle/>
            <a:p>
              <a:pPr>
                <a:defRPr b="1" i="0" strike="noStrike" sz="1300" u="none">
                  <a:solidFill>
                    <a:srgbClr val="1D2B4F"/>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12700" cap="flat">
            <a:solidFill>
              <a:srgbClr val="DCE3EA"/>
            </a:solidFill>
            <a:prstDash val="solid"/>
            <a:round/>
          </a:ln>
        </c:spPr>
        <c:txPr>
          <a:bodyPr/>
          <a:lstStyle/>
          <a:p>
            <a:pPr>
              <a:defRPr sz="12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max val="150"/>
          <c:min val="0"/>
        </c:scaling>
        <c:delete val="0"/>
        <c:axPos val="l"/>
        <c:majorGridlines>
          <c:spPr>
            <a:ln w="9525" cap="flat">
              <a:solidFill>
                <a:srgbClr val="DCE3EA"/>
              </a:solidFill>
              <a:prstDash val="solid"/>
              <a:round/>
            </a:ln>
          </c:spPr>
        </c:majorGridlines>
        <c:numFmt formatCode="0&quot;%&quot;" sourceLinked="0"/>
        <c:majorTickMark val="none"/>
        <c:minorTickMark val="none"/>
        <c:tickLblPos val="nextTo"/>
        <c:spPr>
          <a:ln w="12700" cap="flat">
            <a:noFill/>
            <a:prstDash val="solid"/>
            <a:round/>
          </a:ln>
        </c:spPr>
        <c:txPr>
          <a:bodyPr/>
          <a:lstStyle/>
          <a:p>
            <a:pPr>
              <a:defRPr sz="1200" b="0" i="0" u="none" strike="noStrike">
                <a:solidFill>
                  <a:srgbClr val="4A5568"/>
                </a:solidFill>
                <a:latin typeface="+mn-lt"/>
              </a:defRPr>
            </a:pPr>
            <a:endParaRPr lang="en-US"/>
          </a:p>
        </c:txPr>
        <c:crossAx val="2094734554"/>
        <c:crosses val="autoZero"/>
        <c:crossBetween val="between"/>
        <c:majorUnit val="50"/>
      </c:valAx>
      <c:spPr>
        <a:noFill/>
        <a:ln>
          <a:noFill/>
        </a:ln>
        <a:effectLst/>
      </c:spPr>
    </c:plotArea>
    <c:legend>
      <c:legendPos val="t"/>
      <c:overlay val="0"/>
      <c:txPr>
        <a:bodyPr/>
        <a:lstStyle/>
        <a:p>
          <a:pPr>
            <a:defRPr sz="1200">
              <a:solidFill>
                <a:srgbClr val="4A556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9"/>
          <c:y val="0.1"/>
          <c:w val="0.88"/>
          <c:h val="0.8"/>
        </c:manualLayout>
      </c:layout>
      <c:lineChart>
        <c:varyColors val="0"/>
        <c:ser>
          <c:idx val="0"/>
          <c:order val="0"/>
          <c:tx>
            <c:strRef>
              <c:f>Sheet1!$B$1</c:f>
              <c:strCache>
                <c:ptCount val="1"/>
                <c:pt idx="0">
                  <c:v>BADLAR real anualizada</c:v>
                </c:pt>
              </c:strCache>
            </c:strRef>
          </c:tx>
          <c:spPr>
            <a:solidFill>
              <a:srgbClr val="E8604C"/>
            </a:solidFill>
            <a:ln w="25400" cap="flat">
              <a:solidFill>
                <a:srgbClr val="E8604C"/>
              </a:solidFill>
              <a:prstDash val="solid"/>
              <a:round/>
            </a:ln>
            <a:effectLst/>
          </c:spPr>
          <c:invertIfNegative val="0"/>
          <c:dLbls>
            <c:numFmt formatCode="#,##0" sourceLinked="0"/>
            <c:txPr>
              <a:bodyPr/>
              <a:lstStyle/>
              <a:p>
                <a:pPr>
                  <a:defRPr b="1" i="0" strike="noStrike" sz="1300" u="none">
                    <a:solidFill>
                      <a:srgbClr val="1D2B4F"/>
                    </a:solidFill>
                    <a:latin typeface="+mn-lt"/>
                  </a:defRPr>
                </a:pPr>
              </a:p>
            </c:txPr>
            <c:showLegendKey val="0"/>
            <c:showVal val="0"/>
            <c:showCatName val="0"/>
            <c:showSerName val="0"/>
            <c:showPercent val="0"/>
            <c:showBubbleSize val="0"/>
            <c:showLeaderLines val="0"/>
          </c:dLbls>
          <c:marker>
            <c:symbol val="none"/>
            <c:size val="6"/>
            <c:spPr>
              <a:solidFill>
                <a:srgbClr val="E8604C"/>
              </a:solidFill>
              <a:ln w="9525" cap="flat">
                <a:solidFill>
                  <a:srgbClr val="E8604C"/>
                </a:solidFill>
                <a:prstDash val="solid"/>
                <a:round/>
              </a:ln>
              <a:effectLst/>
            </c:spPr>
          </c:marker>
          <c:cat>
            <c:multiLvlStrRef>
              <c:f>Sheet1!$A$2:$A$419</c:f>
              <c:multiLvlStrCache>
                <c:ptCount val="418"/>
                <c:lvl>
                  <c:pt idx="0">
                    <c:v>ene-25</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mar-25</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may-25</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jul-25</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sep-25</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nov-25</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ene-26</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pt idx="262">
                    <c:v/>
                  </c:pt>
                  <c:pt idx="263">
                    <c:v/>
                  </c:pt>
                  <c:pt idx="264">
                    <c:v/>
                  </c:pt>
                  <c:pt idx="265">
                    <c:v/>
                  </c:pt>
                  <c:pt idx="266">
                    <c:v/>
                  </c:pt>
                  <c:pt idx="267">
                    <c:v/>
                  </c:pt>
                  <c:pt idx="268">
                    <c:v/>
                  </c:pt>
                  <c:pt idx="269">
                    <c:v/>
                  </c:pt>
                  <c:pt idx="270">
                    <c:v/>
                  </c:pt>
                  <c:pt idx="271">
                    <c:v/>
                  </c:pt>
                  <c:pt idx="272">
                    <c:v/>
                  </c:pt>
                  <c:pt idx="273">
                    <c:v/>
                  </c:pt>
                  <c:pt idx="274">
                    <c:v/>
                  </c:pt>
                  <c:pt idx="275">
                    <c:v/>
                  </c:pt>
                  <c:pt idx="276">
                    <c:v/>
                  </c:pt>
                  <c:pt idx="277">
                    <c:v/>
                  </c:pt>
                  <c:pt idx="278">
                    <c:v/>
                  </c:pt>
                  <c:pt idx="279">
                    <c:v>mar-26</c:v>
                  </c:pt>
                  <c:pt idx="280">
                    <c:v/>
                  </c:pt>
                  <c:pt idx="281">
                    <c:v/>
                  </c:pt>
                  <c:pt idx="282">
                    <c:v/>
                  </c:pt>
                  <c:pt idx="283">
                    <c:v/>
                  </c:pt>
                  <c:pt idx="284">
                    <c:v/>
                  </c:pt>
                  <c:pt idx="285">
                    <c:v/>
                  </c:pt>
                  <c:pt idx="286">
                    <c:v/>
                  </c:pt>
                  <c:pt idx="287">
                    <c:v/>
                  </c:pt>
                  <c:pt idx="288">
                    <c:v/>
                  </c:pt>
                  <c:pt idx="289">
                    <c:v/>
                  </c:pt>
                  <c:pt idx="290">
                    <c:v/>
                  </c:pt>
                  <c:pt idx="291">
                    <c:v/>
                  </c:pt>
                  <c:pt idx="292">
                    <c:v/>
                  </c:pt>
                  <c:pt idx="293">
                    <c:v/>
                  </c:pt>
                  <c:pt idx="294">
                    <c:v/>
                  </c:pt>
                  <c:pt idx="295">
                    <c:v/>
                  </c:pt>
                  <c:pt idx="296">
                    <c:v/>
                  </c:pt>
                  <c:pt idx="297">
                    <c:v/>
                  </c:pt>
                  <c:pt idx="298">
                    <c:v/>
                  </c:pt>
                  <c:pt idx="299">
                    <c:v/>
                  </c:pt>
                  <c:pt idx="300">
                    <c:v/>
                  </c:pt>
                  <c:pt idx="301">
                    <c:v/>
                  </c:pt>
                  <c:pt idx="302">
                    <c:v/>
                  </c:pt>
                  <c:pt idx="303">
                    <c:v/>
                  </c:pt>
                  <c:pt idx="304">
                    <c:v/>
                  </c:pt>
                  <c:pt idx="305">
                    <c:v/>
                  </c:pt>
                  <c:pt idx="306">
                    <c:v/>
                  </c:pt>
                  <c:pt idx="307">
                    <c:v/>
                  </c:pt>
                  <c:pt idx="308">
                    <c:v/>
                  </c:pt>
                  <c:pt idx="309">
                    <c:v/>
                  </c:pt>
                  <c:pt idx="310">
                    <c:v/>
                  </c:pt>
                  <c:pt idx="311">
                    <c:v/>
                  </c:pt>
                  <c:pt idx="312">
                    <c:v/>
                  </c:pt>
                  <c:pt idx="313">
                    <c:v/>
                  </c:pt>
                  <c:pt idx="314">
                    <c:v/>
                  </c:pt>
                  <c:pt idx="315">
                    <c:v/>
                  </c:pt>
                  <c:pt idx="316">
                    <c:v/>
                  </c:pt>
                  <c:pt idx="317">
                    <c:v/>
                  </c:pt>
                  <c:pt idx="318">
                    <c:v/>
                  </c:pt>
                  <c:pt idx="319">
                    <c:v>may-26</c:v>
                  </c:pt>
                  <c:pt idx="320">
                    <c:v/>
                  </c:pt>
                  <c:pt idx="321">
                    <c:v/>
                  </c:pt>
                  <c:pt idx="322">
                    <c:v/>
                  </c:pt>
                  <c:pt idx="323">
                    <c:v/>
                  </c:pt>
                  <c:pt idx="324">
                    <c:v/>
                  </c:pt>
                  <c:pt idx="325">
                    <c:v/>
                  </c:pt>
                  <c:pt idx="326">
                    <c:v/>
                  </c:pt>
                  <c:pt idx="327">
                    <c:v/>
                  </c:pt>
                  <c:pt idx="328">
                    <c:v/>
                  </c:pt>
                  <c:pt idx="329">
                    <c:v/>
                  </c:pt>
                  <c:pt idx="330">
                    <c:v/>
                  </c:pt>
                  <c:pt idx="331">
                    <c:v/>
                  </c:pt>
                  <c:pt idx="332">
                    <c:v/>
                  </c:pt>
                  <c:pt idx="333">
                    <c:v/>
                  </c:pt>
                  <c:pt idx="334">
                    <c:v/>
                  </c:pt>
                  <c:pt idx="335">
                    <c:v/>
                  </c:pt>
                  <c:pt idx="336">
                    <c:v/>
                  </c:pt>
                  <c:pt idx="337">
                    <c:v/>
                  </c:pt>
                  <c:pt idx="338">
                    <c:v/>
                  </c:pt>
                  <c:pt idx="339">
                    <c:v/>
                  </c:pt>
                  <c:pt idx="340">
                    <c:v/>
                  </c:pt>
                  <c:pt idx="341">
                    <c:v/>
                  </c:pt>
                  <c:pt idx="342">
                    <c:v/>
                  </c:pt>
                  <c:pt idx="343">
                    <c:v/>
                  </c:pt>
                  <c:pt idx="344">
                    <c:v/>
                  </c:pt>
                  <c:pt idx="345">
                    <c:v/>
                  </c:pt>
                  <c:pt idx="346">
                    <c:v/>
                  </c:pt>
                  <c:pt idx="347">
                    <c:v/>
                  </c:pt>
                  <c:pt idx="348">
                    <c:v/>
                  </c:pt>
                  <c:pt idx="349">
                    <c:v/>
                  </c:pt>
                  <c:pt idx="350">
                    <c:v/>
                  </c:pt>
                  <c:pt idx="351">
                    <c:v/>
                  </c:pt>
                  <c:pt idx="352">
                    <c:v/>
                  </c:pt>
                  <c:pt idx="353">
                    <c:v/>
                  </c:pt>
                  <c:pt idx="354">
                    <c:v/>
                  </c:pt>
                  <c:pt idx="355">
                    <c:v/>
                  </c:pt>
                  <c:pt idx="356">
                    <c:v/>
                  </c:pt>
                  <c:pt idx="357">
                    <c:v/>
                  </c:pt>
                  <c:pt idx="358">
                    <c:v/>
                  </c:pt>
                  <c:pt idx="359">
                    <c:v>jul-26</c:v>
                  </c:pt>
                  <c:pt idx="360">
                    <c:v/>
                  </c:pt>
                  <c:pt idx="361">
                    <c:v/>
                  </c:pt>
                  <c:pt idx="362">
                    <c:v/>
                  </c:pt>
                  <c:pt idx="363">
                    <c:v/>
                  </c:pt>
                  <c:pt idx="364">
                    <c:v/>
                  </c:pt>
                  <c:pt idx="365">
                    <c:v/>
                  </c:pt>
                  <c:pt idx="366">
                    <c:v/>
                  </c:pt>
                  <c:pt idx="367">
                    <c:v/>
                  </c:pt>
                  <c:pt idx="368">
                    <c:v/>
                  </c:pt>
                  <c:pt idx="369">
                    <c:v/>
                  </c:pt>
                  <c:pt idx="370">
                    <c:v/>
                  </c:pt>
                  <c:pt idx="371">
                    <c:v/>
                  </c:pt>
                  <c:pt idx="372">
                    <c:v/>
                  </c:pt>
                  <c:pt idx="373">
                    <c:v/>
                  </c:pt>
                  <c:pt idx="374">
                    <c:v/>
                  </c:pt>
                  <c:pt idx="375">
                    <c:v/>
                  </c:pt>
                  <c:pt idx="376">
                    <c:v/>
                  </c:pt>
                  <c:pt idx="377">
                    <c:v/>
                  </c:pt>
                  <c:pt idx="378">
                    <c:v/>
                  </c:pt>
                  <c:pt idx="379">
                    <c:v/>
                  </c:pt>
                  <c:pt idx="380">
                    <c:v/>
                  </c:pt>
                  <c:pt idx="381">
                    <c:v/>
                  </c:pt>
                  <c:pt idx="382">
                    <c:v/>
                  </c:pt>
                  <c:pt idx="383">
                    <c:v/>
                  </c:pt>
                  <c:pt idx="384">
                    <c:v/>
                  </c:pt>
                  <c:pt idx="385">
                    <c:v/>
                  </c:pt>
                  <c:pt idx="386">
                    <c:v/>
                  </c:pt>
                  <c:pt idx="387">
                    <c:v/>
                  </c:pt>
                  <c:pt idx="388">
                    <c:v/>
                  </c:pt>
                  <c:pt idx="389">
                    <c:v/>
                  </c:pt>
                  <c:pt idx="390">
                    <c:v/>
                  </c:pt>
                  <c:pt idx="391">
                    <c:v/>
                  </c:pt>
                  <c:pt idx="392">
                    <c:v/>
                  </c:pt>
                  <c:pt idx="393">
                    <c:v/>
                  </c:pt>
                  <c:pt idx="394">
                    <c:v/>
                  </c:pt>
                  <c:pt idx="395">
                    <c:v/>
                  </c:pt>
                  <c:pt idx="396">
                    <c:v/>
                  </c:pt>
                  <c:pt idx="397">
                    <c:v/>
                  </c:pt>
                  <c:pt idx="398">
                    <c:v/>
                  </c:pt>
                  <c:pt idx="399">
                    <c:v/>
                  </c:pt>
                  <c:pt idx="400">
                    <c:v>sep-26</c:v>
                  </c:pt>
                  <c:pt idx="401">
                    <c:v/>
                  </c:pt>
                  <c:pt idx="402">
                    <c:v/>
                  </c:pt>
                  <c:pt idx="403">
                    <c:v/>
                  </c:pt>
                  <c:pt idx="404">
                    <c:v/>
                  </c:pt>
                  <c:pt idx="405">
                    <c:v/>
                  </c:pt>
                  <c:pt idx="406">
                    <c:v/>
                  </c:pt>
                  <c:pt idx="407">
                    <c:v/>
                  </c:pt>
                  <c:pt idx="408">
                    <c:v/>
                  </c:pt>
                  <c:pt idx="409">
                    <c:v/>
                  </c:pt>
                  <c:pt idx="410">
                    <c:v/>
                  </c:pt>
                  <c:pt idx="411">
                    <c:v/>
                  </c:pt>
                  <c:pt idx="412">
                    <c:v/>
                  </c:pt>
                  <c:pt idx="413">
                    <c:v/>
                  </c:pt>
                  <c:pt idx="414">
                    <c:v/>
                  </c:pt>
                  <c:pt idx="415">
                    <c:v/>
                  </c:pt>
                  <c:pt idx="416">
                    <c:v/>
                  </c:pt>
                  <c:pt idx="417">
                    <c:v/>
                  </c:pt>
                </c:lvl>
              </c:multiLvlStrCache>
            </c:multiLvlStrRef>
          </c:cat>
          <c:val>
            <c:numRef>
              <c:f>Sheet1!$B$2:$B$419</c:f>
              <c:numCache>
                <c:formatCode>General</c:formatCode>
                <c:ptCount val="418"/>
                <c:pt idx="0">
                  <c:v>2.2</c:v>
                </c:pt>
                <c:pt idx="1">
                  <c:v>2.9</c:v>
                </c:pt>
                <c:pt idx="2">
                  <c:v>4.1</c:v>
                </c:pt>
                <c:pt idx="3">
                  <c:v>4</c:v>
                </c:pt>
                <c:pt idx="4">
                  <c:v>2.8</c:v>
                </c:pt>
                <c:pt idx="5">
                  <c:v>3.3</c:v>
                </c:pt>
                <c:pt idx="6">
                  <c:v>3.4</c:v>
                </c:pt>
                <c:pt idx="7">
                  <c:v>4.4</c:v>
                </c:pt>
                <c:pt idx="8">
                  <c:v>5.6</c:v>
                </c:pt>
                <c:pt idx="9">
                  <c:v>4.9</c:v>
                </c:pt>
                <c:pt idx="10">
                  <c:v>3.8</c:v>
                </c:pt>
                <c:pt idx="11">
                  <c:v>4.3</c:v>
                </c:pt>
                <c:pt idx="12">
                  <c:v>3.6</c:v>
                </c:pt>
                <c:pt idx="13">
                  <c:v>4.3</c:v>
                </c:pt>
                <c:pt idx="14">
                  <c:v>3.9</c:v>
                </c:pt>
                <c:pt idx="15">
                  <c:v>3.8</c:v>
                </c:pt>
                <c:pt idx="16">
                  <c:v>5.1</c:v>
                </c:pt>
                <c:pt idx="17">
                  <c:v>2.7</c:v>
                </c:pt>
                <c:pt idx="18">
                  <c:v>4.4</c:v>
                </c:pt>
                <c:pt idx="19">
                  <c:v>3.6</c:v>
                </c:pt>
                <c:pt idx="20">
                  <c:v>3.4</c:v>
                </c:pt>
                <c:pt idx="21">
                  <c:v>1.3</c:v>
                </c:pt>
                <c:pt idx="22">
                  <c:v>0.2</c:v>
                </c:pt>
                <c:pt idx="23">
                  <c:v>1.1</c:v>
                </c:pt>
                <c:pt idx="24">
                  <c:v>1.2</c:v>
                </c:pt>
                <c:pt idx="25">
                  <c:v>0.9</c:v>
                </c:pt>
                <c:pt idx="26">
                  <c:v>0.2</c:v>
                </c:pt>
                <c:pt idx="27">
                  <c:v>-0.3</c:v>
                </c:pt>
                <c:pt idx="28">
                  <c:v>0.3</c:v>
                </c:pt>
                <c:pt idx="29">
                  <c:v>-0.3</c:v>
                </c:pt>
                <c:pt idx="30">
                  <c:v>-0.9</c:v>
                </c:pt>
                <c:pt idx="31">
                  <c:v>-0.1</c:v>
                </c:pt>
                <c:pt idx="32">
                  <c:v>-1.8</c:v>
                </c:pt>
                <c:pt idx="33">
                  <c:v>-2.7</c:v>
                </c:pt>
                <c:pt idx="34">
                  <c:v>-3.4</c:v>
                </c:pt>
                <c:pt idx="35">
                  <c:v>-4.3</c:v>
                </c:pt>
                <c:pt idx="36">
                  <c:v>-4.2</c:v>
                </c:pt>
                <c:pt idx="37">
                  <c:v>-5.9</c:v>
                </c:pt>
                <c:pt idx="38">
                  <c:v>-5.9</c:v>
                </c:pt>
                <c:pt idx="39">
                  <c:v>-7.3</c:v>
                </c:pt>
                <c:pt idx="40">
                  <c:v>-7.4</c:v>
                </c:pt>
                <c:pt idx="41">
                  <c:v>-7.7</c:v>
                </c:pt>
                <c:pt idx="42">
                  <c:v>-10.6</c:v>
                </c:pt>
                <c:pt idx="43">
                  <c:v>-10.1</c:v>
                </c:pt>
                <c:pt idx="44">
                  <c:v>-10.6</c:v>
                </c:pt>
                <c:pt idx="45">
                  <c:v>-12.4</c:v>
                </c:pt>
                <c:pt idx="46">
                  <c:v>-12.3</c:v>
                </c:pt>
                <c:pt idx="47">
                  <c:v>-12.9</c:v>
                </c:pt>
                <c:pt idx="48">
                  <c:v>-13.4</c:v>
                </c:pt>
                <c:pt idx="49">
                  <c:v>-13.5</c:v>
                </c:pt>
                <c:pt idx="50">
                  <c:v>-13.4</c:v>
                </c:pt>
                <c:pt idx="51">
                  <c:v>-12.3</c:v>
                </c:pt>
                <c:pt idx="52">
                  <c:v>-11.9</c:v>
                </c:pt>
                <c:pt idx="53">
                  <c:v>-11.4</c:v>
                </c:pt>
                <c:pt idx="54">
                  <c:v>-11.5</c:v>
                </c:pt>
                <c:pt idx="55">
                  <c:v>-10.7</c:v>
                </c:pt>
                <c:pt idx="56">
                  <c:v>-9.7</c:v>
                </c:pt>
                <c:pt idx="57">
                  <c:v>-9.4</c:v>
                </c:pt>
                <c:pt idx="58">
                  <c:v>-9.6</c:v>
                </c:pt>
                <c:pt idx="59">
                  <c:v>-8.4</c:v>
                </c:pt>
                <c:pt idx="60">
                  <c:v>-7.3</c:v>
                </c:pt>
                <c:pt idx="61">
                  <c:v>-6.7</c:v>
                </c:pt>
                <c:pt idx="62">
                  <c:v>-7.3</c:v>
                </c:pt>
                <c:pt idx="63">
                  <c:v>-5.2</c:v>
                </c:pt>
                <c:pt idx="64">
                  <c:v>-4.4</c:v>
                </c:pt>
                <c:pt idx="65">
                  <c:v>-5.2</c:v>
                </c:pt>
                <c:pt idx="66">
                  <c:v>-3.6</c:v>
                </c:pt>
                <c:pt idx="67">
                  <c:v>-3.2</c:v>
                </c:pt>
                <c:pt idx="68">
                  <c:v>1.8</c:v>
                </c:pt>
                <c:pt idx="69">
                  <c:v>1.5</c:v>
                </c:pt>
                <c:pt idx="70">
                  <c:v>3.6</c:v>
                </c:pt>
                <c:pt idx="71">
                  <c:v>4</c:v>
                </c:pt>
                <c:pt idx="72">
                  <c:v>4</c:v>
                </c:pt>
                <c:pt idx="73">
                  <c:v>4.7</c:v>
                </c:pt>
                <c:pt idx="74">
                  <c:v>4.2</c:v>
                </c:pt>
                <c:pt idx="75">
                  <c:v>4.8</c:v>
                </c:pt>
                <c:pt idx="76">
                  <c:v>5.8</c:v>
                </c:pt>
                <c:pt idx="77">
                  <c:v>6.5</c:v>
                </c:pt>
                <c:pt idx="78">
                  <c:v>6.8</c:v>
                </c:pt>
                <c:pt idx="79">
                  <c:v>8.7</c:v>
                </c:pt>
                <c:pt idx="80">
                  <c:v>10.8</c:v>
                </c:pt>
                <c:pt idx="81">
                  <c:v>10.8</c:v>
                </c:pt>
                <c:pt idx="82">
                  <c:v>11.6</c:v>
                </c:pt>
                <c:pt idx="83">
                  <c:v>11.2</c:v>
                </c:pt>
                <c:pt idx="84">
                  <c:v>12.7</c:v>
                </c:pt>
                <c:pt idx="85">
                  <c:v>14.8</c:v>
                </c:pt>
                <c:pt idx="86">
                  <c:v>14.5</c:v>
                </c:pt>
                <c:pt idx="87">
                  <c:v>15.7</c:v>
                </c:pt>
                <c:pt idx="88">
                  <c:v>14</c:v>
                </c:pt>
                <c:pt idx="89">
                  <c:v>15.8</c:v>
                </c:pt>
                <c:pt idx="90">
                  <c:v>15.9</c:v>
                </c:pt>
                <c:pt idx="91">
                  <c:v>14.2</c:v>
                </c:pt>
                <c:pt idx="92">
                  <c:v>14.5</c:v>
                </c:pt>
                <c:pt idx="93">
                  <c:v>15.5</c:v>
                </c:pt>
                <c:pt idx="94">
                  <c:v>13.6</c:v>
                </c:pt>
                <c:pt idx="95">
                  <c:v>14.8</c:v>
                </c:pt>
                <c:pt idx="96">
                  <c:v>13.6</c:v>
                </c:pt>
                <c:pt idx="97">
                  <c:v>13.9</c:v>
                </c:pt>
                <c:pt idx="98">
                  <c:v>13.4</c:v>
                </c:pt>
                <c:pt idx="99">
                  <c:v>14.2</c:v>
                </c:pt>
                <c:pt idx="100">
                  <c:v>13.9</c:v>
                </c:pt>
                <c:pt idx="101">
                  <c:v>12.7</c:v>
                </c:pt>
                <c:pt idx="102">
                  <c:v>13</c:v>
                </c:pt>
                <c:pt idx="103">
                  <c:v>13.2</c:v>
                </c:pt>
                <c:pt idx="104">
                  <c:v>12.4</c:v>
                </c:pt>
                <c:pt idx="105">
                  <c:v>13.2</c:v>
                </c:pt>
                <c:pt idx="106">
                  <c:v>13</c:v>
                </c:pt>
                <c:pt idx="107">
                  <c:v>13.2</c:v>
                </c:pt>
                <c:pt idx="108">
                  <c:v>12.8</c:v>
                </c:pt>
                <c:pt idx="109">
                  <c:v>12.9</c:v>
                </c:pt>
                <c:pt idx="110">
                  <c:v>12.4</c:v>
                </c:pt>
                <c:pt idx="111">
                  <c:v>13.5</c:v>
                </c:pt>
                <c:pt idx="112">
                  <c:v>11.8</c:v>
                </c:pt>
                <c:pt idx="113">
                  <c:v>12.7</c:v>
                </c:pt>
                <c:pt idx="114">
                  <c:v>11.9</c:v>
                </c:pt>
                <c:pt idx="115">
                  <c:v>11.7</c:v>
                </c:pt>
                <c:pt idx="116">
                  <c:v>11.8</c:v>
                </c:pt>
                <c:pt idx="117">
                  <c:v>10.9</c:v>
                </c:pt>
                <c:pt idx="118">
                  <c:v>11.5</c:v>
                </c:pt>
                <c:pt idx="119">
                  <c:v>11.1</c:v>
                </c:pt>
                <c:pt idx="120">
                  <c:v>11</c:v>
                </c:pt>
                <c:pt idx="121">
                  <c:v>10</c:v>
                </c:pt>
                <c:pt idx="122">
                  <c:v>9.7</c:v>
                </c:pt>
                <c:pt idx="123">
                  <c:v>10.3</c:v>
                </c:pt>
                <c:pt idx="124">
                  <c:v>8.9</c:v>
                </c:pt>
                <c:pt idx="125">
                  <c:v>7.8</c:v>
                </c:pt>
                <c:pt idx="126">
                  <c:v>5.8</c:v>
                </c:pt>
                <c:pt idx="127">
                  <c:v>5.6</c:v>
                </c:pt>
                <c:pt idx="128">
                  <c:v>6.9</c:v>
                </c:pt>
                <c:pt idx="129">
                  <c:v>7.1</c:v>
                </c:pt>
                <c:pt idx="130">
                  <c:v>8.4</c:v>
                </c:pt>
                <c:pt idx="131">
                  <c:v>9.1</c:v>
                </c:pt>
                <c:pt idx="132">
                  <c:v>11.5</c:v>
                </c:pt>
                <c:pt idx="133">
                  <c:v>11.7</c:v>
                </c:pt>
                <c:pt idx="134">
                  <c:v>11.8</c:v>
                </c:pt>
                <c:pt idx="135">
                  <c:v>10.9</c:v>
                </c:pt>
                <c:pt idx="136">
                  <c:v>10.2</c:v>
                </c:pt>
                <c:pt idx="137">
                  <c:v>12.6</c:v>
                </c:pt>
                <c:pt idx="138">
                  <c:v>12.5</c:v>
                </c:pt>
                <c:pt idx="139">
                  <c:v>14.1</c:v>
                </c:pt>
                <c:pt idx="140">
                  <c:v>15.4</c:v>
                </c:pt>
                <c:pt idx="141">
                  <c:v>16.3</c:v>
                </c:pt>
                <c:pt idx="142">
                  <c:v>16.9</c:v>
                </c:pt>
                <c:pt idx="143">
                  <c:v>15.6</c:v>
                </c:pt>
                <c:pt idx="144">
                  <c:v>17</c:v>
                </c:pt>
                <c:pt idx="145">
                  <c:v>18.5</c:v>
                </c:pt>
                <c:pt idx="146">
                  <c:v>19.7</c:v>
                </c:pt>
                <c:pt idx="147">
                  <c:v>24.5</c:v>
                </c:pt>
                <c:pt idx="148">
                  <c:v>22.6</c:v>
                </c:pt>
                <c:pt idx="149">
                  <c:v>25.4</c:v>
                </c:pt>
                <c:pt idx="150">
                  <c:v>28.7</c:v>
                </c:pt>
                <c:pt idx="151">
                  <c:v>34.1</c:v>
                </c:pt>
                <c:pt idx="152">
                  <c:v>33.1</c:v>
                </c:pt>
                <c:pt idx="153">
                  <c:v>33.5</c:v>
                </c:pt>
                <c:pt idx="154">
                  <c:v>32.5</c:v>
                </c:pt>
                <c:pt idx="155">
                  <c:v>31.1</c:v>
                </c:pt>
                <c:pt idx="156">
                  <c:v>38.8</c:v>
                </c:pt>
                <c:pt idx="157">
                  <c:v>34.9</c:v>
                </c:pt>
                <c:pt idx="158">
                  <c:v>39.5</c:v>
                </c:pt>
                <c:pt idx="159">
                  <c:v>38</c:v>
                </c:pt>
                <c:pt idx="160">
                  <c:v>38</c:v>
                </c:pt>
                <c:pt idx="161">
                  <c:v>34.7</c:v>
                </c:pt>
                <c:pt idx="162">
                  <c:v>35.7</c:v>
                </c:pt>
                <c:pt idx="163">
                  <c:v>36.4</c:v>
                </c:pt>
                <c:pt idx="164">
                  <c:v>33.8</c:v>
                </c:pt>
                <c:pt idx="165">
                  <c:v>35.1</c:v>
                </c:pt>
                <c:pt idx="166">
                  <c:v>38.2</c:v>
                </c:pt>
                <c:pt idx="167">
                  <c:v>31.3</c:v>
                </c:pt>
                <c:pt idx="168">
                  <c:v>27.9</c:v>
                </c:pt>
                <c:pt idx="169">
                  <c:v>22.1</c:v>
                </c:pt>
                <c:pt idx="170">
                  <c:v>20.1</c:v>
                </c:pt>
                <c:pt idx="171">
                  <c:v>18.6</c:v>
                </c:pt>
                <c:pt idx="172">
                  <c:v>18.3</c:v>
                </c:pt>
                <c:pt idx="173">
                  <c:v>19.4</c:v>
                </c:pt>
                <c:pt idx="174">
                  <c:v>20.4</c:v>
                </c:pt>
                <c:pt idx="175">
                  <c:v>20.3</c:v>
                </c:pt>
                <c:pt idx="176">
                  <c:v>21.4</c:v>
                </c:pt>
                <c:pt idx="177">
                  <c:v>18</c:v>
                </c:pt>
                <c:pt idx="178">
                  <c:v>14.4</c:v>
                </c:pt>
                <c:pt idx="179">
                  <c:v>13.1</c:v>
                </c:pt>
                <c:pt idx="180">
                  <c:v>13.2</c:v>
                </c:pt>
                <c:pt idx="181">
                  <c:v>14.6</c:v>
                </c:pt>
                <c:pt idx="182">
                  <c:v>14.1</c:v>
                </c:pt>
                <c:pt idx="183">
                  <c:v>13.8</c:v>
                </c:pt>
                <c:pt idx="184">
                  <c:v>14.2</c:v>
                </c:pt>
                <c:pt idx="185">
                  <c:v>13.9</c:v>
                </c:pt>
                <c:pt idx="186">
                  <c:v>17.5</c:v>
                </c:pt>
                <c:pt idx="187">
                  <c:v>17.6</c:v>
                </c:pt>
                <c:pt idx="188">
                  <c:v>23.5</c:v>
                </c:pt>
                <c:pt idx="189">
                  <c:v>19.6</c:v>
                </c:pt>
                <c:pt idx="190">
                  <c:v>25.8</c:v>
                </c:pt>
                <c:pt idx="191">
                  <c:v>30.9</c:v>
                </c:pt>
                <c:pt idx="192">
                  <c:v>32.1</c:v>
                </c:pt>
                <c:pt idx="193">
                  <c:v>26.9</c:v>
                </c:pt>
                <c:pt idx="194">
                  <c:v>22.2</c:v>
                </c:pt>
                <c:pt idx="195">
                  <c:v>21.4</c:v>
                </c:pt>
                <c:pt idx="196">
                  <c:v>20.6</c:v>
                </c:pt>
                <c:pt idx="197">
                  <c:v>21.1</c:v>
                </c:pt>
                <c:pt idx="198">
                  <c:v>21.9</c:v>
                </c:pt>
                <c:pt idx="199">
                  <c:v>13.1</c:v>
                </c:pt>
                <c:pt idx="200">
                  <c:v>16</c:v>
                </c:pt>
                <c:pt idx="201">
                  <c:v>12.3</c:v>
                </c:pt>
                <c:pt idx="202">
                  <c:v>12</c:v>
                </c:pt>
                <c:pt idx="203">
                  <c:v>7.9</c:v>
                </c:pt>
                <c:pt idx="204">
                  <c:v>5.2</c:v>
                </c:pt>
                <c:pt idx="205">
                  <c:v>5.4</c:v>
                </c:pt>
                <c:pt idx="206">
                  <c:v>4.4</c:v>
                </c:pt>
                <c:pt idx="207">
                  <c:v>3.1</c:v>
                </c:pt>
                <c:pt idx="208">
                  <c:v>2.4</c:v>
                </c:pt>
                <c:pt idx="209">
                  <c:v>3.2</c:v>
                </c:pt>
                <c:pt idx="210">
                  <c:v>1.1</c:v>
                </c:pt>
                <c:pt idx="211">
                  <c:v>1.3</c:v>
                </c:pt>
                <c:pt idx="212">
                  <c:v>1.7</c:v>
                </c:pt>
                <c:pt idx="213">
                  <c:v>0.4</c:v>
                </c:pt>
                <c:pt idx="214">
                  <c:v>1.6</c:v>
                </c:pt>
                <c:pt idx="215">
                  <c:v>1.2</c:v>
                </c:pt>
                <c:pt idx="216">
                  <c:v>0</c:v>
                </c:pt>
                <c:pt idx="217">
                  <c:v>-1.4</c:v>
                </c:pt>
                <c:pt idx="218">
                  <c:v>-1.9</c:v>
                </c:pt>
                <c:pt idx="219">
                  <c:v>-1.6</c:v>
                </c:pt>
                <c:pt idx="220">
                  <c:v>-2</c:v>
                </c:pt>
                <c:pt idx="221">
                  <c:v>-2.8</c:v>
                </c:pt>
                <c:pt idx="222">
                  <c:v>-3.8</c:v>
                </c:pt>
                <c:pt idx="223">
                  <c:v>-5.7</c:v>
                </c:pt>
                <c:pt idx="224">
                  <c:v>-6.3</c:v>
                </c:pt>
                <c:pt idx="225">
                  <c:v>-6.6</c:v>
                </c:pt>
                <c:pt idx="226">
                  <c:v>-7.5</c:v>
                </c:pt>
                <c:pt idx="227">
                  <c:v>-7.4</c:v>
                </c:pt>
                <c:pt idx="228">
                  <c:v>-7.3</c:v>
                </c:pt>
                <c:pt idx="229">
                  <c:v>-8.1</c:v>
                </c:pt>
                <c:pt idx="230">
                  <c:v>-8.1</c:v>
                </c:pt>
                <c:pt idx="231">
                  <c:v>-7.7</c:v>
                </c:pt>
                <c:pt idx="232">
                  <c:v>-7.7</c:v>
                </c:pt>
                <c:pt idx="233">
                  <c:v>-7.4</c:v>
                </c:pt>
                <c:pt idx="234">
                  <c:v>-6.7</c:v>
                </c:pt>
                <c:pt idx="235">
                  <c:v>-6.9</c:v>
                </c:pt>
                <c:pt idx="236">
                  <c:v>-5.4</c:v>
                </c:pt>
                <c:pt idx="237">
                  <c:v>-7.1</c:v>
                </c:pt>
                <c:pt idx="238">
                  <c:v>-7.9</c:v>
                </c:pt>
                <c:pt idx="239">
                  <c:v>-7.4</c:v>
                </c:pt>
                <c:pt idx="240">
                  <c:v>-7.5</c:v>
                </c:pt>
                <c:pt idx="241">
                  <c:v>-7.4</c:v>
                </c:pt>
                <c:pt idx="242">
                  <c:v>-6.4</c:v>
                </c:pt>
                <c:pt idx="243">
                  <c:v>-4.7</c:v>
                </c:pt>
                <c:pt idx="244">
                  <c:v>-4.5</c:v>
                </c:pt>
                <c:pt idx="245">
                  <c:v>-5.2</c:v>
                </c:pt>
                <c:pt idx="246">
                  <c:v>-7.2</c:v>
                </c:pt>
                <c:pt idx="247">
                  <c:v>-5.6</c:v>
                </c:pt>
                <c:pt idx="248">
                  <c:v>-3.8</c:v>
                </c:pt>
                <c:pt idx="249">
                  <c:v>-3.2</c:v>
                </c:pt>
                <c:pt idx="250">
                  <c:v>-2.3</c:v>
                </c:pt>
                <c:pt idx="251">
                  <c:v>-2.4</c:v>
                </c:pt>
                <c:pt idx="252">
                  <c:v>-0.4</c:v>
                </c:pt>
                <c:pt idx="253">
                  <c:v>-0.6</c:v>
                </c:pt>
                <c:pt idx="254">
                  <c:v>0.3</c:v>
                </c:pt>
                <c:pt idx="255">
                  <c:v>1.1</c:v>
                </c:pt>
                <c:pt idx="256">
                  <c:v>-3.1</c:v>
                </c:pt>
                <c:pt idx="257">
                  <c:v>-2.2</c:v>
                </c:pt>
                <c:pt idx="258">
                  <c:v>-4.3</c:v>
                </c:pt>
                <c:pt idx="259">
                  <c:v>-4.8</c:v>
                </c:pt>
                <c:pt idx="260">
                  <c:v>-3.9</c:v>
                </c:pt>
                <c:pt idx="261">
                  <c:v>-5.5</c:v>
                </c:pt>
                <c:pt idx="262">
                  <c:v>-3.5</c:v>
                </c:pt>
                <c:pt idx="263">
                  <c:v>-4.5</c:v>
                </c:pt>
                <c:pt idx="264">
                  <c:v>-4.7</c:v>
                </c:pt>
                <c:pt idx="265">
                  <c:v>-4.5</c:v>
                </c:pt>
                <c:pt idx="266">
                  <c:v>-5.7</c:v>
                </c:pt>
                <c:pt idx="267">
                  <c:v>-4.9</c:v>
                </c:pt>
                <c:pt idx="268">
                  <c:v>-6.1</c:v>
                </c:pt>
                <c:pt idx="269">
                  <c:v>-5.1</c:v>
                </c:pt>
                <c:pt idx="270">
                  <c:v>-3.7</c:v>
                </c:pt>
                <c:pt idx="271">
                  <c:v>-5.1</c:v>
                </c:pt>
                <c:pt idx="272">
                  <c:v>-4.1</c:v>
                </c:pt>
                <c:pt idx="273">
                  <c:v>-3.5</c:v>
                </c:pt>
                <c:pt idx="274">
                  <c:v>-3.7</c:v>
                </c:pt>
                <c:pt idx="275">
                  <c:v>-2.8</c:v>
                </c:pt>
                <c:pt idx="276">
                  <c:v>-6.2</c:v>
                </c:pt>
                <c:pt idx="277">
                  <c:v>-6.9</c:v>
                </c:pt>
                <c:pt idx="278">
                  <c:v>-7.7</c:v>
                </c:pt>
                <c:pt idx="279">
                  <c:v>-8.8</c:v>
                </c:pt>
                <c:pt idx="280">
                  <c:v>-8.5</c:v>
                </c:pt>
                <c:pt idx="281">
                  <c:v>-9.6</c:v>
                </c:pt>
                <c:pt idx="282">
                  <c:v>-8.9</c:v>
                </c:pt>
                <c:pt idx="283">
                  <c:v>-10.1</c:v>
                </c:pt>
                <c:pt idx="284">
                  <c:v>-10.5</c:v>
                </c:pt>
                <c:pt idx="285">
                  <c:v>-10</c:v>
                </c:pt>
                <c:pt idx="286">
                  <c:v>-10.4</c:v>
                </c:pt>
                <c:pt idx="287">
                  <c:v>-10.3</c:v>
                </c:pt>
                <c:pt idx="288">
                  <c:v>-11.2</c:v>
                </c:pt>
                <c:pt idx="289">
                  <c:v>-11.3</c:v>
                </c:pt>
                <c:pt idx="290">
                  <c:v>-11.3</c:v>
                </c:pt>
                <c:pt idx="291">
                  <c:v>-12.2</c:v>
                </c:pt>
                <c:pt idx="292">
                  <c:v>-12.5</c:v>
                </c:pt>
                <c:pt idx="293">
                  <c:v>-12.7</c:v>
                </c:pt>
                <c:pt idx="294">
                  <c:v>-11.6</c:v>
                </c:pt>
                <c:pt idx="295">
                  <c:v>-11.1</c:v>
                </c:pt>
                <c:pt idx="296">
                  <c:v>-11.6</c:v>
                </c:pt>
                <c:pt idx="297">
                  <c:v>-10.6</c:v>
                </c:pt>
                <c:pt idx="298">
                  <c:v>-10</c:v>
                </c:pt>
                <c:pt idx="299">
                  <c:v>-9.9</c:v>
                </c:pt>
                <c:pt idx="300">
                  <c:v>-9.2</c:v>
                </c:pt>
                <c:pt idx="301">
                  <c:v>-8.2</c:v>
                </c:pt>
                <c:pt idx="302">
                  <c:v>-8.2</c:v>
                </c:pt>
                <c:pt idx="303">
                  <c:v>-9.4</c:v>
                </c:pt>
                <c:pt idx="304">
                  <c:v>-9.9</c:v>
                </c:pt>
                <c:pt idx="305">
                  <c:v>-9.7</c:v>
                </c:pt>
                <c:pt idx="306">
                  <c:v>-8.7</c:v>
                </c:pt>
                <c:pt idx="307">
                  <c:v>-8.8</c:v>
                </c:pt>
                <c:pt idx="308">
                  <c:v>-8.3</c:v>
                </c:pt>
                <c:pt idx="309">
                  <c:v>-8.2</c:v>
                </c:pt>
                <c:pt idx="310">
                  <c:v>-8.6</c:v>
                </c:pt>
                <c:pt idx="311">
                  <c:v>-8</c:v>
                </c:pt>
                <c:pt idx="312">
                  <c:v>-7.6</c:v>
                </c:pt>
                <c:pt idx="313">
                  <c:v>-7.4</c:v>
                </c:pt>
                <c:pt idx="314">
                  <c:v>-7.9</c:v>
                </c:pt>
                <c:pt idx="315">
                  <c:v>-8.2</c:v>
                </c:pt>
                <c:pt idx="316">
                  <c:v>-6.9</c:v>
                </c:pt>
                <c:pt idx="317">
                  <c:v>-7.3</c:v>
                </c:pt>
                <c:pt idx="318">
                  <c:v>-7.2</c:v>
                </c:pt>
                <c:pt idx="319">
                  <c:v>-5.9</c:v>
                </c:pt>
                <c:pt idx="320">
                  <c:v>-5</c:v>
                </c:pt>
                <c:pt idx="321">
                  <c:v>-6</c:v>
                </c:pt>
                <c:pt idx="322">
                  <c:v>-5.5</c:v>
                </c:pt>
                <c:pt idx="323">
                  <c:v>-5.7</c:v>
                </c:pt>
                <c:pt idx="324">
                  <c:v>-5.2</c:v>
                </c:pt>
                <c:pt idx="325">
                  <c:v>-4.3</c:v>
                </c:pt>
                <c:pt idx="326">
                  <c:v>-5.4</c:v>
                </c:pt>
                <c:pt idx="327">
                  <c:v>-4.3</c:v>
                </c:pt>
                <c:pt idx="328">
                  <c:v>-4.2</c:v>
                </c:pt>
                <c:pt idx="329">
                  <c:v>-3.6</c:v>
                </c:pt>
                <c:pt idx="330">
                  <c:v>-3.1</c:v>
                </c:pt>
                <c:pt idx="331">
                  <c:v>-3.7</c:v>
                </c:pt>
                <c:pt idx="332">
                  <c:v>-2.9</c:v>
                </c:pt>
                <c:pt idx="333">
                  <c:v>-2.9</c:v>
                </c:pt>
                <c:pt idx="334">
                  <c:v>-3</c:v>
                </c:pt>
                <c:pt idx="335">
                  <c:v>-3.7</c:v>
                </c:pt>
                <c:pt idx="336">
                  <c:v>-2.5</c:v>
                </c:pt>
                <c:pt idx="337">
                  <c:v>-3.6</c:v>
                </c:pt>
                <c:pt idx="338">
                  <c:v>-3.2</c:v>
                </c:pt>
                <c:pt idx="339">
                  <c:v>-2.3</c:v>
                </c:pt>
                <c:pt idx="340">
                  <c:v>-2.9</c:v>
                </c:pt>
                <c:pt idx="341">
                  <c:v>-2.8</c:v>
                </c:pt>
                <c:pt idx="342">
                  <c:v>-3.9</c:v>
                </c:pt>
                <c:pt idx="343">
                  <c:v>-3.6</c:v>
                </c:pt>
                <c:pt idx="344">
                  <c:v>-3.1</c:v>
                </c:pt>
                <c:pt idx="345">
                  <c:v>-3.6</c:v>
                </c:pt>
                <c:pt idx="346">
                  <c:v>-3.1</c:v>
                </c:pt>
                <c:pt idx="347">
                  <c:v>-3.2</c:v>
                </c:pt>
                <c:pt idx="348">
                  <c:v>-3.1</c:v>
                </c:pt>
                <c:pt idx="349">
                  <c:v>-2.4</c:v>
                </c:pt>
                <c:pt idx="350">
                  <c:v>-2.3</c:v>
                </c:pt>
                <c:pt idx="351">
                  <c:v>-2.6</c:v>
                </c:pt>
                <c:pt idx="352">
                  <c:v>-2.7</c:v>
                </c:pt>
                <c:pt idx="353">
                  <c:v>-2</c:v>
                </c:pt>
                <c:pt idx="354">
                  <c:v>-2.2</c:v>
                </c:pt>
                <c:pt idx="355">
                  <c:v>-2.6</c:v>
                </c:pt>
                <c:pt idx="356">
                  <c:v>-3.6</c:v>
                </c:pt>
                <c:pt idx="357">
                  <c:v>-3.1</c:v>
                </c:pt>
                <c:pt idx="358">
                  <c:v>-3.2</c:v>
                </c:pt>
                <c:pt idx="359">
                  <c:v>-3.3</c:v>
                </c:pt>
                <c:pt idx="360">
                  <c:v>-3</c:v>
                </c:pt>
                <c:pt idx="361">
                  <c:v>-3.6</c:v>
                </c:pt>
                <c:pt idx="362">
                  <c:v>-4.3</c:v>
                </c:pt>
                <c:pt idx="363">
                  <c:v>-3.7</c:v>
                </c:pt>
                <c:pt idx="364">
                  <c:v>-4.2</c:v>
                </c:pt>
                <c:pt idx="365">
                  <c:v>-5.1</c:v>
                </c:pt>
                <c:pt idx="366">
                  <c:v>-3.9</c:v>
                </c:pt>
                <c:pt idx="367">
                  <c:v>-3.5</c:v>
                </c:pt>
                <c:pt idx="368">
                  <c:v>-4.2</c:v>
                </c:pt>
                <c:pt idx="369">
                  <c:v>-3.4</c:v>
                </c:pt>
                <c:pt idx="370">
                  <c:v>-3.5</c:v>
                </c:pt>
                <c:pt idx="371">
                  <c:v>-2.6</c:v>
                </c:pt>
                <c:pt idx="372">
                  <c:v>-2.3</c:v>
                </c:pt>
                <c:pt idx="373">
                  <c:v>-2</c:v>
                </c:pt>
                <c:pt idx="374">
                  <c:v>-2</c:v>
                </c:pt>
                <c:pt idx="375">
                  <c:v>-2.6</c:v>
                </c:pt>
                <c:pt idx="376">
                  <c:v>-1.5</c:v>
                </c:pt>
                <c:pt idx="377">
                  <c:v>-2</c:v>
                </c:pt>
                <c:pt idx="378">
                  <c:v>-1.2</c:v>
                </c:pt>
                <c:pt idx="379">
                  <c:v>-1.4</c:v>
                </c:pt>
                <c:pt idx="380">
                  <c:v>-1.1</c:v>
                </c:pt>
                <c:pt idx="381">
                  <c:v>-0.1</c:v>
                </c:pt>
                <c:pt idx="382">
                  <c:v>-1.3</c:v>
                </c:pt>
                <c:pt idx="383">
                  <c:v>-0.1</c:v>
                </c:pt>
                <c:pt idx="384">
                  <c:v>-0.4</c:v>
                </c:pt>
                <c:pt idx="385">
                  <c:v>0.2</c:v>
                </c:pt>
                <c:pt idx="386">
                  <c:v>1.5</c:v>
                </c:pt>
                <c:pt idx="387">
                  <c:v>-0.1</c:v>
                </c:pt>
                <c:pt idx="388">
                  <c:v>1.5</c:v>
                </c:pt>
                <c:pt idx="389">
                  <c:v>2.4</c:v>
                </c:pt>
                <c:pt idx="390">
                  <c:v>1.5</c:v>
                </c:pt>
                <c:pt idx="391">
                  <c:v>2.3</c:v>
                </c:pt>
                <c:pt idx="392">
                  <c:v>3.6</c:v>
                </c:pt>
                <c:pt idx="393">
                  <c:v>3.4</c:v>
                </c:pt>
                <c:pt idx="394">
                  <c:v>2.9</c:v>
                </c:pt>
                <c:pt idx="395">
                  <c:v>3.6</c:v>
                </c:pt>
                <c:pt idx="396">
                  <c:v>2.5</c:v>
                </c:pt>
                <c:pt idx="397">
                  <c:v>3.2</c:v>
                </c:pt>
                <c:pt idx="398">
                  <c:v>2.5</c:v>
                </c:pt>
                <c:pt idx="399">
                  <c:v>2.3</c:v>
                </c:pt>
                <c:pt idx="400">
                  <c:v>2.3</c:v>
                </c:pt>
                <c:pt idx="401">
                  <c:v>2.4</c:v>
                </c:pt>
                <c:pt idx="402">
                  <c:v>2.5</c:v>
                </c:pt>
                <c:pt idx="403">
                  <c:v>1.3</c:v>
                </c:pt>
                <c:pt idx="404">
                  <c:v>1.4</c:v>
                </c:pt>
                <c:pt idx="405">
                  <c:v>2</c:v>
                </c:pt>
                <c:pt idx="406">
                  <c:v>1.7</c:v>
                </c:pt>
                <c:pt idx="407">
                  <c:v>1.6</c:v>
                </c:pt>
                <c:pt idx="408">
                  <c:v>0.7</c:v>
                </c:pt>
                <c:pt idx="409">
                  <c:v>1.4</c:v>
                </c:pt>
                <c:pt idx="410">
                  <c:v>1.8</c:v>
                </c:pt>
                <c:pt idx="411">
                  <c:v>2</c:v>
                </c:pt>
                <c:pt idx="412">
                  <c:v>1.3</c:v>
                </c:pt>
                <c:pt idx="413">
                  <c:v>1.3</c:v>
                </c:pt>
                <c:pt idx="414">
                  <c:v>1.3</c:v>
                </c:pt>
                <c:pt idx="415">
                  <c:v>1.8</c:v>
                </c:pt>
                <c:pt idx="416">
                  <c:v>1.8</c:v>
                </c:pt>
                <c:pt idx="417">
                  <c:v>2.3</c:v>
                </c:pt>
              </c:numCache>
            </c:numRef>
          </c:val>
          <c:smooth val="0"/>
        </c:ser>
        <c:dLbls>
          <c:numFmt formatCode="#,##0" sourceLinked="0"/>
          <c:txPr>
            <a:bodyPr/>
            <a:lstStyle/>
            <a:p>
              <a:pPr>
                <a:defRPr b="1" i="0" strike="noStrike" sz="1300" u="none">
                  <a:solidFill>
                    <a:srgbClr val="1D2B4F"/>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none"/>
        <c:minorTickMark val="none"/>
        <c:tickLblPos val="low"/>
        <c:spPr>
          <a:ln w="12700" cap="flat">
            <a:solidFill>
              <a:srgbClr val="DCE3EA"/>
            </a:solidFill>
            <a:prstDash val="solid"/>
            <a:round/>
          </a:ln>
        </c:spPr>
        <c:txPr>
          <a:bodyPr/>
          <a:lstStyle/>
          <a:p>
            <a:pPr>
              <a:defRPr sz="12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max val="50"/>
          <c:min val="-20"/>
        </c:scaling>
        <c:delete val="0"/>
        <c:axPos val="l"/>
        <c:majorGridlines>
          <c:spPr>
            <a:ln w="9525" cap="flat">
              <a:solidFill>
                <a:srgbClr val="DCE3EA"/>
              </a:solidFill>
              <a:prstDash val="solid"/>
              <a:round/>
            </a:ln>
          </c:spPr>
        </c:majorGridlines>
        <c:numFmt formatCode="0&quot;%&quot;" sourceLinked="0"/>
        <c:majorTickMark val="none"/>
        <c:minorTickMark val="none"/>
        <c:tickLblPos val="nextTo"/>
        <c:spPr>
          <a:ln w="12700" cap="flat">
            <a:noFill/>
            <a:prstDash val="solid"/>
            <a:round/>
          </a:ln>
        </c:spPr>
        <c:txPr>
          <a:bodyPr/>
          <a:lstStyle/>
          <a:p>
            <a:pPr>
              <a:defRPr sz="1200" b="0" i="0" u="none" strike="noStrike">
                <a:solidFill>
                  <a:srgbClr val="4A5568"/>
                </a:solidFill>
                <a:latin typeface="+mn-lt"/>
              </a:defRPr>
            </a:pPr>
            <a:endParaRPr lang="en-US"/>
          </a:p>
        </c:txPr>
        <c:crossAx val="2094734554"/>
        <c:crosses val="autoZero"/>
        <c:crossBetween val="between"/>
        <c:majorUnit val="10"/>
      </c:valAx>
      <c:spPr>
        <a:solidFill>
          <a:srgbClr val="FFFFFF">
            <a:alpha val="0"/>
          </a:srgbClr>
        </a:solid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1" i="0" u="none" strike="noStrike">
                <a:solidFill>
                  <a:srgbClr val="1D2B4F"/>
                </a:solidFill>
                <a:latin typeface="+mn-lt"/>
              </a:defRPr>
            </a:pPr>
            <a:r>
              <a:rPr sz="1400" b="1" i="0" u="none" strike="noStrike">
                <a:solidFill>
                  <a:srgbClr val="1D2B4F"/>
                </a:solidFill>
                <a:latin typeface="+mn-lt"/>
              </a:rPr>
              <a:t>Mora de las familias con bancos (%)</a:t>
            </a:r>
          </a:p>
        </c:rich>
      </c:tx>
      <c:layout/>
      <c:overlay val="0"/>
    </c:title>
    <c:autoTitleDeleted val="0"/>
    <c:plotArea>
      <c:layout/>
      <c:barChart>
        <c:barDir val="col"/>
        <c:grouping val="clustered"/>
        <c:varyColors val="0"/>
        <c:ser>
          <c:idx val="0"/>
          <c:order val="0"/>
          <c:tx>
            <c:strRef>
              <c:f>Sheet1!$B$1</c:f>
              <c:strCache>
                <c:ptCount val="1"/>
                <c:pt idx="0">
                  <c:v>Mora de las familias</c:v>
                </c:pt>
              </c:strCache>
            </c:strRef>
          </c:tx>
          <c:spPr>
            <a:solidFill>
              <a:srgbClr val="A9B4C2"/>
            </a:solidFill>
            <a:effectLst/>
          </c:spPr>
          <c:invertIfNegative val="0"/>
          <c:dLbls>
            <c:numFmt formatCode="0.0&quot;%&quot;" sourceLinked="0"/>
            <c:txPr>
              <a:bodyPr/>
              <a:lstStyle/>
              <a:p>
                <a:pPr>
                  <a:defRPr b="1" i="0" strike="noStrike" sz="1300" u="none">
                    <a:solidFill>
                      <a:srgbClr val="1D2B4F"/>
                    </a:solidFill>
                    <a:latin typeface="+mn-lt"/>
                  </a:defRPr>
                </a:pPr>
              </a:p>
            </c:txPr>
            <c:showLegendKey val="0"/>
            <c:showVal val="1"/>
            <c:showCatName val="0"/>
            <c:showSerName val="0"/>
            <c:showPercent val="0"/>
            <c:showBubbleSize val="0"/>
            <c:showLeaderLines val="0"/>
          </c:dLbls>
          <c:dPt>
            <c:idx val="0"/>
            <c:invertIfNegative val="0"/>
            <c:bubble3D val="0"/>
            <c:spPr>
              <a:solidFill>
                <a:srgbClr val="A9B4C2"/>
              </a:solidFill>
              <a:effectLst/>
            </c:spPr>
          </c:dPt>
          <c:dPt>
            <c:idx val="1"/>
            <c:invertIfNegative val="0"/>
            <c:bubble3D val="0"/>
            <c:spPr>
              <a:solidFill>
                <a:srgbClr val="A9B4C2"/>
              </a:solidFill>
              <a:effectLst/>
            </c:spPr>
          </c:dPt>
          <c:dPt>
            <c:idx val="2"/>
            <c:invertIfNegative val="0"/>
            <c:bubble3D val="0"/>
            <c:spPr>
              <a:solidFill>
                <a:srgbClr val="E8604C"/>
              </a:solidFill>
              <a:effectLst/>
            </c:spPr>
          </c:dPt>
          <c:cat>
            <c:multiLvlStrRef>
              <c:f>Sheet1!$A$2:$A$4</c:f>
              <c:multiLvlStrCache>
                <c:ptCount val="3"/>
                <c:lvl>
                  <c:pt idx="0">
                    <c:v>Mayo 2024</c:v>
                  </c:pt>
                  <c:pt idx="1">
                    <c:v>Mayo 2025</c:v>
                  </c:pt>
                  <c:pt idx="2">
                    <c:v>Mayo 2026</c:v>
                  </c:pt>
                </c:lvl>
              </c:multiLvlStrCache>
            </c:multiLvlStrRef>
          </c:cat>
          <c:val>
            <c:numRef>
              <c:f>Sheet1!$B$2:$B$4</c:f>
              <c:numCache>
                <c:formatCode>General</c:formatCode>
                <c:ptCount val="3"/>
                <c:pt idx="0">
                  <c:v>2.8</c:v>
                </c:pt>
                <c:pt idx="1">
                  <c:v>4.5</c:v>
                </c:pt>
                <c:pt idx="2">
                  <c:v>12.8</c:v>
                </c:pt>
              </c:numCache>
            </c:numRef>
          </c:val>
        </c:ser>
        <c:dLbls>
          <c:numFmt formatCode="0.0&quot;%&quot;" sourceLinked="0"/>
          <c:txPr>
            <a:bodyPr/>
            <a:lstStyle/>
            <a:p>
              <a:pPr>
                <a:defRPr b="1" i="0" strike="noStrike" sz="1300" u="none">
                  <a:solidFill>
                    <a:srgbClr val="1D2B4F"/>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12700" cap="flat">
            <a:solidFill>
              <a:srgbClr val="DCE3EA"/>
            </a:solidFill>
            <a:prstDash val="solid"/>
            <a:round/>
          </a:ln>
        </c:spPr>
        <c:txPr>
          <a:bodyPr/>
          <a:lstStyle/>
          <a:p>
            <a:pPr>
              <a:defRPr sz="12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max val="15"/>
          <c:min val="0"/>
        </c:scaling>
        <c:delete val="0"/>
        <c:axPos val="l"/>
        <c:majorGridlines>
          <c:spPr>
            <a:ln w="9525" cap="flat">
              <a:solidFill>
                <a:srgbClr val="DCE3EA"/>
              </a:solidFill>
              <a:prstDash val="solid"/>
              <a:round/>
            </a:ln>
          </c:spPr>
        </c:majorGridlines>
        <c:numFmt formatCode="0&quot;%&quot;" sourceLinked="0"/>
        <c:majorTickMark val="none"/>
        <c:minorTickMark val="none"/>
        <c:tickLblPos val="nextTo"/>
        <c:spPr>
          <a:ln w="12700" cap="flat">
            <a:noFill/>
            <a:prstDash val="solid"/>
            <a:round/>
          </a:ln>
        </c:spPr>
        <c:txPr>
          <a:bodyPr/>
          <a:lstStyle/>
          <a:p>
            <a:pPr>
              <a:defRPr sz="1200" b="0" i="0" u="none" strike="noStrike">
                <a:solidFill>
                  <a:srgbClr val="4A5568"/>
                </a:solidFill>
                <a:latin typeface="+mn-lt"/>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1" i="0" u="none" strike="noStrike">
                <a:solidFill>
                  <a:srgbClr val="1D2B4F"/>
                </a:solidFill>
                <a:latin typeface="+mn-lt"/>
              </a:defRPr>
            </a:pPr>
            <a:r>
              <a:rPr sz="1400" b="1" i="0" u="none" strike="noStrike">
                <a:solidFill>
                  <a:srgbClr val="1D2B4F"/>
                </a:solidFill>
                <a:latin typeface="+mn-lt"/>
              </a:rPr>
              <a:t>Mora por tipo de préstamo, mayo 2026 (%)</a:t>
            </a:r>
          </a:p>
        </c:rich>
      </c:tx>
      <c:layout/>
      <c:overlay val="0"/>
    </c:title>
    <c:autoTitleDeleted val="0"/>
    <c:plotArea>
      <c:layout/>
      <c:barChart>
        <c:barDir val="bar"/>
        <c:grouping val="clustered"/>
        <c:varyColors val="0"/>
        <c:ser>
          <c:idx val="0"/>
          <c:order val="0"/>
          <c:tx>
            <c:strRef>
              <c:f>Sheet1!$B$1</c:f>
              <c:strCache>
                <c:ptCount val="1"/>
                <c:pt idx="0">
                  <c:v>Mora por línea</c:v>
                </c:pt>
              </c:strCache>
            </c:strRef>
          </c:tx>
          <c:spPr>
            <a:solidFill>
              <a:srgbClr val="A9B4C2"/>
            </a:solidFill>
            <a:effectLst/>
          </c:spPr>
          <c:invertIfNegative val="0"/>
          <c:dLbls>
            <c:numFmt formatCode="0.0&quot;%&quot;" sourceLinked="0"/>
            <c:txPr>
              <a:bodyPr/>
              <a:lstStyle/>
              <a:p>
                <a:pPr>
                  <a:defRPr b="1" i="0" strike="noStrike" sz="1300" u="none">
                    <a:solidFill>
                      <a:srgbClr val="1D2B4F"/>
                    </a:solidFill>
                    <a:latin typeface="+mn-lt"/>
                  </a:defRPr>
                </a:pPr>
              </a:p>
            </c:txPr>
            <c:showLegendKey val="0"/>
            <c:showVal val="1"/>
            <c:showCatName val="0"/>
            <c:showSerName val="0"/>
            <c:showPercent val="0"/>
            <c:showBubbleSize val="0"/>
            <c:showLeaderLines val="0"/>
          </c:dLbls>
          <c:dPt>
            <c:idx val="0"/>
            <c:invertIfNegative val="0"/>
            <c:bubble3D val="0"/>
            <c:spPr>
              <a:solidFill>
                <a:srgbClr val="A9B4C2"/>
              </a:solidFill>
              <a:effectLst/>
            </c:spPr>
          </c:dPt>
          <c:dPt>
            <c:idx val="1"/>
            <c:invertIfNegative val="0"/>
            <c:bubble3D val="0"/>
            <c:spPr>
              <a:solidFill>
                <a:srgbClr val="A9B4C2"/>
              </a:solidFill>
              <a:effectLst/>
            </c:spPr>
          </c:dPt>
          <c:dPt>
            <c:idx val="2"/>
            <c:invertIfNegative val="0"/>
            <c:bubble3D val="0"/>
            <c:spPr>
              <a:solidFill>
                <a:srgbClr val="E8604C"/>
              </a:solidFill>
              <a:effectLst/>
            </c:spPr>
          </c:dPt>
          <c:dPt>
            <c:idx val="3"/>
            <c:invertIfNegative val="0"/>
            <c:bubble3D val="0"/>
            <c:spPr>
              <a:solidFill>
                <a:srgbClr val="E8604C"/>
              </a:solidFill>
              <a:effectLst/>
            </c:spPr>
          </c:dPt>
          <c:cat>
            <c:multiLvlStrRef>
              <c:f>Sheet1!$A$2:$A$5</c:f>
              <c:multiLvlStrCache>
                <c:ptCount val="4"/>
                <c:lvl>
                  <c:pt idx="0">
                    <c:v>Hipotecarios</c:v>
                  </c:pt>
                  <c:pt idx="1">
                    <c:v>Prendarios</c:v>
                  </c:pt>
                  <c:pt idx="2">
                    <c:v>Tarjetas</c:v>
                  </c:pt>
                  <c:pt idx="3">
                    <c:v>Personales</c:v>
                  </c:pt>
                </c:lvl>
              </c:multiLvlStrCache>
            </c:multiLvlStrRef>
          </c:cat>
          <c:val>
            <c:numRef>
              <c:f>Sheet1!$B$2:$B$5</c:f>
              <c:numCache>
                <c:formatCode>General</c:formatCode>
                <c:ptCount val="4"/>
                <c:pt idx="0">
                  <c:v>1.6</c:v>
                </c:pt>
                <c:pt idx="1">
                  <c:v>7.7</c:v>
                </c:pt>
                <c:pt idx="2">
                  <c:v>13.1</c:v>
                </c:pt>
                <c:pt idx="3">
                  <c:v>15.9</c:v>
                </c:pt>
              </c:numCache>
            </c:numRef>
          </c:val>
        </c:ser>
        <c:dLbls>
          <c:numFmt formatCode="0.0&quot;%&quot;" sourceLinked="0"/>
          <c:txPr>
            <a:bodyPr/>
            <a:lstStyle/>
            <a:p>
              <a:pPr>
                <a:defRPr b="1" i="0" strike="noStrike" sz="1300" u="none">
                  <a:solidFill>
                    <a:srgbClr val="1D2B4F"/>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none"/>
        <c:minorTickMark val="none"/>
        <c:tickLblPos val="nextTo"/>
        <c:spPr>
          <a:ln w="12700" cap="flat">
            <a:solidFill>
              <a:srgbClr val="DCE3EA"/>
            </a:solidFill>
            <a:prstDash val="solid"/>
            <a:round/>
          </a:ln>
        </c:spPr>
        <c:txPr>
          <a:bodyPr/>
          <a:lstStyle/>
          <a:p>
            <a:pPr>
              <a:defRPr sz="12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max val="20"/>
          <c:min val="0"/>
        </c:scaling>
        <c:delete val="0"/>
        <c:axPos val="b"/>
        <c:majorGridlines>
          <c:spPr>
            <a:ln w="9525" cap="flat">
              <a:solidFill>
                <a:srgbClr val="DCE3EA"/>
              </a:solidFill>
              <a:prstDash val="solid"/>
              <a:round/>
            </a:ln>
          </c:spPr>
        </c:majorGridlines>
        <c:numFmt formatCode="0&quot;%&quot;" sourceLinked="0"/>
        <c:majorTickMark val="none"/>
        <c:minorTickMark val="none"/>
        <c:tickLblPos val="low"/>
        <c:spPr>
          <a:ln w="12700" cap="flat">
            <a:noFill/>
            <a:prstDash val="solid"/>
            <a:round/>
          </a:ln>
        </c:spPr>
        <c:txPr>
          <a:bodyPr/>
          <a:lstStyle/>
          <a:p>
            <a:pPr>
              <a:defRPr sz="1200" b="0" i="0" u="none" strike="noStrike">
                <a:solidFill>
                  <a:srgbClr val="4A5568"/>
                </a:solidFill>
                <a:latin typeface="+mn-lt"/>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 Fundar sobre el sobreendeudamiento de las familias: qué pasó, cuánto pesa y qué se puede hacer. Presentada en la XIX Jornada Anual de Microfinanzas de RADIM.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resultado final: en 18 meses la mora del crédito a personas (bancos, fintech y billeteras) pasó de 3,6% a 17,5% de lo prestado. Antes era uno de cada 40 pesos; hoy, más de uno de cada seis. Una sola serie (EcoGo y Universidad Austral), así que los tres momentos son comparables. El resto de la presentación muestra cómo se llegó acá.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5,86 millones de personas tenían al menos una deuda en mora en junio de 2026: uno de cada ocho habitantes y el 27% de quienes tienen deudas registradas en la Central de Deudores. Deben $17,8 billones. No hay un dato público de hogares en mora; sí sabemos que 6 de cada 10 hogares usan alguna forma de financiamiento (IPYPP, EPH).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billeteras y fintech concentran 4 de cada 10 personas en mora, pero solo 1 de cada 10 pesos en mora: son muchas deudas chicas. Los bancos privados tienen el 27% de los morosos y el 45% de la plata. La tasa de mora en fintech (31%) duplica la del sistema financiero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cuatro claves de la crisis, en el orden en que se encadenaron: ingresos, crédito, tasas y mora.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Punto de partida: la caída del ingreso real. Cuando el ingreso no alcanza para los gastos fijos, el crédito se vuelve la vía para cerrar el 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2024 el crédito creció 58% real y los préstamos personales más de 130%. En 2025 siguió creciendo, a menor ritmo: 44% en personales y 17% en tarjetas.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2025 el Gobierno liberó las tasas. Con el acuerdo con el FMI salió el cepo (abril) y con el fin de las LEFIs (julio) el BCRA dejó de fijar una tasa de referencia: la BADLAR nominal pasó de 32% a casi 60% en agosto. La incertidumbre electoral (bonaerenses en septiembre, legislativas en octubre) llevó la tasa real a casi 40%; recién bajó con el swap con EE.UU. y después de las legislativas.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mora de las familias pasó de 2,8% en mayo de 2024 a 12,8% en mayo de 2026. Los préstamos personales (15,9%) y las tarjetas (13,1%) concentran el problema; la mora hipotecaria sigue baja.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propuestas de alcance nacional —precio, transparencia y alivio— y una agenda propia para la provincia en defensa del consumidor financiero.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Preguntas abiertas para el debate con el sector de microfinanzas. Cada fila es una tensión entre dos objetivos que hay que equilibrar. No son datos: son los dilemas que deja el diagnóstico (préstamo responsable, cobranza, competencia con billeteras y sostenibilidad de la cartera). El dato de mora en billeteras (31%) es de EcoGo-Universidad Austral, junio de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Mensaje de cierre: las medidas financieras alivian, pero el problema de fondo es el ingreso. El ingreso es la primera clave y la que sostiene todo lo demás.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Bonus track: cómo pensamos en Fundar las finanzas inclusivas. En el documento sobre barrios populares proponemos un fondo para canalizar inversión de impacto, combinando aportes con fondos de mercado. En esta etapa estamos armando un fideicomiso con inversores de impacto, como primer paso. Brecha de infraestructura: más de USD 27.000 millones (unos USD 2.250 millones por año durante 12 años). El FISU fue disuelto por el Decreto 312/2025.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accent3"/>
        </a:solidFill>
      </p:bgPr>
    </p:bg>
    <p:spTree>
      <p:nvGrpSpPr>
        <p:cNvPr id="1" name=""/>
        <p:cNvGrpSpPr/>
        <p:nvPr/>
      </p:nvGrpSpPr>
      <p:grpSpPr>
        <a:xfrm>
          <a:off x="0" y="0"/>
          <a:ext cx="0" cy="0"/>
          <a:chOff x="0" y="0"/>
          <a:chExt cx="0" cy="0"/>
        </a:xfrm>
      </p:grpSpPr>
      <p:pic>
        <p:nvPicPr>
          <p:cNvPr id="2" name="Image 0" descr="logo_white.png">    </p:cNvPr>
          <p:cNvPicPr>
            <a:picLocks noChangeAspect="1"/>
          </p:cNvPicPr>
          <p:nvPr/>
        </p:nvPicPr>
        <p:blipFill>
          <a:blip r:embed="rId1"/>
          <a:stretch>
            <a:fillRect/>
          </a:stretch>
        </p:blipFill>
        <p:spPr>
          <a:xfrm>
            <a:off x="548640" y="5943600"/>
            <a:ext cx="749808" cy="38404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OJA">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548640" y="6400800"/>
            <a:ext cx="7315200" cy="256032"/>
          </a:xfrm>
          <a:prstGeom prst="rect">
            <a:avLst/>
          </a:prstGeom>
          <a:noFill/>
          <a:ln/>
        </p:spPr>
        <p:txBody>
          <a:bodyPr wrap="square" lIns="0" tIns="0" rIns="0" bIns="0" rtlCol="0" anchor="ctr"/>
          <a:lstStyle/>
          <a:p>
            <a:pPr indent="0" marL="0">
              <a:buNone/>
            </a:pPr>
            <a:r>
              <a:rPr lang="en-US" sz="1000" dirty="0">
                <a:solidFill>
                  <a:schemeClr val="accent5"/>
                </a:solidFill>
              </a:rPr>
              <a:t>Fundar · XIX Jornada Anual de Microfinanzas · RADIM</a:t>
            </a:r>
            <a:endParaRPr lang="en-US" sz="1000" dirty="0"/>
          </a:p>
        </p:txBody>
      </p:sp>
      <p:sp>
        <p:nvSpPr>
          <p:cNvPr id="3" name="Text 1"/>
          <p:cNvSpPr/>
          <p:nvPr>
            <p:ph idx="101" type="body" hasCustomPrompt="1"/>
          </p:nvPr>
        </p:nvSpPr>
        <p:spPr>
          <a:xfrm>
            <a:off x="548640" y="457200"/>
            <a:ext cx="9144000" cy="274320"/>
          </a:xfrm>
          <a:prstGeom prst="rect">
            <a:avLst/>
          </a:prstGeom>
          <a:noFill/>
          <a:ln/>
        </p:spPr>
        <p:txBody>
          <a:bodyPr wrap="square" rtlCol="0"/>
          <a:lstStyle>
            <a:lvl1pPr algn="l" indent="0" marL="0">
              <a:buNone/>
              <a:defRPr lang="en-US" sz="1200" b="1" spc="150" kern="0" dirty="0">
                <a:solidFill>
                  <a:schemeClr val="accent3"/>
                </a:solidFill>
              </a:defRPr>
            </a:lvl1pPr>
          </a:lstStyle>
          <a:p>
            <a:pPr algn="l" indent="0" marL="0">
              <a:buNone/>
            </a:pPr>
            <a:endParaRPr lang="en-US" sz="1200" dirty="0"/>
          </a:p>
        </p:txBody>
      </p:sp>
      <p:sp>
        <p:nvSpPr>
          <p:cNvPr id="4" name="Text 1"/>
          <p:cNvSpPr/>
          <p:nvPr>
            <p:ph idx="102" type="title" hasCustomPrompt="1"/>
          </p:nvPr>
        </p:nvSpPr>
        <p:spPr>
          <a:xfrm>
            <a:off x="548640" y="749808"/>
            <a:ext cx="11094415" cy="6858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ASO">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548640" y="6400800"/>
            <a:ext cx="7315200" cy="256032"/>
          </a:xfrm>
          <a:prstGeom prst="rect">
            <a:avLst/>
          </a:prstGeom>
          <a:noFill/>
          <a:ln/>
        </p:spPr>
        <p:txBody>
          <a:bodyPr wrap="square" lIns="0" tIns="0" rIns="0" bIns="0" rtlCol="0" anchor="ctr"/>
          <a:lstStyle/>
          <a:p>
            <a:pPr indent="0" marL="0">
              <a:buNone/>
            </a:pPr>
            <a:r>
              <a:rPr lang="en-US" sz="1000" dirty="0">
                <a:solidFill>
                  <a:schemeClr val="accent5"/>
                </a:solidFill>
              </a:rPr>
              <a:t>Fundar · XIX Jornada Anual de Microfinanzas · RADIM</a:t>
            </a:r>
            <a:endParaRPr lang="en-US" sz="1000" dirty="0"/>
          </a:p>
        </p:txBody>
      </p:sp>
      <p:sp>
        <p:nvSpPr>
          <p:cNvPr id="3" name="Text 1"/>
          <p:cNvSpPr/>
          <p:nvPr>
            <p:ph idx="101" type="body" hasCustomPrompt="1"/>
          </p:nvPr>
        </p:nvSpPr>
        <p:spPr>
          <a:xfrm>
            <a:off x="1463040" y="457200"/>
            <a:ext cx="9144000" cy="274320"/>
          </a:xfrm>
          <a:prstGeom prst="rect">
            <a:avLst/>
          </a:prstGeom>
          <a:noFill/>
          <a:ln/>
        </p:spPr>
        <p:txBody>
          <a:bodyPr wrap="square" rtlCol="0"/>
          <a:lstStyle>
            <a:lvl1pPr algn="l" indent="0" marL="0">
              <a:buNone/>
              <a:defRPr lang="en-US" sz="1200" b="1" spc="150" kern="0" dirty="0">
                <a:solidFill>
                  <a:schemeClr val="accent3"/>
                </a:solidFill>
              </a:defRPr>
            </a:lvl1pPr>
          </a:lstStyle>
          <a:p>
            <a:pPr algn="l" indent="0" marL="0">
              <a:buNone/>
            </a:pPr>
            <a:endParaRPr lang="en-US" sz="1200" dirty="0"/>
          </a:p>
        </p:txBody>
      </p:sp>
      <p:sp>
        <p:nvSpPr>
          <p:cNvPr id="4" name="Text 1"/>
          <p:cNvSpPr/>
          <p:nvPr>
            <p:ph idx="102" type="title" hasCustomPrompt="1"/>
          </p:nvPr>
        </p:nvSpPr>
        <p:spPr>
          <a:xfrm>
            <a:off x="1463040" y="749808"/>
            <a:ext cx="10180015" cy="6858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097280"/>
            <a:ext cx="8229600" cy="274320"/>
          </a:xfrm>
          <a:prstGeom prst="rect">
            <a:avLst/>
          </a:prstGeom>
          <a:noFill/>
          <a:ln/>
        </p:spPr>
        <p:txBody>
          <a:bodyPr wrap="square" lIns="0" tIns="0" rIns="0" bIns="0" rtlCol="0" anchor="ctr"/>
          <a:lstStyle/>
          <a:p>
            <a:pPr indent="0" marL="0">
              <a:buNone/>
            </a:pPr>
            <a:r>
              <a:rPr lang="en-US" sz="1300" b="1" spc="150" kern="0" dirty="0">
                <a:solidFill>
                  <a:srgbClr val="CDEFF2"/>
                </a:solidFill>
              </a:rPr>
              <a:t>XIX JORNADA ANUAL DE MICROFINANZAS · FINANZAS SOSTENIBLES</a:t>
            </a:r>
            <a:endParaRPr lang="en-US" sz="1300" dirty="0"/>
          </a:p>
        </p:txBody>
      </p:sp>
      <p:sp>
        <p:nvSpPr>
          <p:cNvPr id="3" name="Text 1"/>
          <p:cNvSpPr txBox="1"/>
          <p:nvPr/>
        </p:nvSpPr>
        <p:spPr>
          <a:xfrm>
            <a:off x="548640" y="1508760"/>
            <a:ext cx="7680960" cy="1554480"/>
          </a:xfrm>
          <a:prstGeom prst="rect">
            <a:avLst/>
          </a:prstGeom>
          <a:noFill/>
          <a:ln/>
        </p:spPr>
        <p:txBody>
          <a:bodyPr wrap="square" lIns="0" tIns="0" rIns="0" bIns="0" rtlCol="0" anchor="t"/>
          <a:lstStyle/>
          <a:p>
            <a:pPr indent="0" marL="0">
              <a:buNone/>
            </a:pPr>
            <a:r>
              <a:rPr lang="en-US" sz="4000" b="1" dirty="0">
                <a:solidFill>
                  <a:schemeClr val="bg1"/>
                </a:solidFill>
              </a:rPr>
              <a:t>La crisis de endeudamiento</a:t>
            </a:r>
            <a:endParaRPr lang="en-US" sz="4000" dirty="0"/>
          </a:p>
          <a:p>
            <a:pPr indent="0" marL="0">
              <a:buNone/>
            </a:pPr>
            <a:r>
              <a:rPr lang="en-US" sz="4000" b="1" dirty="0">
                <a:solidFill>
                  <a:schemeClr val="bg1"/>
                </a:solidFill>
              </a:rPr>
              <a:t>de los hogares</a:t>
            </a:r>
            <a:endParaRPr lang="en-US" sz="4000" dirty="0"/>
          </a:p>
        </p:txBody>
      </p:sp>
      <p:sp>
        <p:nvSpPr>
          <p:cNvPr id="4" name="Text 2"/>
          <p:cNvSpPr txBox="1"/>
          <p:nvPr/>
        </p:nvSpPr>
        <p:spPr>
          <a:xfrm>
            <a:off x="548640" y="3246120"/>
            <a:ext cx="6949440" cy="457200"/>
          </a:xfrm>
          <a:prstGeom prst="rect">
            <a:avLst/>
          </a:prstGeom>
          <a:noFill/>
          <a:ln/>
        </p:spPr>
        <p:txBody>
          <a:bodyPr wrap="square" lIns="0" tIns="0" rIns="0" bIns="0" rtlCol="0" anchor="ctr"/>
          <a:lstStyle/>
          <a:p>
            <a:pPr indent="0" marL="0">
              <a:buNone/>
            </a:pPr>
            <a:r>
              <a:rPr lang="en-US" sz="2400" b="1" dirty="0">
                <a:solidFill>
                  <a:schemeClr val="accent2"/>
                </a:solidFill>
              </a:rPr>
              <a:t>Qué pasó, cuánto pesa y qué podemos hacer</a:t>
            </a:r>
            <a:endParaRPr lang="en-US" sz="2400" dirty="0"/>
          </a:p>
        </p:txBody>
      </p:sp>
      <p:sp>
        <p:nvSpPr>
          <p:cNvPr id="5" name="Text 3"/>
          <p:cNvSpPr txBox="1"/>
          <p:nvPr/>
        </p:nvSpPr>
        <p:spPr>
          <a:xfrm>
            <a:off x="548640" y="3886200"/>
            <a:ext cx="6766560" cy="914400"/>
          </a:xfrm>
          <a:prstGeom prst="rect">
            <a:avLst/>
          </a:prstGeom>
          <a:noFill/>
          <a:ln/>
        </p:spPr>
        <p:txBody>
          <a:bodyPr wrap="square" lIns="0" tIns="0" rIns="0" bIns="0" rtlCol="0" anchor="t"/>
          <a:lstStyle/>
          <a:p>
            <a:pPr indent="0" marL="0">
              <a:buNone/>
            </a:pPr>
            <a:r>
              <a:rPr lang="en-US" sz="1800" dirty="0">
                <a:solidFill>
                  <a:srgbClr val="E6F6F7"/>
                </a:solidFill>
              </a:rPr>
              <a:t>Muchas familias deben más de lo que pueden pagar. Cómo llegamos hasta acá, en cuatro pasos, y qué se puede hacer.</a:t>
            </a:r>
            <a:endParaRPr lang="en-US" sz="1800" dirty="0"/>
          </a:p>
        </p:txBody>
      </p:sp>
      <p:sp>
        <p:nvSpPr>
          <p:cNvPr id="6" name="Shape 4"/>
          <p:cNvSpPr/>
          <p:nvPr/>
        </p:nvSpPr>
        <p:spPr>
          <a:xfrm>
            <a:off x="9326880" y="1828800"/>
            <a:ext cx="1737360" cy="1737360"/>
          </a:xfrm>
          <a:prstGeom prst="ellipse">
            <a:avLst/>
          </a:prstGeom>
          <a:solidFill>
            <a:schemeClr val="accent1"/>
          </a:solidFill>
          <a:ln/>
        </p:spPr>
      </p:sp>
      <p:sp>
        <p:nvSpPr>
          <p:cNvPr id="7" name="Shape 5"/>
          <p:cNvSpPr/>
          <p:nvPr/>
        </p:nvSpPr>
        <p:spPr>
          <a:xfrm>
            <a:off x="9604858" y="2106778"/>
            <a:ext cx="1181405" cy="1181405"/>
          </a:xfrm>
          <a:prstGeom prst="ellipse">
            <a:avLst/>
          </a:prstGeom>
          <a:ln w="72390">
            <a:solidFill>
              <a:srgbClr val="B8432F"/>
            </a:solidFill>
            <a:prstDash val="solid"/>
          </a:ln>
        </p:spPr>
      </p:sp>
      <p:sp>
        <p:nvSpPr>
          <p:cNvPr id="8" name="Shape 6"/>
          <p:cNvSpPr/>
          <p:nvPr/>
        </p:nvSpPr>
        <p:spPr>
          <a:xfrm>
            <a:off x="8503920" y="3246120"/>
            <a:ext cx="1188720" cy="1188720"/>
          </a:xfrm>
          <a:prstGeom prst="ellipse">
            <a:avLst/>
          </a:prstGeom>
          <a:solidFill>
            <a:schemeClr val="accent2"/>
          </a:solidFill>
          <a:ln/>
        </p:spPr>
      </p:sp>
      <p:sp>
        <p:nvSpPr>
          <p:cNvPr id="9" name="Shape 7"/>
          <p:cNvSpPr/>
          <p:nvPr/>
        </p:nvSpPr>
        <p:spPr>
          <a:xfrm>
            <a:off x="8694115" y="3436315"/>
            <a:ext cx="808330" cy="808330"/>
          </a:xfrm>
          <a:prstGeom prst="ellipse">
            <a:avLst/>
          </a:prstGeom>
          <a:ln w="49530">
            <a:solidFill>
              <a:srgbClr val="C98A12"/>
            </a:solidFill>
            <a:prstDash val="solid"/>
          </a:ln>
        </p:spPr>
      </p:sp>
      <p:sp>
        <p:nvSpPr>
          <p:cNvPr id="10" name="Shape 8"/>
          <p:cNvSpPr/>
          <p:nvPr/>
        </p:nvSpPr>
        <p:spPr>
          <a:xfrm>
            <a:off x="10058400" y="3429000"/>
            <a:ext cx="1417320" cy="1417320"/>
          </a:xfrm>
          <a:prstGeom prst="ellipse">
            <a:avLst/>
          </a:prstGeom>
          <a:solidFill>
            <a:srgbClr val="FFFFFF"/>
          </a:solidFill>
          <a:ln/>
        </p:spPr>
      </p:sp>
      <p:sp>
        <p:nvSpPr>
          <p:cNvPr id="11" name="Shape 9"/>
          <p:cNvSpPr/>
          <p:nvPr/>
        </p:nvSpPr>
        <p:spPr>
          <a:xfrm>
            <a:off x="10285171" y="3655771"/>
            <a:ext cx="963778" cy="963778"/>
          </a:xfrm>
          <a:prstGeom prst="ellipse">
            <a:avLst/>
          </a:prstGeom>
          <a:ln w="59055">
            <a:solidFill>
              <a:srgbClr val="C9E7EA"/>
            </a:solidFill>
            <a:prstDash val="solid"/>
          </a:ln>
        </p:spPr>
      </p:sp>
      <p:sp>
        <p:nvSpPr>
          <p:cNvPr id="12" name="Shape 10"/>
          <p:cNvSpPr/>
          <p:nvPr/>
        </p:nvSpPr>
        <p:spPr>
          <a:xfrm>
            <a:off x="8915400" y="4572000"/>
            <a:ext cx="777240" cy="777240"/>
          </a:xfrm>
          <a:prstGeom prst="ellipse">
            <a:avLst/>
          </a:prstGeom>
          <a:solidFill>
            <a:srgbClr val="FFFFFF"/>
          </a:solidFill>
          <a:ln/>
        </p:spPr>
      </p:sp>
      <p:sp>
        <p:nvSpPr>
          <p:cNvPr id="13" name="Shape 11"/>
          <p:cNvSpPr/>
          <p:nvPr/>
        </p:nvSpPr>
        <p:spPr>
          <a:xfrm>
            <a:off x="9039758" y="4696358"/>
            <a:ext cx="528523" cy="528523"/>
          </a:xfrm>
          <a:prstGeom prst="ellipse">
            <a:avLst/>
          </a:prstGeom>
          <a:ln w="32385">
            <a:solidFill>
              <a:srgbClr val="C9E7EA"/>
            </a:solidFill>
            <a:prstDash val="solid"/>
          </a:ln>
        </p:spPr>
      </p:sp>
      <p:sp>
        <p:nvSpPr>
          <p:cNvPr id="14" name="Shape 12"/>
          <p:cNvSpPr/>
          <p:nvPr/>
        </p:nvSpPr>
        <p:spPr>
          <a:xfrm>
            <a:off x="10561320" y="1143000"/>
            <a:ext cx="640080" cy="640080"/>
          </a:xfrm>
          <a:prstGeom prst="ellipse">
            <a:avLst/>
          </a:prstGeom>
          <a:solidFill>
            <a:schemeClr val="accent2"/>
          </a:solidFill>
          <a:ln/>
        </p:spPr>
      </p:sp>
      <p:sp>
        <p:nvSpPr>
          <p:cNvPr id="15" name="Shape 13"/>
          <p:cNvSpPr/>
          <p:nvPr/>
        </p:nvSpPr>
        <p:spPr>
          <a:xfrm>
            <a:off x="10663733" y="1245413"/>
            <a:ext cx="435254" cy="435254"/>
          </a:xfrm>
          <a:prstGeom prst="ellipse">
            <a:avLst/>
          </a:prstGeom>
          <a:ln w="26670">
            <a:solidFill>
              <a:srgbClr val="C98A12"/>
            </a:solidFill>
            <a:prstDash val="solid"/>
          </a:ln>
        </p:spPr>
      </p:sp>
      <p:sp>
        <p:nvSpPr>
          <p:cNvPr id="16" name="Shape 14"/>
          <p:cNvSpPr/>
          <p:nvPr/>
        </p:nvSpPr>
        <p:spPr>
          <a:xfrm>
            <a:off x="9921240" y="4983480"/>
            <a:ext cx="548640" cy="548640"/>
          </a:xfrm>
          <a:prstGeom prst="ellipse">
            <a:avLst/>
          </a:prstGeom>
          <a:solidFill>
            <a:schemeClr val="accent1"/>
          </a:solidFill>
          <a:ln/>
        </p:spPr>
      </p:sp>
      <p:sp>
        <p:nvSpPr>
          <p:cNvPr id="17" name="Shape 15"/>
          <p:cNvSpPr/>
          <p:nvPr/>
        </p:nvSpPr>
        <p:spPr>
          <a:xfrm>
            <a:off x="10009022" y="5071262"/>
            <a:ext cx="373075" cy="373075"/>
          </a:xfrm>
          <a:prstGeom prst="ellipse">
            <a:avLst/>
          </a:prstGeom>
          <a:ln w="22860">
            <a:solidFill>
              <a:srgbClr val="B8432F"/>
            </a:solidFill>
            <a:prstDash val="solid"/>
          </a:ln>
        </p:spPr>
      </p:sp>
      <p:sp>
        <p:nvSpPr>
          <p:cNvPr id="18" name="Text 16"/>
          <p:cNvSpPr txBox="1"/>
          <p:nvPr/>
        </p:nvSpPr>
        <p:spPr>
          <a:xfrm>
            <a:off x="8899855" y="6035040"/>
            <a:ext cx="2743200" cy="274320"/>
          </a:xfrm>
          <a:prstGeom prst="rect">
            <a:avLst/>
          </a:prstGeom>
          <a:noFill/>
          <a:ln/>
        </p:spPr>
        <p:txBody>
          <a:bodyPr wrap="square" lIns="0" tIns="0" rIns="0" bIns="0" rtlCol="0" anchor="ctr"/>
          <a:lstStyle/>
          <a:p>
            <a:pPr algn="r" indent="0" marL="0">
              <a:buNone/>
            </a:pPr>
            <a:r>
              <a:rPr lang="en-US" sz="1300" dirty="0">
                <a:solidFill>
                  <a:srgbClr val="E6F6F7"/>
                </a:solidFill>
              </a:rPr>
              <a:t>Fundar · RADIM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9144000" cy="274320"/>
          </a:xfrm>
          <a:prstGeom prst="rect">
            <a:avLst/>
          </a:prstGeom>
          <a:noFill/>
          <a:ln/>
        </p:spPr>
        <p:txBody>
          <a:bodyPr wrap="square" lIns="0" tIns="0" rIns="0" bIns="0" rtlCol="0" anchor="ctr"/>
          <a:lstStyle/>
          <a:p>
            <a:pPr algn="l" indent="0" marL="0">
              <a:buNone/>
            </a:pPr>
            <a:r>
              <a:rPr lang="en-US" sz="1200" b="1" spc="150" kern="0" dirty="0">
                <a:solidFill>
                  <a:schemeClr val="accent3"/>
                </a:solidFill>
              </a:rPr>
              <a:t>LA FOTO DE HOY</a:t>
            </a:r>
            <a:endParaRPr lang="en-US" sz="1200" dirty="0"/>
          </a:p>
        </p:txBody>
      </p:sp>
      <p:sp>
        <p:nvSpPr>
          <p:cNvPr id="3" name="Text 1"/>
          <p:cNvSpPr/>
          <p:nvPr>
            <p:ph idx="102" type="title" hasCustomPrompt="1"/>
          </p:nvPr>
        </p:nvSpPr>
        <p:spPr>
          <a:xfrm>
            <a:off x="548640" y="749808"/>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Hoy, más de 1 de cada 6 pesos prestados está en mora</a:t>
            </a:r>
            <a:endParaRPr lang="en-US" sz="3200" dirty="0"/>
          </a:p>
        </p:txBody>
      </p:sp>
      <p:sp>
        <p:nvSpPr>
          <p:cNvPr id="4" name="Text 2"/>
          <p:cNvSpPr txBox="1"/>
          <p:nvPr/>
        </p:nvSpPr>
        <p:spPr>
          <a:xfrm>
            <a:off x="548640" y="1554480"/>
            <a:ext cx="10058400" cy="594360"/>
          </a:xfrm>
          <a:prstGeom prst="rect">
            <a:avLst/>
          </a:prstGeom>
          <a:noFill/>
          <a:ln/>
        </p:spPr>
        <p:txBody>
          <a:bodyPr wrap="square" lIns="0" tIns="0" rIns="0" bIns="0" rtlCol="0" anchor="t"/>
          <a:lstStyle/>
          <a:p>
            <a:pPr indent="0" marL="0">
              <a:buNone/>
            </a:pPr>
            <a:r>
              <a:rPr lang="en-US" sz="1600" dirty="0">
                <a:solidFill>
                  <a:schemeClr val="tx2"/>
                </a:solidFill>
              </a:rPr>
              <a:t>La mora es la parte de lo prestado que no se paga hace más de 90 días. Cada fila es toda la deuda de las personas con bancos, fintech y billeteras, partida en 40 monedas iguales.</a:t>
            </a:r>
            <a:endParaRPr lang="en-US" sz="1600" dirty="0"/>
          </a:p>
        </p:txBody>
      </p:sp>
      <p:sp>
        <p:nvSpPr>
          <p:cNvPr id="5" name="Panel filas"/>
          <p:cNvSpPr/>
          <p:nvPr/>
        </p:nvSpPr>
        <p:spPr>
          <a:xfrm>
            <a:off x="548640" y="2286000"/>
            <a:ext cx="11094415" cy="3611880"/>
          </a:xfrm>
          <a:prstGeom prst="roundRect">
            <a:avLst>
              <a:gd name="adj" fmla="val 4051"/>
            </a:avLst>
          </a:prstGeom>
          <a:solidFill>
            <a:schemeClr val="bg1"/>
          </a:solidFill>
          <a:ln w="12700">
            <a:solidFill>
              <a:schemeClr val="accent6"/>
            </a:solidFill>
            <a:prstDash val="solid"/>
          </a:ln>
        </p:spPr>
      </p:sp>
      <p:sp>
        <p:nvSpPr>
          <p:cNvPr id="6" name="Text 4"/>
          <p:cNvSpPr txBox="1"/>
          <p:nvPr/>
        </p:nvSpPr>
        <p:spPr>
          <a:xfrm>
            <a:off x="868680" y="2468880"/>
            <a:ext cx="10454335" cy="274320"/>
          </a:xfrm>
          <a:prstGeom prst="rect">
            <a:avLst/>
          </a:prstGeom>
          <a:noFill/>
          <a:ln/>
        </p:spPr>
        <p:txBody>
          <a:bodyPr wrap="square" lIns="0" tIns="0" rIns="0" bIns="0" rtlCol="0" anchor="ctr"/>
          <a:lstStyle/>
          <a:p>
            <a:pPr indent="0" marL="0">
              <a:buNone/>
            </a:pPr>
            <a:r>
              <a:rPr lang="en-US" sz="1500" b="1" dirty="0">
                <a:solidFill>
                  <a:schemeClr val="tx1"/>
                </a:solidFill>
              </a:rPr>
              <a:t>Diciembre de 2024</a:t>
            </a:r>
            <a:pPr indent="0" marL="0">
              <a:buNone/>
            </a:pPr>
            <a:r>
              <a:rPr lang="en-US" sz="1500" dirty="0">
                <a:solidFill>
                  <a:schemeClr val="tx2"/>
                </a:solidFill>
              </a:rPr>
              <a:t>   3,6% en mora: 1 moneda de cada 40</a:t>
            </a:r>
            <a:endParaRPr lang="en-US" sz="1500" dirty="0"/>
          </a:p>
        </p:txBody>
      </p:sp>
      <p:sp>
        <p:nvSpPr>
          <p:cNvPr id="7" name="Shape 5"/>
          <p:cNvSpPr/>
          <p:nvPr/>
        </p:nvSpPr>
        <p:spPr>
          <a:xfrm>
            <a:off x="965446" y="2852928"/>
            <a:ext cx="329184" cy="329184"/>
          </a:xfrm>
          <a:prstGeom prst="ellipse">
            <a:avLst/>
          </a:prstGeom>
          <a:solidFill>
            <a:schemeClr val="accent1"/>
          </a:solidFill>
          <a:ln/>
        </p:spPr>
      </p:sp>
      <p:sp>
        <p:nvSpPr>
          <p:cNvPr id="8" name="Shape 6"/>
          <p:cNvSpPr/>
          <p:nvPr/>
        </p:nvSpPr>
        <p:spPr>
          <a:xfrm>
            <a:off x="1018116" y="2905597"/>
            <a:ext cx="223845" cy="223845"/>
          </a:xfrm>
          <a:prstGeom prst="ellipse">
            <a:avLst/>
          </a:prstGeom>
          <a:ln w="13716">
            <a:solidFill>
              <a:srgbClr val="B8432F"/>
            </a:solidFill>
            <a:prstDash val="solid"/>
          </a:ln>
        </p:spPr>
      </p:sp>
      <p:sp>
        <p:nvSpPr>
          <p:cNvPr id="9" name="Shape 7"/>
          <p:cNvSpPr/>
          <p:nvPr/>
        </p:nvSpPr>
        <p:spPr>
          <a:xfrm>
            <a:off x="1488163" y="2852928"/>
            <a:ext cx="329184" cy="329184"/>
          </a:xfrm>
          <a:prstGeom prst="ellipse">
            <a:avLst/>
          </a:prstGeom>
          <a:solidFill>
            <a:schemeClr val="accent4"/>
          </a:solidFill>
          <a:ln/>
        </p:spPr>
      </p:sp>
      <p:sp>
        <p:nvSpPr>
          <p:cNvPr id="10" name="Shape 8"/>
          <p:cNvSpPr/>
          <p:nvPr/>
        </p:nvSpPr>
        <p:spPr>
          <a:xfrm>
            <a:off x="1540833" y="2905597"/>
            <a:ext cx="223845" cy="223845"/>
          </a:xfrm>
          <a:prstGeom prst="ellipse">
            <a:avLst/>
          </a:prstGeom>
          <a:ln w="13716">
            <a:solidFill>
              <a:srgbClr val="7F8C9C"/>
            </a:solidFill>
            <a:prstDash val="solid"/>
          </a:ln>
        </p:spPr>
      </p:sp>
      <p:sp>
        <p:nvSpPr>
          <p:cNvPr id="11" name="Shape 9"/>
          <p:cNvSpPr/>
          <p:nvPr/>
        </p:nvSpPr>
        <p:spPr>
          <a:xfrm>
            <a:off x="2010880" y="2852928"/>
            <a:ext cx="329184" cy="329184"/>
          </a:xfrm>
          <a:prstGeom prst="ellipse">
            <a:avLst/>
          </a:prstGeom>
          <a:solidFill>
            <a:schemeClr val="accent4"/>
          </a:solidFill>
          <a:ln/>
        </p:spPr>
      </p:sp>
      <p:sp>
        <p:nvSpPr>
          <p:cNvPr id="12" name="Shape 10"/>
          <p:cNvSpPr/>
          <p:nvPr/>
        </p:nvSpPr>
        <p:spPr>
          <a:xfrm>
            <a:off x="2063549" y="2905597"/>
            <a:ext cx="223845" cy="223845"/>
          </a:xfrm>
          <a:prstGeom prst="ellipse">
            <a:avLst/>
          </a:prstGeom>
          <a:ln w="13716">
            <a:solidFill>
              <a:srgbClr val="7F8C9C"/>
            </a:solidFill>
            <a:prstDash val="solid"/>
          </a:ln>
        </p:spPr>
      </p:sp>
      <p:sp>
        <p:nvSpPr>
          <p:cNvPr id="13" name="Shape 11"/>
          <p:cNvSpPr/>
          <p:nvPr/>
        </p:nvSpPr>
        <p:spPr>
          <a:xfrm>
            <a:off x="2533597" y="2852928"/>
            <a:ext cx="329184" cy="329184"/>
          </a:xfrm>
          <a:prstGeom prst="ellipse">
            <a:avLst/>
          </a:prstGeom>
          <a:solidFill>
            <a:schemeClr val="accent4"/>
          </a:solidFill>
          <a:ln/>
        </p:spPr>
      </p:sp>
      <p:sp>
        <p:nvSpPr>
          <p:cNvPr id="14" name="Shape 12"/>
          <p:cNvSpPr/>
          <p:nvPr/>
        </p:nvSpPr>
        <p:spPr>
          <a:xfrm>
            <a:off x="2586266" y="2905597"/>
            <a:ext cx="223845" cy="223845"/>
          </a:xfrm>
          <a:prstGeom prst="ellipse">
            <a:avLst/>
          </a:prstGeom>
          <a:ln w="13716">
            <a:solidFill>
              <a:srgbClr val="7F8C9C"/>
            </a:solidFill>
            <a:prstDash val="solid"/>
          </a:ln>
        </p:spPr>
      </p:sp>
      <p:sp>
        <p:nvSpPr>
          <p:cNvPr id="15" name="Shape 13"/>
          <p:cNvSpPr/>
          <p:nvPr/>
        </p:nvSpPr>
        <p:spPr>
          <a:xfrm>
            <a:off x="3056313" y="2852928"/>
            <a:ext cx="329184" cy="329184"/>
          </a:xfrm>
          <a:prstGeom prst="ellipse">
            <a:avLst/>
          </a:prstGeom>
          <a:solidFill>
            <a:schemeClr val="accent4"/>
          </a:solidFill>
          <a:ln/>
        </p:spPr>
      </p:sp>
      <p:sp>
        <p:nvSpPr>
          <p:cNvPr id="16" name="Shape 14"/>
          <p:cNvSpPr/>
          <p:nvPr/>
        </p:nvSpPr>
        <p:spPr>
          <a:xfrm>
            <a:off x="3108983" y="2905597"/>
            <a:ext cx="223845" cy="223845"/>
          </a:xfrm>
          <a:prstGeom prst="ellipse">
            <a:avLst/>
          </a:prstGeom>
          <a:ln w="13716">
            <a:solidFill>
              <a:srgbClr val="7F8C9C"/>
            </a:solidFill>
            <a:prstDash val="solid"/>
          </a:ln>
        </p:spPr>
      </p:sp>
      <p:sp>
        <p:nvSpPr>
          <p:cNvPr id="17" name="Shape 15"/>
          <p:cNvSpPr/>
          <p:nvPr/>
        </p:nvSpPr>
        <p:spPr>
          <a:xfrm>
            <a:off x="3579030" y="2852928"/>
            <a:ext cx="329184" cy="329184"/>
          </a:xfrm>
          <a:prstGeom prst="ellipse">
            <a:avLst/>
          </a:prstGeom>
          <a:solidFill>
            <a:schemeClr val="accent4"/>
          </a:solidFill>
          <a:ln/>
        </p:spPr>
      </p:sp>
      <p:sp>
        <p:nvSpPr>
          <p:cNvPr id="18" name="Shape 16"/>
          <p:cNvSpPr/>
          <p:nvPr/>
        </p:nvSpPr>
        <p:spPr>
          <a:xfrm>
            <a:off x="3631700" y="2905597"/>
            <a:ext cx="223845" cy="223845"/>
          </a:xfrm>
          <a:prstGeom prst="ellipse">
            <a:avLst/>
          </a:prstGeom>
          <a:ln w="13716">
            <a:solidFill>
              <a:srgbClr val="7F8C9C"/>
            </a:solidFill>
            <a:prstDash val="solid"/>
          </a:ln>
        </p:spPr>
      </p:sp>
      <p:sp>
        <p:nvSpPr>
          <p:cNvPr id="19" name="Shape 17"/>
          <p:cNvSpPr/>
          <p:nvPr/>
        </p:nvSpPr>
        <p:spPr>
          <a:xfrm>
            <a:off x="4101747" y="2852928"/>
            <a:ext cx="329184" cy="329184"/>
          </a:xfrm>
          <a:prstGeom prst="ellipse">
            <a:avLst/>
          </a:prstGeom>
          <a:solidFill>
            <a:schemeClr val="accent4"/>
          </a:solidFill>
          <a:ln/>
        </p:spPr>
      </p:sp>
      <p:sp>
        <p:nvSpPr>
          <p:cNvPr id="20" name="Shape 18"/>
          <p:cNvSpPr/>
          <p:nvPr/>
        </p:nvSpPr>
        <p:spPr>
          <a:xfrm>
            <a:off x="4154416" y="2905597"/>
            <a:ext cx="223845" cy="223845"/>
          </a:xfrm>
          <a:prstGeom prst="ellipse">
            <a:avLst/>
          </a:prstGeom>
          <a:ln w="13716">
            <a:solidFill>
              <a:srgbClr val="7F8C9C"/>
            </a:solidFill>
            <a:prstDash val="solid"/>
          </a:ln>
        </p:spPr>
      </p:sp>
      <p:sp>
        <p:nvSpPr>
          <p:cNvPr id="21" name="Shape 19"/>
          <p:cNvSpPr/>
          <p:nvPr/>
        </p:nvSpPr>
        <p:spPr>
          <a:xfrm>
            <a:off x="4624464" y="2852928"/>
            <a:ext cx="329184" cy="329184"/>
          </a:xfrm>
          <a:prstGeom prst="ellipse">
            <a:avLst/>
          </a:prstGeom>
          <a:solidFill>
            <a:schemeClr val="accent4"/>
          </a:solidFill>
          <a:ln/>
        </p:spPr>
      </p:sp>
      <p:sp>
        <p:nvSpPr>
          <p:cNvPr id="22" name="Shape 20"/>
          <p:cNvSpPr/>
          <p:nvPr/>
        </p:nvSpPr>
        <p:spPr>
          <a:xfrm>
            <a:off x="4677133" y="2905597"/>
            <a:ext cx="223845" cy="223845"/>
          </a:xfrm>
          <a:prstGeom prst="ellipse">
            <a:avLst/>
          </a:prstGeom>
          <a:ln w="13716">
            <a:solidFill>
              <a:srgbClr val="7F8C9C"/>
            </a:solidFill>
            <a:prstDash val="solid"/>
          </a:ln>
        </p:spPr>
      </p:sp>
      <p:sp>
        <p:nvSpPr>
          <p:cNvPr id="23" name="Shape 21"/>
          <p:cNvSpPr/>
          <p:nvPr/>
        </p:nvSpPr>
        <p:spPr>
          <a:xfrm>
            <a:off x="5147180" y="2852928"/>
            <a:ext cx="329184" cy="329184"/>
          </a:xfrm>
          <a:prstGeom prst="ellipse">
            <a:avLst/>
          </a:prstGeom>
          <a:solidFill>
            <a:schemeClr val="accent4"/>
          </a:solidFill>
          <a:ln/>
        </p:spPr>
      </p:sp>
      <p:sp>
        <p:nvSpPr>
          <p:cNvPr id="24" name="Shape 22"/>
          <p:cNvSpPr/>
          <p:nvPr/>
        </p:nvSpPr>
        <p:spPr>
          <a:xfrm>
            <a:off x="5199850" y="2905597"/>
            <a:ext cx="223845" cy="223845"/>
          </a:xfrm>
          <a:prstGeom prst="ellipse">
            <a:avLst/>
          </a:prstGeom>
          <a:ln w="13716">
            <a:solidFill>
              <a:srgbClr val="7F8C9C"/>
            </a:solidFill>
            <a:prstDash val="solid"/>
          </a:ln>
        </p:spPr>
      </p:sp>
      <p:sp>
        <p:nvSpPr>
          <p:cNvPr id="25" name="Shape 23"/>
          <p:cNvSpPr/>
          <p:nvPr/>
        </p:nvSpPr>
        <p:spPr>
          <a:xfrm>
            <a:off x="5669897" y="2852928"/>
            <a:ext cx="329184" cy="329184"/>
          </a:xfrm>
          <a:prstGeom prst="ellipse">
            <a:avLst/>
          </a:prstGeom>
          <a:solidFill>
            <a:schemeClr val="accent4"/>
          </a:solidFill>
          <a:ln/>
        </p:spPr>
      </p:sp>
      <p:sp>
        <p:nvSpPr>
          <p:cNvPr id="26" name="Shape 24"/>
          <p:cNvSpPr/>
          <p:nvPr/>
        </p:nvSpPr>
        <p:spPr>
          <a:xfrm>
            <a:off x="5722567" y="2905597"/>
            <a:ext cx="223845" cy="223845"/>
          </a:xfrm>
          <a:prstGeom prst="ellipse">
            <a:avLst/>
          </a:prstGeom>
          <a:ln w="13716">
            <a:solidFill>
              <a:srgbClr val="7F8C9C"/>
            </a:solidFill>
            <a:prstDash val="solid"/>
          </a:ln>
        </p:spPr>
      </p:sp>
      <p:sp>
        <p:nvSpPr>
          <p:cNvPr id="27" name="Shape 25"/>
          <p:cNvSpPr/>
          <p:nvPr/>
        </p:nvSpPr>
        <p:spPr>
          <a:xfrm>
            <a:off x="6192614" y="2852928"/>
            <a:ext cx="329184" cy="329184"/>
          </a:xfrm>
          <a:prstGeom prst="ellipse">
            <a:avLst/>
          </a:prstGeom>
          <a:solidFill>
            <a:schemeClr val="accent4"/>
          </a:solidFill>
          <a:ln/>
        </p:spPr>
      </p:sp>
      <p:sp>
        <p:nvSpPr>
          <p:cNvPr id="28" name="Shape 26"/>
          <p:cNvSpPr/>
          <p:nvPr/>
        </p:nvSpPr>
        <p:spPr>
          <a:xfrm>
            <a:off x="6245283" y="2905597"/>
            <a:ext cx="223845" cy="223845"/>
          </a:xfrm>
          <a:prstGeom prst="ellipse">
            <a:avLst/>
          </a:prstGeom>
          <a:ln w="13716">
            <a:solidFill>
              <a:srgbClr val="7F8C9C"/>
            </a:solidFill>
            <a:prstDash val="solid"/>
          </a:ln>
        </p:spPr>
      </p:sp>
      <p:sp>
        <p:nvSpPr>
          <p:cNvPr id="29" name="Shape 27"/>
          <p:cNvSpPr/>
          <p:nvPr/>
        </p:nvSpPr>
        <p:spPr>
          <a:xfrm>
            <a:off x="6715331" y="2852928"/>
            <a:ext cx="329184" cy="329184"/>
          </a:xfrm>
          <a:prstGeom prst="ellipse">
            <a:avLst/>
          </a:prstGeom>
          <a:solidFill>
            <a:schemeClr val="accent4"/>
          </a:solidFill>
          <a:ln/>
        </p:spPr>
      </p:sp>
      <p:sp>
        <p:nvSpPr>
          <p:cNvPr id="30" name="Shape 28"/>
          <p:cNvSpPr/>
          <p:nvPr/>
        </p:nvSpPr>
        <p:spPr>
          <a:xfrm>
            <a:off x="6768000" y="2905597"/>
            <a:ext cx="223845" cy="223845"/>
          </a:xfrm>
          <a:prstGeom prst="ellipse">
            <a:avLst/>
          </a:prstGeom>
          <a:ln w="13716">
            <a:solidFill>
              <a:srgbClr val="7F8C9C"/>
            </a:solidFill>
            <a:prstDash val="solid"/>
          </a:ln>
        </p:spPr>
      </p:sp>
      <p:sp>
        <p:nvSpPr>
          <p:cNvPr id="31" name="Shape 29"/>
          <p:cNvSpPr/>
          <p:nvPr/>
        </p:nvSpPr>
        <p:spPr>
          <a:xfrm>
            <a:off x="7238048" y="2852928"/>
            <a:ext cx="329184" cy="329184"/>
          </a:xfrm>
          <a:prstGeom prst="ellipse">
            <a:avLst/>
          </a:prstGeom>
          <a:solidFill>
            <a:schemeClr val="accent4"/>
          </a:solidFill>
          <a:ln/>
        </p:spPr>
      </p:sp>
      <p:sp>
        <p:nvSpPr>
          <p:cNvPr id="32" name="Shape 30"/>
          <p:cNvSpPr/>
          <p:nvPr/>
        </p:nvSpPr>
        <p:spPr>
          <a:xfrm>
            <a:off x="7290717" y="2905597"/>
            <a:ext cx="223845" cy="223845"/>
          </a:xfrm>
          <a:prstGeom prst="ellipse">
            <a:avLst/>
          </a:prstGeom>
          <a:ln w="13716">
            <a:solidFill>
              <a:srgbClr val="7F8C9C"/>
            </a:solidFill>
            <a:prstDash val="solid"/>
          </a:ln>
        </p:spPr>
      </p:sp>
      <p:sp>
        <p:nvSpPr>
          <p:cNvPr id="33" name="Shape 31"/>
          <p:cNvSpPr/>
          <p:nvPr/>
        </p:nvSpPr>
        <p:spPr>
          <a:xfrm>
            <a:off x="7760764" y="2852928"/>
            <a:ext cx="329184" cy="329184"/>
          </a:xfrm>
          <a:prstGeom prst="ellipse">
            <a:avLst/>
          </a:prstGeom>
          <a:solidFill>
            <a:schemeClr val="accent4"/>
          </a:solidFill>
          <a:ln/>
        </p:spPr>
      </p:sp>
      <p:sp>
        <p:nvSpPr>
          <p:cNvPr id="34" name="Shape 32"/>
          <p:cNvSpPr/>
          <p:nvPr/>
        </p:nvSpPr>
        <p:spPr>
          <a:xfrm>
            <a:off x="7813434" y="2905597"/>
            <a:ext cx="223845" cy="223845"/>
          </a:xfrm>
          <a:prstGeom prst="ellipse">
            <a:avLst/>
          </a:prstGeom>
          <a:ln w="13716">
            <a:solidFill>
              <a:srgbClr val="7F8C9C"/>
            </a:solidFill>
            <a:prstDash val="solid"/>
          </a:ln>
        </p:spPr>
      </p:sp>
      <p:sp>
        <p:nvSpPr>
          <p:cNvPr id="35" name="Shape 33"/>
          <p:cNvSpPr/>
          <p:nvPr/>
        </p:nvSpPr>
        <p:spPr>
          <a:xfrm>
            <a:off x="8283481" y="2852928"/>
            <a:ext cx="329184" cy="329184"/>
          </a:xfrm>
          <a:prstGeom prst="ellipse">
            <a:avLst/>
          </a:prstGeom>
          <a:solidFill>
            <a:schemeClr val="accent4"/>
          </a:solidFill>
          <a:ln/>
        </p:spPr>
      </p:sp>
      <p:sp>
        <p:nvSpPr>
          <p:cNvPr id="36" name="Shape 34"/>
          <p:cNvSpPr/>
          <p:nvPr/>
        </p:nvSpPr>
        <p:spPr>
          <a:xfrm>
            <a:off x="8336150" y="2905597"/>
            <a:ext cx="223845" cy="223845"/>
          </a:xfrm>
          <a:prstGeom prst="ellipse">
            <a:avLst/>
          </a:prstGeom>
          <a:ln w="13716">
            <a:solidFill>
              <a:srgbClr val="7F8C9C"/>
            </a:solidFill>
            <a:prstDash val="solid"/>
          </a:ln>
        </p:spPr>
      </p:sp>
      <p:sp>
        <p:nvSpPr>
          <p:cNvPr id="37" name="Shape 35"/>
          <p:cNvSpPr/>
          <p:nvPr/>
        </p:nvSpPr>
        <p:spPr>
          <a:xfrm>
            <a:off x="8806198" y="2852928"/>
            <a:ext cx="329184" cy="329184"/>
          </a:xfrm>
          <a:prstGeom prst="ellipse">
            <a:avLst/>
          </a:prstGeom>
          <a:solidFill>
            <a:schemeClr val="accent4"/>
          </a:solidFill>
          <a:ln/>
        </p:spPr>
      </p:sp>
      <p:sp>
        <p:nvSpPr>
          <p:cNvPr id="38" name="Shape 36"/>
          <p:cNvSpPr/>
          <p:nvPr/>
        </p:nvSpPr>
        <p:spPr>
          <a:xfrm>
            <a:off x="8858867" y="2905597"/>
            <a:ext cx="223845" cy="223845"/>
          </a:xfrm>
          <a:prstGeom prst="ellipse">
            <a:avLst/>
          </a:prstGeom>
          <a:ln w="13716">
            <a:solidFill>
              <a:srgbClr val="7F8C9C"/>
            </a:solidFill>
            <a:prstDash val="solid"/>
          </a:ln>
        </p:spPr>
      </p:sp>
      <p:sp>
        <p:nvSpPr>
          <p:cNvPr id="39" name="Shape 37"/>
          <p:cNvSpPr/>
          <p:nvPr/>
        </p:nvSpPr>
        <p:spPr>
          <a:xfrm>
            <a:off x="9328915" y="2852928"/>
            <a:ext cx="329184" cy="329184"/>
          </a:xfrm>
          <a:prstGeom prst="ellipse">
            <a:avLst/>
          </a:prstGeom>
          <a:solidFill>
            <a:schemeClr val="accent4"/>
          </a:solidFill>
          <a:ln/>
        </p:spPr>
      </p:sp>
      <p:sp>
        <p:nvSpPr>
          <p:cNvPr id="40" name="Shape 38"/>
          <p:cNvSpPr/>
          <p:nvPr/>
        </p:nvSpPr>
        <p:spPr>
          <a:xfrm>
            <a:off x="9381584" y="2905597"/>
            <a:ext cx="223845" cy="223845"/>
          </a:xfrm>
          <a:prstGeom prst="ellipse">
            <a:avLst/>
          </a:prstGeom>
          <a:ln w="13716">
            <a:solidFill>
              <a:srgbClr val="7F8C9C"/>
            </a:solidFill>
            <a:prstDash val="solid"/>
          </a:ln>
        </p:spPr>
      </p:sp>
      <p:sp>
        <p:nvSpPr>
          <p:cNvPr id="41" name="Shape 39"/>
          <p:cNvSpPr/>
          <p:nvPr/>
        </p:nvSpPr>
        <p:spPr>
          <a:xfrm>
            <a:off x="9851631" y="2852928"/>
            <a:ext cx="329184" cy="329184"/>
          </a:xfrm>
          <a:prstGeom prst="ellipse">
            <a:avLst/>
          </a:prstGeom>
          <a:solidFill>
            <a:schemeClr val="accent4"/>
          </a:solidFill>
          <a:ln/>
        </p:spPr>
      </p:sp>
      <p:sp>
        <p:nvSpPr>
          <p:cNvPr id="42" name="Shape 40"/>
          <p:cNvSpPr/>
          <p:nvPr/>
        </p:nvSpPr>
        <p:spPr>
          <a:xfrm>
            <a:off x="9904301" y="2905597"/>
            <a:ext cx="223845" cy="223845"/>
          </a:xfrm>
          <a:prstGeom prst="ellipse">
            <a:avLst/>
          </a:prstGeom>
          <a:ln w="13716">
            <a:solidFill>
              <a:srgbClr val="7F8C9C"/>
            </a:solidFill>
            <a:prstDash val="solid"/>
          </a:ln>
        </p:spPr>
      </p:sp>
      <p:sp>
        <p:nvSpPr>
          <p:cNvPr id="43" name="Shape 41"/>
          <p:cNvSpPr/>
          <p:nvPr/>
        </p:nvSpPr>
        <p:spPr>
          <a:xfrm>
            <a:off x="10374348" y="2852928"/>
            <a:ext cx="329184" cy="329184"/>
          </a:xfrm>
          <a:prstGeom prst="ellipse">
            <a:avLst/>
          </a:prstGeom>
          <a:solidFill>
            <a:schemeClr val="accent4"/>
          </a:solidFill>
          <a:ln/>
        </p:spPr>
      </p:sp>
      <p:sp>
        <p:nvSpPr>
          <p:cNvPr id="44" name="Shape 42"/>
          <p:cNvSpPr/>
          <p:nvPr/>
        </p:nvSpPr>
        <p:spPr>
          <a:xfrm>
            <a:off x="10427018" y="2905597"/>
            <a:ext cx="223845" cy="223845"/>
          </a:xfrm>
          <a:prstGeom prst="ellipse">
            <a:avLst/>
          </a:prstGeom>
          <a:ln w="13716">
            <a:solidFill>
              <a:srgbClr val="7F8C9C"/>
            </a:solidFill>
            <a:prstDash val="solid"/>
          </a:ln>
        </p:spPr>
      </p:sp>
      <p:sp>
        <p:nvSpPr>
          <p:cNvPr id="45" name="Shape 43"/>
          <p:cNvSpPr/>
          <p:nvPr/>
        </p:nvSpPr>
        <p:spPr>
          <a:xfrm>
            <a:off x="10897065" y="2852928"/>
            <a:ext cx="329184" cy="329184"/>
          </a:xfrm>
          <a:prstGeom prst="ellipse">
            <a:avLst/>
          </a:prstGeom>
          <a:solidFill>
            <a:schemeClr val="accent4"/>
          </a:solidFill>
          <a:ln/>
        </p:spPr>
      </p:sp>
      <p:sp>
        <p:nvSpPr>
          <p:cNvPr id="46" name="Shape 44"/>
          <p:cNvSpPr/>
          <p:nvPr/>
        </p:nvSpPr>
        <p:spPr>
          <a:xfrm>
            <a:off x="10949734" y="2905597"/>
            <a:ext cx="223845" cy="223845"/>
          </a:xfrm>
          <a:prstGeom prst="ellipse">
            <a:avLst/>
          </a:prstGeom>
          <a:ln w="13716">
            <a:solidFill>
              <a:srgbClr val="7F8C9C"/>
            </a:solidFill>
            <a:prstDash val="solid"/>
          </a:ln>
        </p:spPr>
      </p:sp>
      <p:sp>
        <p:nvSpPr>
          <p:cNvPr id="47" name="Shape 45"/>
          <p:cNvSpPr/>
          <p:nvPr/>
        </p:nvSpPr>
        <p:spPr>
          <a:xfrm>
            <a:off x="965446" y="3218688"/>
            <a:ext cx="329184" cy="329184"/>
          </a:xfrm>
          <a:prstGeom prst="ellipse">
            <a:avLst/>
          </a:prstGeom>
          <a:solidFill>
            <a:schemeClr val="accent4"/>
          </a:solidFill>
          <a:ln/>
        </p:spPr>
      </p:sp>
      <p:sp>
        <p:nvSpPr>
          <p:cNvPr id="48" name="Shape 46"/>
          <p:cNvSpPr/>
          <p:nvPr/>
        </p:nvSpPr>
        <p:spPr>
          <a:xfrm>
            <a:off x="1018116" y="3271357"/>
            <a:ext cx="223845" cy="223845"/>
          </a:xfrm>
          <a:prstGeom prst="ellipse">
            <a:avLst/>
          </a:prstGeom>
          <a:ln w="13716">
            <a:solidFill>
              <a:srgbClr val="7F8C9C"/>
            </a:solidFill>
            <a:prstDash val="solid"/>
          </a:ln>
        </p:spPr>
      </p:sp>
      <p:sp>
        <p:nvSpPr>
          <p:cNvPr id="49" name="Shape 47"/>
          <p:cNvSpPr/>
          <p:nvPr/>
        </p:nvSpPr>
        <p:spPr>
          <a:xfrm>
            <a:off x="1488163" y="3218688"/>
            <a:ext cx="329184" cy="329184"/>
          </a:xfrm>
          <a:prstGeom prst="ellipse">
            <a:avLst/>
          </a:prstGeom>
          <a:solidFill>
            <a:schemeClr val="accent4"/>
          </a:solidFill>
          <a:ln/>
        </p:spPr>
      </p:sp>
      <p:sp>
        <p:nvSpPr>
          <p:cNvPr id="50" name="Shape 48"/>
          <p:cNvSpPr/>
          <p:nvPr/>
        </p:nvSpPr>
        <p:spPr>
          <a:xfrm>
            <a:off x="1540833" y="3271357"/>
            <a:ext cx="223845" cy="223845"/>
          </a:xfrm>
          <a:prstGeom prst="ellipse">
            <a:avLst/>
          </a:prstGeom>
          <a:ln w="13716">
            <a:solidFill>
              <a:srgbClr val="7F8C9C"/>
            </a:solidFill>
            <a:prstDash val="solid"/>
          </a:ln>
        </p:spPr>
      </p:sp>
      <p:sp>
        <p:nvSpPr>
          <p:cNvPr id="51" name="Shape 49"/>
          <p:cNvSpPr/>
          <p:nvPr/>
        </p:nvSpPr>
        <p:spPr>
          <a:xfrm>
            <a:off x="2010880" y="3218688"/>
            <a:ext cx="329184" cy="329184"/>
          </a:xfrm>
          <a:prstGeom prst="ellipse">
            <a:avLst/>
          </a:prstGeom>
          <a:solidFill>
            <a:schemeClr val="accent4"/>
          </a:solidFill>
          <a:ln/>
        </p:spPr>
      </p:sp>
      <p:sp>
        <p:nvSpPr>
          <p:cNvPr id="52" name="Shape 50"/>
          <p:cNvSpPr/>
          <p:nvPr/>
        </p:nvSpPr>
        <p:spPr>
          <a:xfrm>
            <a:off x="2063549" y="3271357"/>
            <a:ext cx="223845" cy="223845"/>
          </a:xfrm>
          <a:prstGeom prst="ellipse">
            <a:avLst/>
          </a:prstGeom>
          <a:ln w="13716">
            <a:solidFill>
              <a:srgbClr val="7F8C9C"/>
            </a:solidFill>
            <a:prstDash val="solid"/>
          </a:ln>
        </p:spPr>
      </p:sp>
      <p:sp>
        <p:nvSpPr>
          <p:cNvPr id="53" name="Shape 51"/>
          <p:cNvSpPr/>
          <p:nvPr/>
        </p:nvSpPr>
        <p:spPr>
          <a:xfrm>
            <a:off x="2533597" y="3218688"/>
            <a:ext cx="329184" cy="329184"/>
          </a:xfrm>
          <a:prstGeom prst="ellipse">
            <a:avLst/>
          </a:prstGeom>
          <a:solidFill>
            <a:schemeClr val="accent4"/>
          </a:solidFill>
          <a:ln/>
        </p:spPr>
      </p:sp>
      <p:sp>
        <p:nvSpPr>
          <p:cNvPr id="54" name="Shape 52"/>
          <p:cNvSpPr/>
          <p:nvPr/>
        </p:nvSpPr>
        <p:spPr>
          <a:xfrm>
            <a:off x="2586266" y="3271357"/>
            <a:ext cx="223845" cy="223845"/>
          </a:xfrm>
          <a:prstGeom prst="ellipse">
            <a:avLst/>
          </a:prstGeom>
          <a:ln w="13716">
            <a:solidFill>
              <a:srgbClr val="7F8C9C"/>
            </a:solidFill>
            <a:prstDash val="solid"/>
          </a:ln>
        </p:spPr>
      </p:sp>
      <p:sp>
        <p:nvSpPr>
          <p:cNvPr id="55" name="Shape 53"/>
          <p:cNvSpPr/>
          <p:nvPr/>
        </p:nvSpPr>
        <p:spPr>
          <a:xfrm>
            <a:off x="3056313" y="3218688"/>
            <a:ext cx="329184" cy="329184"/>
          </a:xfrm>
          <a:prstGeom prst="ellipse">
            <a:avLst/>
          </a:prstGeom>
          <a:solidFill>
            <a:schemeClr val="accent4"/>
          </a:solidFill>
          <a:ln/>
        </p:spPr>
      </p:sp>
      <p:sp>
        <p:nvSpPr>
          <p:cNvPr id="56" name="Shape 54"/>
          <p:cNvSpPr/>
          <p:nvPr/>
        </p:nvSpPr>
        <p:spPr>
          <a:xfrm>
            <a:off x="3108983" y="3271357"/>
            <a:ext cx="223845" cy="223845"/>
          </a:xfrm>
          <a:prstGeom prst="ellipse">
            <a:avLst/>
          </a:prstGeom>
          <a:ln w="13716">
            <a:solidFill>
              <a:srgbClr val="7F8C9C"/>
            </a:solidFill>
            <a:prstDash val="solid"/>
          </a:ln>
        </p:spPr>
      </p:sp>
      <p:sp>
        <p:nvSpPr>
          <p:cNvPr id="57" name="Shape 55"/>
          <p:cNvSpPr/>
          <p:nvPr/>
        </p:nvSpPr>
        <p:spPr>
          <a:xfrm>
            <a:off x="3579030" y="3218688"/>
            <a:ext cx="329184" cy="329184"/>
          </a:xfrm>
          <a:prstGeom prst="ellipse">
            <a:avLst/>
          </a:prstGeom>
          <a:solidFill>
            <a:schemeClr val="accent4"/>
          </a:solidFill>
          <a:ln/>
        </p:spPr>
      </p:sp>
      <p:sp>
        <p:nvSpPr>
          <p:cNvPr id="58" name="Shape 56"/>
          <p:cNvSpPr/>
          <p:nvPr/>
        </p:nvSpPr>
        <p:spPr>
          <a:xfrm>
            <a:off x="3631700" y="3271357"/>
            <a:ext cx="223845" cy="223845"/>
          </a:xfrm>
          <a:prstGeom prst="ellipse">
            <a:avLst/>
          </a:prstGeom>
          <a:ln w="13716">
            <a:solidFill>
              <a:srgbClr val="7F8C9C"/>
            </a:solidFill>
            <a:prstDash val="solid"/>
          </a:ln>
        </p:spPr>
      </p:sp>
      <p:sp>
        <p:nvSpPr>
          <p:cNvPr id="59" name="Shape 57"/>
          <p:cNvSpPr/>
          <p:nvPr/>
        </p:nvSpPr>
        <p:spPr>
          <a:xfrm>
            <a:off x="4101747" y="3218688"/>
            <a:ext cx="329184" cy="329184"/>
          </a:xfrm>
          <a:prstGeom prst="ellipse">
            <a:avLst/>
          </a:prstGeom>
          <a:solidFill>
            <a:schemeClr val="accent4"/>
          </a:solidFill>
          <a:ln/>
        </p:spPr>
      </p:sp>
      <p:sp>
        <p:nvSpPr>
          <p:cNvPr id="60" name="Shape 58"/>
          <p:cNvSpPr/>
          <p:nvPr/>
        </p:nvSpPr>
        <p:spPr>
          <a:xfrm>
            <a:off x="4154416" y="3271357"/>
            <a:ext cx="223845" cy="223845"/>
          </a:xfrm>
          <a:prstGeom prst="ellipse">
            <a:avLst/>
          </a:prstGeom>
          <a:ln w="13716">
            <a:solidFill>
              <a:srgbClr val="7F8C9C"/>
            </a:solidFill>
            <a:prstDash val="solid"/>
          </a:ln>
        </p:spPr>
      </p:sp>
      <p:sp>
        <p:nvSpPr>
          <p:cNvPr id="61" name="Shape 59"/>
          <p:cNvSpPr/>
          <p:nvPr/>
        </p:nvSpPr>
        <p:spPr>
          <a:xfrm>
            <a:off x="4624464" y="3218688"/>
            <a:ext cx="329184" cy="329184"/>
          </a:xfrm>
          <a:prstGeom prst="ellipse">
            <a:avLst/>
          </a:prstGeom>
          <a:solidFill>
            <a:schemeClr val="accent4"/>
          </a:solidFill>
          <a:ln/>
        </p:spPr>
      </p:sp>
      <p:sp>
        <p:nvSpPr>
          <p:cNvPr id="62" name="Shape 60"/>
          <p:cNvSpPr/>
          <p:nvPr/>
        </p:nvSpPr>
        <p:spPr>
          <a:xfrm>
            <a:off x="4677133" y="3271357"/>
            <a:ext cx="223845" cy="223845"/>
          </a:xfrm>
          <a:prstGeom prst="ellipse">
            <a:avLst/>
          </a:prstGeom>
          <a:ln w="13716">
            <a:solidFill>
              <a:srgbClr val="7F8C9C"/>
            </a:solidFill>
            <a:prstDash val="solid"/>
          </a:ln>
        </p:spPr>
      </p:sp>
      <p:sp>
        <p:nvSpPr>
          <p:cNvPr id="63" name="Shape 61"/>
          <p:cNvSpPr/>
          <p:nvPr/>
        </p:nvSpPr>
        <p:spPr>
          <a:xfrm>
            <a:off x="5147180" y="3218688"/>
            <a:ext cx="329184" cy="329184"/>
          </a:xfrm>
          <a:prstGeom prst="ellipse">
            <a:avLst/>
          </a:prstGeom>
          <a:solidFill>
            <a:schemeClr val="accent4"/>
          </a:solidFill>
          <a:ln/>
        </p:spPr>
      </p:sp>
      <p:sp>
        <p:nvSpPr>
          <p:cNvPr id="64" name="Shape 62"/>
          <p:cNvSpPr/>
          <p:nvPr/>
        </p:nvSpPr>
        <p:spPr>
          <a:xfrm>
            <a:off x="5199850" y="3271357"/>
            <a:ext cx="223845" cy="223845"/>
          </a:xfrm>
          <a:prstGeom prst="ellipse">
            <a:avLst/>
          </a:prstGeom>
          <a:ln w="13716">
            <a:solidFill>
              <a:srgbClr val="7F8C9C"/>
            </a:solidFill>
            <a:prstDash val="solid"/>
          </a:ln>
        </p:spPr>
      </p:sp>
      <p:sp>
        <p:nvSpPr>
          <p:cNvPr id="65" name="Shape 63"/>
          <p:cNvSpPr/>
          <p:nvPr/>
        </p:nvSpPr>
        <p:spPr>
          <a:xfrm>
            <a:off x="5669897" y="3218688"/>
            <a:ext cx="329184" cy="329184"/>
          </a:xfrm>
          <a:prstGeom prst="ellipse">
            <a:avLst/>
          </a:prstGeom>
          <a:solidFill>
            <a:schemeClr val="accent4"/>
          </a:solidFill>
          <a:ln/>
        </p:spPr>
      </p:sp>
      <p:sp>
        <p:nvSpPr>
          <p:cNvPr id="66" name="Shape 64"/>
          <p:cNvSpPr/>
          <p:nvPr/>
        </p:nvSpPr>
        <p:spPr>
          <a:xfrm>
            <a:off x="5722567" y="3271357"/>
            <a:ext cx="223845" cy="223845"/>
          </a:xfrm>
          <a:prstGeom prst="ellipse">
            <a:avLst/>
          </a:prstGeom>
          <a:ln w="13716">
            <a:solidFill>
              <a:srgbClr val="7F8C9C"/>
            </a:solidFill>
            <a:prstDash val="solid"/>
          </a:ln>
        </p:spPr>
      </p:sp>
      <p:sp>
        <p:nvSpPr>
          <p:cNvPr id="67" name="Shape 65"/>
          <p:cNvSpPr/>
          <p:nvPr/>
        </p:nvSpPr>
        <p:spPr>
          <a:xfrm>
            <a:off x="6192614" y="3218688"/>
            <a:ext cx="329184" cy="329184"/>
          </a:xfrm>
          <a:prstGeom prst="ellipse">
            <a:avLst/>
          </a:prstGeom>
          <a:solidFill>
            <a:schemeClr val="accent4"/>
          </a:solidFill>
          <a:ln/>
        </p:spPr>
      </p:sp>
      <p:sp>
        <p:nvSpPr>
          <p:cNvPr id="68" name="Shape 66"/>
          <p:cNvSpPr/>
          <p:nvPr/>
        </p:nvSpPr>
        <p:spPr>
          <a:xfrm>
            <a:off x="6245283" y="3271357"/>
            <a:ext cx="223845" cy="223845"/>
          </a:xfrm>
          <a:prstGeom prst="ellipse">
            <a:avLst/>
          </a:prstGeom>
          <a:ln w="13716">
            <a:solidFill>
              <a:srgbClr val="7F8C9C"/>
            </a:solidFill>
            <a:prstDash val="solid"/>
          </a:ln>
        </p:spPr>
      </p:sp>
      <p:sp>
        <p:nvSpPr>
          <p:cNvPr id="69" name="Shape 67"/>
          <p:cNvSpPr/>
          <p:nvPr/>
        </p:nvSpPr>
        <p:spPr>
          <a:xfrm>
            <a:off x="6715331" y="3218688"/>
            <a:ext cx="329184" cy="329184"/>
          </a:xfrm>
          <a:prstGeom prst="ellipse">
            <a:avLst/>
          </a:prstGeom>
          <a:solidFill>
            <a:schemeClr val="accent4"/>
          </a:solidFill>
          <a:ln/>
        </p:spPr>
      </p:sp>
      <p:sp>
        <p:nvSpPr>
          <p:cNvPr id="70" name="Shape 68"/>
          <p:cNvSpPr/>
          <p:nvPr/>
        </p:nvSpPr>
        <p:spPr>
          <a:xfrm>
            <a:off x="6768000" y="3271357"/>
            <a:ext cx="223845" cy="223845"/>
          </a:xfrm>
          <a:prstGeom prst="ellipse">
            <a:avLst/>
          </a:prstGeom>
          <a:ln w="13716">
            <a:solidFill>
              <a:srgbClr val="7F8C9C"/>
            </a:solidFill>
            <a:prstDash val="solid"/>
          </a:ln>
        </p:spPr>
      </p:sp>
      <p:sp>
        <p:nvSpPr>
          <p:cNvPr id="71" name="Shape 69"/>
          <p:cNvSpPr/>
          <p:nvPr/>
        </p:nvSpPr>
        <p:spPr>
          <a:xfrm>
            <a:off x="7238048" y="3218688"/>
            <a:ext cx="329184" cy="329184"/>
          </a:xfrm>
          <a:prstGeom prst="ellipse">
            <a:avLst/>
          </a:prstGeom>
          <a:solidFill>
            <a:schemeClr val="accent4"/>
          </a:solidFill>
          <a:ln/>
        </p:spPr>
      </p:sp>
      <p:sp>
        <p:nvSpPr>
          <p:cNvPr id="72" name="Shape 70"/>
          <p:cNvSpPr/>
          <p:nvPr/>
        </p:nvSpPr>
        <p:spPr>
          <a:xfrm>
            <a:off x="7290717" y="3271357"/>
            <a:ext cx="223845" cy="223845"/>
          </a:xfrm>
          <a:prstGeom prst="ellipse">
            <a:avLst/>
          </a:prstGeom>
          <a:ln w="13716">
            <a:solidFill>
              <a:srgbClr val="7F8C9C"/>
            </a:solidFill>
            <a:prstDash val="solid"/>
          </a:ln>
        </p:spPr>
      </p:sp>
      <p:sp>
        <p:nvSpPr>
          <p:cNvPr id="73" name="Shape 71"/>
          <p:cNvSpPr/>
          <p:nvPr/>
        </p:nvSpPr>
        <p:spPr>
          <a:xfrm>
            <a:off x="7760764" y="3218688"/>
            <a:ext cx="329184" cy="329184"/>
          </a:xfrm>
          <a:prstGeom prst="ellipse">
            <a:avLst/>
          </a:prstGeom>
          <a:solidFill>
            <a:schemeClr val="accent4"/>
          </a:solidFill>
          <a:ln/>
        </p:spPr>
      </p:sp>
      <p:sp>
        <p:nvSpPr>
          <p:cNvPr id="74" name="Shape 72"/>
          <p:cNvSpPr/>
          <p:nvPr/>
        </p:nvSpPr>
        <p:spPr>
          <a:xfrm>
            <a:off x="7813434" y="3271357"/>
            <a:ext cx="223845" cy="223845"/>
          </a:xfrm>
          <a:prstGeom prst="ellipse">
            <a:avLst/>
          </a:prstGeom>
          <a:ln w="13716">
            <a:solidFill>
              <a:srgbClr val="7F8C9C"/>
            </a:solidFill>
            <a:prstDash val="solid"/>
          </a:ln>
        </p:spPr>
      </p:sp>
      <p:sp>
        <p:nvSpPr>
          <p:cNvPr id="75" name="Shape 73"/>
          <p:cNvSpPr/>
          <p:nvPr/>
        </p:nvSpPr>
        <p:spPr>
          <a:xfrm>
            <a:off x="8283481" y="3218688"/>
            <a:ext cx="329184" cy="329184"/>
          </a:xfrm>
          <a:prstGeom prst="ellipse">
            <a:avLst/>
          </a:prstGeom>
          <a:solidFill>
            <a:schemeClr val="accent4"/>
          </a:solidFill>
          <a:ln/>
        </p:spPr>
      </p:sp>
      <p:sp>
        <p:nvSpPr>
          <p:cNvPr id="76" name="Shape 74"/>
          <p:cNvSpPr/>
          <p:nvPr/>
        </p:nvSpPr>
        <p:spPr>
          <a:xfrm>
            <a:off x="8336150" y="3271357"/>
            <a:ext cx="223845" cy="223845"/>
          </a:xfrm>
          <a:prstGeom prst="ellipse">
            <a:avLst/>
          </a:prstGeom>
          <a:ln w="13716">
            <a:solidFill>
              <a:srgbClr val="7F8C9C"/>
            </a:solidFill>
            <a:prstDash val="solid"/>
          </a:ln>
        </p:spPr>
      </p:sp>
      <p:sp>
        <p:nvSpPr>
          <p:cNvPr id="77" name="Shape 75"/>
          <p:cNvSpPr/>
          <p:nvPr/>
        </p:nvSpPr>
        <p:spPr>
          <a:xfrm>
            <a:off x="8806198" y="3218688"/>
            <a:ext cx="329184" cy="329184"/>
          </a:xfrm>
          <a:prstGeom prst="ellipse">
            <a:avLst/>
          </a:prstGeom>
          <a:solidFill>
            <a:schemeClr val="accent4"/>
          </a:solidFill>
          <a:ln/>
        </p:spPr>
      </p:sp>
      <p:sp>
        <p:nvSpPr>
          <p:cNvPr id="78" name="Shape 76"/>
          <p:cNvSpPr/>
          <p:nvPr/>
        </p:nvSpPr>
        <p:spPr>
          <a:xfrm>
            <a:off x="8858867" y="3271357"/>
            <a:ext cx="223845" cy="223845"/>
          </a:xfrm>
          <a:prstGeom prst="ellipse">
            <a:avLst/>
          </a:prstGeom>
          <a:ln w="13716">
            <a:solidFill>
              <a:srgbClr val="7F8C9C"/>
            </a:solidFill>
            <a:prstDash val="solid"/>
          </a:ln>
        </p:spPr>
      </p:sp>
      <p:sp>
        <p:nvSpPr>
          <p:cNvPr id="79" name="Shape 77"/>
          <p:cNvSpPr/>
          <p:nvPr/>
        </p:nvSpPr>
        <p:spPr>
          <a:xfrm>
            <a:off x="9328915" y="3218688"/>
            <a:ext cx="329184" cy="329184"/>
          </a:xfrm>
          <a:prstGeom prst="ellipse">
            <a:avLst/>
          </a:prstGeom>
          <a:solidFill>
            <a:schemeClr val="accent4"/>
          </a:solidFill>
          <a:ln/>
        </p:spPr>
      </p:sp>
      <p:sp>
        <p:nvSpPr>
          <p:cNvPr id="80" name="Shape 78"/>
          <p:cNvSpPr/>
          <p:nvPr/>
        </p:nvSpPr>
        <p:spPr>
          <a:xfrm>
            <a:off x="9381584" y="3271357"/>
            <a:ext cx="223845" cy="223845"/>
          </a:xfrm>
          <a:prstGeom prst="ellipse">
            <a:avLst/>
          </a:prstGeom>
          <a:ln w="13716">
            <a:solidFill>
              <a:srgbClr val="7F8C9C"/>
            </a:solidFill>
            <a:prstDash val="solid"/>
          </a:ln>
        </p:spPr>
      </p:sp>
      <p:sp>
        <p:nvSpPr>
          <p:cNvPr id="81" name="Shape 79"/>
          <p:cNvSpPr/>
          <p:nvPr/>
        </p:nvSpPr>
        <p:spPr>
          <a:xfrm>
            <a:off x="9851631" y="3218688"/>
            <a:ext cx="329184" cy="329184"/>
          </a:xfrm>
          <a:prstGeom prst="ellipse">
            <a:avLst/>
          </a:prstGeom>
          <a:solidFill>
            <a:schemeClr val="accent4"/>
          </a:solidFill>
          <a:ln/>
        </p:spPr>
      </p:sp>
      <p:sp>
        <p:nvSpPr>
          <p:cNvPr id="82" name="Shape 80"/>
          <p:cNvSpPr/>
          <p:nvPr/>
        </p:nvSpPr>
        <p:spPr>
          <a:xfrm>
            <a:off x="9904301" y="3271357"/>
            <a:ext cx="223845" cy="223845"/>
          </a:xfrm>
          <a:prstGeom prst="ellipse">
            <a:avLst/>
          </a:prstGeom>
          <a:ln w="13716">
            <a:solidFill>
              <a:srgbClr val="7F8C9C"/>
            </a:solidFill>
            <a:prstDash val="solid"/>
          </a:ln>
        </p:spPr>
      </p:sp>
      <p:sp>
        <p:nvSpPr>
          <p:cNvPr id="83" name="Shape 81"/>
          <p:cNvSpPr/>
          <p:nvPr/>
        </p:nvSpPr>
        <p:spPr>
          <a:xfrm>
            <a:off x="10374348" y="3218688"/>
            <a:ext cx="329184" cy="329184"/>
          </a:xfrm>
          <a:prstGeom prst="ellipse">
            <a:avLst/>
          </a:prstGeom>
          <a:solidFill>
            <a:schemeClr val="accent4"/>
          </a:solidFill>
          <a:ln/>
        </p:spPr>
      </p:sp>
      <p:sp>
        <p:nvSpPr>
          <p:cNvPr id="84" name="Shape 82"/>
          <p:cNvSpPr/>
          <p:nvPr/>
        </p:nvSpPr>
        <p:spPr>
          <a:xfrm>
            <a:off x="10427018" y="3271357"/>
            <a:ext cx="223845" cy="223845"/>
          </a:xfrm>
          <a:prstGeom prst="ellipse">
            <a:avLst/>
          </a:prstGeom>
          <a:ln w="13716">
            <a:solidFill>
              <a:srgbClr val="7F8C9C"/>
            </a:solidFill>
            <a:prstDash val="solid"/>
          </a:ln>
        </p:spPr>
      </p:sp>
      <p:sp>
        <p:nvSpPr>
          <p:cNvPr id="85" name="Shape 83"/>
          <p:cNvSpPr/>
          <p:nvPr/>
        </p:nvSpPr>
        <p:spPr>
          <a:xfrm>
            <a:off x="10897065" y="3218688"/>
            <a:ext cx="329184" cy="329184"/>
          </a:xfrm>
          <a:prstGeom prst="ellipse">
            <a:avLst/>
          </a:prstGeom>
          <a:solidFill>
            <a:schemeClr val="accent4"/>
          </a:solidFill>
          <a:ln/>
        </p:spPr>
      </p:sp>
      <p:sp>
        <p:nvSpPr>
          <p:cNvPr id="86" name="Shape 84"/>
          <p:cNvSpPr/>
          <p:nvPr/>
        </p:nvSpPr>
        <p:spPr>
          <a:xfrm>
            <a:off x="10949734" y="3271357"/>
            <a:ext cx="223845" cy="223845"/>
          </a:xfrm>
          <a:prstGeom prst="ellipse">
            <a:avLst/>
          </a:prstGeom>
          <a:ln w="13716">
            <a:solidFill>
              <a:srgbClr val="7F8C9C"/>
            </a:solidFill>
            <a:prstDash val="solid"/>
          </a:ln>
        </p:spPr>
      </p:sp>
      <p:sp>
        <p:nvSpPr>
          <p:cNvPr id="87" name="Text 85"/>
          <p:cNvSpPr txBox="1"/>
          <p:nvPr/>
        </p:nvSpPr>
        <p:spPr>
          <a:xfrm>
            <a:off x="868680" y="3611880"/>
            <a:ext cx="10454335" cy="274320"/>
          </a:xfrm>
          <a:prstGeom prst="rect">
            <a:avLst/>
          </a:prstGeom>
          <a:noFill/>
          <a:ln/>
        </p:spPr>
        <p:txBody>
          <a:bodyPr wrap="square" lIns="0" tIns="0" rIns="0" bIns="0" rtlCol="0" anchor="ctr"/>
          <a:lstStyle/>
          <a:p>
            <a:pPr indent="0" marL="0">
              <a:buNone/>
            </a:pPr>
            <a:r>
              <a:rPr lang="en-US" sz="1500" b="1" dirty="0">
                <a:solidFill>
                  <a:schemeClr val="tx1"/>
                </a:solidFill>
              </a:rPr>
              <a:t>Diciembre de 2025</a:t>
            </a:r>
            <a:pPr indent="0" marL="0">
              <a:buNone/>
            </a:pPr>
            <a:r>
              <a:rPr lang="en-US" sz="1500" dirty="0">
                <a:solidFill>
                  <a:schemeClr val="tx2"/>
                </a:solidFill>
              </a:rPr>
              <a:t>   12,6% en mora: 5 de cada 40</a:t>
            </a:r>
            <a:endParaRPr lang="en-US" sz="1500" dirty="0"/>
          </a:p>
        </p:txBody>
      </p:sp>
      <p:sp>
        <p:nvSpPr>
          <p:cNvPr id="88" name="Shape 86"/>
          <p:cNvSpPr/>
          <p:nvPr/>
        </p:nvSpPr>
        <p:spPr>
          <a:xfrm>
            <a:off x="965446" y="3995928"/>
            <a:ext cx="329184" cy="329184"/>
          </a:xfrm>
          <a:prstGeom prst="ellipse">
            <a:avLst/>
          </a:prstGeom>
          <a:solidFill>
            <a:schemeClr val="accent1"/>
          </a:solidFill>
          <a:ln/>
        </p:spPr>
      </p:sp>
      <p:sp>
        <p:nvSpPr>
          <p:cNvPr id="89" name="Shape 87"/>
          <p:cNvSpPr/>
          <p:nvPr/>
        </p:nvSpPr>
        <p:spPr>
          <a:xfrm>
            <a:off x="1018116" y="4048597"/>
            <a:ext cx="223845" cy="223845"/>
          </a:xfrm>
          <a:prstGeom prst="ellipse">
            <a:avLst/>
          </a:prstGeom>
          <a:ln w="13716">
            <a:solidFill>
              <a:srgbClr val="B8432F"/>
            </a:solidFill>
            <a:prstDash val="solid"/>
          </a:ln>
        </p:spPr>
      </p:sp>
      <p:sp>
        <p:nvSpPr>
          <p:cNvPr id="90" name="Shape 88"/>
          <p:cNvSpPr/>
          <p:nvPr/>
        </p:nvSpPr>
        <p:spPr>
          <a:xfrm>
            <a:off x="1488163" y="3995928"/>
            <a:ext cx="329184" cy="329184"/>
          </a:xfrm>
          <a:prstGeom prst="ellipse">
            <a:avLst/>
          </a:prstGeom>
          <a:solidFill>
            <a:schemeClr val="accent1"/>
          </a:solidFill>
          <a:ln/>
        </p:spPr>
      </p:sp>
      <p:sp>
        <p:nvSpPr>
          <p:cNvPr id="91" name="Shape 89"/>
          <p:cNvSpPr/>
          <p:nvPr/>
        </p:nvSpPr>
        <p:spPr>
          <a:xfrm>
            <a:off x="1540833" y="4048597"/>
            <a:ext cx="223845" cy="223845"/>
          </a:xfrm>
          <a:prstGeom prst="ellipse">
            <a:avLst/>
          </a:prstGeom>
          <a:ln w="13716">
            <a:solidFill>
              <a:srgbClr val="B8432F"/>
            </a:solidFill>
            <a:prstDash val="solid"/>
          </a:ln>
        </p:spPr>
      </p:sp>
      <p:sp>
        <p:nvSpPr>
          <p:cNvPr id="92" name="Shape 90"/>
          <p:cNvSpPr/>
          <p:nvPr/>
        </p:nvSpPr>
        <p:spPr>
          <a:xfrm>
            <a:off x="2010880" y="3995928"/>
            <a:ext cx="329184" cy="329184"/>
          </a:xfrm>
          <a:prstGeom prst="ellipse">
            <a:avLst/>
          </a:prstGeom>
          <a:solidFill>
            <a:schemeClr val="accent1"/>
          </a:solidFill>
          <a:ln/>
        </p:spPr>
      </p:sp>
      <p:sp>
        <p:nvSpPr>
          <p:cNvPr id="93" name="Shape 91"/>
          <p:cNvSpPr/>
          <p:nvPr/>
        </p:nvSpPr>
        <p:spPr>
          <a:xfrm>
            <a:off x="2063549" y="4048597"/>
            <a:ext cx="223845" cy="223845"/>
          </a:xfrm>
          <a:prstGeom prst="ellipse">
            <a:avLst/>
          </a:prstGeom>
          <a:ln w="13716">
            <a:solidFill>
              <a:srgbClr val="B8432F"/>
            </a:solidFill>
            <a:prstDash val="solid"/>
          </a:ln>
        </p:spPr>
      </p:sp>
      <p:sp>
        <p:nvSpPr>
          <p:cNvPr id="94" name="Shape 92"/>
          <p:cNvSpPr/>
          <p:nvPr/>
        </p:nvSpPr>
        <p:spPr>
          <a:xfrm>
            <a:off x="2533597" y="3995928"/>
            <a:ext cx="329184" cy="329184"/>
          </a:xfrm>
          <a:prstGeom prst="ellipse">
            <a:avLst/>
          </a:prstGeom>
          <a:solidFill>
            <a:schemeClr val="accent1"/>
          </a:solidFill>
          <a:ln/>
        </p:spPr>
      </p:sp>
      <p:sp>
        <p:nvSpPr>
          <p:cNvPr id="95" name="Shape 93"/>
          <p:cNvSpPr/>
          <p:nvPr/>
        </p:nvSpPr>
        <p:spPr>
          <a:xfrm>
            <a:off x="2586266" y="4048597"/>
            <a:ext cx="223845" cy="223845"/>
          </a:xfrm>
          <a:prstGeom prst="ellipse">
            <a:avLst/>
          </a:prstGeom>
          <a:ln w="13716">
            <a:solidFill>
              <a:srgbClr val="B8432F"/>
            </a:solidFill>
            <a:prstDash val="solid"/>
          </a:ln>
        </p:spPr>
      </p:sp>
      <p:sp>
        <p:nvSpPr>
          <p:cNvPr id="96" name="Shape 94"/>
          <p:cNvSpPr/>
          <p:nvPr/>
        </p:nvSpPr>
        <p:spPr>
          <a:xfrm>
            <a:off x="3056313" y="3995928"/>
            <a:ext cx="329184" cy="329184"/>
          </a:xfrm>
          <a:prstGeom prst="ellipse">
            <a:avLst/>
          </a:prstGeom>
          <a:solidFill>
            <a:schemeClr val="accent1"/>
          </a:solidFill>
          <a:ln/>
        </p:spPr>
      </p:sp>
      <p:sp>
        <p:nvSpPr>
          <p:cNvPr id="97" name="Shape 95"/>
          <p:cNvSpPr/>
          <p:nvPr/>
        </p:nvSpPr>
        <p:spPr>
          <a:xfrm>
            <a:off x="3108983" y="4048597"/>
            <a:ext cx="223845" cy="223845"/>
          </a:xfrm>
          <a:prstGeom prst="ellipse">
            <a:avLst/>
          </a:prstGeom>
          <a:ln w="13716">
            <a:solidFill>
              <a:srgbClr val="B8432F"/>
            </a:solidFill>
            <a:prstDash val="solid"/>
          </a:ln>
        </p:spPr>
      </p:sp>
      <p:sp>
        <p:nvSpPr>
          <p:cNvPr id="98" name="Shape 96"/>
          <p:cNvSpPr/>
          <p:nvPr/>
        </p:nvSpPr>
        <p:spPr>
          <a:xfrm>
            <a:off x="3579030" y="3995928"/>
            <a:ext cx="329184" cy="329184"/>
          </a:xfrm>
          <a:prstGeom prst="ellipse">
            <a:avLst/>
          </a:prstGeom>
          <a:solidFill>
            <a:schemeClr val="accent4"/>
          </a:solidFill>
          <a:ln/>
        </p:spPr>
      </p:sp>
      <p:sp>
        <p:nvSpPr>
          <p:cNvPr id="99" name="Shape 97"/>
          <p:cNvSpPr/>
          <p:nvPr/>
        </p:nvSpPr>
        <p:spPr>
          <a:xfrm>
            <a:off x="3631700" y="4048597"/>
            <a:ext cx="223845" cy="223845"/>
          </a:xfrm>
          <a:prstGeom prst="ellipse">
            <a:avLst/>
          </a:prstGeom>
          <a:ln w="13716">
            <a:solidFill>
              <a:srgbClr val="7F8C9C"/>
            </a:solidFill>
            <a:prstDash val="solid"/>
          </a:ln>
        </p:spPr>
      </p:sp>
      <p:sp>
        <p:nvSpPr>
          <p:cNvPr id="100" name="Shape 98"/>
          <p:cNvSpPr/>
          <p:nvPr/>
        </p:nvSpPr>
        <p:spPr>
          <a:xfrm>
            <a:off x="4101747" y="3995928"/>
            <a:ext cx="329184" cy="329184"/>
          </a:xfrm>
          <a:prstGeom prst="ellipse">
            <a:avLst/>
          </a:prstGeom>
          <a:solidFill>
            <a:schemeClr val="accent4"/>
          </a:solidFill>
          <a:ln/>
        </p:spPr>
      </p:sp>
      <p:sp>
        <p:nvSpPr>
          <p:cNvPr id="101" name="Shape 99"/>
          <p:cNvSpPr/>
          <p:nvPr/>
        </p:nvSpPr>
        <p:spPr>
          <a:xfrm>
            <a:off x="4154416" y="4048597"/>
            <a:ext cx="223845" cy="223845"/>
          </a:xfrm>
          <a:prstGeom prst="ellipse">
            <a:avLst/>
          </a:prstGeom>
          <a:ln w="13716">
            <a:solidFill>
              <a:srgbClr val="7F8C9C"/>
            </a:solidFill>
            <a:prstDash val="solid"/>
          </a:ln>
        </p:spPr>
      </p:sp>
      <p:sp>
        <p:nvSpPr>
          <p:cNvPr id="102" name="Shape 100"/>
          <p:cNvSpPr/>
          <p:nvPr/>
        </p:nvSpPr>
        <p:spPr>
          <a:xfrm>
            <a:off x="4624464" y="3995928"/>
            <a:ext cx="329184" cy="329184"/>
          </a:xfrm>
          <a:prstGeom prst="ellipse">
            <a:avLst/>
          </a:prstGeom>
          <a:solidFill>
            <a:schemeClr val="accent4"/>
          </a:solidFill>
          <a:ln/>
        </p:spPr>
      </p:sp>
      <p:sp>
        <p:nvSpPr>
          <p:cNvPr id="103" name="Shape 101"/>
          <p:cNvSpPr/>
          <p:nvPr/>
        </p:nvSpPr>
        <p:spPr>
          <a:xfrm>
            <a:off x="4677133" y="4048597"/>
            <a:ext cx="223845" cy="223845"/>
          </a:xfrm>
          <a:prstGeom prst="ellipse">
            <a:avLst/>
          </a:prstGeom>
          <a:ln w="13716">
            <a:solidFill>
              <a:srgbClr val="7F8C9C"/>
            </a:solidFill>
            <a:prstDash val="solid"/>
          </a:ln>
        </p:spPr>
      </p:sp>
      <p:sp>
        <p:nvSpPr>
          <p:cNvPr id="104" name="Shape 102"/>
          <p:cNvSpPr/>
          <p:nvPr/>
        </p:nvSpPr>
        <p:spPr>
          <a:xfrm>
            <a:off x="5147180" y="3995928"/>
            <a:ext cx="329184" cy="329184"/>
          </a:xfrm>
          <a:prstGeom prst="ellipse">
            <a:avLst/>
          </a:prstGeom>
          <a:solidFill>
            <a:schemeClr val="accent4"/>
          </a:solidFill>
          <a:ln/>
        </p:spPr>
      </p:sp>
      <p:sp>
        <p:nvSpPr>
          <p:cNvPr id="105" name="Shape 103"/>
          <p:cNvSpPr/>
          <p:nvPr/>
        </p:nvSpPr>
        <p:spPr>
          <a:xfrm>
            <a:off x="5199850" y="4048597"/>
            <a:ext cx="223845" cy="223845"/>
          </a:xfrm>
          <a:prstGeom prst="ellipse">
            <a:avLst/>
          </a:prstGeom>
          <a:ln w="13716">
            <a:solidFill>
              <a:srgbClr val="7F8C9C"/>
            </a:solidFill>
            <a:prstDash val="solid"/>
          </a:ln>
        </p:spPr>
      </p:sp>
      <p:sp>
        <p:nvSpPr>
          <p:cNvPr id="106" name="Shape 104"/>
          <p:cNvSpPr/>
          <p:nvPr/>
        </p:nvSpPr>
        <p:spPr>
          <a:xfrm>
            <a:off x="5669897" y="3995928"/>
            <a:ext cx="329184" cy="329184"/>
          </a:xfrm>
          <a:prstGeom prst="ellipse">
            <a:avLst/>
          </a:prstGeom>
          <a:solidFill>
            <a:schemeClr val="accent4"/>
          </a:solidFill>
          <a:ln/>
        </p:spPr>
      </p:sp>
      <p:sp>
        <p:nvSpPr>
          <p:cNvPr id="107" name="Shape 105"/>
          <p:cNvSpPr/>
          <p:nvPr/>
        </p:nvSpPr>
        <p:spPr>
          <a:xfrm>
            <a:off x="5722567" y="4048597"/>
            <a:ext cx="223845" cy="223845"/>
          </a:xfrm>
          <a:prstGeom prst="ellipse">
            <a:avLst/>
          </a:prstGeom>
          <a:ln w="13716">
            <a:solidFill>
              <a:srgbClr val="7F8C9C"/>
            </a:solidFill>
            <a:prstDash val="solid"/>
          </a:ln>
        </p:spPr>
      </p:sp>
      <p:sp>
        <p:nvSpPr>
          <p:cNvPr id="108" name="Shape 106"/>
          <p:cNvSpPr/>
          <p:nvPr/>
        </p:nvSpPr>
        <p:spPr>
          <a:xfrm>
            <a:off x="6192614" y="3995928"/>
            <a:ext cx="329184" cy="329184"/>
          </a:xfrm>
          <a:prstGeom prst="ellipse">
            <a:avLst/>
          </a:prstGeom>
          <a:solidFill>
            <a:schemeClr val="accent4"/>
          </a:solidFill>
          <a:ln/>
        </p:spPr>
      </p:sp>
      <p:sp>
        <p:nvSpPr>
          <p:cNvPr id="109" name="Shape 107"/>
          <p:cNvSpPr/>
          <p:nvPr/>
        </p:nvSpPr>
        <p:spPr>
          <a:xfrm>
            <a:off x="6245283" y="4048597"/>
            <a:ext cx="223845" cy="223845"/>
          </a:xfrm>
          <a:prstGeom prst="ellipse">
            <a:avLst/>
          </a:prstGeom>
          <a:ln w="13716">
            <a:solidFill>
              <a:srgbClr val="7F8C9C"/>
            </a:solidFill>
            <a:prstDash val="solid"/>
          </a:ln>
        </p:spPr>
      </p:sp>
      <p:sp>
        <p:nvSpPr>
          <p:cNvPr id="110" name="Shape 108"/>
          <p:cNvSpPr/>
          <p:nvPr/>
        </p:nvSpPr>
        <p:spPr>
          <a:xfrm>
            <a:off x="6715331" y="3995928"/>
            <a:ext cx="329184" cy="329184"/>
          </a:xfrm>
          <a:prstGeom prst="ellipse">
            <a:avLst/>
          </a:prstGeom>
          <a:solidFill>
            <a:schemeClr val="accent4"/>
          </a:solidFill>
          <a:ln/>
        </p:spPr>
      </p:sp>
      <p:sp>
        <p:nvSpPr>
          <p:cNvPr id="111" name="Shape 109"/>
          <p:cNvSpPr/>
          <p:nvPr/>
        </p:nvSpPr>
        <p:spPr>
          <a:xfrm>
            <a:off x="6768000" y="4048597"/>
            <a:ext cx="223845" cy="223845"/>
          </a:xfrm>
          <a:prstGeom prst="ellipse">
            <a:avLst/>
          </a:prstGeom>
          <a:ln w="13716">
            <a:solidFill>
              <a:srgbClr val="7F8C9C"/>
            </a:solidFill>
            <a:prstDash val="solid"/>
          </a:ln>
        </p:spPr>
      </p:sp>
      <p:sp>
        <p:nvSpPr>
          <p:cNvPr id="112" name="Shape 110"/>
          <p:cNvSpPr/>
          <p:nvPr/>
        </p:nvSpPr>
        <p:spPr>
          <a:xfrm>
            <a:off x="7238048" y="3995928"/>
            <a:ext cx="329184" cy="329184"/>
          </a:xfrm>
          <a:prstGeom prst="ellipse">
            <a:avLst/>
          </a:prstGeom>
          <a:solidFill>
            <a:schemeClr val="accent4"/>
          </a:solidFill>
          <a:ln/>
        </p:spPr>
      </p:sp>
      <p:sp>
        <p:nvSpPr>
          <p:cNvPr id="113" name="Shape 111"/>
          <p:cNvSpPr/>
          <p:nvPr/>
        </p:nvSpPr>
        <p:spPr>
          <a:xfrm>
            <a:off x="7290717" y="4048597"/>
            <a:ext cx="223845" cy="223845"/>
          </a:xfrm>
          <a:prstGeom prst="ellipse">
            <a:avLst/>
          </a:prstGeom>
          <a:ln w="13716">
            <a:solidFill>
              <a:srgbClr val="7F8C9C"/>
            </a:solidFill>
            <a:prstDash val="solid"/>
          </a:ln>
        </p:spPr>
      </p:sp>
      <p:sp>
        <p:nvSpPr>
          <p:cNvPr id="114" name="Shape 112"/>
          <p:cNvSpPr/>
          <p:nvPr/>
        </p:nvSpPr>
        <p:spPr>
          <a:xfrm>
            <a:off x="7760764" y="3995928"/>
            <a:ext cx="329184" cy="329184"/>
          </a:xfrm>
          <a:prstGeom prst="ellipse">
            <a:avLst/>
          </a:prstGeom>
          <a:solidFill>
            <a:schemeClr val="accent4"/>
          </a:solidFill>
          <a:ln/>
        </p:spPr>
      </p:sp>
      <p:sp>
        <p:nvSpPr>
          <p:cNvPr id="115" name="Shape 113"/>
          <p:cNvSpPr/>
          <p:nvPr/>
        </p:nvSpPr>
        <p:spPr>
          <a:xfrm>
            <a:off x="7813434" y="4048597"/>
            <a:ext cx="223845" cy="223845"/>
          </a:xfrm>
          <a:prstGeom prst="ellipse">
            <a:avLst/>
          </a:prstGeom>
          <a:ln w="13716">
            <a:solidFill>
              <a:srgbClr val="7F8C9C"/>
            </a:solidFill>
            <a:prstDash val="solid"/>
          </a:ln>
        </p:spPr>
      </p:sp>
      <p:sp>
        <p:nvSpPr>
          <p:cNvPr id="116" name="Shape 114"/>
          <p:cNvSpPr/>
          <p:nvPr/>
        </p:nvSpPr>
        <p:spPr>
          <a:xfrm>
            <a:off x="8283481" y="3995928"/>
            <a:ext cx="329184" cy="329184"/>
          </a:xfrm>
          <a:prstGeom prst="ellipse">
            <a:avLst/>
          </a:prstGeom>
          <a:solidFill>
            <a:schemeClr val="accent4"/>
          </a:solidFill>
          <a:ln/>
        </p:spPr>
      </p:sp>
      <p:sp>
        <p:nvSpPr>
          <p:cNvPr id="117" name="Shape 115"/>
          <p:cNvSpPr/>
          <p:nvPr/>
        </p:nvSpPr>
        <p:spPr>
          <a:xfrm>
            <a:off x="8336150" y="4048597"/>
            <a:ext cx="223845" cy="223845"/>
          </a:xfrm>
          <a:prstGeom prst="ellipse">
            <a:avLst/>
          </a:prstGeom>
          <a:ln w="13716">
            <a:solidFill>
              <a:srgbClr val="7F8C9C"/>
            </a:solidFill>
            <a:prstDash val="solid"/>
          </a:ln>
        </p:spPr>
      </p:sp>
      <p:sp>
        <p:nvSpPr>
          <p:cNvPr id="118" name="Shape 116"/>
          <p:cNvSpPr/>
          <p:nvPr/>
        </p:nvSpPr>
        <p:spPr>
          <a:xfrm>
            <a:off x="8806198" y="3995928"/>
            <a:ext cx="329184" cy="329184"/>
          </a:xfrm>
          <a:prstGeom prst="ellipse">
            <a:avLst/>
          </a:prstGeom>
          <a:solidFill>
            <a:schemeClr val="accent4"/>
          </a:solidFill>
          <a:ln/>
        </p:spPr>
      </p:sp>
      <p:sp>
        <p:nvSpPr>
          <p:cNvPr id="119" name="Shape 117"/>
          <p:cNvSpPr/>
          <p:nvPr/>
        </p:nvSpPr>
        <p:spPr>
          <a:xfrm>
            <a:off x="8858867" y="4048597"/>
            <a:ext cx="223845" cy="223845"/>
          </a:xfrm>
          <a:prstGeom prst="ellipse">
            <a:avLst/>
          </a:prstGeom>
          <a:ln w="13716">
            <a:solidFill>
              <a:srgbClr val="7F8C9C"/>
            </a:solidFill>
            <a:prstDash val="solid"/>
          </a:ln>
        </p:spPr>
      </p:sp>
      <p:sp>
        <p:nvSpPr>
          <p:cNvPr id="120" name="Shape 118"/>
          <p:cNvSpPr/>
          <p:nvPr/>
        </p:nvSpPr>
        <p:spPr>
          <a:xfrm>
            <a:off x="9328915" y="3995928"/>
            <a:ext cx="329184" cy="329184"/>
          </a:xfrm>
          <a:prstGeom prst="ellipse">
            <a:avLst/>
          </a:prstGeom>
          <a:solidFill>
            <a:schemeClr val="accent4"/>
          </a:solidFill>
          <a:ln/>
        </p:spPr>
      </p:sp>
      <p:sp>
        <p:nvSpPr>
          <p:cNvPr id="121" name="Shape 119"/>
          <p:cNvSpPr/>
          <p:nvPr/>
        </p:nvSpPr>
        <p:spPr>
          <a:xfrm>
            <a:off x="9381584" y="4048597"/>
            <a:ext cx="223845" cy="223845"/>
          </a:xfrm>
          <a:prstGeom prst="ellipse">
            <a:avLst/>
          </a:prstGeom>
          <a:ln w="13716">
            <a:solidFill>
              <a:srgbClr val="7F8C9C"/>
            </a:solidFill>
            <a:prstDash val="solid"/>
          </a:ln>
        </p:spPr>
      </p:sp>
      <p:sp>
        <p:nvSpPr>
          <p:cNvPr id="122" name="Shape 120"/>
          <p:cNvSpPr/>
          <p:nvPr/>
        </p:nvSpPr>
        <p:spPr>
          <a:xfrm>
            <a:off x="9851631" y="3995928"/>
            <a:ext cx="329184" cy="329184"/>
          </a:xfrm>
          <a:prstGeom prst="ellipse">
            <a:avLst/>
          </a:prstGeom>
          <a:solidFill>
            <a:schemeClr val="accent4"/>
          </a:solidFill>
          <a:ln/>
        </p:spPr>
      </p:sp>
      <p:sp>
        <p:nvSpPr>
          <p:cNvPr id="123" name="Shape 121"/>
          <p:cNvSpPr/>
          <p:nvPr/>
        </p:nvSpPr>
        <p:spPr>
          <a:xfrm>
            <a:off x="9904301" y="4048597"/>
            <a:ext cx="223845" cy="223845"/>
          </a:xfrm>
          <a:prstGeom prst="ellipse">
            <a:avLst/>
          </a:prstGeom>
          <a:ln w="13716">
            <a:solidFill>
              <a:srgbClr val="7F8C9C"/>
            </a:solidFill>
            <a:prstDash val="solid"/>
          </a:ln>
        </p:spPr>
      </p:sp>
      <p:sp>
        <p:nvSpPr>
          <p:cNvPr id="124" name="Shape 122"/>
          <p:cNvSpPr/>
          <p:nvPr/>
        </p:nvSpPr>
        <p:spPr>
          <a:xfrm>
            <a:off x="10374348" y="3995928"/>
            <a:ext cx="329184" cy="329184"/>
          </a:xfrm>
          <a:prstGeom prst="ellipse">
            <a:avLst/>
          </a:prstGeom>
          <a:solidFill>
            <a:schemeClr val="accent4"/>
          </a:solidFill>
          <a:ln/>
        </p:spPr>
      </p:sp>
      <p:sp>
        <p:nvSpPr>
          <p:cNvPr id="125" name="Shape 123"/>
          <p:cNvSpPr/>
          <p:nvPr/>
        </p:nvSpPr>
        <p:spPr>
          <a:xfrm>
            <a:off x="10427018" y="4048597"/>
            <a:ext cx="223845" cy="223845"/>
          </a:xfrm>
          <a:prstGeom prst="ellipse">
            <a:avLst/>
          </a:prstGeom>
          <a:ln w="13716">
            <a:solidFill>
              <a:srgbClr val="7F8C9C"/>
            </a:solidFill>
            <a:prstDash val="solid"/>
          </a:ln>
        </p:spPr>
      </p:sp>
      <p:sp>
        <p:nvSpPr>
          <p:cNvPr id="126" name="Shape 124"/>
          <p:cNvSpPr/>
          <p:nvPr/>
        </p:nvSpPr>
        <p:spPr>
          <a:xfrm>
            <a:off x="10897065" y="3995928"/>
            <a:ext cx="329184" cy="329184"/>
          </a:xfrm>
          <a:prstGeom prst="ellipse">
            <a:avLst/>
          </a:prstGeom>
          <a:solidFill>
            <a:schemeClr val="accent4"/>
          </a:solidFill>
          <a:ln/>
        </p:spPr>
      </p:sp>
      <p:sp>
        <p:nvSpPr>
          <p:cNvPr id="127" name="Shape 125"/>
          <p:cNvSpPr/>
          <p:nvPr/>
        </p:nvSpPr>
        <p:spPr>
          <a:xfrm>
            <a:off x="10949734" y="4048597"/>
            <a:ext cx="223845" cy="223845"/>
          </a:xfrm>
          <a:prstGeom prst="ellipse">
            <a:avLst/>
          </a:prstGeom>
          <a:ln w="13716">
            <a:solidFill>
              <a:srgbClr val="7F8C9C"/>
            </a:solidFill>
            <a:prstDash val="solid"/>
          </a:ln>
        </p:spPr>
      </p:sp>
      <p:sp>
        <p:nvSpPr>
          <p:cNvPr id="128" name="Shape 126"/>
          <p:cNvSpPr/>
          <p:nvPr/>
        </p:nvSpPr>
        <p:spPr>
          <a:xfrm>
            <a:off x="965446" y="4361688"/>
            <a:ext cx="329184" cy="329184"/>
          </a:xfrm>
          <a:prstGeom prst="ellipse">
            <a:avLst/>
          </a:prstGeom>
          <a:solidFill>
            <a:schemeClr val="accent4"/>
          </a:solidFill>
          <a:ln/>
        </p:spPr>
      </p:sp>
      <p:sp>
        <p:nvSpPr>
          <p:cNvPr id="129" name="Shape 127"/>
          <p:cNvSpPr/>
          <p:nvPr/>
        </p:nvSpPr>
        <p:spPr>
          <a:xfrm>
            <a:off x="1018116" y="4414357"/>
            <a:ext cx="223845" cy="223845"/>
          </a:xfrm>
          <a:prstGeom prst="ellipse">
            <a:avLst/>
          </a:prstGeom>
          <a:ln w="13716">
            <a:solidFill>
              <a:srgbClr val="7F8C9C"/>
            </a:solidFill>
            <a:prstDash val="solid"/>
          </a:ln>
        </p:spPr>
      </p:sp>
      <p:sp>
        <p:nvSpPr>
          <p:cNvPr id="130" name="Shape 128"/>
          <p:cNvSpPr/>
          <p:nvPr/>
        </p:nvSpPr>
        <p:spPr>
          <a:xfrm>
            <a:off x="1488163" y="4361688"/>
            <a:ext cx="329184" cy="329184"/>
          </a:xfrm>
          <a:prstGeom prst="ellipse">
            <a:avLst/>
          </a:prstGeom>
          <a:solidFill>
            <a:schemeClr val="accent4"/>
          </a:solidFill>
          <a:ln/>
        </p:spPr>
      </p:sp>
      <p:sp>
        <p:nvSpPr>
          <p:cNvPr id="131" name="Shape 129"/>
          <p:cNvSpPr/>
          <p:nvPr/>
        </p:nvSpPr>
        <p:spPr>
          <a:xfrm>
            <a:off x="1540833" y="4414357"/>
            <a:ext cx="223845" cy="223845"/>
          </a:xfrm>
          <a:prstGeom prst="ellipse">
            <a:avLst/>
          </a:prstGeom>
          <a:ln w="13716">
            <a:solidFill>
              <a:srgbClr val="7F8C9C"/>
            </a:solidFill>
            <a:prstDash val="solid"/>
          </a:ln>
        </p:spPr>
      </p:sp>
      <p:sp>
        <p:nvSpPr>
          <p:cNvPr id="132" name="Shape 130"/>
          <p:cNvSpPr/>
          <p:nvPr/>
        </p:nvSpPr>
        <p:spPr>
          <a:xfrm>
            <a:off x="2010880" y="4361688"/>
            <a:ext cx="329184" cy="329184"/>
          </a:xfrm>
          <a:prstGeom prst="ellipse">
            <a:avLst/>
          </a:prstGeom>
          <a:solidFill>
            <a:schemeClr val="accent4"/>
          </a:solidFill>
          <a:ln/>
        </p:spPr>
      </p:sp>
      <p:sp>
        <p:nvSpPr>
          <p:cNvPr id="133" name="Shape 131"/>
          <p:cNvSpPr/>
          <p:nvPr/>
        </p:nvSpPr>
        <p:spPr>
          <a:xfrm>
            <a:off x="2063549" y="4414357"/>
            <a:ext cx="223845" cy="223845"/>
          </a:xfrm>
          <a:prstGeom prst="ellipse">
            <a:avLst/>
          </a:prstGeom>
          <a:ln w="13716">
            <a:solidFill>
              <a:srgbClr val="7F8C9C"/>
            </a:solidFill>
            <a:prstDash val="solid"/>
          </a:ln>
        </p:spPr>
      </p:sp>
      <p:sp>
        <p:nvSpPr>
          <p:cNvPr id="134" name="Shape 132"/>
          <p:cNvSpPr/>
          <p:nvPr/>
        </p:nvSpPr>
        <p:spPr>
          <a:xfrm>
            <a:off x="2533597" y="4361688"/>
            <a:ext cx="329184" cy="329184"/>
          </a:xfrm>
          <a:prstGeom prst="ellipse">
            <a:avLst/>
          </a:prstGeom>
          <a:solidFill>
            <a:schemeClr val="accent4"/>
          </a:solidFill>
          <a:ln/>
        </p:spPr>
      </p:sp>
      <p:sp>
        <p:nvSpPr>
          <p:cNvPr id="135" name="Shape 133"/>
          <p:cNvSpPr/>
          <p:nvPr/>
        </p:nvSpPr>
        <p:spPr>
          <a:xfrm>
            <a:off x="2586266" y="4414357"/>
            <a:ext cx="223845" cy="223845"/>
          </a:xfrm>
          <a:prstGeom prst="ellipse">
            <a:avLst/>
          </a:prstGeom>
          <a:ln w="13716">
            <a:solidFill>
              <a:srgbClr val="7F8C9C"/>
            </a:solidFill>
            <a:prstDash val="solid"/>
          </a:ln>
        </p:spPr>
      </p:sp>
      <p:sp>
        <p:nvSpPr>
          <p:cNvPr id="136" name="Shape 134"/>
          <p:cNvSpPr/>
          <p:nvPr/>
        </p:nvSpPr>
        <p:spPr>
          <a:xfrm>
            <a:off x="3056313" y="4361688"/>
            <a:ext cx="329184" cy="329184"/>
          </a:xfrm>
          <a:prstGeom prst="ellipse">
            <a:avLst/>
          </a:prstGeom>
          <a:solidFill>
            <a:schemeClr val="accent4"/>
          </a:solidFill>
          <a:ln/>
        </p:spPr>
      </p:sp>
      <p:sp>
        <p:nvSpPr>
          <p:cNvPr id="137" name="Shape 135"/>
          <p:cNvSpPr/>
          <p:nvPr/>
        </p:nvSpPr>
        <p:spPr>
          <a:xfrm>
            <a:off x="3108983" y="4414357"/>
            <a:ext cx="223845" cy="223845"/>
          </a:xfrm>
          <a:prstGeom prst="ellipse">
            <a:avLst/>
          </a:prstGeom>
          <a:ln w="13716">
            <a:solidFill>
              <a:srgbClr val="7F8C9C"/>
            </a:solidFill>
            <a:prstDash val="solid"/>
          </a:ln>
        </p:spPr>
      </p:sp>
      <p:sp>
        <p:nvSpPr>
          <p:cNvPr id="138" name="Shape 136"/>
          <p:cNvSpPr/>
          <p:nvPr/>
        </p:nvSpPr>
        <p:spPr>
          <a:xfrm>
            <a:off x="3579030" y="4361688"/>
            <a:ext cx="329184" cy="329184"/>
          </a:xfrm>
          <a:prstGeom prst="ellipse">
            <a:avLst/>
          </a:prstGeom>
          <a:solidFill>
            <a:schemeClr val="accent4"/>
          </a:solidFill>
          <a:ln/>
        </p:spPr>
      </p:sp>
      <p:sp>
        <p:nvSpPr>
          <p:cNvPr id="139" name="Shape 137"/>
          <p:cNvSpPr/>
          <p:nvPr/>
        </p:nvSpPr>
        <p:spPr>
          <a:xfrm>
            <a:off x="3631700" y="4414357"/>
            <a:ext cx="223845" cy="223845"/>
          </a:xfrm>
          <a:prstGeom prst="ellipse">
            <a:avLst/>
          </a:prstGeom>
          <a:ln w="13716">
            <a:solidFill>
              <a:srgbClr val="7F8C9C"/>
            </a:solidFill>
            <a:prstDash val="solid"/>
          </a:ln>
        </p:spPr>
      </p:sp>
      <p:sp>
        <p:nvSpPr>
          <p:cNvPr id="140" name="Shape 138"/>
          <p:cNvSpPr/>
          <p:nvPr/>
        </p:nvSpPr>
        <p:spPr>
          <a:xfrm>
            <a:off x="4101747" y="4361688"/>
            <a:ext cx="329184" cy="329184"/>
          </a:xfrm>
          <a:prstGeom prst="ellipse">
            <a:avLst/>
          </a:prstGeom>
          <a:solidFill>
            <a:schemeClr val="accent4"/>
          </a:solidFill>
          <a:ln/>
        </p:spPr>
      </p:sp>
      <p:sp>
        <p:nvSpPr>
          <p:cNvPr id="141" name="Shape 139"/>
          <p:cNvSpPr/>
          <p:nvPr/>
        </p:nvSpPr>
        <p:spPr>
          <a:xfrm>
            <a:off x="4154416" y="4414357"/>
            <a:ext cx="223845" cy="223845"/>
          </a:xfrm>
          <a:prstGeom prst="ellipse">
            <a:avLst/>
          </a:prstGeom>
          <a:ln w="13716">
            <a:solidFill>
              <a:srgbClr val="7F8C9C"/>
            </a:solidFill>
            <a:prstDash val="solid"/>
          </a:ln>
        </p:spPr>
      </p:sp>
      <p:sp>
        <p:nvSpPr>
          <p:cNvPr id="142" name="Shape 140"/>
          <p:cNvSpPr/>
          <p:nvPr/>
        </p:nvSpPr>
        <p:spPr>
          <a:xfrm>
            <a:off x="4624464" y="4361688"/>
            <a:ext cx="329184" cy="329184"/>
          </a:xfrm>
          <a:prstGeom prst="ellipse">
            <a:avLst/>
          </a:prstGeom>
          <a:solidFill>
            <a:schemeClr val="accent4"/>
          </a:solidFill>
          <a:ln/>
        </p:spPr>
      </p:sp>
      <p:sp>
        <p:nvSpPr>
          <p:cNvPr id="143" name="Shape 141"/>
          <p:cNvSpPr/>
          <p:nvPr/>
        </p:nvSpPr>
        <p:spPr>
          <a:xfrm>
            <a:off x="4677133" y="4414357"/>
            <a:ext cx="223845" cy="223845"/>
          </a:xfrm>
          <a:prstGeom prst="ellipse">
            <a:avLst/>
          </a:prstGeom>
          <a:ln w="13716">
            <a:solidFill>
              <a:srgbClr val="7F8C9C"/>
            </a:solidFill>
            <a:prstDash val="solid"/>
          </a:ln>
        </p:spPr>
      </p:sp>
      <p:sp>
        <p:nvSpPr>
          <p:cNvPr id="144" name="Shape 142"/>
          <p:cNvSpPr/>
          <p:nvPr/>
        </p:nvSpPr>
        <p:spPr>
          <a:xfrm>
            <a:off x="5147180" y="4361688"/>
            <a:ext cx="329184" cy="329184"/>
          </a:xfrm>
          <a:prstGeom prst="ellipse">
            <a:avLst/>
          </a:prstGeom>
          <a:solidFill>
            <a:schemeClr val="accent4"/>
          </a:solidFill>
          <a:ln/>
        </p:spPr>
      </p:sp>
      <p:sp>
        <p:nvSpPr>
          <p:cNvPr id="145" name="Shape 143"/>
          <p:cNvSpPr/>
          <p:nvPr/>
        </p:nvSpPr>
        <p:spPr>
          <a:xfrm>
            <a:off x="5199850" y="4414357"/>
            <a:ext cx="223845" cy="223845"/>
          </a:xfrm>
          <a:prstGeom prst="ellipse">
            <a:avLst/>
          </a:prstGeom>
          <a:ln w="13716">
            <a:solidFill>
              <a:srgbClr val="7F8C9C"/>
            </a:solidFill>
            <a:prstDash val="solid"/>
          </a:ln>
        </p:spPr>
      </p:sp>
      <p:sp>
        <p:nvSpPr>
          <p:cNvPr id="146" name="Shape 144"/>
          <p:cNvSpPr/>
          <p:nvPr/>
        </p:nvSpPr>
        <p:spPr>
          <a:xfrm>
            <a:off x="5669897" y="4361688"/>
            <a:ext cx="329184" cy="329184"/>
          </a:xfrm>
          <a:prstGeom prst="ellipse">
            <a:avLst/>
          </a:prstGeom>
          <a:solidFill>
            <a:schemeClr val="accent4"/>
          </a:solidFill>
          <a:ln/>
        </p:spPr>
      </p:sp>
      <p:sp>
        <p:nvSpPr>
          <p:cNvPr id="147" name="Shape 145"/>
          <p:cNvSpPr/>
          <p:nvPr/>
        </p:nvSpPr>
        <p:spPr>
          <a:xfrm>
            <a:off x="5722567" y="4414357"/>
            <a:ext cx="223845" cy="223845"/>
          </a:xfrm>
          <a:prstGeom prst="ellipse">
            <a:avLst/>
          </a:prstGeom>
          <a:ln w="13716">
            <a:solidFill>
              <a:srgbClr val="7F8C9C"/>
            </a:solidFill>
            <a:prstDash val="solid"/>
          </a:ln>
        </p:spPr>
      </p:sp>
      <p:sp>
        <p:nvSpPr>
          <p:cNvPr id="148" name="Shape 146"/>
          <p:cNvSpPr/>
          <p:nvPr/>
        </p:nvSpPr>
        <p:spPr>
          <a:xfrm>
            <a:off x="6192614" y="4361688"/>
            <a:ext cx="329184" cy="329184"/>
          </a:xfrm>
          <a:prstGeom prst="ellipse">
            <a:avLst/>
          </a:prstGeom>
          <a:solidFill>
            <a:schemeClr val="accent4"/>
          </a:solidFill>
          <a:ln/>
        </p:spPr>
      </p:sp>
      <p:sp>
        <p:nvSpPr>
          <p:cNvPr id="149" name="Shape 147"/>
          <p:cNvSpPr/>
          <p:nvPr/>
        </p:nvSpPr>
        <p:spPr>
          <a:xfrm>
            <a:off x="6245283" y="4414357"/>
            <a:ext cx="223845" cy="223845"/>
          </a:xfrm>
          <a:prstGeom prst="ellipse">
            <a:avLst/>
          </a:prstGeom>
          <a:ln w="13716">
            <a:solidFill>
              <a:srgbClr val="7F8C9C"/>
            </a:solidFill>
            <a:prstDash val="solid"/>
          </a:ln>
        </p:spPr>
      </p:sp>
      <p:sp>
        <p:nvSpPr>
          <p:cNvPr id="150" name="Shape 148"/>
          <p:cNvSpPr/>
          <p:nvPr/>
        </p:nvSpPr>
        <p:spPr>
          <a:xfrm>
            <a:off x="6715331" y="4361688"/>
            <a:ext cx="329184" cy="329184"/>
          </a:xfrm>
          <a:prstGeom prst="ellipse">
            <a:avLst/>
          </a:prstGeom>
          <a:solidFill>
            <a:schemeClr val="accent4"/>
          </a:solidFill>
          <a:ln/>
        </p:spPr>
      </p:sp>
      <p:sp>
        <p:nvSpPr>
          <p:cNvPr id="151" name="Shape 149"/>
          <p:cNvSpPr/>
          <p:nvPr/>
        </p:nvSpPr>
        <p:spPr>
          <a:xfrm>
            <a:off x="6768000" y="4414357"/>
            <a:ext cx="223845" cy="223845"/>
          </a:xfrm>
          <a:prstGeom prst="ellipse">
            <a:avLst/>
          </a:prstGeom>
          <a:ln w="13716">
            <a:solidFill>
              <a:srgbClr val="7F8C9C"/>
            </a:solidFill>
            <a:prstDash val="solid"/>
          </a:ln>
        </p:spPr>
      </p:sp>
      <p:sp>
        <p:nvSpPr>
          <p:cNvPr id="152" name="Shape 150"/>
          <p:cNvSpPr/>
          <p:nvPr/>
        </p:nvSpPr>
        <p:spPr>
          <a:xfrm>
            <a:off x="7238048" y="4361688"/>
            <a:ext cx="329184" cy="329184"/>
          </a:xfrm>
          <a:prstGeom prst="ellipse">
            <a:avLst/>
          </a:prstGeom>
          <a:solidFill>
            <a:schemeClr val="accent4"/>
          </a:solidFill>
          <a:ln/>
        </p:spPr>
      </p:sp>
      <p:sp>
        <p:nvSpPr>
          <p:cNvPr id="153" name="Shape 151"/>
          <p:cNvSpPr/>
          <p:nvPr/>
        </p:nvSpPr>
        <p:spPr>
          <a:xfrm>
            <a:off x="7290717" y="4414357"/>
            <a:ext cx="223845" cy="223845"/>
          </a:xfrm>
          <a:prstGeom prst="ellipse">
            <a:avLst/>
          </a:prstGeom>
          <a:ln w="13716">
            <a:solidFill>
              <a:srgbClr val="7F8C9C"/>
            </a:solidFill>
            <a:prstDash val="solid"/>
          </a:ln>
        </p:spPr>
      </p:sp>
      <p:sp>
        <p:nvSpPr>
          <p:cNvPr id="154" name="Shape 152"/>
          <p:cNvSpPr/>
          <p:nvPr/>
        </p:nvSpPr>
        <p:spPr>
          <a:xfrm>
            <a:off x="7760764" y="4361688"/>
            <a:ext cx="329184" cy="329184"/>
          </a:xfrm>
          <a:prstGeom prst="ellipse">
            <a:avLst/>
          </a:prstGeom>
          <a:solidFill>
            <a:schemeClr val="accent4"/>
          </a:solidFill>
          <a:ln/>
        </p:spPr>
      </p:sp>
      <p:sp>
        <p:nvSpPr>
          <p:cNvPr id="155" name="Shape 153"/>
          <p:cNvSpPr/>
          <p:nvPr/>
        </p:nvSpPr>
        <p:spPr>
          <a:xfrm>
            <a:off x="7813434" y="4414357"/>
            <a:ext cx="223845" cy="223845"/>
          </a:xfrm>
          <a:prstGeom prst="ellipse">
            <a:avLst/>
          </a:prstGeom>
          <a:ln w="13716">
            <a:solidFill>
              <a:srgbClr val="7F8C9C"/>
            </a:solidFill>
            <a:prstDash val="solid"/>
          </a:ln>
        </p:spPr>
      </p:sp>
      <p:sp>
        <p:nvSpPr>
          <p:cNvPr id="156" name="Shape 154"/>
          <p:cNvSpPr/>
          <p:nvPr/>
        </p:nvSpPr>
        <p:spPr>
          <a:xfrm>
            <a:off x="8283481" y="4361688"/>
            <a:ext cx="329184" cy="329184"/>
          </a:xfrm>
          <a:prstGeom prst="ellipse">
            <a:avLst/>
          </a:prstGeom>
          <a:solidFill>
            <a:schemeClr val="accent4"/>
          </a:solidFill>
          <a:ln/>
        </p:spPr>
      </p:sp>
      <p:sp>
        <p:nvSpPr>
          <p:cNvPr id="157" name="Shape 155"/>
          <p:cNvSpPr/>
          <p:nvPr/>
        </p:nvSpPr>
        <p:spPr>
          <a:xfrm>
            <a:off x="8336150" y="4414357"/>
            <a:ext cx="223845" cy="223845"/>
          </a:xfrm>
          <a:prstGeom prst="ellipse">
            <a:avLst/>
          </a:prstGeom>
          <a:ln w="13716">
            <a:solidFill>
              <a:srgbClr val="7F8C9C"/>
            </a:solidFill>
            <a:prstDash val="solid"/>
          </a:ln>
        </p:spPr>
      </p:sp>
      <p:sp>
        <p:nvSpPr>
          <p:cNvPr id="158" name="Shape 156"/>
          <p:cNvSpPr/>
          <p:nvPr/>
        </p:nvSpPr>
        <p:spPr>
          <a:xfrm>
            <a:off x="8806198" y="4361688"/>
            <a:ext cx="329184" cy="329184"/>
          </a:xfrm>
          <a:prstGeom prst="ellipse">
            <a:avLst/>
          </a:prstGeom>
          <a:solidFill>
            <a:schemeClr val="accent4"/>
          </a:solidFill>
          <a:ln/>
        </p:spPr>
      </p:sp>
      <p:sp>
        <p:nvSpPr>
          <p:cNvPr id="159" name="Shape 157"/>
          <p:cNvSpPr/>
          <p:nvPr/>
        </p:nvSpPr>
        <p:spPr>
          <a:xfrm>
            <a:off x="8858867" y="4414357"/>
            <a:ext cx="223845" cy="223845"/>
          </a:xfrm>
          <a:prstGeom prst="ellipse">
            <a:avLst/>
          </a:prstGeom>
          <a:ln w="13716">
            <a:solidFill>
              <a:srgbClr val="7F8C9C"/>
            </a:solidFill>
            <a:prstDash val="solid"/>
          </a:ln>
        </p:spPr>
      </p:sp>
      <p:sp>
        <p:nvSpPr>
          <p:cNvPr id="160" name="Shape 158"/>
          <p:cNvSpPr/>
          <p:nvPr/>
        </p:nvSpPr>
        <p:spPr>
          <a:xfrm>
            <a:off x="9328915" y="4361688"/>
            <a:ext cx="329184" cy="329184"/>
          </a:xfrm>
          <a:prstGeom prst="ellipse">
            <a:avLst/>
          </a:prstGeom>
          <a:solidFill>
            <a:schemeClr val="accent4"/>
          </a:solidFill>
          <a:ln/>
        </p:spPr>
      </p:sp>
      <p:sp>
        <p:nvSpPr>
          <p:cNvPr id="161" name="Shape 159"/>
          <p:cNvSpPr/>
          <p:nvPr/>
        </p:nvSpPr>
        <p:spPr>
          <a:xfrm>
            <a:off x="9381584" y="4414357"/>
            <a:ext cx="223845" cy="223845"/>
          </a:xfrm>
          <a:prstGeom prst="ellipse">
            <a:avLst/>
          </a:prstGeom>
          <a:ln w="13716">
            <a:solidFill>
              <a:srgbClr val="7F8C9C"/>
            </a:solidFill>
            <a:prstDash val="solid"/>
          </a:ln>
        </p:spPr>
      </p:sp>
      <p:sp>
        <p:nvSpPr>
          <p:cNvPr id="162" name="Shape 160"/>
          <p:cNvSpPr/>
          <p:nvPr/>
        </p:nvSpPr>
        <p:spPr>
          <a:xfrm>
            <a:off x="9851631" y="4361688"/>
            <a:ext cx="329184" cy="329184"/>
          </a:xfrm>
          <a:prstGeom prst="ellipse">
            <a:avLst/>
          </a:prstGeom>
          <a:solidFill>
            <a:schemeClr val="accent4"/>
          </a:solidFill>
          <a:ln/>
        </p:spPr>
      </p:sp>
      <p:sp>
        <p:nvSpPr>
          <p:cNvPr id="163" name="Shape 161"/>
          <p:cNvSpPr/>
          <p:nvPr/>
        </p:nvSpPr>
        <p:spPr>
          <a:xfrm>
            <a:off x="9904301" y="4414357"/>
            <a:ext cx="223845" cy="223845"/>
          </a:xfrm>
          <a:prstGeom prst="ellipse">
            <a:avLst/>
          </a:prstGeom>
          <a:ln w="13716">
            <a:solidFill>
              <a:srgbClr val="7F8C9C"/>
            </a:solidFill>
            <a:prstDash val="solid"/>
          </a:ln>
        </p:spPr>
      </p:sp>
      <p:sp>
        <p:nvSpPr>
          <p:cNvPr id="164" name="Shape 162"/>
          <p:cNvSpPr/>
          <p:nvPr/>
        </p:nvSpPr>
        <p:spPr>
          <a:xfrm>
            <a:off x="10374348" y="4361688"/>
            <a:ext cx="329184" cy="329184"/>
          </a:xfrm>
          <a:prstGeom prst="ellipse">
            <a:avLst/>
          </a:prstGeom>
          <a:solidFill>
            <a:schemeClr val="accent4"/>
          </a:solidFill>
          <a:ln/>
        </p:spPr>
      </p:sp>
      <p:sp>
        <p:nvSpPr>
          <p:cNvPr id="165" name="Shape 163"/>
          <p:cNvSpPr/>
          <p:nvPr/>
        </p:nvSpPr>
        <p:spPr>
          <a:xfrm>
            <a:off x="10427018" y="4414357"/>
            <a:ext cx="223845" cy="223845"/>
          </a:xfrm>
          <a:prstGeom prst="ellipse">
            <a:avLst/>
          </a:prstGeom>
          <a:ln w="13716">
            <a:solidFill>
              <a:srgbClr val="7F8C9C"/>
            </a:solidFill>
            <a:prstDash val="solid"/>
          </a:ln>
        </p:spPr>
      </p:sp>
      <p:sp>
        <p:nvSpPr>
          <p:cNvPr id="166" name="Shape 164"/>
          <p:cNvSpPr/>
          <p:nvPr/>
        </p:nvSpPr>
        <p:spPr>
          <a:xfrm>
            <a:off x="10897065" y="4361688"/>
            <a:ext cx="329184" cy="329184"/>
          </a:xfrm>
          <a:prstGeom prst="ellipse">
            <a:avLst/>
          </a:prstGeom>
          <a:solidFill>
            <a:schemeClr val="accent4"/>
          </a:solidFill>
          <a:ln/>
        </p:spPr>
      </p:sp>
      <p:sp>
        <p:nvSpPr>
          <p:cNvPr id="167" name="Shape 165"/>
          <p:cNvSpPr/>
          <p:nvPr/>
        </p:nvSpPr>
        <p:spPr>
          <a:xfrm>
            <a:off x="10949734" y="4414357"/>
            <a:ext cx="223845" cy="223845"/>
          </a:xfrm>
          <a:prstGeom prst="ellipse">
            <a:avLst/>
          </a:prstGeom>
          <a:ln w="13716">
            <a:solidFill>
              <a:srgbClr val="7F8C9C"/>
            </a:solidFill>
            <a:prstDash val="solid"/>
          </a:ln>
        </p:spPr>
      </p:sp>
      <p:sp>
        <p:nvSpPr>
          <p:cNvPr id="168" name="Text 166"/>
          <p:cNvSpPr txBox="1"/>
          <p:nvPr/>
        </p:nvSpPr>
        <p:spPr>
          <a:xfrm>
            <a:off x="868680" y="4754880"/>
            <a:ext cx="10454335" cy="274320"/>
          </a:xfrm>
          <a:prstGeom prst="rect">
            <a:avLst/>
          </a:prstGeom>
          <a:noFill/>
          <a:ln/>
        </p:spPr>
        <p:txBody>
          <a:bodyPr wrap="square" lIns="0" tIns="0" rIns="0" bIns="0" rtlCol="0" anchor="ctr"/>
          <a:lstStyle/>
          <a:p>
            <a:pPr indent="0" marL="0">
              <a:buNone/>
            </a:pPr>
            <a:r>
              <a:rPr lang="en-US" sz="1500" b="1" dirty="0">
                <a:solidFill>
                  <a:schemeClr val="tx1"/>
                </a:solidFill>
              </a:rPr>
              <a:t>Junio de 2026</a:t>
            </a:r>
            <a:pPr indent="0" marL="0">
              <a:buNone/>
            </a:pPr>
            <a:r>
              <a:rPr lang="en-US" sz="1500" dirty="0">
                <a:solidFill>
                  <a:schemeClr val="tx2"/>
                </a:solidFill>
              </a:rPr>
              <a:t>   17,5% en mora: 7 de cada 40, más de 1 de cada 6</a:t>
            </a:r>
            <a:endParaRPr lang="en-US" sz="1500" dirty="0"/>
          </a:p>
        </p:txBody>
      </p:sp>
      <p:sp>
        <p:nvSpPr>
          <p:cNvPr id="169" name="Shape 167"/>
          <p:cNvSpPr/>
          <p:nvPr/>
        </p:nvSpPr>
        <p:spPr>
          <a:xfrm>
            <a:off x="965446" y="5138928"/>
            <a:ext cx="329184" cy="329184"/>
          </a:xfrm>
          <a:prstGeom prst="ellipse">
            <a:avLst/>
          </a:prstGeom>
          <a:solidFill>
            <a:schemeClr val="accent1"/>
          </a:solidFill>
          <a:ln/>
        </p:spPr>
      </p:sp>
      <p:sp>
        <p:nvSpPr>
          <p:cNvPr id="170" name="Shape 168"/>
          <p:cNvSpPr/>
          <p:nvPr/>
        </p:nvSpPr>
        <p:spPr>
          <a:xfrm>
            <a:off x="1018116" y="5191597"/>
            <a:ext cx="223845" cy="223845"/>
          </a:xfrm>
          <a:prstGeom prst="ellipse">
            <a:avLst/>
          </a:prstGeom>
          <a:ln w="13716">
            <a:solidFill>
              <a:srgbClr val="B8432F"/>
            </a:solidFill>
            <a:prstDash val="solid"/>
          </a:ln>
        </p:spPr>
      </p:sp>
      <p:sp>
        <p:nvSpPr>
          <p:cNvPr id="171" name="Shape 169"/>
          <p:cNvSpPr/>
          <p:nvPr/>
        </p:nvSpPr>
        <p:spPr>
          <a:xfrm>
            <a:off x="1488163" y="5138928"/>
            <a:ext cx="329184" cy="329184"/>
          </a:xfrm>
          <a:prstGeom prst="ellipse">
            <a:avLst/>
          </a:prstGeom>
          <a:solidFill>
            <a:schemeClr val="accent1"/>
          </a:solidFill>
          <a:ln/>
        </p:spPr>
      </p:sp>
      <p:sp>
        <p:nvSpPr>
          <p:cNvPr id="172" name="Shape 170"/>
          <p:cNvSpPr/>
          <p:nvPr/>
        </p:nvSpPr>
        <p:spPr>
          <a:xfrm>
            <a:off x="1540833" y="5191597"/>
            <a:ext cx="223845" cy="223845"/>
          </a:xfrm>
          <a:prstGeom prst="ellipse">
            <a:avLst/>
          </a:prstGeom>
          <a:ln w="13716">
            <a:solidFill>
              <a:srgbClr val="B8432F"/>
            </a:solidFill>
            <a:prstDash val="solid"/>
          </a:ln>
        </p:spPr>
      </p:sp>
      <p:sp>
        <p:nvSpPr>
          <p:cNvPr id="173" name="Shape 171"/>
          <p:cNvSpPr/>
          <p:nvPr/>
        </p:nvSpPr>
        <p:spPr>
          <a:xfrm>
            <a:off x="2010880" y="5138928"/>
            <a:ext cx="329184" cy="329184"/>
          </a:xfrm>
          <a:prstGeom prst="ellipse">
            <a:avLst/>
          </a:prstGeom>
          <a:solidFill>
            <a:schemeClr val="accent1"/>
          </a:solidFill>
          <a:ln/>
        </p:spPr>
      </p:sp>
      <p:sp>
        <p:nvSpPr>
          <p:cNvPr id="174" name="Shape 172"/>
          <p:cNvSpPr/>
          <p:nvPr/>
        </p:nvSpPr>
        <p:spPr>
          <a:xfrm>
            <a:off x="2063549" y="5191597"/>
            <a:ext cx="223845" cy="223845"/>
          </a:xfrm>
          <a:prstGeom prst="ellipse">
            <a:avLst/>
          </a:prstGeom>
          <a:ln w="13716">
            <a:solidFill>
              <a:srgbClr val="B8432F"/>
            </a:solidFill>
            <a:prstDash val="solid"/>
          </a:ln>
        </p:spPr>
      </p:sp>
      <p:sp>
        <p:nvSpPr>
          <p:cNvPr id="175" name="Shape 173"/>
          <p:cNvSpPr/>
          <p:nvPr/>
        </p:nvSpPr>
        <p:spPr>
          <a:xfrm>
            <a:off x="2533597" y="5138928"/>
            <a:ext cx="329184" cy="329184"/>
          </a:xfrm>
          <a:prstGeom prst="ellipse">
            <a:avLst/>
          </a:prstGeom>
          <a:solidFill>
            <a:schemeClr val="accent1"/>
          </a:solidFill>
          <a:ln/>
        </p:spPr>
      </p:sp>
      <p:sp>
        <p:nvSpPr>
          <p:cNvPr id="176" name="Shape 174"/>
          <p:cNvSpPr/>
          <p:nvPr/>
        </p:nvSpPr>
        <p:spPr>
          <a:xfrm>
            <a:off x="2586266" y="5191597"/>
            <a:ext cx="223845" cy="223845"/>
          </a:xfrm>
          <a:prstGeom prst="ellipse">
            <a:avLst/>
          </a:prstGeom>
          <a:ln w="13716">
            <a:solidFill>
              <a:srgbClr val="B8432F"/>
            </a:solidFill>
            <a:prstDash val="solid"/>
          </a:ln>
        </p:spPr>
      </p:sp>
      <p:sp>
        <p:nvSpPr>
          <p:cNvPr id="177" name="Shape 175"/>
          <p:cNvSpPr/>
          <p:nvPr/>
        </p:nvSpPr>
        <p:spPr>
          <a:xfrm>
            <a:off x="3056313" y="5138928"/>
            <a:ext cx="329184" cy="329184"/>
          </a:xfrm>
          <a:prstGeom prst="ellipse">
            <a:avLst/>
          </a:prstGeom>
          <a:solidFill>
            <a:schemeClr val="accent1"/>
          </a:solidFill>
          <a:ln/>
        </p:spPr>
      </p:sp>
      <p:sp>
        <p:nvSpPr>
          <p:cNvPr id="178" name="Shape 176"/>
          <p:cNvSpPr/>
          <p:nvPr/>
        </p:nvSpPr>
        <p:spPr>
          <a:xfrm>
            <a:off x="3108983" y="5191597"/>
            <a:ext cx="223845" cy="223845"/>
          </a:xfrm>
          <a:prstGeom prst="ellipse">
            <a:avLst/>
          </a:prstGeom>
          <a:ln w="13716">
            <a:solidFill>
              <a:srgbClr val="B8432F"/>
            </a:solidFill>
            <a:prstDash val="solid"/>
          </a:ln>
        </p:spPr>
      </p:sp>
      <p:sp>
        <p:nvSpPr>
          <p:cNvPr id="179" name="Shape 177"/>
          <p:cNvSpPr/>
          <p:nvPr/>
        </p:nvSpPr>
        <p:spPr>
          <a:xfrm>
            <a:off x="3579030" y="5138928"/>
            <a:ext cx="329184" cy="329184"/>
          </a:xfrm>
          <a:prstGeom prst="ellipse">
            <a:avLst/>
          </a:prstGeom>
          <a:solidFill>
            <a:schemeClr val="accent1"/>
          </a:solidFill>
          <a:ln/>
        </p:spPr>
      </p:sp>
      <p:sp>
        <p:nvSpPr>
          <p:cNvPr id="180" name="Shape 178"/>
          <p:cNvSpPr/>
          <p:nvPr/>
        </p:nvSpPr>
        <p:spPr>
          <a:xfrm>
            <a:off x="3631700" y="5191597"/>
            <a:ext cx="223845" cy="223845"/>
          </a:xfrm>
          <a:prstGeom prst="ellipse">
            <a:avLst/>
          </a:prstGeom>
          <a:ln w="13716">
            <a:solidFill>
              <a:srgbClr val="B8432F"/>
            </a:solidFill>
            <a:prstDash val="solid"/>
          </a:ln>
        </p:spPr>
      </p:sp>
      <p:sp>
        <p:nvSpPr>
          <p:cNvPr id="181" name="Shape 179"/>
          <p:cNvSpPr/>
          <p:nvPr/>
        </p:nvSpPr>
        <p:spPr>
          <a:xfrm>
            <a:off x="4101747" y="5138928"/>
            <a:ext cx="329184" cy="329184"/>
          </a:xfrm>
          <a:prstGeom prst="ellipse">
            <a:avLst/>
          </a:prstGeom>
          <a:solidFill>
            <a:schemeClr val="accent1"/>
          </a:solidFill>
          <a:ln/>
        </p:spPr>
      </p:sp>
      <p:sp>
        <p:nvSpPr>
          <p:cNvPr id="182" name="Shape 180"/>
          <p:cNvSpPr/>
          <p:nvPr/>
        </p:nvSpPr>
        <p:spPr>
          <a:xfrm>
            <a:off x="4154416" y="5191597"/>
            <a:ext cx="223845" cy="223845"/>
          </a:xfrm>
          <a:prstGeom prst="ellipse">
            <a:avLst/>
          </a:prstGeom>
          <a:ln w="13716">
            <a:solidFill>
              <a:srgbClr val="B8432F"/>
            </a:solidFill>
            <a:prstDash val="solid"/>
          </a:ln>
        </p:spPr>
      </p:sp>
      <p:sp>
        <p:nvSpPr>
          <p:cNvPr id="183" name="Shape 181"/>
          <p:cNvSpPr/>
          <p:nvPr/>
        </p:nvSpPr>
        <p:spPr>
          <a:xfrm>
            <a:off x="4624464" y="5138928"/>
            <a:ext cx="329184" cy="329184"/>
          </a:xfrm>
          <a:prstGeom prst="ellipse">
            <a:avLst/>
          </a:prstGeom>
          <a:solidFill>
            <a:schemeClr val="accent4"/>
          </a:solidFill>
          <a:ln/>
        </p:spPr>
      </p:sp>
      <p:sp>
        <p:nvSpPr>
          <p:cNvPr id="184" name="Shape 182"/>
          <p:cNvSpPr/>
          <p:nvPr/>
        </p:nvSpPr>
        <p:spPr>
          <a:xfrm>
            <a:off x="4677133" y="5191597"/>
            <a:ext cx="223845" cy="223845"/>
          </a:xfrm>
          <a:prstGeom prst="ellipse">
            <a:avLst/>
          </a:prstGeom>
          <a:ln w="13716">
            <a:solidFill>
              <a:srgbClr val="7F8C9C"/>
            </a:solidFill>
            <a:prstDash val="solid"/>
          </a:ln>
        </p:spPr>
      </p:sp>
      <p:sp>
        <p:nvSpPr>
          <p:cNvPr id="185" name="Shape 183"/>
          <p:cNvSpPr/>
          <p:nvPr/>
        </p:nvSpPr>
        <p:spPr>
          <a:xfrm>
            <a:off x="5147180" y="5138928"/>
            <a:ext cx="329184" cy="329184"/>
          </a:xfrm>
          <a:prstGeom prst="ellipse">
            <a:avLst/>
          </a:prstGeom>
          <a:solidFill>
            <a:schemeClr val="accent4"/>
          </a:solidFill>
          <a:ln/>
        </p:spPr>
      </p:sp>
      <p:sp>
        <p:nvSpPr>
          <p:cNvPr id="186" name="Shape 184"/>
          <p:cNvSpPr/>
          <p:nvPr/>
        </p:nvSpPr>
        <p:spPr>
          <a:xfrm>
            <a:off x="5199850" y="5191597"/>
            <a:ext cx="223845" cy="223845"/>
          </a:xfrm>
          <a:prstGeom prst="ellipse">
            <a:avLst/>
          </a:prstGeom>
          <a:ln w="13716">
            <a:solidFill>
              <a:srgbClr val="7F8C9C"/>
            </a:solidFill>
            <a:prstDash val="solid"/>
          </a:ln>
        </p:spPr>
      </p:sp>
      <p:sp>
        <p:nvSpPr>
          <p:cNvPr id="187" name="Shape 185"/>
          <p:cNvSpPr/>
          <p:nvPr/>
        </p:nvSpPr>
        <p:spPr>
          <a:xfrm>
            <a:off x="5669897" y="5138928"/>
            <a:ext cx="329184" cy="329184"/>
          </a:xfrm>
          <a:prstGeom prst="ellipse">
            <a:avLst/>
          </a:prstGeom>
          <a:solidFill>
            <a:schemeClr val="accent4"/>
          </a:solidFill>
          <a:ln/>
        </p:spPr>
      </p:sp>
      <p:sp>
        <p:nvSpPr>
          <p:cNvPr id="188" name="Shape 186"/>
          <p:cNvSpPr/>
          <p:nvPr/>
        </p:nvSpPr>
        <p:spPr>
          <a:xfrm>
            <a:off x="5722567" y="5191597"/>
            <a:ext cx="223845" cy="223845"/>
          </a:xfrm>
          <a:prstGeom prst="ellipse">
            <a:avLst/>
          </a:prstGeom>
          <a:ln w="13716">
            <a:solidFill>
              <a:srgbClr val="7F8C9C"/>
            </a:solidFill>
            <a:prstDash val="solid"/>
          </a:ln>
        </p:spPr>
      </p:sp>
      <p:sp>
        <p:nvSpPr>
          <p:cNvPr id="189" name="Shape 187"/>
          <p:cNvSpPr/>
          <p:nvPr/>
        </p:nvSpPr>
        <p:spPr>
          <a:xfrm>
            <a:off x="6192614" y="5138928"/>
            <a:ext cx="329184" cy="329184"/>
          </a:xfrm>
          <a:prstGeom prst="ellipse">
            <a:avLst/>
          </a:prstGeom>
          <a:solidFill>
            <a:schemeClr val="accent4"/>
          </a:solidFill>
          <a:ln/>
        </p:spPr>
      </p:sp>
      <p:sp>
        <p:nvSpPr>
          <p:cNvPr id="190" name="Shape 188"/>
          <p:cNvSpPr/>
          <p:nvPr/>
        </p:nvSpPr>
        <p:spPr>
          <a:xfrm>
            <a:off x="6245283" y="5191597"/>
            <a:ext cx="223845" cy="223845"/>
          </a:xfrm>
          <a:prstGeom prst="ellipse">
            <a:avLst/>
          </a:prstGeom>
          <a:ln w="13716">
            <a:solidFill>
              <a:srgbClr val="7F8C9C"/>
            </a:solidFill>
            <a:prstDash val="solid"/>
          </a:ln>
        </p:spPr>
      </p:sp>
      <p:sp>
        <p:nvSpPr>
          <p:cNvPr id="191" name="Shape 189"/>
          <p:cNvSpPr/>
          <p:nvPr/>
        </p:nvSpPr>
        <p:spPr>
          <a:xfrm>
            <a:off x="6715331" y="5138928"/>
            <a:ext cx="329184" cy="329184"/>
          </a:xfrm>
          <a:prstGeom prst="ellipse">
            <a:avLst/>
          </a:prstGeom>
          <a:solidFill>
            <a:schemeClr val="accent4"/>
          </a:solidFill>
          <a:ln/>
        </p:spPr>
      </p:sp>
      <p:sp>
        <p:nvSpPr>
          <p:cNvPr id="192" name="Shape 190"/>
          <p:cNvSpPr/>
          <p:nvPr/>
        </p:nvSpPr>
        <p:spPr>
          <a:xfrm>
            <a:off x="6768000" y="5191597"/>
            <a:ext cx="223845" cy="223845"/>
          </a:xfrm>
          <a:prstGeom prst="ellipse">
            <a:avLst/>
          </a:prstGeom>
          <a:ln w="13716">
            <a:solidFill>
              <a:srgbClr val="7F8C9C"/>
            </a:solidFill>
            <a:prstDash val="solid"/>
          </a:ln>
        </p:spPr>
      </p:sp>
      <p:sp>
        <p:nvSpPr>
          <p:cNvPr id="193" name="Shape 191"/>
          <p:cNvSpPr/>
          <p:nvPr/>
        </p:nvSpPr>
        <p:spPr>
          <a:xfrm>
            <a:off x="7238048" y="5138928"/>
            <a:ext cx="329184" cy="329184"/>
          </a:xfrm>
          <a:prstGeom prst="ellipse">
            <a:avLst/>
          </a:prstGeom>
          <a:solidFill>
            <a:schemeClr val="accent4"/>
          </a:solidFill>
          <a:ln/>
        </p:spPr>
      </p:sp>
      <p:sp>
        <p:nvSpPr>
          <p:cNvPr id="194" name="Shape 192"/>
          <p:cNvSpPr/>
          <p:nvPr/>
        </p:nvSpPr>
        <p:spPr>
          <a:xfrm>
            <a:off x="7290717" y="5191597"/>
            <a:ext cx="223845" cy="223845"/>
          </a:xfrm>
          <a:prstGeom prst="ellipse">
            <a:avLst/>
          </a:prstGeom>
          <a:ln w="13716">
            <a:solidFill>
              <a:srgbClr val="7F8C9C"/>
            </a:solidFill>
            <a:prstDash val="solid"/>
          </a:ln>
        </p:spPr>
      </p:sp>
      <p:sp>
        <p:nvSpPr>
          <p:cNvPr id="195" name="Shape 193"/>
          <p:cNvSpPr/>
          <p:nvPr/>
        </p:nvSpPr>
        <p:spPr>
          <a:xfrm>
            <a:off x="7760764" y="5138928"/>
            <a:ext cx="329184" cy="329184"/>
          </a:xfrm>
          <a:prstGeom prst="ellipse">
            <a:avLst/>
          </a:prstGeom>
          <a:solidFill>
            <a:schemeClr val="accent4"/>
          </a:solidFill>
          <a:ln/>
        </p:spPr>
      </p:sp>
      <p:sp>
        <p:nvSpPr>
          <p:cNvPr id="196" name="Shape 194"/>
          <p:cNvSpPr/>
          <p:nvPr/>
        </p:nvSpPr>
        <p:spPr>
          <a:xfrm>
            <a:off x="7813434" y="5191597"/>
            <a:ext cx="223845" cy="223845"/>
          </a:xfrm>
          <a:prstGeom prst="ellipse">
            <a:avLst/>
          </a:prstGeom>
          <a:ln w="13716">
            <a:solidFill>
              <a:srgbClr val="7F8C9C"/>
            </a:solidFill>
            <a:prstDash val="solid"/>
          </a:ln>
        </p:spPr>
      </p:sp>
      <p:sp>
        <p:nvSpPr>
          <p:cNvPr id="197" name="Shape 195"/>
          <p:cNvSpPr/>
          <p:nvPr/>
        </p:nvSpPr>
        <p:spPr>
          <a:xfrm>
            <a:off x="8283481" y="5138928"/>
            <a:ext cx="329184" cy="329184"/>
          </a:xfrm>
          <a:prstGeom prst="ellipse">
            <a:avLst/>
          </a:prstGeom>
          <a:solidFill>
            <a:schemeClr val="accent4"/>
          </a:solidFill>
          <a:ln/>
        </p:spPr>
      </p:sp>
      <p:sp>
        <p:nvSpPr>
          <p:cNvPr id="198" name="Shape 196"/>
          <p:cNvSpPr/>
          <p:nvPr/>
        </p:nvSpPr>
        <p:spPr>
          <a:xfrm>
            <a:off x="8336150" y="5191597"/>
            <a:ext cx="223845" cy="223845"/>
          </a:xfrm>
          <a:prstGeom prst="ellipse">
            <a:avLst/>
          </a:prstGeom>
          <a:ln w="13716">
            <a:solidFill>
              <a:srgbClr val="7F8C9C"/>
            </a:solidFill>
            <a:prstDash val="solid"/>
          </a:ln>
        </p:spPr>
      </p:sp>
      <p:sp>
        <p:nvSpPr>
          <p:cNvPr id="199" name="Shape 197"/>
          <p:cNvSpPr/>
          <p:nvPr/>
        </p:nvSpPr>
        <p:spPr>
          <a:xfrm>
            <a:off x="8806198" y="5138928"/>
            <a:ext cx="329184" cy="329184"/>
          </a:xfrm>
          <a:prstGeom prst="ellipse">
            <a:avLst/>
          </a:prstGeom>
          <a:solidFill>
            <a:schemeClr val="accent4"/>
          </a:solidFill>
          <a:ln/>
        </p:spPr>
      </p:sp>
      <p:sp>
        <p:nvSpPr>
          <p:cNvPr id="200" name="Shape 198"/>
          <p:cNvSpPr/>
          <p:nvPr/>
        </p:nvSpPr>
        <p:spPr>
          <a:xfrm>
            <a:off x="8858867" y="5191597"/>
            <a:ext cx="223845" cy="223845"/>
          </a:xfrm>
          <a:prstGeom prst="ellipse">
            <a:avLst/>
          </a:prstGeom>
          <a:ln w="13716">
            <a:solidFill>
              <a:srgbClr val="7F8C9C"/>
            </a:solidFill>
            <a:prstDash val="solid"/>
          </a:ln>
        </p:spPr>
      </p:sp>
      <p:sp>
        <p:nvSpPr>
          <p:cNvPr id="201" name="Shape 199"/>
          <p:cNvSpPr/>
          <p:nvPr/>
        </p:nvSpPr>
        <p:spPr>
          <a:xfrm>
            <a:off x="9328915" y="5138928"/>
            <a:ext cx="329184" cy="329184"/>
          </a:xfrm>
          <a:prstGeom prst="ellipse">
            <a:avLst/>
          </a:prstGeom>
          <a:solidFill>
            <a:schemeClr val="accent4"/>
          </a:solidFill>
          <a:ln/>
        </p:spPr>
      </p:sp>
      <p:sp>
        <p:nvSpPr>
          <p:cNvPr id="202" name="Shape 200"/>
          <p:cNvSpPr/>
          <p:nvPr/>
        </p:nvSpPr>
        <p:spPr>
          <a:xfrm>
            <a:off x="9381584" y="5191597"/>
            <a:ext cx="223845" cy="223845"/>
          </a:xfrm>
          <a:prstGeom prst="ellipse">
            <a:avLst/>
          </a:prstGeom>
          <a:ln w="13716">
            <a:solidFill>
              <a:srgbClr val="7F8C9C"/>
            </a:solidFill>
            <a:prstDash val="solid"/>
          </a:ln>
        </p:spPr>
      </p:sp>
      <p:sp>
        <p:nvSpPr>
          <p:cNvPr id="203" name="Shape 201"/>
          <p:cNvSpPr/>
          <p:nvPr/>
        </p:nvSpPr>
        <p:spPr>
          <a:xfrm>
            <a:off x="9851631" y="5138928"/>
            <a:ext cx="329184" cy="329184"/>
          </a:xfrm>
          <a:prstGeom prst="ellipse">
            <a:avLst/>
          </a:prstGeom>
          <a:solidFill>
            <a:schemeClr val="accent4"/>
          </a:solidFill>
          <a:ln/>
        </p:spPr>
      </p:sp>
      <p:sp>
        <p:nvSpPr>
          <p:cNvPr id="204" name="Shape 202"/>
          <p:cNvSpPr/>
          <p:nvPr/>
        </p:nvSpPr>
        <p:spPr>
          <a:xfrm>
            <a:off x="9904301" y="5191597"/>
            <a:ext cx="223845" cy="223845"/>
          </a:xfrm>
          <a:prstGeom prst="ellipse">
            <a:avLst/>
          </a:prstGeom>
          <a:ln w="13716">
            <a:solidFill>
              <a:srgbClr val="7F8C9C"/>
            </a:solidFill>
            <a:prstDash val="solid"/>
          </a:ln>
        </p:spPr>
      </p:sp>
      <p:sp>
        <p:nvSpPr>
          <p:cNvPr id="205" name="Shape 203"/>
          <p:cNvSpPr/>
          <p:nvPr/>
        </p:nvSpPr>
        <p:spPr>
          <a:xfrm>
            <a:off x="10374348" y="5138928"/>
            <a:ext cx="329184" cy="329184"/>
          </a:xfrm>
          <a:prstGeom prst="ellipse">
            <a:avLst/>
          </a:prstGeom>
          <a:solidFill>
            <a:schemeClr val="accent4"/>
          </a:solidFill>
          <a:ln/>
        </p:spPr>
      </p:sp>
      <p:sp>
        <p:nvSpPr>
          <p:cNvPr id="206" name="Shape 204"/>
          <p:cNvSpPr/>
          <p:nvPr/>
        </p:nvSpPr>
        <p:spPr>
          <a:xfrm>
            <a:off x="10427018" y="5191597"/>
            <a:ext cx="223845" cy="223845"/>
          </a:xfrm>
          <a:prstGeom prst="ellipse">
            <a:avLst/>
          </a:prstGeom>
          <a:ln w="13716">
            <a:solidFill>
              <a:srgbClr val="7F8C9C"/>
            </a:solidFill>
            <a:prstDash val="solid"/>
          </a:ln>
        </p:spPr>
      </p:sp>
      <p:sp>
        <p:nvSpPr>
          <p:cNvPr id="207" name="Shape 205"/>
          <p:cNvSpPr/>
          <p:nvPr/>
        </p:nvSpPr>
        <p:spPr>
          <a:xfrm>
            <a:off x="10897065" y="5138928"/>
            <a:ext cx="329184" cy="329184"/>
          </a:xfrm>
          <a:prstGeom prst="ellipse">
            <a:avLst/>
          </a:prstGeom>
          <a:solidFill>
            <a:schemeClr val="accent4"/>
          </a:solidFill>
          <a:ln/>
        </p:spPr>
      </p:sp>
      <p:sp>
        <p:nvSpPr>
          <p:cNvPr id="208" name="Shape 206"/>
          <p:cNvSpPr/>
          <p:nvPr/>
        </p:nvSpPr>
        <p:spPr>
          <a:xfrm>
            <a:off x="10949734" y="5191597"/>
            <a:ext cx="223845" cy="223845"/>
          </a:xfrm>
          <a:prstGeom prst="ellipse">
            <a:avLst/>
          </a:prstGeom>
          <a:ln w="13716">
            <a:solidFill>
              <a:srgbClr val="7F8C9C"/>
            </a:solidFill>
            <a:prstDash val="solid"/>
          </a:ln>
        </p:spPr>
      </p:sp>
      <p:sp>
        <p:nvSpPr>
          <p:cNvPr id="209" name="Shape 207"/>
          <p:cNvSpPr/>
          <p:nvPr/>
        </p:nvSpPr>
        <p:spPr>
          <a:xfrm>
            <a:off x="965446" y="5504688"/>
            <a:ext cx="329184" cy="329184"/>
          </a:xfrm>
          <a:prstGeom prst="ellipse">
            <a:avLst/>
          </a:prstGeom>
          <a:solidFill>
            <a:schemeClr val="accent4"/>
          </a:solidFill>
          <a:ln/>
        </p:spPr>
      </p:sp>
      <p:sp>
        <p:nvSpPr>
          <p:cNvPr id="210" name="Shape 208"/>
          <p:cNvSpPr/>
          <p:nvPr/>
        </p:nvSpPr>
        <p:spPr>
          <a:xfrm>
            <a:off x="1018116" y="5557357"/>
            <a:ext cx="223845" cy="223845"/>
          </a:xfrm>
          <a:prstGeom prst="ellipse">
            <a:avLst/>
          </a:prstGeom>
          <a:ln w="13716">
            <a:solidFill>
              <a:srgbClr val="7F8C9C"/>
            </a:solidFill>
            <a:prstDash val="solid"/>
          </a:ln>
        </p:spPr>
      </p:sp>
      <p:sp>
        <p:nvSpPr>
          <p:cNvPr id="211" name="Shape 209"/>
          <p:cNvSpPr/>
          <p:nvPr/>
        </p:nvSpPr>
        <p:spPr>
          <a:xfrm>
            <a:off x="1488163" y="5504688"/>
            <a:ext cx="329184" cy="329184"/>
          </a:xfrm>
          <a:prstGeom prst="ellipse">
            <a:avLst/>
          </a:prstGeom>
          <a:solidFill>
            <a:schemeClr val="accent4"/>
          </a:solidFill>
          <a:ln/>
        </p:spPr>
      </p:sp>
      <p:sp>
        <p:nvSpPr>
          <p:cNvPr id="212" name="Shape 210"/>
          <p:cNvSpPr/>
          <p:nvPr/>
        </p:nvSpPr>
        <p:spPr>
          <a:xfrm>
            <a:off x="1540833" y="5557357"/>
            <a:ext cx="223845" cy="223845"/>
          </a:xfrm>
          <a:prstGeom prst="ellipse">
            <a:avLst/>
          </a:prstGeom>
          <a:ln w="13716">
            <a:solidFill>
              <a:srgbClr val="7F8C9C"/>
            </a:solidFill>
            <a:prstDash val="solid"/>
          </a:ln>
        </p:spPr>
      </p:sp>
      <p:sp>
        <p:nvSpPr>
          <p:cNvPr id="213" name="Shape 211"/>
          <p:cNvSpPr/>
          <p:nvPr/>
        </p:nvSpPr>
        <p:spPr>
          <a:xfrm>
            <a:off x="2010880" y="5504688"/>
            <a:ext cx="329184" cy="329184"/>
          </a:xfrm>
          <a:prstGeom prst="ellipse">
            <a:avLst/>
          </a:prstGeom>
          <a:solidFill>
            <a:schemeClr val="accent4"/>
          </a:solidFill>
          <a:ln/>
        </p:spPr>
      </p:sp>
      <p:sp>
        <p:nvSpPr>
          <p:cNvPr id="214" name="Shape 212"/>
          <p:cNvSpPr/>
          <p:nvPr/>
        </p:nvSpPr>
        <p:spPr>
          <a:xfrm>
            <a:off x="2063549" y="5557357"/>
            <a:ext cx="223845" cy="223845"/>
          </a:xfrm>
          <a:prstGeom prst="ellipse">
            <a:avLst/>
          </a:prstGeom>
          <a:ln w="13716">
            <a:solidFill>
              <a:srgbClr val="7F8C9C"/>
            </a:solidFill>
            <a:prstDash val="solid"/>
          </a:ln>
        </p:spPr>
      </p:sp>
      <p:sp>
        <p:nvSpPr>
          <p:cNvPr id="215" name="Shape 213"/>
          <p:cNvSpPr/>
          <p:nvPr/>
        </p:nvSpPr>
        <p:spPr>
          <a:xfrm>
            <a:off x="2533597" y="5504688"/>
            <a:ext cx="329184" cy="329184"/>
          </a:xfrm>
          <a:prstGeom prst="ellipse">
            <a:avLst/>
          </a:prstGeom>
          <a:solidFill>
            <a:schemeClr val="accent4"/>
          </a:solidFill>
          <a:ln/>
        </p:spPr>
      </p:sp>
      <p:sp>
        <p:nvSpPr>
          <p:cNvPr id="216" name="Shape 214"/>
          <p:cNvSpPr/>
          <p:nvPr/>
        </p:nvSpPr>
        <p:spPr>
          <a:xfrm>
            <a:off x="2586266" y="5557357"/>
            <a:ext cx="223845" cy="223845"/>
          </a:xfrm>
          <a:prstGeom prst="ellipse">
            <a:avLst/>
          </a:prstGeom>
          <a:ln w="13716">
            <a:solidFill>
              <a:srgbClr val="7F8C9C"/>
            </a:solidFill>
            <a:prstDash val="solid"/>
          </a:ln>
        </p:spPr>
      </p:sp>
      <p:sp>
        <p:nvSpPr>
          <p:cNvPr id="217" name="Shape 215"/>
          <p:cNvSpPr/>
          <p:nvPr/>
        </p:nvSpPr>
        <p:spPr>
          <a:xfrm>
            <a:off x="3056313" y="5504688"/>
            <a:ext cx="329184" cy="329184"/>
          </a:xfrm>
          <a:prstGeom prst="ellipse">
            <a:avLst/>
          </a:prstGeom>
          <a:solidFill>
            <a:schemeClr val="accent4"/>
          </a:solidFill>
          <a:ln/>
        </p:spPr>
      </p:sp>
      <p:sp>
        <p:nvSpPr>
          <p:cNvPr id="218" name="Shape 216"/>
          <p:cNvSpPr/>
          <p:nvPr/>
        </p:nvSpPr>
        <p:spPr>
          <a:xfrm>
            <a:off x="3108983" y="5557357"/>
            <a:ext cx="223845" cy="223845"/>
          </a:xfrm>
          <a:prstGeom prst="ellipse">
            <a:avLst/>
          </a:prstGeom>
          <a:ln w="13716">
            <a:solidFill>
              <a:srgbClr val="7F8C9C"/>
            </a:solidFill>
            <a:prstDash val="solid"/>
          </a:ln>
        </p:spPr>
      </p:sp>
      <p:sp>
        <p:nvSpPr>
          <p:cNvPr id="219" name="Shape 217"/>
          <p:cNvSpPr/>
          <p:nvPr/>
        </p:nvSpPr>
        <p:spPr>
          <a:xfrm>
            <a:off x="3579030" y="5504688"/>
            <a:ext cx="329184" cy="329184"/>
          </a:xfrm>
          <a:prstGeom prst="ellipse">
            <a:avLst/>
          </a:prstGeom>
          <a:solidFill>
            <a:schemeClr val="accent4"/>
          </a:solidFill>
          <a:ln/>
        </p:spPr>
      </p:sp>
      <p:sp>
        <p:nvSpPr>
          <p:cNvPr id="220" name="Shape 218"/>
          <p:cNvSpPr/>
          <p:nvPr/>
        </p:nvSpPr>
        <p:spPr>
          <a:xfrm>
            <a:off x="3631700" y="5557357"/>
            <a:ext cx="223845" cy="223845"/>
          </a:xfrm>
          <a:prstGeom prst="ellipse">
            <a:avLst/>
          </a:prstGeom>
          <a:ln w="13716">
            <a:solidFill>
              <a:srgbClr val="7F8C9C"/>
            </a:solidFill>
            <a:prstDash val="solid"/>
          </a:ln>
        </p:spPr>
      </p:sp>
      <p:sp>
        <p:nvSpPr>
          <p:cNvPr id="221" name="Shape 219"/>
          <p:cNvSpPr/>
          <p:nvPr/>
        </p:nvSpPr>
        <p:spPr>
          <a:xfrm>
            <a:off x="4101747" y="5504688"/>
            <a:ext cx="329184" cy="329184"/>
          </a:xfrm>
          <a:prstGeom prst="ellipse">
            <a:avLst/>
          </a:prstGeom>
          <a:solidFill>
            <a:schemeClr val="accent4"/>
          </a:solidFill>
          <a:ln/>
        </p:spPr>
      </p:sp>
      <p:sp>
        <p:nvSpPr>
          <p:cNvPr id="222" name="Shape 220"/>
          <p:cNvSpPr/>
          <p:nvPr/>
        </p:nvSpPr>
        <p:spPr>
          <a:xfrm>
            <a:off x="4154416" y="5557357"/>
            <a:ext cx="223845" cy="223845"/>
          </a:xfrm>
          <a:prstGeom prst="ellipse">
            <a:avLst/>
          </a:prstGeom>
          <a:ln w="13716">
            <a:solidFill>
              <a:srgbClr val="7F8C9C"/>
            </a:solidFill>
            <a:prstDash val="solid"/>
          </a:ln>
        </p:spPr>
      </p:sp>
      <p:sp>
        <p:nvSpPr>
          <p:cNvPr id="223" name="Shape 221"/>
          <p:cNvSpPr/>
          <p:nvPr/>
        </p:nvSpPr>
        <p:spPr>
          <a:xfrm>
            <a:off x="4624464" y="5504688"/>
            <a:ext cx="329184" cy="329184"/>
          </a:xfrm>
          <a:prstGeom prst="ellipse">
            <a:avLst/>
          </a:prstGeom>
          <a:solidFill>
            <a:schemeClr val="accent4"/>
          </a:solidFill>
          <a:ln/>
        </p:spPr>
      </p:sp>
      <p:sp>
        <p:nvSpPr>
          <p:cNvPr id="224" name="Shape 222"/>
          <p:cNvSpPr/>
          <p:nvPr/>
        </p:nvSpPr>
        <p:spPr>
          <a:xfrm>
            <a:off x="4677133" y="5557357"/>
            <a:ext cx="223845" cy="223845"/>
          </a:xfrm>
          <a:prstGeom prst="ellipse">
            <a:avLst/>
          </a:prstGeom>
          <a:ln w="13716">
            <a:solidFill>
              <a:srgbClr val="7F8C9C"/>
            </a:solidFill>
            <a:prstDash val="solid"/>
          </a:ln>
        </p:spPr>
      </p:sp>
      <p:sp>
        <p:nvSpPr>
          <p:cNvPr id="225" name="Shape 223"/>
          <p:cNvSpPr/>
          <p:nvPr/>
        </p:nvSpPr>
        <p:spPr>
          <a:xfrm>
            <a:off x="5147180" y="5504688"/>
            <a:ext cx="329184" cy="329184"/>
          </a:xfrm>
          <a:prstGeom prst="ellipse">
            <a:avLst/>
          </a:prstGeom>
          <a:solidFill>
            <a:schemeClr val="accent4"/>
          </a:solidFill>
          <a:ln/>
        </p:spPr>
      </p:sp>
      <p:sp>
        <p:nvSpPr>
          <p:cNvPr id="226" name="Shape 224"/>
          <p:cNvSpPr/>
          <p:nvPr/>
        </p:nvSpPr>
        <p:spPr>
          <a:xfrm>
            <a:off x="5199850" y="5557357"/>
            <a:ext cx="223845" cy="223845"/>
          </a:xfrm>
          <a:prstGeom prst="ellipse">
            <a:avLst/>
          </a:prstGeom>
          <a:ln w="13716">
            <a:solidFill>
              <a:srgbClr val="7F8C9C"/>
            </a:solidFill>
            <a:prstDash val="solid"/>
          </a:ln>
        </p:spPr>
      </p:sp>
      <p:sp>
        <p:nvSpPr>
          <p:cNvPr id="227" name="Shape 225"/>
          <p:cNvSpPr/>
          <p:nvPr/>
        </p:nvSpPr>
        <p:spPr>
          <a:xfrm>
            <a:off x="5669897" y="5504688"/>
            <a:ext cx="329184" cy="329184"/>
          </a:xfrm>
          <a:prstGeom prst="ellipse">
            <a:avLst/>
          </a:prstGeom>
          <a:solidFill>
            <a:schemeClr val="accent4"/>
          </a:solidFill>
          <a:ln/>
        </p:spPr>
      </p:sp>
      <p:sp>
        <p:nvSpPr>
          <p:cNvPr id="228" name="Shape 226"/>
          <p:cNvSpPr/>
          <p:nvPr/>
        </p:nvSpPr>
        <p:spPr>
          <a:xfrm>
            <a:off x="5722567" y="5557357"/>
            <a:ext cx="223845" cy="223845"/>
          </a:xfrm>
          <a:prstGeom prst="ellipse">
            <a:avLst/>
          </a:prstGeom>
          <a:ln w="13716">
            <a:solidFill>
              <a:srgbClr val="7F8C9C"/>
            </a:solidFill>
            <a:prstDash val="solid"/>
          </a:ln>
        </p:spPr>
      </p:sp>
      <p:sp>
        <p:nvSpPr>
          <p:cNvPr id="229" name="Shape 227"/>
          <p:cNvSpPr/>
          <p:nvPr/>
        </p:nvSpPr>
        <p:spPr>
          <a:xfrm>
            <a:off x="6192614" y="5504688"/>
            <a:ext cx="329184" cy="329184"/>
          </a:xfrm>
          <a:prstGeom prst="ellipse">
            <a:avLst/>
          </a:prstGeom>
          <a:solidFill>
            <a:schemeClr val="accent4"/>
          </a:solidFill>
          <a:ln/>
        </p:spPr>
      </p:sp>
      <p:sp>
        <p:nvSpPr>
          <p:cNvPr id="230" name="Shape 228"/>
          <p:cNvSpPr/>
          <p:nvPr/>
        </p:nvSpPr>
        <p:spPr>
          <a:xfrm>
            <a:off x="6245283" y="5557357"/>
            <a:ext cx="223845" cy="223845"/>
          </a:xfrm>
          <a:prstGeom prst="ellipse">
            <a:avLst/>
          </a:prstGeom>
          <a:ln w="13716">
            <a:solidFill>
              <a:srgbClr val="7F8C9C"/>
            </a:solidFill>
            <a:prstDash val="solid"/>
          </a:ln>
        </p:spPr>
      </p:sp>
      <p:sp>
        <p:nvSpPr>
          <p:cNvPr id="231" name="Shape 229"/>
          <p:cNvSpPr/>
          <p:nvPr/>
        </p:nvSpPr>
        <p:spPr>
          <a:xfrm>
            <a:off x="6715331" y="5504688"/>
            <a:ext cx="329184" cy="329184"/>
          </a:xfrm>
          <a:prstGeom prst="ellipse">
            <a:avLst/>
          </a:prstGeom>
          <a:solidFill>
            <a:schemeClr val="accent4"/>
          </a:solidFill>
          <a:ln/>
        </p:spPr>
      </p:sp>
      <p:sp>
        <p:nvSpPr>
          <p:cNvPr id="232" name="Shape 230"/>
          <p:cNvSpPr/>
          <p:nvPr/>
        </p:nvSpPr>
        <p:spPr>
          <a:xfrm>
            <a:off x="6768000" y="5557357"/>
            <a:ext cx="223845" cy="223845"/>
          </a:xfrm>
          <a:prstGeom prst="ellipse">
            <a:avLst/>
          </a:prstGeom>
          <a:ln w="13716">
            <a:solidFill>
              <a:srgbClr val="7F8C9C"/>
            </a:solidFill>
            <a:prstDash val="solid"/>
          </a:ln>
        </p:spPr>
      </p:sp>
      <p:sp>
        <p:nvSpPr>
          <p:cNvPr id="233" name="Shape 231"/>
          <p:cNvSpPr/>
          <p:nvPr/>
        </p:nvSpPr>
        <p:spPr>
          <a:xfrm>
            <a:off x="7238048" y="5504688"/>
            <a:ext cx="329184" cy="329184"/>
          </a:xfrm>
          <a:prstGeom prst="ellipse">
            <a:avLst/>
          </a:prstGeom>
          <a:solidFill>
            <a:schemeClr val="accent4"/>
          </a:solidFill>
          <a:ln/>
        </p:spPr>
      </p:sp>
      <p:sp>
        <p:nvSpPr>
          <p:cNvPr id="234" name="Shape 232"/>
          <p:cNvSpPr/>
          <p:nvPr/>
        </p:nvSpPr>
        <p:spPr>
          <a:xfrm>
            <a:off x="7290717" y="5557357"/>
            <a:ext cx="223845" cy="223845"/>
          </a:xfrm>
          <a:prstGeom prst="ellipse">
            <a:avLst/>
          </a:prstGeom>
          <a:ln w="13716">
            <a:solidFill>
              <a:srgbClr val="7F8C9C"/>
            </a:solidFill>
            <a:prstDash val="solid"/>
          </a:ln>
        </p:spPr>
      </p:sp>
      <p:sp>
        <p:nvSpPr>
          <p:cNvPr id="235" name="Shape 233"/>
          <p:cNvSpPr/>
          <p:nvPr/>
        </p:nvSpPr>
        <p:spPr>
          <a:xfrm>
            <a:off x="7760764" y="5504688"/>
            <a:ext cx="329184" cy="329184"/>
          </a:xfrm>
          <a:prstGeom prst="ellipse">
            <a:avLst/>
          </a:prstGeom>
          <a:solidFill>
            <a:schemeClr val="accent4"/>
          </a:solidFill>
          <a:ln/>
        </p:spPr>
      </p:sp>
      <p:sp>
        <p:nvSpPr>
          <p:cNvPr id="236" name="Shape 234"/>
          <p:cNvSpPr/>
          <p:nvPr/>
        </p:nvSpPr>
        <p:spPr>
          <a:xfrm>
            <a:off x="7813434" y="5557357"/>
            <a:ext cx="223845" cy="223845"/>
          </a:xfrm>
          <a:prstGeom prst="ellipse">
            <a:avLst/>
          </a:prstGeom>
          <a:ln w="13716">
            <a:solidFill>
              <a:srgbClr val="7F8C9C"/>
            </a:solidFill>
            <a:prstDash val="solid"/>
          </a:ln>
        </p:spPr>
      </p:sp>
      <p:sp>
        <p:nvSpPr>
          <p:cNvPr id="237" name="Shape 235"/>
          <p:cNvSpPr/>
          <p:nvPr/>
        </p:nvSpPr>
        <p:spPr>
          <a:xfrm>
            <a:off x="8283481" y="5504688"/>
            <a:ext cx="329184" cy="329184"/>
          </a:xfrm>
          <a:prstGeom prst="ellipse">
            <a:avLst/>
          </a:prstGeom>
          <a:solidFill>
            <a:schemeClr val="accent4"/>
          </a:solidFill>
          <a:ln/>
        </p:spPr>
      </p:sp>
      <p:sp>
        <p:nvSpPr>
          <p:cNvPr id="238" name="Shape 236"/>
          <p:cNvSpPr/>
          <p:nvPr/>
        </p:nvSpPr>
        <p:spPr>
          <a:xfrm>
            <a:off x="8336150" y="5557357"/>
            <a:ext cx="223845" cy="223845"/>
          </a:xfrm>
          <a:prstGeom prst="ellipse">
            <a:avLst/>
          </a:prstGeom>
          <a:ln w="13716">
            <a:solidFill>
              <a:srgbClr val="7F8C9C"/>
            </a:solidFill>
            <a:prstDash val="solid"/>
          </a:ln>
        </p:spPr>
      </p:sp>
      <p:sp>
        <p:nvSpPr>
          <p:cNvPr id="239" name="Shape 237"/>
          <p:cNvSpPr/>
          <p:nvPr/>
        </p:nvSpPr>
        <p:spPr>
          <a:xfrm>
            <a:off x="8806198" y="5504688"/>
            <a:ext cx="329184" cy="329184"/>
          </a:xfrm>
          <a:prstGeom prst="ellipse">
            <a:avLst/>
          </a:prstGeom>
          <a:solidFill>
            <a:schemeClr val="accent4"/>
          </a:solidFill>
          <a:ln/>
        </p:spPr>
      </p:sp>
      <p:sp>
        <p:nvSpPr>
          <p:cNvPr id="240" name="Shape 238"/>
          <p:cNvSpPr/>
          <p:nvPr/>
        </p:nvSpPr>
        <p:spPr>
          <a:xfrm>
            <a:off x="8858867" y="5557357"/>
            <a:ext cx="223845" cy="223845"/>
          </a:xfrm>
          <a:prstGeom prst="ellipse">
            <a:avLst/>
          </a:prstGeom>
          <a:ln w="13716">
            <a:solidFill>
              <a:srgbClr val="7F8C9C"/>
            </a:solidFill>
            <a:prstDash val="solid"/>
          </a:ln>
        </p:spPr>
      </p:sp>
      <p:sp>
        <p:nvSpPr>
          <p:cNvPr id="241" name="Shape 239"/>
          <p:cNvSpPr/>
          <p:nvPr/>
        </p:nvSpPr>
        <p:spPr>
          <a:xfrm>
            <a:off x="9328915" y="5504688"/>
            <a:ext cx="329184" cy="329184"/>
          </a:xfrm>
          <a:prstGeom prst="ellipse">
            <a:avLst/>
          </a:prstGeom>
          <a:solidFill>
            <a:schemeClr val="accent4"/>
          </a:solidFill>
          <a:ln/>
        </p:spPr>
      </p:sp>
      <p:sp>
        <p:nvSpPr>
          <p:cNvPr id="242" name="Shape 240"/>
          <p:cNvSpPr/>
          <p:nvPr/>
        </p:nvSpPr>
        <p:spPr>
          <a:xfrm>
            <a:off x="9381584" y="5557357"/>
            <a:ext cx="223845" cy="223845"/>
          </a:xfrm>
          <a:prstGeom prst="ellipse">
            <a:avLst/>
          </a:prstGeom>
          <a:ln w="13716">
            <a:solidFill>
              <a:srgbClr val="7F8C9C"/>
            </a:solidFill>
            <a:prstDash val="solid"/>
          </a:ln>
        </p:spPr>
      </p:sp>
      <p:sp>
        <p:nvSpPr>
          <p:cNvPr id="243" name="Shape 241"/>
          <p:cNvSpPr/>
          <p:nvPr/>
        </p:nvSpPr>
        <p:spPr>
          <a:xfrm>
            <a:off x="9851631" y="5504688"/>
            <a:ext cx="329184" cy="329184"/>
          </a:xfrm>
          <a:prstGeom prst="ellipse">
            <a:avLst/>
          </a:prstGeom>
          <a:solidFill>
            <a:schemeClr val="accent4"/>
          </a:solidFill>
          <a:ln/>
        </p:spPr>
      </p:sp>
      <p:sp>
        <p:nvSpPr>
          <p:cNvPr id="244" name="Shape 242"/>
          <p:cNvSpPr/>
          <p:nvPr/>
        </p:nvSpPr>
        <p:spPr>
          <a:xfrm>
            <a:off x="9904301" y="5557357"/>
            <a:ext cx="223845" cy="223845"/>
          </a:xfrm>
          <a:prstGeom prst="ellipse">
            <a:avLst/>
          </a:prstGeom>
          <a:ln w="13716">
            <a:solidFill>
              <a:srgbClr val="7F8C9C"/>
            </a:solidFill>
            <a:prstDash val="solid"/>
          </a:ln>
        </p:spPr>
      </p:sp>
      <p:sp>
        <p:nvSpPr>
          <p:cNvPr id="245" name="Shape 243"/>
          <p:cNvSpPr/>
          <p:nvPr/>
        </p:nvSpPr>
        <p:spPr>
          <a:xfrm>
            <a:off x="10374348" y="5504688"/>
            <a:ext cx="329184" cy="329184"/>
          </a:xfrm>
          <a:prstGeom prst="ellipse">
            <a:avLst/>
          </a:prstGeom>
          <a:solidFill>
            <a:schemeClr val="accent4"/>
          </a:solidFill>
          <a:ln/>
        </p:spPr>
      </p:sp>
      <p:sp>
        <p:nvSpPr>
          <p:cNvPr id="246" name="Shape 244"/>
          <p:cNvSpPr/>
          <p:nvPr/>
        </p:nvSpPr>
        <p:spPr>
          <a:xfrm>
            <a:off x="10427018" y="5557357"/>
            <a:ext cx="223845" cy="223845"/>
          </a:xfrm>
          <a:prstGeom prst="ellipse">
            <a:avLst/>
          </a:prstGeom>
          <a:ln w="13716">
            <a:solidFill>
              <a:srgbClr val="7F8C9C"/>
            </a:solidFill>
            <a:prstDash val="solid"/>
          </a:ln>
        </p:spPr>
      </p:sp>
      <p:sp>
        <p:nvSpPr>
          <p:cNvPr id="247" name="Shape 245"/>
          <p:cNvSpPr/>
          <p:nvPr/>
        </p:nvSpPr>
        <p:spPr>
          <a:xfrm>
            <a:off x="10897065" y="5504688"/>
            <a:ext cx="329184" cy="329184"/>
          </a:xfrm>
          <a:prstGeom prst="ellipse">
            <a:avLst/>
          </a:prstGeom>
          <a:solidFill>
            <a:schemeClr val="accent4"/>
          </a:solidFill>
          <a:ln/>
        </p:spPr>
      </p:sp>
      <p:sp>
        <p:nvSpPr>
          <p:cNvPr id="248" name="Shape 246"/>
          <p:cNvSpPr/>
          <p:nvPr/>
        </p:nvSpPr>
        <p:spPr>
          <a:xfrm>
            <a:off x="10949734" y="5557357"/>
            <a:ext cx="223845" cy="223845"/>
          </a:xfrm>
          <a:prstGeom prst="ellipse">
            <a:avLst/>
          </a:prstGeom>
          <a:ln w="13716">
            <a:solidFill>
              <a:srgbClr val="7F8C9C"/>
            </a:solidFill>
            <a:prstDash val="solid"/>
          </a:ln>
        </p:spPr>
      </p:sp>
      <p:sp>
        <p:nvSpPr>
          <p:cNvPr id="249" name="Fuente"/>
          <p:cNvSpPr txBox="1"/>
          <p:nvPr/>
        </p:nvSpPr>
        <p:spPr>
          <a:xfrm>
            <a:off x="548640" y="6035040"/>
            <a:ext cx="11094415" cy="237744"/>
          </a:xfrm>
          <a:prstGeom prst="rect">
            <a:avLst/>
          </a:prstGeom>
          <a:noFill/>
          <a:ln/>
        </p:spPr>
        <p:txBody>
          <a:bodyPr wrap="square" lIns="0" tIns="0" rIns="0" bIns="0" rtlCol="0" anchor="ctr"/>
          <a:lstStyle/>
          <a:p>
            <a:pPr indent="0" marL="0">
              <a:buNone/>
            </a:pPr>
            <a:r>
              <a:rPr lang="en-US" sz="1000" dirty="0">
                <a:solidFill>
                  <a:schemeClr val="accent5"/>
                </a:solidFill>
              </a:rPr>
              <a:t>Fuente: EcoGo y Universidad Austral en base a la Central de Deudores del BCRA (crédito a personas: bancos, fintech y billeteras). Redondeado: 3,6% ≈ 1/40; 12,6% ≈ 5/40; 17,5% = 7/40.</a:t>
            </a:r>
            <a:endParaRPr lang="en-US" sz="10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9144000" cy="274320"/>
          </a:xfrm>
          <a:prstGeom prst="rect">
            <a:avLst/>
          </a:prstGeom>
          <a:noFill/>
          <a:ln/>
        </p:spPr>
        <p:txBody>
          <a:bodyPr wrap="square" lIns="0" tIns="0" rIns="0" bIns="0" rtlCol="0" anchor="ctr"/>
          <a:lstStyle/>
          <a:p>
            <a:pPr algn="l" indent="0" marL="0">
              <a:buNone/>
            </a:pPr>
            <a:r>
              <a:rPr lang="en-US" sz="1200" b="1" spc="150" kern="0" dirty="0">
                <a:solidFill>
                  <a:schemeClr val="accent3"/>
                </a:solidFill>
              </a:rPr>
              <a:t>EL MAPA DE LA MORA</a:t>
            </a:r>
            <a:endParaRPr lang="en-US" sz="1200" dirty="0"/>
          </a:p>
        </p:txBody>
      </p:sp>
      <p:sp>
        <p:nvSpPr>
          <p:cNvPr id="3" name="Text 1"/>
          <p:cNvSpPr/>
          <p:nvPr>
            <p:ph idx="102" type="title" hasCustomPrompt="1"/>
          </p:nvPr>
        </p:nvSpPr>
        <p:spPr>
          <a:xfrm>
            <a:off x="548640" y="749808"/>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Casi 6 millones de personas tienen deudas en mora</a:t>
            </a:r>
            <a:endParaRPr lang="en-US" sz="3200" dirty="0"/>
          </a:p>
        </p:txBody>
      </p:sp>
      <p:pic>
        <p:nvPicPr>
          <p:cNvPr id="4" name="Image 0" descr="Mapa de Argentina por provincias con 460 puntos ubicados según la población de cada provincia: 59 rojos (en mora), 158 grises (con deudas al día) y 243 claros (sin deudas registradas). CABA aparece ampliada al costado.">    </p:cNvPr>
          <p:cNvPicPr>
            <a:picLocks noChangeAspect="1"/>
          </p:cNvPicPr>
          <p:nvPr/>
        </p:nvPicPr>
        <p:blipFill>
          <a:blip r:embed="rId1"/>
          <a:stretch>
            <a:fillRect/>
          </a:stretch>
        </p:blipFill>
        <p:spPr>
          <a:xfrm>
            <a:off x="777240" y="1600200"/>
            <a:ext cx="2687320" cy="4206240"/>
          </a:xfrm>
          <a:prstGeom prst="rect">
            <a:avLst/>
          </a:prstGeom>
        </p:spPr>
      </p:pic>
      <p:sp>
        <p:nvSpPr>
          <p:cNvPr id="5" name="Shape 2"/>
          <p:cNvSpPr/>
          <p:nvPr/>
        </p:nvSpPr>
        <p:spPr>
          <a:xfrm>
            <a:off x="3647440" y="1737360"/>
            <a:ext cx="237744" cy="237744"/>
          </a:xfrm>
          <a:prstGeom prst="ellipse">
            <a:avLst/>
          </a:prstGeom>
          <a:solidFill>
            <a:schemeClr val="accent1"/>
          </a:solidFill>
          <a:ln/>
        </p:spPr>
      </p:sp>
      <p:sp>
        <p:nvSpPr>
          <p:cNvPr id="6" name="Text 3"/>
          <p:cNvSpPr txBox="1"/>
          <p:nvPr/>
        </p:nvSpPr>
        <p:spPr>
          <a:xfrm>
            <a:off x="3994912" y="1664208"/>
            <a:ext cx="2253725" cy="548640"/>
          </a:xfrm>
          <a:prstGeom prst="rect">
            <a:avLst/>
          </a:prstGeom>
          <a:noFill/>
          <a:ln/>
        </p:spPr>
        <p:txBody>
          <a:bodyPr wrap="square" lIns="0" tIns="0" rIns="0" bIns="0" rtlCol="0" anchor="t"/>
          <a:lstStyle/>
          <a:p>
            <a:pPr indent="0" marL="0">
              <a:buNone/>
            </a:pPr>
            <a:r>
              <a:rPr lang="en-US" sz="1400" b="1" dirty="0">
                <a:solidFill>
                  <a:schemeClr val="tx1"/>
                </a:solidFill>
              </a:rPr>
              <a:t>En mora</a:t>
            </a:r>
            <a:endParaRPr lang="en-US" sz="1400" dirty="0"/>
          </a:p>
          <a:p>
            <a:pPr indent="0" marL="0">
              <a:buNone/>
            </a:pPr>
            <a:r>
              <a:rPr lang="en-US" sz="1400" dirty="0">
                <a:solidFill>
                  <a:schemeClr val="tx2"/>
                </a:solidFill>
              </a:rPr>
              <a:t>5,9 millones</a:t>
            </a:r>
            <a:endParaRPr lang="en-US" sz="1400" dirty="0"/>
          </a:p>
        </p:txBody>
      </p:sp>
      <p:sp>
        <p:nvSpPr>
          <p:cNvPr id="7" name="Shape 4"/>
          <p:cNvSpPr/>
          <p:nvPr/>
        </p:nvSpPr>
        <p:spPr>
          <a:xfrm>
            <a:off x="6312645" y="1737360"/>
            <a:ext cx="237744" cy="237744"/>
          </a:xfrm>
          <a:prstGeom prst="ellipse">
            <a:avLst/>
          </a:prstGeom>
          <a:solidFill>
            <a:schemeClr val="accent4"/>
          </a:solidFill>
          <a:ln/>
        </p:spPr>
      </p:sp>
      <p:sp>
        <p:nvSpPr>
          <p:cNvPr id="8" name="Text 5"/>
          <p:cNvSpPr txBox="1"/>
          <p:nvPr/>
        </p:nvSpPr>
        <p:spPr>
          <a:xfrm>
            <a:off x="6660117" y="1664208"/>
            <a:ext cx="2253725" cy="548640"/>
          </a:xfrm>
          <a:prstGeom prst="rect">
            <a:avLst/>
          </a:prstGeom>
          <a:noFill/>
          <a:ln/>
        </p:spPr>
        <p:txBody>
          <a:bodyPr wrap="square" lIns="0" tIns="0" rIns="0" bIns="0" rtlCol="0" anchor="t"/>
          <a:lstStyle/>
          <a:p>
            <a:pPr indent="0" marL="0">
              <a:buNone/>
            </a:pPr>
            <a:r>
              <a:rPr lang="en-US" sz="1400" b="1" dirty="0">
                <a:solidFill>
                  <a:schemeClr val="tx1"/>
                </a:solidFill>
              </a:rPr>
              <a:t>Con deudas al día</a:t>
            </a:r>
            <a:endParaRPr lang="en-US" sz="1400" dirty="0"/>
          </a:p>
          <a:p>
            <a:pPr indent="0" marL="0">
              <a:buNone/>
            </a:pPr>
            <a:r>
              <a:rPr lang="en-US" sz="1400" dirty="0">
                <a:solidFill>
                  <a:schemeClr val="tx2"/>
                </a:solidFill>
              </a:rPr>
              <a:t>15,8 millones</a:t>
            </a:r>
            <a:endParaRPr lang="en-US" sz="1400" dirty="0"/>
          </a:p>
        </p:txBody>
      </p:sp>
      <p:sp>
        <p:nvSpPr>
          <p:cNvPr id="9" name="Shape 6"/>
          <p:cNvSpPr/>
          <p:nvPr/>
        </p:nvSpPr>
        <p:spPr>
          <a:xfrm>
            <a:off x="8977850" y="1737360"/>
            <a:ext cx="237744" cy="237744"/>
          </a:xfrm>
          <a:prstGeom prst="ellipse">
            <a:avLst/>
          </a:prstGeom>
          <a:solidFill>
            <a:schemeClr val="accent6"/>
          </a:solidFill>
          <a:ln/>
        </p:spPr>
      </p:sp>
      <p:sp>
        <p:nvSpPr>
          <p:cNvPr id="10" name="Text 7"/>
          <p:cNvSpPr txBox="1"/>
          <p:nvPr/>
        </p:nvSpPr>
        <p:spPr>
          <a:xfrm>
            <a:off x="9325322" y="1664208"/>
            <a:ext cx="2253725" cy="548640"/>
          </a:xfrm>
          <a:prstGeom prst="rect">
            <a:avLst/>
          </a:prstGeom>
          <a:noFill/>
          <a:ln/>
        </p:spPr>
        <p:txBody>
          <a:bodyPr wrap="square" lIns="0" tIns="0" rIns="0" bIns="0" rtlCol="0" anchor="t"/>
          <a:lstStyle/>
          <a:p>
            <a:pPr indent="0" marL="0">
              <a:buNone/>
            </a:pPr>
            <a:r>
              <a:rPr lang="en-US" sz="1400" b="1" dirty="0">
                <a:solidFill>
                  <a:schemeClr val="tx1"/>
                </a:solidFill>
              </a:rPr>
              <a:t>Sin deudas registradas</a:t>
            </a:r>
            <a:endParaRPr lang="en-US" sz="1400" dirty="0"/>
          </a:p>
          <a:p>
            <a:pPr indent="0" marL="0">
              <a:buNone/>
            </a:pPr>
            <a:r>
              <a:rPr lang="en-US" sz="1400" dirty="0">
                <a:solidFill>
                  <a:schemeClr val="tx2"/>
                </a:solidFill>
              </a:rPr>
              <a:t>24,4 millones</a:t>
            </a:r>
            <a:endParaRPr lang="en-US" sz="1400" dirty="0"/>
          </a:p>
        </p:txBody>
      </p:sp>
      <p:sp>
        <p:nvSpPr>
          <p:cNvPr id="11" name="Text 8"/>
          <p:cNvSpPr txBox="1"/>
          <p:nvPr/>
        </p:nvSpPr>
        <p:spPr>
          <a:xfrm>
            <a:off x="3647440" y="2240280"/>
            <a:ext cx="7995615" cy="457200"/>
          </a:xfrm>
          <a:prstGeom prst="rect">
            <a:avLst/>
          </a:prstGeom>
          <a:noFill/>
          <a:ln/>
        </p:spPr>
        <p:txBody>
          <a:bodyPr wrap="square" lIns="0" tIns="0" rIns="0" bIns="0" rtlCol="0" anchor="ctr"/>
          <a:lstStyle/>
          <a:p>
            <a:pPr indent="0" marL="0">
              <a:buNone/>
            </a:pPr>
            <a:r>
              <a:rPr lang="en-US" sz="1200" i="1" dirty="0">
                <a:solidFill>
                  <a:schemeClr val="accent5"/>
                </a:solidFill>
              </a:rPr>
              <a:t>Cada punto ≈ 100.000 habitantes, cerca de sus ciudades; CABA, ampliada. Donde hay menos de 50.000 morosos (La Pampa, Santa Cruz y Tierra del Fuego), el color de mora ocupa solo una parte del punto.</a:t>
            </a:r>
            <a:endParaRPr lang="en-US" sz="1200" dirty="0"/>
          </a:p>
        </p:txBody>
      </p:sp>
      <p:sp>
        <p:nvSpPr>
          <p:cNvPr id="12" name="Dato Personas"/>
          <p:cNvSpPr/>
          <p:nvPr/>
        </p:nvSpPr>
        <p:spPr>
          <a:xfrm>
            <a:off x="3647440" y="2788920"/>
            <a:ext cx="2482325" cy="2240280"/>
          </a:xfrm>
          <a:prstGeom prst="roundRect">
            <a:avLst>
              <a:gd name="adj" fmla="val 6531"/>
            </a:avLst>
          </a:prstGeom>
          <a:solidFill>
            <a:schemeClr val="bg1"/>
          </a:solidFill>
          <a:ln w="12700">
            <a:solidFill>
              <a:schemeClr val="accent6"/>
            </a:solidFill>
            <a:prstDash val="solid"/>
          </a:ln>
        </p:spPr>
      </p:sp>
      <p:sp>
        <p:nvSpPr>
          <p:cNvPr id="13" name="Text 10"/>
          <p:cNvSpPr txBox="1"/>
          <p:nvPr/>
        </p:nvSpPr>
        <p:spPr>
          <a:xfrm>
            <a:off x="3876040" y="2990088"/>
            <a:ext cx="2025125" cy="274320"/>
          </a:xfrm>
          <a:prstGeom prst="rect">
            <a:avLst/>
          </a:prstGeom>
          <a:noFill/>
          <a:ln/>
        </p:spPr>
        <p:txBody>
          <a:bodyPr wrap="square" lIns="0" tIns="0" rIns="0" bIns="0" rtlCol="0" anchor="ctr"/>
          <a:lstStyle/>
          <a:p>
            <a:pPr indent="0" marL="0">
              <a:buNone/>
            </a:pPr>
            <a:r>
              <a:rPr lang="en-US" sz="1100" b="1" spc="150" kern="0" dirty="0">
                <a:solidFill>
                  <a:schemeClr val="accent5"/>
                </a:solidFill>
              </a:rPr>
              <a:t>PERSONAS</a:t>
            </a:r>
            <a:endParaRPr lang="en-US" sz="1100" dirty="0"/>
          </a:p>
        </p:txBody>
      </p:sp>
      <p:sp>
        <p:nvSpPr>
          <p:cNvPr id="14" name="Text 11"/>
          <p:cNvSpPr txBox="1"/>
          <p:nvPr/>
        </p:nvSpPr>
        <p:spPr>
          <a:xfrm>
            <a:off x="3876040" y="3291840"/>
            <a:ext cx="2025125" cy="548640"/>
          </a:xfrm>
          <a:prstGeom prst="rect">
            <a:avLst/>
          </a:prstGeom>
          <a:noFill/>
          <a:ln/>
        </p:spPr>
        <p:txBody>
          <a:bodyPr wrap="square" lIns="0" tIns="0" rIns="0" bIns="0" rtlCol="0" anchor="ctr">
            <a:normAutofit/>
          </a:bodyPr>
          <a:lstStyle/>
          <a:p>
            <a:pPr indent="0" marL="0">
              <a:buNone/>
            </a:pPr>
            <a:r>
              <a:rPr lang="en-US" sz="2400" b="1" dirty="0">
                <a:solidFill>
                  <a:schemeClr val="tx1"/>
                </a:solidFill>
              </a:rPr>
              <a:t>1 de cada 8</a:t>
            </a:r>
            <a:endParaRPr lang="en-US" sz="2400" dirty="0"/>
          </a:p>
        </p:txBody>
      </p:sp>
      <p:sp>
        <p:nvSpPr>
          <p:cNvPr id="15" name="Text 12"/>
          <p:cNvSpPr txBox="1"/>
          <p:nvPr/>
        </p:nvSpPr>
        <p:spPr>
          <a:xfrm>
            <a:off x="3876040" y="3886200"/>
            <a:ext cx="2025125" cy="1005840"/>
          </a:xfrm>
          <a:prstGeom prst="rect">
            <a:avLst/>
          </a:prstGeom>
          <a:noFill/>
          <a:ln/>
        </p:spPr>
        <p:txBody>
          <a:bodyPr wrap="square" lIns="0" tIns="0" rIns="0" bIns="0" rtlCol="0" anchor="t"/>
          <a:lstStyle/>
          <a:p>
            <a:pPr indent="0" marL="0">
              <a:buNone/>
            </a:pPr>
            <a:r>
              <a:rPr lang="en-US" sz="1300" dirty="0">
                <a:solidFill>
                  <a:schemeClr val="tx2"/>
                </a:solidFill>
              </a:rPr>
              <a:t>habitantes tiene deudas en mora. Entre quienes deben algo, son el 27%.</a:t>
            </a:r>
            <a:endParaRPr lang="en-US" sz="1300" dirty="0"/>
          </a:p>
        </p:txBody>
      </p:sp>
      <p:sp>
        <p:nvSpPr>
          <p:cNvPr id="16" name="Dato Pesos"/>
          <p:cNvSpPr/>
          <p:nvPr/>
        </p:nvSpPr>
        <p:spPr>
          <a:xfrm>
            <a:off x="6404085" y="2788920"/>
            <a:ext cx="2482325" cy="2240280"/>
          </a:xfrm>
          <a:prstGeom prst="roundRect">
            <a:avLst>
              <a:gd name="adj" fmla="val 6531"/>
            </a:avLst>
          </a:prstGeom>
          <a:solidFill>
            <a:schemeClr val="bg1"/>
          </a:solidFill>
          <a:ln w="12700">
            <a:solidFill>
              <a:schemeClr val="accent6"/>
            </a:solidFill>
            <a:prstDash val="solid"/>
          </a:ln>
        </p:spPr>
      </p:sp>
      <p:sp>
        <p:nvSpPr>
          <p:cNvPr id="17" name="Text 14"/>
          <p:cNvSpPr txBox="1"/>
          <p:nvPr/>
        </p:nvSpPr>
        <p:spPr>
          <a:xfrm>
            <a:off x="6632685" y="2990088"/>
            <a:ext cx="2025125" cy="274320"/>
          </a:xfrm>
          <a:prstGeom prst="rect">
            <a:avLst/>
          </a:prstGeom>
          <a:noFill/>
          <a:ln/>
        </p:spPr>
        <p:txBody>
          <a:bodyPr wrap="square" lIns="0" tIns="0" rIns="0" bIns="0" rtlCol="0" anchor="ctr"/>
          <a:lstStyle/>
          <a:p>
            <a:pPr indent="0" marL="0">
              <a:buNone/>
            </a:pPr>
            <a:r>
              <a:rPr lang="en-US" sz="1100" b="1" spc="150" kern="0" dirty="0">
                <a:solidFill>
                  <a:schemeClr val="accent5"/>
                </a:solidFill>
              </a:rPr>
              <a:t>PESOS</a:t>
            </a:r>
            <a:endParaRPr lang="en-US" sz="1100" dirty="0"/>
          </a:p>
        </p:txBody>
      </p:sp>
      <p:sp>
        <p:nvSpPr>
          <p:cNvPr id="18" name="Text 15"/>
          <p:cNvSpPr txBox="1"/>
          <p:nvPr/>
        </p:nvSpPr>
        <p:spPr>
          <a:xfrm>
            <a:off x="6632685" y="3291840"/>
            <a:ext cx="2025125" cy="548640"/>
          </a:xfrm>
          <a:prstGeom prst="rect">
            <a:avLst/>
          </a:prstGeom>
          <a:noFill/>
          <a:ln/>
        </p:spPr>
        <p:txBody>
          <a:bodyPr wrap="square" lIns="0" tIns="0" rIns="0" bIns="0" rtlCol="0" anchor="ctr">
            <a:normAutofit/>
          </a:bodyPr>
          <a:lstStyle/>
          <a:p>
            <a:pPr indent="0" marL="0">
              <a:buNone/>
            </a:pPr>
            <a:r>
              <a:rPr lang="en-US" sz="2400" b="1" dirty="0">
                <a:solidFill>
                  <a:schemeClr val="tx1"/>
                </a:solidFill>
              </a:rPr>
              <a:t>$17,8</a:t>
            </a:r>
            <a:endParaRPr lang="en-US" sz="2400" dirty="0"/>
          </a:p>
        </p:txBody>
      </p:sp>
      <p:sp>
        <p:nvSpPr>
          <p:cNvPr id="19" name="Text 16"/>
          <p:cNvSpPr txBox="1"/>
          <p:nvPr/>
        </p:nvSpPr>
        <p:spPr>
          <a:xfrm>
            <a:off x="6632685" y="3886200"/>
            <a:ext cx="2025125" cy="1005840"/>
          </a:xfrm>
          <a:prstGeom prst="rect">
            <a:avLst/>
          </a:prstGeom>
          <a:noFill/>
          <a:ln/>
        </p:spPr>
        <p:txBody>
          <a:bodyPr wrap="square" lIns="0" tIns="0" rIns="0" bIns="0" rtlCol="0" anchor="t"/>
          <a:lstStyle/>
          <a:p>
            <a:pPr indent="0" marL="0">
              <a:buNone/>
            </a:pPr>
            <a:r>
              <a:rPr lang="en-US" sz="1300" dirty="0">
                <a:solidFill>
                  <a:schemeClr val="tx2"/>
                </a:solidFill>
              </a:rPr>
              <a:t>billones de pesos están en mora, sumando todas las deudas atrasadas de las personas.</a:t>
            </a:r>
            <a:endParaRPr lang="en-US" sz="1300" dirty="0"/>
          </a:p>
        </p:txBody>
      </p:sp>
      <p:sp>
        <p:nvSpPr>
          <p:cNvPr id="20" name="Dato Familias"/>
          <p:cNvSpPr/>
          <p:nvPr/>
        </p:nvSpPr>
        <p:spPr>
          <a:xfrm>
            <a:off x="9160730" y="2788920"/>
            <a:ext cx="2482325" cy="2240280"/>
          </a:xfrm>
          <a:prstGeom prst="roundRect">
            <a:avLst>
              <a:gd name="adj" fmla="val 6531"/>
            </a:avLst>
          </a:prstGeom>
          <a:solidFill>
            <a:schemeClr val="bg1"/>
          </a:solidFill>
          <a:ln w="12700">
            <a:solidFill>
              <a:schemeClr val="accent6"/>
            </a:solidFill>
            <a:prstDash val="solid"/>
          </a:ln>
        </p:spPr>
      </p:sp>
      <p:sp>
        <p:nvSpPr>
          <p:cNvPr id="21" name="Text 18"/>
          <p:cNvSpPr txBox="1"/>
          <p:nvPr/>
        </p:nvSpPr>
        <p:spPr>
          <a:xfrm>
            <a:off x="9389330" y="2990088"/>
            <a:ext cx="2025125" cy="274320"/>
          </a:xfrm>
          <a:prstGeom prst="rect">
            <a:avLst/>
          </a:prstGeom>
          <a:noFill/>
          <a:ln/>
        </p:spPr>
        <p:txBody>
          <a:bodyPr wrap="square" lIns="0" tIns="0" rIns="0" bIns="0" rtlCol="0" anchor="ctr"/>
          <a:lstStyle/>
          <a:p>
            <a:pPr indent="0" marL="0">
              <a:buNone/>
            </a:pPr>
            <a:r>
              <a:rPr lang="en-US" sz="1100" b="1" spc="150" kern="0" dirty="0">
                <a:solidFill>
                  <a:schemeClr val="accent5"/>
                </a:solidFill>
              </a:rPr>
              <a:t>FAMILIAS</a:t>
            </a:r>
            <a:endParaRPr lang="en-US" sz="1100" dirty="0"/>
          </a:p>
        </p:txBody>
      </p:sp>
      <p:sp>
        <p:nvSpPr>
          <p:cNvPr id="22" name="Text 19"/>
          <p:cNvSpPr txBox="1"/>
          <p:nvPr/>
        </p:nvSpPr>
        <p:spPr>
          <a:xfrm>
            <a:off x="9389330" y="3291840"/>
            <a:ext cx="2025125" cy="548640"/>
          </a:xfrm>
          <a:prstGeom prst="rect">
            <a:avLst/>
          </a:prstGeom>
          <a:noFill/>
          <a:ln/>
        </p:spPr>
        <p:txBody>
          <a:bodyPr wrap="square" lIns="0" tIns="0" rIns="0" bIns="0" rtlCol="0" anchor="ctr">
            <a:normAutofit/>
          </a:bodyPr>
          <a:lstStyle/>
          <a:p>
            <a:pPr indent="0" marL="0">
              <a:buNone/>
            </a:pPr>
            <a:r>
              <a:rPr lang="en-US" sz="2400" b="1" dirty="0">
                <a:solidFill>
                  <a:schemeClr val="tx1"/>
                </a:solidFill>
              </a:rPr>
              <a:t>6 de cada 10</a:t>
            </a:r>
            <a:endParaRPr lang="en-US" sz="2400" dirty="0"/>
          </a:p>
        </p:txBody>
      </p:sp>
      <p:sp>
        <p:nvSpPr>
          <p:cNvPr id="23" name="Text 20"/>
          <p:cNvSpPr txBox="1"/>
          <p:nvPr/>
        </p:nvSpPr>
        <p:spPr>
          <a:xfrm>
            <a:off x="9389330" y="3886200"/>
            <a:ext cx="2025125" cy="1005840"/>
          </a:xfrm>
          <a:prstGeom prst="rect">
            <a:avLst/>
          </a:prstGeom>
          <a:noFill/>
          <a:ln/>
        </p:spPr>
        <p:txBody>
          <a:bodyPr wrap="square" lIns="0" tIns="0" rIns="0" bIns="0" rtlCol="0" anchor="t"/>
          <a:lstStyle/>
          <a:p>
            <a:pPr indent="0" marL="0">
              <a:buNone/>
            </a:pPr>
            <a:r>
              <a:rPr lang="en-US" sz="1300" dirty="0">
                <a:solidFill>
                  <a:schemeClr val="tx2"/>
                </a:solidFill>
              </a:rPr>
              <a:t>hogares usan alguna forma de financiamiento. No hay un dato público de hogares en mora.</a:t>
            </a:r>
            <a:endParaRPr lang="en-US" sz="1300" dirty="0"/>
          </a:p>
        </p:txBody>
      </p:sp>
      <p:sp>
        <p:nvSpPr>
          <p:cNvPr id="24" name="Ejemplo"/>
          <p:cNvSpPr/>
          <p:nvPr/>
        </p:nvSpPr>
        <p:spPr>
          <a:xfrm>
            <a:off x="3647440" y="5212080"/>
            <a:ext cx="7995615" cy="685800"/>
          </a:xfrm>
          <a:prstGeom prst="roundRect">
            <a:avLst>
              <a:gd name="adj" fmla="val 13333"/>
            </a:avLst>
          </a:prstGeom>
          <a:solidFill>
            <a:schemeClr val="bg1"/>
          </a:solidFill>
          <a:ln w="12700">
            <a:solidFill>
              <a:schemeClr val="accent6"/>
            </a:solidFill>
            <a:prstDash val="solid"/>
          </a:ln>
        </p:spPr>
      </p:sp>
      <p:sp>
        <p:nvSpPr>
          <p:cNvPr id="25" name="Text 22"/>
          <p:cNvSpPr txBox="1"/>
          <p:nvPr/>
        </p:nvSpPr>
        <p:spPr>
          <a:xfrm>
            <a:off x="3830320" y="5321808"/>
            <a:ext cx="7629855" cy="466344"/>
          </a:xfrm>
          <a:prstGeom prst="rect">
            <a:avLst/>
          </a:prstGeom>
          <a:noFill/>
          <a:ln/>
        </p:spPr>
        <p:txBody>
          <a:bodyPr wrap="square" lIns="0" tIns="0" rIns="0" bIns="0" rtlCol="0" anchor="ctr"/>
          <a:lstStyle/>
          <a:p>
            <a:pPr indent="0" marL="0">
              <a:buNone/>
            </a:pPr>
            <a:r>
              <a:rPr lang="en-US" sz="1400" b="1" dirty="0">
                <a:solidFill>
                  <a:schemeClr val="tx1"/>
                </a:solidFill>
              </a:rPr>
              <a:t>Deudas chicas: </a:t>
            </a:r>
            <a:pPr indent="0" marL="0">
              <a:buNone/>
            </a:pPr>
            <a:r>
              <a:rPr lang="en-US" sz="1400" dirty="0">
                <a:solidFill>
                  <a:schemeClr val="tx2"/>
                </a:solidFill>
              </a:rPr>
              <a:t>casi 4 de cada 10 morosos deben menos de un salario mínimo.</a:t>
            </a:r>
            <a:endParaRPr lang="en-US" sz="1400" dirty="0"/>
          </a:p>
        </p:txBody>
      </p:sp>
      <p:sp>
        <p:nvSpPr>
          <p:cNvPr id="26" name="Fuente"/>
          <p:cNvSpPr txBox="1"/>
          <p:nvPr/>
        </p:nvSpPr>
        <p:spPr>
          <a:xfrm>
            <a:off x="548640" y="6035040"/>
            <a:ext cx="11094415" cy="237744"/>
          </a:xfrm>
          <a:prstGeom prst="rect">
            <a:avLst/>
          </a:prstGeom>
          <a:noFill/>
          <a:ln/>
        </p:spPr>
        <p:txBody>
          <a:bodyPr wrap="square" lIns="0" tIns="0" rIns="0" bIns="0" rtlCol="0" anchor="ctr"/>
          <a:lstStyle/>
          <a:p>
            <a:pPr indent="0" marL="0">
              <a:buNone/>
            </a:pPr>
            <a:r>
              <a:rPr lang="en-US" sz="1000" dirty="0">
                <a:solidFill>
                  <a:schemeClr val="accent5"/>
                </a:solidFill>
              </a:rPr>
              <a:t>Fuentes: Mati Fernández y CEPA sobre la Central de Deudores del BCRA (2026); INDEC, Censo 2022; IPYPP; UCA. Morosos por provincia: CEPA para las cinco provincias con datos publicados; el resto, estimado por población y tasa de mora (EcoGo-Austral).</a:t>
            </a:r>
            <a:endParaRPr lang="en-US" sz="10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9144000" cy="274320"/>
          </a:xfrm>
          <a:prstGeom prst="rect">
            <a:avLst/>
          </a:prstGeom>
          <a:noFill/>
          <a:ln/>
        </p:spPr>
        <p:txBody>
          <a:bodyPr wrap="square" lIns="0" tIns="0" rIns="0" bIns="0" rtlCol="0" anchor="ctr"/>
          <a:lstStyle/>
          <a:p>
            <a:pPr algn="l" indent="0" marL="0">
              <a:buNone/>
            </a:pPr>
            <a:r>
              <a:rPr lang="en-US" sz="1200" b="1" spc="150" kern="0" dirty="0">
                <a:solidFill>
                  <a:schemeClr val="accent3"/>
                </a:solidFill>
              </a:rPr>
              <a:t>DÓNDE ESTÁ LA MORA</a:t>
            </a:r>
            <a:endParaRPr lang="en-US" sz="1200" dirty="0"/>
          </a:p>
        </p:txBody>
      </p:sp>
      <p:sp>
        <p:nvSpPr>
          <p:cNvPr id="3" name="Text 1"/>
          <p:cNvSpPr/>
          <p:nvPr>
            <p:ph idx="102" type="title" hasCustomPrompt="1"/>
          </p:nvPr>
        </p:nvSpPr>
        <p:spPr>
          <a:xfrm>
            <a:off x="548640" y="749808"/>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Billeteras: más morosos. Bancos: más plata en mora</a:t>
            </a:r>
            <a:endParaRPr lang="en-US" sz="3200" dirty="0"/>
          </a:p>
        </p:txBody>
      </p:sp>
      <p:sp>
        <p:nvSpPr>
          <p:cNvPr id="4" name="Shape 2"/>
          <p:cNvSpPr/>
          <p:nvPr/>
        </p:nvSpPr>
        <p:spPr>
          <a:xfrm>
            <a:off x="594360" y="1618488"/>
            <a:ext cx="256032" cy="256032"/>
          </a:xfrm>
          <a:prstGeom prst="ellipse">
            <a:avLst/>
          </a:prstGeom>
          <a:solidFill>
            <a:schemeClr val="accent2"/>
          </a:solidFill>
          <a:ln/>
        </p:spPr>
      </p:sp>
      <p:sp>
        <p:nvSpPr>
          <p:cNvPr id="5" name="Text 3"/>
          <p:cNvSpPr txBox="1"/>
          <p:nvPr/>
        </p:nvSpPr>
        <p:spPr>
          <a:xfrm>
            <a:off x="1005840" y="1591056"/>
            <a:ext cx="2560320" cy="310896"/>
          </a:xfrm>
          <a:prstGeom prst="rect">
            <a:avLst/>
          </a:prstGeom>
          <a:noFill/>
          <a:ln/>
        </p:spPr>
        <p:txBody>
          <a:bodyPr wrap="square" lIns="0" tIns="0" rIns="0" bIns="0" rtlCol="0" anchor="ctr"/>
          <a:lstStyle/>
          <a:p>
            <a:pPr indent="0" marL="0">
              <a:buNone/>
            </a:pPr>
            <a:r>
              <a:rPr lang="en-US" sz="1400" b="1" dirty="0">
                <a:solidFill>
                  <a:schemeClr val="tx1"/>
                </a:solidFill>
              </a:rPr>
              <a:t>Billeteras y fintech</a:t>
            </a:r>
            <a:endParaRPr lang="en-US" sz="1400" dirty="0"/>
          </a:p>
        </p:txBody>
      </p:sp>
      <p:sp>
        <p:nvSpPr>
          <p:cNvPr id="6" name="Shape 4"/>
          <p:cNvSpPr/>
          <p:nvPr/>
        </p:nvSpPr>
        <p:spPr>
          <a:xfrm>
            <a:off x="3703320" y="1618488"/>
            <a:ext cx="256032" cy="256032"/>
          </a:xfrm>
          <a:prstGeom prst="ellipse">
            <a:avLst/>
          </a:prstGeom>
          <a:solidFill>
            <a:schemeClr val="accent3"/>
          </a:solidFill>
          <a:ln/>
        </p:spPr>
      </p:sp>
      <p:sp>
        <p:nvSpPr>
          <p:cNvPr id="7" name="Text 5"/>
          <p:cNvSpPr txBox="1"/>
          <p:nvPr/>
        </p:nvSpPr>
        <p:spPr>
          <a:xfrm>
            <a:off x="4114800" y="1591056"/>
            <a:ext cx="2560320" cy="310896"/>
          </a:xfrm>
          <a:prstGeom prst="rect">
            <a:avLst/>
          </a:prstGeom>
          <a:noFill/>
          <a:ln/>
        </p:spPr>
        <p:txBody>
          <a:bodyPr wrap="square" lIns="0" tIns="0" rIns="0" bIns="0" rtlCol="0" anchor="ctr"/>
          <a:lstStyle/>
          <a:p>
            <a:pPr indent="0" marL="0">
              <a:buNone/>
            </a:pPr>
            <a:r>
              <a:rPr lang="en-US" sz="1400" b="1" dirty="0">
                <a:solidFill>
                  <a:schemeClr val="tx1"/>
                </a:solidFill>
              </a:rPr>
              <a:t>Bancos privados</a:t>
            </a:r>
            <a:endParaRPr lang="en-US" sz="1400" dirty="0"/>
          </a:p>
        </p:txBody>
      </p:sp>
      <p:sp>
        <p:nvSpPr>
          <p:cNvPr id="8" name="Shape 6"/>
          <p:cNvSpPr/>
          <p:nvPr/>
        </p:nvSpPr>
        <p:spPr>
          <a:xfrm>
            <a:off x="6812280" y="1618488"/>
            <a:ext cx="256032" cy="256032"/>
          </a:xfrm>
          <a:prstGeom prst="ellipse">
            <a:avLst/>
          </a:prstGeom>
          <a:solidFill>
            <a:schemeClr val="accent4"/>
          </a:solidFill>
          <a:ln/>
        </p:spPr>
      </p:sp>
      <p:sp>
        <p:nvSpPr>
          <p:cNvPr id="9" name="Text 7"/>
          <p:cNvSpPr txBox="1"/>
          <p:nvPr/>
        </p:nvSpPr>
        <p:spPr>
          <a:xfrm>
            <a:off x="7223760" y="1591056"/>
            <a:ext cx="2560320" cy="310896"/>
          </a:xfrm>
          <a:prstGeom prst="rect">
            <a:avLst/>
          </a:prstGeom>
          <a:noFill/>
          <a:ln/>
        </p:spPr>
        <p:txBody>
          <a:bodyPr wrap="square" lIns="0" tIns="0" rIns="0" bIns="0" rtlCol="0" anchor="ctr"/>
          <a:lstStyle/>
          <a:p>
            <a:pPr indent="0" marL="0">
              <a:buNone/>
            </a:pPr>
            <a:r>
              <a:rPr lang="en-US" sz="1400" b="1" dirty="0">
                <a:solidFill>
                  <a:schemeClr val="tx1"/>
                </a:solidFill>
              </a:rPr>
              <a:t>Bancos públicos y otros</a:t>
            </a:r>
            <a:endParaRPr lang="en-US" sz="1400" dirty="0"/>
          </a:p>
        </p:txBody>
      </p:sp>
      <p:sp>
        <p:nvSpPr>
          <p:cNvPr id="10" name="Panel barras"/>
          <p:cNvSpPr/>
          <p:nvPr/>
        </p:nvSpPr>
        <p:spPr>
          <a:xfrm>
            <a:off x="548640" y="2057400"/>
            <a:ext cx="11094415" cy="2743200"/>
          </a:xfrm>
          <a:prstGeom prst="roundRect">
            <a:avLst>
              <a:gd name="adj" fmla="val 5333"/>
            </a:avLst>
          </a:prstGeom>
          <a:solidFill>
            <a:schemeClr val="bg1"/>
          </a:solidFill>
          <a:ln w="12700">
            <a:solidFill>
              <a:schemeClr val="accent6"/>
            </a:solidFill>
            <a:prstDash val="solid"/>
          </a:ln>
        </p:spPr>
      </p:sp>
      <p:sp>
        <p:nvSpPr>
          <p:cNvPr id="11" name="Text 9"/>
          <p:cNvSpPr txBox="1"/>
          <p:nvPr/>
        </p:nvSpPr>
        <p:spPr>
          <a:xfrm>
            <a:off x="868680" y="2240280"/>
            <a:ext cx="8229600" cy="274320"/>
          </a:xfrm>
          <a:prstGeom prst="rect">
            <a:avLst/>
          </a:prstGeom>
          <a:noFill/>
          <a:ln/>
        </p:spPr>
        <p:txBody>
          <a:bodyPr wrap="square" lIns="0" tIns="0" rIns="0" bIns="0" rtlCol="0" anchor="ctr"/>
          <a:lstStyle/>
          <a:p>
            <a:pPr indent="0" marL="0">
              <a:buNone/>
            </a:pPr>
            <a:r>
              <a:rPr lang="en-US" sz="1500" b="1" dirty="0">
                <a:solidFill>
                  <a:schemeClr val="tx1"/>
                </a:solidFill>
              </a:rPr>
              <a:t>De cada 100 personas en mora…</a:t>
            </a:r>
            <a:endParaRPr lang="en-US" sz="1500" dirty="0"/>
          </a:p>
        </p:txBody>
      </p:sp>
      <p:sp>
        <p:nvSpPr>
          <p:cNvPr id="12" name="Shape 10"/>
          <p:cNvSpPr/>
          <p:nvPr/>
        </p:nvSpPr>
        <p:spPr>
          <a:xfrm>
            <a:off x="868680" y="2651760"/>
            <a:ext cx="4335957" cy="566928"/>
          </a:xfrm>
          <a:prstGeom prst="roundRect">
            <a:avLst>
              <a:gd name="adj" fmla="val 50000"/>
            </a:avLst>
          </a:prstGeom>
          <a:solidFill>
            <a:schemeClr val="accent2"/>
          </a:solidFill>
          <a:ln/>
        </p:spPr>
      </p:sp>
      <p:sp>
        <p:nvSpPr>
          <p:cNvPr id="13" name="Text 11"/>
          <p:cNvSpPr txBox="1"/>
          <p:nvPr/>
        </p:nvSpPr>
        <p:spPr>
          <a:xfrm>
            <a:off x="868680" y="2651760"/>
            <a:ext cx="4335957" cy="566928"/>
          </a:xfrm>
          <a:prstGeom prst="rect">
            <a:avLst/>
          </a:prstGeom>
          <a:noFill/>
          <a:ln/>
        </p:spPr>
        <p:txBody>
          <a:bodyPr wrap="square" lIns="0" tIns="0" rIns="0" bIns="0" rtlCol="0" anchor="ctr"/>
          <a:lstStyle/>
          <a:p>
            <a:pPr algn="ctr" indent="0" marL="0">
              <a:buNone/>
            </a:pPr>
            <a:r>
              <a:rPr lang="en-US" sz="1800" b="1" dirty="0">
                <a:solidFill>
                  <a:schemeClr val="tx1"/>
                </a:solidFill>
              </a:rPr>
              <a:t>42%</a:t>
            </a:r>
            <a:endParaRPr lang="en-US" sz="1800" dirty="0"/>
          </a:p>
        </p:txBody>
      </p:sp>
      <p:sp>
        <p:nvSpPr>
          <p:cNvPr id="14" name="Shape 12"/>
          <p:cNvSpPr/>
          <p:nvPr/>
        </p:nvSpPr>
        <p:spPr>
          <a:xfrm>
            <a:off x="5259501" y="2651760"/>
            <a:ext cx="2767807" cy="566928"/>
          </a:xfrm>
          <a:prstGeom prst="roundRect">
            <a:avLst>
              <a:gd name="adj" fmla="val 50000"/>
            </a:avLst>
          </a:prstGeom>
          <a:solidFill>
            <a:schemeClr val="accent3"/>
          </a:solidFill>
          <a:ln/>
        </p:spPr>
      </p:sp>
      <p:sp>
        <p:nvSpPr>
          <p:cNvPr id="15" name="Text 13"/>
          <p:cNvSpPr txBox="1"/>
          <p:nvPr/>
        </p:nvSpPr>
        <p:spPr>
          <a:xfrm>
            <a:off x="5259501" y="2651760"/>
            <a:ext cx="2767807" cy="566928"/>
          </a:xfrm>
          <a:prstGeom prst="rect">
            <a:avLst/>
          </a:prstGeom>
          <a:noFill/>
          <a:ln/>
        </p:spPr>
        <p:txBody>
          <a:bodyPr wrap="square" lIns="0" tIns="0" rIns="0" bIns="0" rtlCol="0" anchor="ctr"/>
          <a:lstStyle/>
          <a:p>
            <a:pPr algn="ctr" indent="0" marL="0">
              <a:buNone/>
            </a:pPr>
            <a:r>
              <a:rPr lang="en-US" sz="1800" b="1" dirty="0">
                <a:solidFill>
                  <a:schemeClr val="bg1"/>
                </a:solidFill>
              </a:rPr>
              <a:t>27%</a:t>
            </a:r>
            <a:endParaRPr lang="en-US" sz="1800" dirty="0"/>
          </a:p>
        </p:txBody>
      </p:sp>
      <p:sp>
        <p:nvSpPr>
          <p:cNvPr id="16" name="Shape 14"/>
          <p:cNvSpPr/>
          <p:nvPr/>
        </p:nvSpPr>
        <p:spPr>
          <a:xfrm>
            <a:off x="8082171" y="2651760"/>
            <a:ext cx="3185980" cy="566928"/>
          </a:xfrm>
          <a:prstGeom prst="roundRect">
            <a:avLst>
              <a:gd name="adj" fmla="val 50000"/>
            </a:avLst>
          </a:prstGeom>
          <a:solidFill>
            <a:schemeClr val="accent4"/>
          </a:solidFill>
          <a:ln/>
        </p:spPr>
      </p:sp>
      <p:sp>
        <p:nvSpPr>
          <p:cNvPr id="17" name="Text 15"/>
          <p:cNvSpPr txBox="1"/>
          <p:nvPr/>
        </p:nvSpPr>
        <p:spPr>
          <a:xfrm>
            <a:off x="8082171" y="2651760"/>
            <a:ext cx="3185980" cy="566928"/>
          </a:xfrm>
          <a:prstGeom prst="rect">
            <a:avLst/>
          </a:prstGeom>
          <a:noFill/>
          <a:ln/>
        </p:spPr>
        <p:txBody>
          <a:bodyPr wrap="square" lIns="0" tIns="0" rIns="0" bIns="0" rtlCol="0" anchor="ctr"/>
          <a:lstStyle/>
          <a:p>
            <a:pPr algn="ctr" indent="0" marL="0">
              <a:buNone/>
            </a:pPr>
            <a:r>
              <a:rPr lang="en-US" sz="1800" b="1" dirty="0">
                <a:solidFill>
                  <a:schemeClr val="bg1"/>
                </a:solidFill>
              </a:rPr>
              <a:t>31%</a:t>
            </a:r>
            <a:endParaRPr lang="en-US" sz="1800" dirty="0"/>
          </a:p>
        </p:txBody>
      </p:sp>
      <p:sp>
        <p:nvSpPr>
          <p:cNvPr id="18" name="Text 16"/>
          <p:cNvSpPr txBox="1"/>
          <p:nvPr/>
        </p:nvSpPr>
        <p:spPr>
          <a:xfrm>
            <a:off x="868680" y="3520440"/>
            <a:ext cx="8229600" cy="274320"/>
          </a:xfrm>
          <a:prstGeom prst="rect">
            <a:avLst/>
          </a:prstGeom>
          <a:noFill/>
          <a:ln/>
        </p:spPr>
        <p:txBody>
          <a:bodyPr wrap="square" lIns="0" tIns="0" rIns="0" bIns="0" rtlCol="0" anchor="ctr"/>
          <a:lstStyle/>
          <a:p>
            <a:pPr indent="0" marL="0">
              <a:buNone/>
            </a:pPr>
            <a:r>
              <a:rPr lang="en-US" sz="1500" b="1" dirty="0">
                <a:solidFill>
                  <a:schemeClr val="tx1"/>
                </a:solidFill>
              </a:rPr>
              <a:t>De cada 100 pesos en mora…</a:t>
            </a:r>
            <a:endParaRPr lang="en-US" sz="1500" dirty="0"/>
          </a:p>
        </p:txBody>
      </p:sp>
      <p:sp>
        <p:nvSpPr>
          <p:cNvPr id="19" name="Shape 17"/>
          <p:cNvSpPr/>
          <p:nvPr/>
        </p:nvSpPr>
        <p:spPr>
          <a:xfrm>
            <a:off x="868680" y="3931920"/>
            <a:ext cx="1095113" cy="566928"/>
          </a:xfrm>
          <a:prstGeom prst="roundRect">
            <a:avLst>
              <a:gd name="adj" fmla="val 50000"/>
            </a:avLst>
          </a:prstGeom>
          <a:solidFill>
            <a:schemeClr val="accent2"/>
          </a:solidFill>
          <a:ln/>
        </p:spPr>
      </p:sp>
      <p:sp>
        <p:nvSpPr>
          <p:cNvPr id="20" name="Text 18"/>
          <p:cNvSpPr txBox="1"/>
          <p:nvPr/>
        </p:nvSpPr>
        <p:spPr>
          <a:xfrm>
            <a:off x="868680" y="3931920"/>
            <a:ext cx="1095113" cy="566928"/>
          </a:xfrm>
          <a:prstGeom prst="rect">
            <a:avLst/>
          </a:prstGeom>
          <a:noFill/>
          <a:ln/>
        </p:spPr>
        <p:txBody>
          <a:bodyPr wrap="square" lIns="0" tIns="0" rIns="0" bIns="0" rtlCol="0" anchor="ctr"/>
          <a:lstStyle/>
          <a:p>
            <a:pPr algn="ctr" indent="0" marL="0">
              <a:buNone/>
            </a:pPr>
            <a:r>
              <a:rPr lang="en-US" sz="1800" b="1" dirty="0">
                <a:solidFill>
                  <a:schemeClr val="tx1"/>
                </a:solidFill>
              </a:rPr>
              <a:t>11%</a:t>
            </a:r>
            <a:endParaRPr lang="en-US" sz="1800" dirty="0"/>
          </a:p>
        </p:txBody>
      </p:sp>
      <p:sp>
        <p:nvSpPr>
          <p:cNvPr id="21" name="Shape 19"/>
          <p:cNvSpPr/>
          <p:nvPr/>
        </p:nvSpPr>
        <p:spPr>
          <a:xfrm>
            <a:off x="2018657" y="3931920"/>
            <a:ext cx="4649587" cy="566928"/>
          </a:xfrm>
          <a:prstGeom prst="roundRect">
            <a:avLst>
              <a:gd name="adj" fmla="val 50000"/>
            </a:avLst>
          </a:prstGeom>
          <a:solidFill>
            <a:schemeClr val="accent3"/>
          </a:solidFill>
          <a:ln/>
        </p:spPr>
      </p:sp>
      <p:sp>
        <p:nvSpPr>
          <p:cNvPr id="22" name="Text 20"/>
          <p:cNvSpPr txBox="1"/>
          <p:nvPr/>
        </p:nvSpPr>
        <p:spPr>
          <a:xfrm>
            <a:off x="2018657" y="3931920"/>
            <a:ext cx="4649587" cy="566928"/>
          </a:xfrm>
          <a:prstGeom prst="rect">
            <a:avLst/>
          </a:prstGeom>
          <a:noFill/>
          <a:ln/>
        </p:spPr>
        <p:txBody>
          <a:bodyPr wrap="square" lIns="0" tIns="0" rIns="0" bIns="0" rtlCol="0" anchor="ctr"/>
          <a:lstStyle/>
          <a:p>
            <a:pPr algn="ctr" indent="0" marL="0">
              <a:buNone/>
            </a:pPr>
            <a:r>
              <a:rPr lang="en-US" sz="1800" b="1" dirty="0">
                <a:solidFill>
                  <a:schemeClr val="bg1"/>
                </a:solidFill>
              </a:rPr>
              <a:t>45%</a:t>
            </a:r>
            <a:endParaRPr lang="en-US" sz="1800" dirty="0"/>
          </a:p>
        </p:txBody>
      </p:sp>
      <p:sp>
        <p:nvSpPr>
          <p:cNvPr id="23" name="Shape 21"/>
          <p:cNvSpPr/>
          <p:nvPr/>
        </p:nvSpPr>
        <p:spPr>
          <a:xfrm>
            <a:off x="6723108" y="3931920"/>
            <a:ext cx="4545043" cy="566928"/>
          </a:xfrm>
          <a:prstGeom prst="roundRect">
            <a:avLst>
              <a:gd name="adj" fmla="val 50000"/>
            </a:avLst>
          </a:prstGeom>
          <a:solidFill>
            <a:schemeClr val="accent4"/>
          </a:solidFill>
          <a:ln/>
        </p:spPr>
      </p:sp>
      <p:sp>
        <p:nvSpPr>
          <p:cNvPr id="24" name="Text 22"/>
          <p:cNvSpPr txBox="1"/>
          <p:nvPr/>
        </p:nvSpPr>
        <p:spPr>
          <a:xfrm>
            <a:off x="6723108" y="3931920"/>
            <a:ext cx="4545043" cy="566928"/>
          </a:xfrm>
          <a:prstGeom prst="rect">
            <a:avLst/>
          </a:prstGeom>
          <a:noFill/>
          <a:ln/>
        </p:spPr>
        <p:txBody>
          <a:bodyPr wrap="square" lIns="0" tIns="0" rIns="0" bIns="0" rtlCol="0" anchor="ctr"/>
          <a:lstStyle/>
          <a:p>
            <a:pPr algn="ctr" indent="0" marL="0">
              <a:buNone/>
            </a:pPr>
            <a:r>
              <a:rPr lang="en-US" sz="1800" b="1" dirty="0">
                <a:solidFill>
                  <a:schemeClr val="bg1"/>
                </a:solidFill>
              </a:rPr>
              <a:t>44%</a:t>
            </a:r>
            <a:endParaRPr lang="en-US" sz="1800" dirty="0"/>
          </a:p>
        </p:txBody>
      </p:sp>
      <p:sp>
        <p:nvSpPr>
          <p:cNvPr id="25" name="Ejemplo"/>
          <p:cNvSpPr/>
          <p:nvPr/>
        </p:nvSpPr>
        <p:spPr>
          <a:xfrm>
            <a:off x="548640" y="4956048"/>
            <a:ext cx="5410048" cy="914400"/>
          </a:xfrm>
          <a:prstGeom prst="roundRect">
            <a:avLst>
              <a:gd name="adj" fmla="val 10000"/>
            </a:avLst>
          </a:prstGeom>
          <a:solidFill>
            <a:schemeClr val="bg1"/>
          </a:solidFill>
          <a:ln w="12700">
            <a:solidFill>
              <a:schemeClr val="accent6"/>
            </a:solidFill>
            <a:prstDash val="solid"/>
          </a:ln>
        </p:spPr>
      </p:sp>
      <p:sp>
        <p:nvSpPr>
          <p:cNvPr id="26" name="Text 24"/>
          <p:cNvSpPr txBox="1"/>
          <p:nvPr/>
        </p:nvSpPr>
        <p:spPr>
          <a:xfrm>
            <a:off x="731520" y="5065776"/>
            <a:ext cx="5044288" cy="694944"/>
          </a:xfrm>
          <a:prstGeom prst="rect">
            <a:avLst/>
          </a:prstGeom>
          <a:noFill/>
          <a:ln/>
        </p:spPr>
        <p:txBody>
          <a:bodyPr wrap="square" lIns="0" tIns="0" rIns="0" bIns="0" rtlCol="0" anchor="ctr"/>
          <a:lstStyle/>
          <a:p>
            <a:pPr indent="0" marL="0">
              <a:buNone/>
            </a:pPr>
            <a:r>
              <a:rPr lang="en-US" sz="1400" b="1" dirty="0">
                <a:solidFill>
                  <a:schemeClr val="tx1"/>
                </a:solidFill>
              </a:rPr>
              <a:t>Tasa de mora: </a:t>
            </a:r>
            <a:pPr indent="0" marL="0">
              <a:buNone/>
            </a:pPr>
            <a:r>
              <a:rPr lang="en-US" sz="1400" dirty="0">
                <a:solidFill>
                  <a:schemeClr val="tx2"/>
                </a:solidFill>
              </a:rPr>
              <a:t>31% de lo prestado por billeteras y fintech, contra 15% en bancos y financieras.</a:t>
            </a:r>
            <a:endParaRPr lang="en-US" sz="1400" dirty="0"/>
          </a:p>
        </p:txBody>
      </p:sp>
      <p:sp>
        <p:nvSpPr>
          <p:cNvPr id="27" name="Ejemplo"/>
          <p:cNvSpPr/>
          <p:nvPr/>
        </p:nvSpPr>
        <p:spPr>
          <a:xfrm>
            <a:off x="6233008" y="4956048"/>
            <a:ext cx="5410048" cy="914400"/>
          </a:xfrm>
          <a:prstGeom prst="roundRect">
            <a:avLst>
              <a:gd name="adj" fmla="val 10000"/>
            </a:avLst>
          </a:prstGeom>
          <a:solidFill>
            <a:schemeClr val="bg1"/>
          </a:solidFill>
          <a:ln w="12700">
            <a:solidFill>
              <a:schemeClr val="accent6"/>
            </a:solidFill>
            <a:prstDash val="solid"/>
          </a:ln>
        </p:spPr>
      </p:sp>
      <p:sp>
        <p:nvSpPr>
          <p:cNvPr id="28" name="Text 26"/>
          <p:cNvSpPr txBox="1"/>
          <p:nvPr/>
        </p:nvSpPr>
        <p:spPr>
          <a:xfrm>
            <a:off x="6415888" y="5065776"/>
            <a:ext cx="5044288" cy="694944"/>
          </a:xfrm>
          <a:prstGeom prst="rect">
            <a:avLst/>
          </a:prstGeom>
          <a:noFill/>
          <a:ln/>
        </p:spPr>
        <p:txBody>
          <a:bodyPr wrap="square" lIns="0" tIns="0" rIns="0" bIns="0" rtlCol="0" anchor="ctr"/>
          <a:lstStyle/>
          <a:p>
            <a:pPr indent="0" marL="0">
              <a:buNone/>
            </a:pPr>
            <a:r>
              <a:rPr lang="en-US" sz="1400" b="1" dirty="0">
                <a:solidFill>
                  <a:schemeClr val="tx1"/>
                </a:solidFill>
              </a:rPr>
              <a:t>Deuda típica en mora: </a:t>
            </a:r>
            <a:pPr indent="0" marL="0">
              <a:buNone/>
            </a:pPr>
            <a:r>
              <a:rPr lang="en-US" sz="1400" dirty="0">
                <a:solidFill>
                  <a:schemeClr val="tx2"/>
                </a:solidFill>
              </a:rPr>
              <a:t>$116.000 en Mercado Pago, contra $1.458.000 en bancos privados.</a:t>
            </a:r>
            <a:endParaRPr lang="en-US" sz="1400" dirty="0"/>
          </a:p>
        </p:txBody>
      </p:sp>
      <p:sp>
        <p:nvSpPr>
          <p:cNvPr id="29" name="Fuente"/>
          <p:cNvSpPr txBox="1"/>
          <p:nvPr/>
        </p:nvSpPr>
        <p:spPr>
          <a:xfrm>
            <a:off x="548640" y="6035040"/>
            <a:ext cx="11094415" cy="237744"/>
          </a:xfrm>
          <a:prstGeom prst="rect">
            <a:avLst/>
          </a:prstGeom>
          <a:noFill/>
          <a:ln/>
        </p:spPr>
        <p:txBody>
          <a:bodyPr wrap="square" lIns="0" tIns="0" rIns="0" bIns="0" rtlCol="0" anchor="ctr"/>
          <a:lstStyle/>
          <a:p>
            <a:pPr indent="0" marL="0">
              <a:buNone/>
            </a:pPr>
            <a:r>
              <a:rPr lang="en-US" sz="1000" dirty="0">
                <a:solidFill>
                  <a:schemeClr val="accent5"/>
                </a:solidFill>
              </a:rPr>
              <a:t>Fuentes: Mati Fernández (Central de Deudores, BCRA) y EcoGo-Austral, junio de 2026. Billeteras y fintech: Mercado Pago y prestamistas no bancarios. Deuda típica = mediana.</a:t>
            </a:r>
            <a:endParaRPr lang="en-US" sz="10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9144000" cy="274320"/>
          </a:xfrm>
          <a:prstGeom prst="rect">
            <a:avLst/>
          </a:prstGeom>
          <a:noFill/>
          <a:ln/>
        </p:spPr>
        <p:txBody>
          <a:bodyPr wrap="square" lIns="0" tIns="0" rIns="0" bIns="0" rtlCol="0" anchor="ctr"/>
          <a:lstStyle/>
          <a:p>
            <a:pPr algn="l" indent="0" marL="0">
              <a:buNone/>
            </a:pPr>
            <a:r>
              <a:rPr lang="en-US" sz="1200" b="1" spc="150" kern="0" dirty="0">
                <a:solidFill>
                  <a:schemeClr val="accent3"/>
                </a:solidFill>
              </a:rPr>
              <a:t>EN CUATRO NÚMEROS</a:t>
            </a:r>
            <a:endParaRPr lang="en-US" sz="1200" dirty="0"/>
          </a:p>
        </p:txBody>
      </p:sp>
      <p:sp>
        <p:nvSpPr>
          <p:cNvPr id="3" name="Text 1"/>
          <p:cNvSpPr/>
          <p:nvPr>
            <p:ph idx="102" type="title" hasCustomPrompt="1"/>
          </p:nvPr>
        </p:nvSpPr>
        <p:spPr>
          <a:xfrm>
            <a:off x="548640" y="749808"/>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Cuatro claves, una detrás de otra</a:t>
            </a:r>
            <a:endParaRPr lang="en-US" sz="3200" dirty="0"/>
          </a:p>
        </p:txBody>
      </p:sp>
      <p:sp>
        <p:nvSpPr>
          <p:cNvPr id="4" name="Clave Ingresos"/>
          <p:cNvSpPr/>
          <p:nvPr/>
        </p:nvSpPr>
        <p:spPr>
          <a:xfrm>
            <a:off x="548640" y="1783080"/>
            <a:ext cx="2567864" cy="4023360"/>
          </a:xfrm>
          <a:prstGeom prst="roundRect">
            <a:avLst>
              <a:gd name="adj" fmla="val 5697"/>
            </a:avLst>
          </a:prstGeom>
          <a:solidFill>
            <a:schemeClr val="bg1"/>
          </a:solidFill>
          <a:ln w="12700">
            <a:solidFill>
              <a:schemeClr val="accent6"/>
            </a:solidFill>
            <a:prstDash val="solid"/>
          </a:ln>
        </p:spPr>
      </p:sp>
      <p:sp>
        <p:nvSpPr>
          <p:cNvPr id="5" name="Shape 3"/>
          <p:cNvSpPr/>
          <p:nvPr/>
        </p:nvSpPr>
        <p:spPr>
          <a:xfrm>
            <a:off x="886968" y="2075688"/>
            <a:ext cx="274320" cy="274320"/>
          </a:xfrm>
          <a:prstGeom prst="ellipse">
            <a:avLst/>
          </a:prstGeom>
          <a:solidFill>
            <a:schemeClr val="accent3"/>
          </a:solidFill>
          <a:ln/>
        </p:spPr>
      </p:sp>
      <p:sp>
        <p:nvSpPr>
          <p:cNvPr id="6" name="Text 4"/>
          <p:cNvSpPr txBox="1"/>
          <p:nvPr/>
        </p:nvSpPr>
        <p:spPr>
          <a:xfrm>
            <a:off x="1280160" y="2029968"/>
            <a:ext cx="1653464" cy="365760"/>
          </a:xfrm>
          <a:prstGeom prst="rect">
            <a:avLst/>
          </a:prstGeom>
          <a:noFill/>
          <a:ln/>
        </p:spPr>
        <p:txBody>
          <a:bodyPr wrap="square" lIns="0" tIns="0" rIns="0" bIns="0" rtlCol="0" anchor="ctr"/>
          <a:lstStyle/>
          <a:p>
            <a:pPr indent="0" marL="0">
              <a:buNone/>
            </a:pPr>
            <a:r>
              <a:rPr lang="en-US" sz="2000" b="1" dirty="0">
                <a:solidFill>
                  <a:schemeClr val="tx1"/>
                </a:solidFill>
              </a:rPr>
              <a:t>Ingresos</a:t>
            </a:r>
            <a:endParaRPr lang="en-US" sz="2000" dirty="0"/>
          </a:p>
        </p:txBody>
      </p:sp>
      <p:sp>
        <p:nvSpPr>
          <p:cNvPr id="7" name="Text 5"/>
          <p:cNvSpPr txBox="1"/>
          <p:nvPr/>
        </p:nvSpPr>
        <p:spPr>
          <a:xfrm>
            <a:off x="822960" y="2560320"/>
            <a:ext cx="2019224" cy="685800"/>
          </a:xfrm>
          <a:prstGeom prst="rect">
            <a:avLst/>
          </a:prstGeom>
          <a:noFill/>
          <a:ln/>
        </p:spPr>
        <p:txBody>
          <a:bodyPr wrap="square" lIns="0" tIns="0" rIns="0" bIns="0" rtlCol="0" anchor="t"/>
          <a:lstStyle/>
          <a:p>
            <a:pPr indent="0" marL="0">
              <a:buNone/>
            </a:pPr>
            <a:r>
              <a:rPr lang="en-US" sz="1500" i="1" dirty="0">
                <a:solidFill>
                  <a:schemeClr val="tx2"/>
                </a:solidFill>
              </a:rPr>
              <a:t>¿Alcanza la plata a fin de mes?</a:t>
            </a:r>
            <a:endParaRPr lang="en-US" sz="1500" dirty="0"/>
          </a:p>
        </p:txBody>
      </p:sp>
      <p:sp>
        <p:nvSpPr>
          <p:cNvPr id="8" name="Text 6"/>
          <p:cNvSpPr txBox="1"/>
          <p:nvPr/>
        </p:nvSpPr>
        <p:spPr>
          <a:xfrm>
            <a:off x="822960" y="3383280"/>
            <a:ext cx="2019224" cy="777240"/>
          </a:xfrm>
          <a:prstGeom prst="rect">
            <a:avLst/>
          </a:prstGeom>
          <a:noFill/>
          <a:ln/>
        </p:spPr>
        <p:txBody>
          <a:bodyPr wrap="square" lIns="0" tIns="0" rIns="0" bIns="0" rtlCol="0" anchor="ctr">
            <a:normAutofit/>
          </a:bodyPr>
          <a:lstStyle/>
          <a:p>
            <a:pPr indent="0" marL="0">
              <a:buNone/>
            </a:pPr>
            <a:r>
              <a:rPr lang="en-US" sz="4000" b="1" dirty="0">
                <a:solidFill>
                  <a:schemeClr val="tx1"/>
                </a:solidFill>
              </a:rPr>
              <a:t>−16,5%</a:t>
            </a:r>
            <a:endParaRPr lang="en-US" sz="4000" dirty="0"/>
          </a:p>
        </p:txBody>
      </p:sp>
      <p:sp>
        <p:nvSpPr>
          <p:cNvPr id="9" name="Text 7"/>
          <p:cNvSpPr txBox="1"/>
          <p:nvPr/>
        </p:nvSpPr>
        <p:spPr>
          <a:xfrm>
            <a:off x="822960" y="4251960"/>
            <a:ext cx="2019224" cy="1280160"/>
          </a:xfrm>
          <a:prstGeom prst="rect">
            <a:avLst/>
          </a:prstGeom>
          <a:noFill/>
          <a:ln/>
        </p:spPr>
        <p:txBody>
          <a:bodyPr wrap="square" lIns="0" tIns="0" rIns="0" bIns="0" rtlCol="0" anchor="t"/>
          <a:lstStyle/>
          <a:p>
            <a:pPr indent="0" marL="0">
              <a:buNone/>
            </a:pPr>
            <a:r>
              <a:rPr lang="en-US" sz="1500" dirty="0">
                <a:solidFill>
                  <a:schemeClr val="tx2"/>
                </a:solidFill>
              </a:rPr>
              <a:t>cayó el ingreso disponible entre 2023 y mayo de 2026.</a:t>
            </a:r>
            <a:endParaRPr lang="en-US" sz="1500" dirty="0"/>
          </a:p>
        </p:txBody>
      </p:sp>
      <p:sp>
        <p:nvSpPr>
          <p:cNvPr id="10" name="Clave Crédito"/>
          <p:cNvSpPr/>
          <p:nvPr/>
        </p:nvSpPr>
        <p:spPr>
          <a:xfrm>
            <a:off x="3390824" y="1783080"/>
            <a:ext cx="2567864" cy="4023360"/>
          </a:xfrm>
          <a:prstGeom prst="roundRect">
            <a:avLst>
              <a:gd name="adj" fmla="val 5697"/>
            </a:avLst>
          </a:prstGeom>
          <a:solidFill>
            <a:schemeClr val="bg1"/>
          </a:solidFill>
          <a:ln w="12700">
            <a:solidFill>
              <a:schemeClr val="accent6"/>
            </a:solidFill>
            <a:prstDash val="solid"/>
          </a:ln>
        </p:spPr>
      </p:sp>
      <p:sp>
        <p:nvSpPr>
          <p:cNvPr id="11" name="Shape 9"/>
          <p:cNvSpPr/>
          <p:nvPr/>
        </p:nvSpPr>
        <p:spPr>
          <a:xfrm>
            <a:off x="3729152" y="2075688"/>
            <a:ext cx="274320" cy="274320"/>
          </a:xfrm>
          <a:prstGeom prst="ellipse">
            <a:avLst/>
          </a:prstGeom>
          <a:solidFill>
            <a:schemeClr val="accent2"/>
          </a:solidFill>
          <a:ln/>
        </p:spPr>
      </p:sp>
      <p:sp>
        <p:nvSpPr>
          <p:cNvPr id="12" name="Text 10"/>
          <p:cNvSpPr txBox="1"/>
          <p:nvPr/>
        </p:nvSpPr>
        <p:spPr>
          <a:xfrm>
            <a:off x="4122344" y="2029968"/>
            <a:ext cx="1653464" cy="365760"/>
          </a:xfrm>
          <a:prstGeom prst="rect">
            <a:avLst/>
          </a:prstGeom>
          <a:noFill/>
          <a:ln/>
        </p:spPr>
        <p:txBody>
          <a:bodyPr wrap="square" lIns="0" tIns="0" rIns="0" bIns="0" rtlCol="0" anchor="ctr"/>
          <a:lstStyle/>
          <a:p>
            <a:pPr indent="0" marL="0">
              <a:buNone/>
            </a:pPr>
            <a:r>
              <a:rPr lang="en-US" sz="2000" b="1" dirty="0">
                <a:solidFill>
                  <a:schemeClr val="tx1"/>
                </a:solidFill>
              </a:rPr>
              <a:t>Crédito</a:t>
            </a:r>
            <a:endParaRPr lang="en-US" sz="2000" dirty="0"/>
          </a:p>
        </p:txBody>
      </p:sp>
      <p:sp>
        <p:nvSpPr>
          <p:cNvPr id="13" name="Text 11"/>
          <p:cNvSpPr txBox="1"/>
          <p:nvPr/>
        </p:nvSpPr>
        <p:spPr>
          <a:xfrm>
            <a:off x="3665144" y="2560320"/>
            <a:ext cx="2019224" cy="685800"/>
          </a:xfrm>
          <a:prstGeom prst="rect">
            <a:avLst/>
          </a:prstGeom>
          <a:noFill/>
          <a:ln/>
        </p:spPr>
        <p:txBody>
          <a:bodyPr wrap="square" lIns="0" tIns="0" rIns="0" bIns="0" rtlCol="0" anchor="t"/>
          <a:lstStyle/>
          <a:p>
            <a:pPr indent="0" marL="0">
              <a:buNone/>
            </a:pPr>
            <a:r>
              <a:rPr lang="en-US" sz="1500" i="1" dirty="0">
                <a:solidFill>
                  <a:schemeClr val="tx2"/>
                </a:solidFill>
              </a:rPr>
              <a:t>¿Cómo se tapó el agujero?</a:t>
            </a:r>
            <a:endParaRPr lang="en-US" sz="1500" dirty="0"/>
          </a:p>
        </p:txBody>
      </p:sp>
      <p:sp>
        <p:nvSpPr>
          <p:cNvPr id="14" name="Text 12"/>
          <p:cNvSpPr txBox="1"/>
          <p:nvPr/>
        </p:nvSpPr>
        <p:spPr>
          <a:xfrm>
            <a:off x="3665144" y="3383280"/>
            <a:ext cx="2019224" cy="777240"/>
          </a:xfrm>
          <a:prstGeom prst="rect">
            <a:avLst/>
          </a:prstGeom>
          <a:noFill/>
          <a:ln/>
        </p:spPr>
        <p:txBody>
          <a:bodyPr wrap="square" lIns="0" tIns="0" rIns="0" bIns="0" rtlCol="0" anchor="ctr">
            <a:normAutofit/>
          </a:bodyPr>
          <a:lstStyle/>
          <a:p>
            <a:pPr indent="0" marL="0">
              <a:buNone/>
            </a:pPr>
            <a:r>
              <a:rPr lang="en-US" sz="4000" b="1" dirty="0">
                <a:solidFill>
                  <a:schemeClr val="tx1"/>
                </a:solidFill>
              </a:rPr>
              <a:t>+58%</a:t>
            </a:r>
            <a:endParaRPr lang="en-US" sz="4000" dirty="0"/>
          </a:p>
        </p:txBody>
      </p:sp>
      <p:sp>
        <p:nvSpPr>
          <p:cNvPr id="15" name="Text 13"/>
          <p:cNvSpPr txBox="1"/>
          <p:nvPr/>
        </p:nvSpPr>
        <p:spPr>
          <a:xfrm>
            <a:off x="3665144" y="4251960"/>
            <a:ext cx="2019224" cy="1280160"/>
          </a:xfrm>
          <a:prstGeom prst="rect">
            <a:avLst/>
          </a:prstGeom>
          <a:noFill/>
          <a:ln/>
        </p:spPr>
        <p:txBody>
          <a:bodyPr wrap="square" lIns="0" tIns="0" rIns="0" bIns="0" rtlCol="0" anchor="t"/>
          <a:lstStyle/>
          <a:p>
            <a:pPr indent="0" marL="0">
              <a:buNone/>
            </a:pPr>
            <a:r>
              <a:rPr lang="en-US" sz="1500" dirty="0">
                <a:solidFill>
                  <a:schemeClr val="tx2"/>
                </a:solidFill>
              </a:rPr>
              <a:t>creció el crédito a las familias en 2024, por encima de la inflación.</a:t>
            </a:r>
            <a:endParaRPr lang="en-US" sz="1500" dirty="0"/>
          </a:p>
        </p:txBody>
      </p:sp>
      <p:sp>
        <p:nvSpPr>
          <p:cNvPr id="16" name="Clave Tasas"/>
          <p:cNvSpPr/>
          <p:nvPr/>
        </p:nvSpPr>
        <p:spPr>
          <a:xfrm>
            <a:off x="6233008" y="1783080"/>
            <a:ext cx="2567864" cy="4023360"/>
          </a:xfrm>
          <a:prstGeom prst="roundRect">
            <a:avLst>
              <a:gd name="adj" fmla="val 5697"/>
            </a:avLst>
          </a:prstGeom>
          <a:solidFill>
            <a:schemeClr val="bg1"/>
          </a:solidFill>
          <a:ln w="12700">
            <a:solidFill>
              <a:schemeClr val="accent6"/>
            </a:solidFill>
            <a:prstDash val="solid"/>
          </a:ln>
        </p:spPr>
      </p:sp>
      <p:sp>
        <p:nvSpPr>
          <p:cNvPr id="17" name="Shape 15"/>
          <p:cNvSpPr/>
          <p:nvPr/>
        </p:nvSpPr>
        <p:spPr>
          <a:xfrm>
            <a:off x="6571336" y="2075688"/>
            <a:ext cx="274320" cy="274320"/>
          </a:xfrm>
          <a:prstGeom prst="ellipse">
            <a:avLst/>
          </a:prstGeom>
          <a:solidFill>
            <a:schemeClr val="accent1"/>
          </a:solidFill>
          <a:ln/>
        </p:spPr>
      </p:sp>
      <p:sp>
        <p:nvSpPr>
          <p:cNvPr id="18" name="Text 16"/>
          <p:cNvSpPr txBox="1"/>
          <p:nvPr/>
        </p:nvSpPr>
        <p:spPr>
          <a:xfrm>
            <a:off x="6964528" y="2029968"/>
            <a:ext cx="1653464" cy="365760"/>
          </a:xfrm>
          <a:prstGeom prst="rect">
            <a:avLst/>
          </a:prstGeom>
          <a:noFill/>
          <a:ln/>
        </p:spPr>
        <p:txBody>
          <a:bodyPr wrap="square" lIns="0" tIns="0" rIns="0" bIns="0" rtlCol="0" anchor="ctr"/>
          <a:lstStyle/>
          <a:p>
            <a:pPr indent="0" marL="0">
              <a:buNone/>
            </a:pPr>
            <a:r>
              <a:rPr lang="en-US" sz="2000" b="1" dirty="0">
                <a:solidFill>
                  <a:schemeClr val="tx1"/>
                </a:solidFill>
              </a:rPr>
              <a:t>Tasas</a:t>
            </a:r>
            <a:endParaRPr lang="en-US" sz="2000" dirty="0"/>
          </a:p>
        </p:txBody>
      </p:sp>
      <p:sp>
        <p:nvSpPr>
          <p:cNvPr id="19" name="Text 17"/>
          <p:cNvSpPr txBox="1"/>
          <p:nvPr/>
        </p:nvSpPr>
        <p:spPr>
          <a:xfrm>
            <a:off x="6507328" y="2560320"/>
            <a:ext cx="2019224" cy="685800"/>
          </a:xfrm>
          <a:prstGeom prst="rect">
            <a:avLst/>
          </a:prstGeom>
          <a:noFill/>
          <a:ln/>
        </p:spPr>
        <p:txBody>
          <a:bodyPr wrap="square" lIns="0" tIns="0" rIns="0" bIns="0" rtlCol="0" anchor="t"/>
          <a:lstStyle/>
          <a:p>
            <a:pPr indent="0" marL="0">
              <a:buNone/>
            </a:pPr>
            <a:r>
              <a:rPr lang="en-US" sz="1500" i="1" dirty="0">
                <a:solidFill>
                  <a:schemeClr val="tx2"/>
                </a:solidFill>
              </a:rPr>
              <a:t>¿Por qué se encareció la deuda?</a:t>
            </a:r>
            <a:endParaRPr lang="en-US" sz="1500" dirty="0"/>
          </a:p>
        </p:txBody>
      </p:sp>
      <p:sp>
        <p:nvSpPr>
          <p:cNvPr id="20" name="Text 18"/>
          <p:cNvSpPr txBox="1"/>
          <p:nvPr/>
        </p:nvSpPr>
        <p:spPr>
          <a:xfrm>
            <a:off x="6507328" y="3383280"/>
            <a:ext cx="2019224" cy="777240"/>
          </a:xfrm>
          <a:prstGeom prst="rect">
            <a:avLst/>
          </a:prstGeom>
          <a:noFill/>
          <a:ln/>
        </p:spPr>
        <p:txBody>
          <a:bodyPr wrap="square" lIns="0" tIns="0" rIns="0" bIns="0" rtlCol="0" anchor="ctr">
            <a:normAutofit/>
          </a:bodyPr>
          <a:lstStyle/>
          <a:p>
            <a:pPr indent="0" marL="0">
              <a:buNone/>
            </a:pPr>
            <a:r>
              <a:rPr lang="en-US" sz="4000" b="1" dirty="0">
                <a:solidFill>
                  <a:schemeClr val="tx1"/>
                </a:solidFill>
              </a:rPr>
              <a:t>32→60%</a:t>
            </a:r>
            <a:endParaRPr lang="en-US" sz="4000" dirty="0"/>
          </a:p>
        </p:txBody>
      </p:sp>
      <p:sp>
        <p:nvSpPr>
          <p:cNvPr id="21" name="Text 19"/>
          <p:cNvSpPr txBox="1"/>
          <p:nvPr/>
        </p:nvSpPr>
        <p:spPr>
          <a:xfrm>
            <a:off x="6507328" y="4251960"/>
            <a:ext cx="2019224" cy="1280160"/>
          </a:xfrm>
          <a:prstGeom prst="rect">
            <a:avLst/>
          </a:prstGeom>
          <a:noFill/>
          <a:ln/>
        </p:spPr>
        <p:txBody>
          <a:bodyPr wrap="square" lIns="0" tIns="0" rIns="0" bIns="0" rtlCol="0" anchor="t"/>
          <a:lstStyle/>
          <a:p>
            <a:pPr indent="0" marL="0">
              <a:buNone/>
            </a:pPr>
            <a:r>
              <a:rPr lang="en-US" sz="1500" dirty="0">
                <a:solidFill>
                  <a:schemeClr val="tx2"/>
                </a:solidFill>
              </a:rPr>
              <a:t>saltó la BADLAR nominal entre julio y agosto de 2025.</a:t>
            </a:r>
            <a:endParaRPr lang="en-US" sz="1500" dirty="0"/>
          </a:p>
        </p:txBody>
      </p:sp>
      <p:sp>
        <p:nvSpPr>
          <p:cNvPr id="22" name="Clave Mora"/>
          <p:cNvSpPr/>
          <p:nvPr/>
        </p:nvSpPr>
        <p:spPr>
          <a:xfrm>
            <a:off x="9075191" y="1783080"/>
            <a:ext cx="2567864" cy="4023360"/>
          </a:xfrm>
          <a:prstGeom prst="roundRect">
            <a:avLst>
              <a:gd name="adj" fmla="val 5697"/>
            </a:avLst>
          </a:prstGeom>
          <a:solidFill>
            <a:schemeClr val="bg1"/>
          </a:solidFill>
          <a:ln w="12700">
            <a:solidFill>
              <a:schemeClr val="accent6"/>
            </a:solidFill>
            <a:prstDash val="solid"/>
          </a:ln>
        </p:spPr>
      </p:sp>
      <p:sp>
        <p:nvSpPr>
          <p:cNvPr id="23" name="Shape 21"/>
          <p:cNvSpPr/>
          <p:nvPr/>
        </p:nvSpPr>
        <p:spPr>
          <a:xfrm>
            <a:off x="9413519" y="2075688"/>
            <a:ext cx="274320" cy="274320"/>
          </a:xfrm>
          <a:prstGeom prst="ellipse">
            <a:avLst/>
          </a:prstGeom>
          <a:solidFill>
            <a:schemeClr val="tx1"/>
          </a:solidFill>
          <a:ln/>
        </p:spPr>
      </p:sp>
      <p:sp>
        <p:nvSpPr>
          <p:cNvPr id="24" name="Text 22"/>
          <p:cNvSpPr txBox="1"/>
          <p:nvPr/>
        </p:nvSpPr>
        <p:spPr>
          <a:xfrm>
            <a:off x="9806711" y="2029968"/>
            <a:ext cx="1653464" cy="365760"/>
          </a:xfrm>
          <a:prstGeom prst="rect">
            <a:avLst/>
          </a:prstGeom>
          <a:noFill/>
          <a:ln/>
        </p:spPr>
        <p:txBody>
          <a:bodyPr wrap="square" lIns="0" tIns="0" rIns="0" bIns="0" rtlCol="0" anchor="ctr"/>
          <a:lstStyle/>
          <a:p>
            <a:pPr indent="0" marL="0">
              <a:buNone/>
            </a:pPr>
            <a:r>
              <a:rPr lang="en-US" sz="2000" b="1" dirty="0">
                <a:solidFill>
                  <a:schemeClr val="tx1"/>
                </a:solidFill>
              </a:rPr>
              <a:t>Mora</a:t>
            </a:r>
            <a:endParaRPr lang="en-US" sz="2000" dirty="0"/>
          </a:p>
        </p:txBody>
      </p:sp>
      <p:sp>
        <p:nvSpPr>
          <p:cNvPr id="25" name="Text 23"/>
          <p:cNvSpPr txBox="1"/>
          <p:nvPr/>
        </p:nvSpPr>
        <p:spPr>
          <a:xfrm>
            <a:off x="9349511" y="2560320"/>
            <a:ext cx="2019224" cy="685800"/>
          </a:xfrm>
          <a:prstGeom prst="rect">
            <a:avLst/>
          </a:prstGeom>
          <a:noFill/>
          <a:ln/>
        </p:spPr>
        <p:txBody>
          <a:bodyPr wrap="square" lIns="0" tIns="0" rIns="0" bIns="0" rtlCol="0" anchor="t"/>
          <a:lstStyle/>
          <a:p>
            <a:pPr indent="0" marL="0">
              <a:buNone/>
            </a:pPr>
            <a:r>
              <a:rPr lang="en-US" sz="1500" i="1" dirty="0">
                <a:solidFill>
                  <a:schemeClr val="tx2"/>
                </a:solidFill>
              </a:rPr>
              <a:t>¿Cuántos no pueden pagar?</a:t>
            </a:r>
            <a:endParaRPr lang="en-US" sz="1500" dirty="0"/>
          </a:p>
        </p:txBody>
      </p:sp>
      <p:sp>
        <p:nvSpPr>
          <p:cNvPr id="26" name="Text 24"/>
          <p:cNvSpPr txBox="1"/>
          <p:nvPr/>
        </p:nvSpPr>
        <p:spPr>
          <a:xfrm>
            <a:off x="9349511" y="3383280"/>
            <a:ext cx="2019224" cy="777240"/>
          </a:xfrm>
          <a:prstGeom prst="rect">
            <a:avLst/>
          </a:prstGeom>
          <a:noFill/>
          <a:ln/>
        </p:spPr>
        <p:txBody>
          <a:bodyPr wrap="square" lIns="0" tIns="0" rIns="0" bIns="0" rtlCol="0" anchor="ctr">
            <a:normAutofit/>
          </a:bodyPr>
          <a:lstStyle/>
          <a:p>
            <a:pPr indent="0" marL="0">
              <a:buNone/>
            </a:pPr>
            <a:r>
              <a:rPr lang="en-US" sz="4000" b="1" dirty="0">
                <a:solidFill>
                  <a:schemeClr val="tx1"/>
                </a:solidFill>
              </a:rPr>
              <a:t>17,5%</a:t>
            </a:r>
            <a:endParaRPr lang="en-US" sz="4000" dirty="0"/>
          </a:p>
        </p:txBody>
      </p:sp>
      <p:sp>
        <p:nvSpPr>
          <p:cNvPr id="27" name="Text 25"/>
          <p:cNvSpPr txBox="1"/>
          <p:nvPr/>
        </p:nvSpPr>
        <p:spPr>
          <a:xfrm>
            <a:off x="9349511" y="4251960"/>
            <a:ext cx="2019224" cy="1280160"/>
          </a:xfrm>
          <a:prstGeom prst="rect">
            <a:avLst/>
          </a:prstGeom>
          <a:noFill/>
          <a:ln/>
        </p:spPr>
        <p:txBody>
          <a:bodyPr wrap="square" lIns="0" tIns="0" rIns="0" bIns="0" rtlCol="0" anchor="t"/>
          <a:lstStyle/>
          <a:p>
            <a:pPr indent="0" marL="0">
              <a:buNone/>
            </a:pPr>
            <a:r>
              <a:rPr lang="en-US" sz="1500" dirty="0">
                <a:solidFill>
                  <a:schemeClr val="tx2"/>
                </a:solidFill>
              </a:rPr>
              <a:t>de lo prestado a las personas está en mora, con bancos, fintech y billeteras (junio de 2026).</a:t>
            </a:r>
            <a:endParaRPr lang="en-US" sz="15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1463040" y="457200"/>
            <a:ext cx="9144000" cy="274320"/>
          </a:xfrm>
          <a:prstGeom prst="rect">
            <a:avLst/>
          </a:prstGeom>
          <a:noFill/>
          <a:ln/>
        </p:spPr>
        <p:txBody>
          <a:bodyPr wrap="square" lIns="0" tIns="0" rIns="0" bIns="0" rtlCol="0" anchor="ctr"/>
          <a:lstStyle/>
          <a:p>
            <a:pPr algn="l" indent="0" marL="0">
              <a:buNone/>
            </a:pPr>
            <a:r>
              <a:rPr lang="en-US" sz="1200" b="1" spc="150" kern="0" dirty="0">
                <a:solidFill>
                  <a:schemeClr val="accent3"/>
                </a:solidFill>
              </a:rPr>
              <a:t>PASO 1 DE 4 · INGRESOS</a:t>
            </a:r>
            <a:endParaRPr lang="en-US" sz="1200" dirty="0"/>
          </a:p>
        </p:txBody>
      </p:sp>
      <p:sp>
        <p:nvSpPr>
          <p:cNvPr id="3" name="Text 1"/>
          <p:cNvSpPr/>
          <p:nvPr>
            <p:ph idx="102" type="title" hasCustomPrompt="1"/>
          </p:nvPr>
        </p:nvSpPr>
        <p:spPr>
          <a:xfrm>
            <a:off x="1463040" y="749808"/>
            <a:ext cx="10180015" cy="685800"/>
          </a:xfrm>
          <a:prstGeom prst="rect">
            <a:avLst/>
          </a:prstGeom>
          <a:noFill/>
          <a:ln/>
        </p:spPr>
        <p:txBody>
          <a:bodyPr wrap="square" lIns="0" tIns="0" rIns="0" bIns="0" rtlCol="0" anchor="t"/>
          <a:lstStyle/>
          <a:p>
            <a:pPr algn="l" indent="0" marL="0">
              <a:buNone/>
            </a:pPr>
            <a:r>
              <a:rPr lang="en-US" sz="3200" b="1" dirty="0">
                <a:solidFill>
                  <a:schemeClr val="tx1"/>
                </a:solidFill>
              </a:rPr>
              <a:t>El ingreso dejó de alcanzar</a:t>
            </a:r>
            <a:endParaRPr lang="en-US" sz="3200" dirty="0"/>
          </a:p>
        </p:txBody>
      </p:sp>
      <p:sp>
        <p:nvSpPr>
          <p:cNvPr id="4" name="Paso 1"/>
          <p:cNvSpPr/>
          <p:nvPr/>
        </p:nvSpPr>
        <p:spPr>
          <a:xfrm>
            <a:off x="548640" y="502920"/>
            <a:ext cx="713232" cy="713232"/>
          </a:xfrm>
          <a:prstGeom prst="ellipse">
            <a:avLst/>
          </a:prstGeom>
          <a:solidFill>
            <a:schemeClr val="accent3"/>
          </a:solidFill>
          <a:ln/>
        </p:spPr>
      </p:sp>
      <p:sp>
        <p:nvSpPr>
          <p:cNvPr id="5" name="Text 3"/>
          <p:cNvSpPr txBox="1"/>
          <p:nvPr/>
        </p:nvSpPr>
        <p:spPr>
          <a:xfrm>
            <a:off x="548640" y="502920"/>
            <a:ext cx="713232" cy="713232"/>
          </a:xfrm>
          <a:prstGeom prst="rect">
            <a:avLst/>
          </a:prstGeom>
          <a:noFill/>
          <a:ln/>
        </p:spPr>
        <p:txBody>
          <a:bodyPr wrap="square" lIns="0" tIns="0" rIns="0" bIns="0" rtlCol="0" anchor="ctr"/>
          <a:lstStyle/>
          <a:p>
            <a:pPr algn="ctr" indent="0" marL="0">
              <a:buNone/>
            </a:pPr>
            <a:r>
              <a:rPr lang="en-US" sz="2600" b="1" dirty="0">
                <a:solidFill>
                  <a:schemeClr val="bg1"/>
                </a:solidFill>
              </a:rPr>
              <a:t>1</a:t>
            </a:r>
            <a:endParaRPr lang="en-US" sz="2600" dirty="0"/>
          </a:p>
        </p:txBody>
      </p:sp>
      <p:sp>
        <p:nvSpPr>
          <p:cNvPr id="6" name="Panel texto"/>
          <p:cNvSpPr/>
          <p:nvPr/>
        </p:nvSpPr>
        <p:spPr>
          <a:xfrm>
            <a:off x="548640" y="1783080"/>
            <a:ext cx="6035040" cy="4069080"/>
          </a:xfrm>
          <a:prstGeom prst="roundRect">
            <a:avLst>
              <a:gd name="adj" fmla="val 3596"/>
            </a:avLst>
          </a:prstGeom>
          <a:solidFill>
            <a:schemeClr val="bg1"/>
          </a:solidFill>
          <a:ln w="12700">
            <a:solidFill>
              <a:schemeClr val="accent6"/>
            </a:solidFill>
            <a:prstDash val="solid"/>
          </a:ln>
        </p:spPr>
      </p:sp>
      <p:sp>
        <p:nvSpPr>
          <p:cNvPr id="7" name="Text 5"/>
          <p:cNvSpPr txBox="1"/>
          <p:nvPr/>
        </p:nvSpPr>
        <p:spPr>
          <a:xfrm>
            <a:off x="868680" y="2057400"/>
            <a:ext cx="5394960" cy="2011680"/>
          </a:xfrm>
          <a:prstGeom prst="rect">
            <a:avLst/>
          </a:prstGeom>
          <a:noFill/>
          <a:ln/>
        </p:spPr>
        <p:txBody>
          <a:bodyPr wrap="square" lIns="0" tIns="0" rIns="0" bIns="0" rtlCol="0" anchor="t"/>
          <a:lstStyle/>
          <a:p>
            <a:pPr indent="0" marL="0">
              <a:buNone/>
            </a:pPr>
            <a:r>
              <a:rPr lang="en-US" sz="1800" dirty="0">
                <a:solidFill>
                  <a:schemeClr val="tx2"/>
                </a:solidFill>
              </a:rPr>
              <a:t>El ajuste licuó salarios y jubilaciones, y el consumo cayó.</a:t>
            </a:r>
            <a:endParaRPr lang="en-US" sz="1800" dirty="0"/>
          </a:p>
          <a:p>
            <a:pPr indent="0" marL="0">
              <a:buNone/>
            </a:pPr>
            <a:r>
              <a:rPr lang="en-US" sz="800" dirty="0">
                <a:solidFill>
                  <a:schemeClr val="tx2"/>
                </a:solidFill>
              </a:rPr>
              <a:t> </a:t>
            </a:r>
            <a:endParaRPr lang="en-US" sz="1800" dirty="0"/>
          </a:p>
          <a:p>
            <a:pPr indent="0" marL="0">
              <a:buNone/>
            </a:pPr>
            <a:r>
              <a:rPr lang="en-US" sz="1800" b="1" dirty="0">
                <a:solidFill>
                  <a:schemeClr val="tx1"/>
                </a:solidFill>
              </a:rPr>
              <a:t>Resultado: </a:t>
            </a:r>
            <a:pPr indent="0" marL="0">
              <a:buNone/>
            </a:pPr>
            <a:r>
              <a:rPr lang="en-US" sz="1800" dirty="0">
                <a:solidFill>
                  <a:schemeClr val="tx2"/>
                </a:solidFill>
              </a:rPr>
              <a:t>en mayo de 2026, lo que le queda a una familia después de pagar los gastos fijos fue 16,5% menor que en 2023.</a:t>
            </a:r>
            <a:endParaRPr lang="en-US" sz="1800" dirty="0"/>
          </a:p>
        </p:txBody>
      </p:sp>
      <p:sp>
        <p:nvSpPr>
          <p:cNvPr id="8" name="Ejemplo"/>
          <p:cNvSpPr/>
          <p:nvPr/>
        </p:nvSpPr>
        <p:spPr>
          <a:xfrm>
            <a:off x="868680" y="4251960"/>
            <a:ext cx="5394960" cy="1325880"/>
          </a:xfrm>
          <a:prstGeom prst="roundRect">
            <a:avLst>
              <a:gd name="adj" fmla="val 6897"/>
            </a:avLst>
          </a:prstGeom>
          <a:solidFill>
            <a:schemeClr val="bg2"/>
          </a:solidFill>
          <a:ln/>
        </p:spPr>
      </p:sp>
      <p:sp>
        <p:nvSpPr>
          <p:cNvPr id="9" name="Text 7"/>
          <p:cNvSpPr txBox="1"/>
          <p:nvPr/>
        </p:nvSpPr>
        <p:spPr>
          <a:xfrm>
            <a:off x="1051560" y="4361688"/>
            <a:ext cx="5029200" cy="1106424"/>
          </a:xfrm>
          <a:prstGeom prst="rect">
            <a:avLst/>
          </a:prstGeom>
          <a:noFill/>
          <a:ln/>
        </p:spPr>
        <p:txBody>
          <a:bodyPr wrap="square" lIns="0" tIns="0" rIns="0" bIns="0" rtlCol="0" anchor="ctr"/>
          <a:lstStyle/>
          <a:p>
            <a:pPr indent="0" marL="0">
              <a:buNone/>
            </a:pPr>
            <a:r>
              <a:rPr lang="en-US" sz="1500" b="1" dirty="0">
                <a:solidFill>
                  <a:schemeClr val="tx1"/>
                </a:solidFill>
              </a:rPr>
              <a:t>No fue un mal mes. </a:t>
            </a:r>
            <a:pPr indent="0" marL="0">
              <a:buNone/>
            </a:pPr>
            <a:r>
              <a:rPr lang="en-US" sz="1500" dirty="0">
                <a:solidFill>
                  <a:schemeClr val="tx2"/>
                </a:solidFill>
              </a:rPr>
              <a:t>No fue un shock transitorio: es un problema estructural. Por eso el agujero se volvió a abrir cada mes.</a:t>
            </a:r>
            <a:endParaRPr lang="en-US" sz="1500" dirty="0"/>
          </a:p>
        </p:txBody>
      </p:sp>
      <p:sp>
        <p:nvSpPr>
          <p:cNvPr id="10" name="Panel esquema"/>
          <p:cNvSpPr/>
          <p:nvPr/>
        </p:nvSpPr>
        <p:spPr>
          <a:xfrm>
            <a:off x="6858000" y="1783080"/>
            <a:ext cx="4785055" cy="4069080"/>
          </a:xfrm>
          <a:prstGeom prst="roundRect">
            <a:avLst>
              <a:gd name="adj" fmla="val 3596"/>
            </a:avLst>
          </a:prstGeom>
          <a:solidFill>
            <a:schemeClr val="bg1"/>
          </a:solidFill>
          <a:ln w="12700">
            <a:solidFill>
              <a:schemeClr val="accent6"/>
            </a:solidFill>
            <a:prstDash val="solid"/>
          </a:ln>
        </p:spPr>
      </p:sp>
      <p:sp>
        <p:nvSpPr>
          <p:cNvPr id="11" name="Text 9"/>
          <p:cNvSpPr txBox="1"/>
          <p:nvPr/>
        </p:nvSpPr>
        <p:spPr>
          <a:xfrm>
            <a:off x="7178040" y="2011680"/>
            <a:ext cx="4114800" cy="548640"/>
          </a:xfrm>
          <a:prstGeom prst="rect">
            <a:avLst/>
          </a:prstGeom>
          <a:noFill/>
          <a:ln/>
        </p:spPr>
        <p:txBody>
          <a:bodyPr wrap="square" lIns="0" tIns="0" rIns="0" bIns="0" rtlCol="0" anchor="t"/>
          <a:lstStyle/>
          <a:p>
            <a:pPr indent="0" marL="0">
              <a:buNone/>
            </a:pPr>
            <a:r>
              <a:rPr lang="en-US" sz="1500" b="1" dirty="0">
                <a:solidFill>
                  <a:schemeClr val="tx1"/>
                </a:solidFill>
              </a:rPr>
              <a:t>Ingreso disponible: lo que queda del sueldo después de pagar los gastos fijos</a:t>
            </a:r>
            <a:endParaRPr lang="en-US" sz="1500" dirty="0"/>
          </a:p>
        </p:txBody>
      </p:sp>
      <p:sp>
        <p:nvSpPr>
          <p:cNvPr id="12" name="Text 10"/>
          <p:cNvSpPr txBox="1"/>
          <p:nvPr/>
        </p:nvSpPr>
        <p:spPr>
          <a:xfrm>
            <a:off x="7178040" y="2788920"/>
            <a:ext cx="4114800" cy="274320"/>
          </a:xfrm>
          <a:prstGeom prst="rect">
            <a:avLst/>
          </a:prstGeom>
          <a:noFill/>
          <a:ln/>
        </p:spPr>
        <p:txBody>
          <a:bodyPr wrap="square" lIns="0" tIns="0" rIns="0" bIns="0" rtlCol="0" anchor="ctr"/>
          <a:lstStyle/>
          <a:p>
            <a:pPr indent="0" marL="0">
              <a:buNone/>
            </a:pPr>
            <a:r>
              <a:rPr lang="en-US" sz="1400" b="1" dirty="0">
                <a:solidFill>
                  <a:schemeClr val="tx1"/>
                </a:solidFill>
              </a:rPr>
              <a:t>2023</a:t>
            </a:r>
            <a:pPr indent="0" marL="0">
              <a:buNone/>
            </a:pPr>
            <a:r>
              <a:rPr lang="en-US" sz="1400" dirty="0">
                <a:solidFill>
                  <a:schemeClr val="tx2"/>
                </a:solidFill>
              </a:rPr>
              <a:t>   100</a:t>
            </a:r>
            <a:endParaRPr lang="en-US" sz="1400" dirty="0"/>
          </a:p>
        </p:txBody>
      </p:sp>
      <p:sp>
        <p:nvSpPr>
          <p:cNvPr id="13" name="Shape 11"/>
          <p:cNvSpPr/>
          <p:nvPr/>
        </p:nvSpPr>
        <p:spPr>
          <a:xfrm>
            <a:off x="7178040" y="3200400"/>
            <a:ext cx="4114800" cy="548640"/>
          </a:xfrm>
          <a:prstGeom prst="roundRect">
            <a:avLst>
              <a:gd name="adj" fmla="val 50000"/>
            </a:avLst>
          </a:prstGeom>
          <a:solidFill>
            <a:schemeClr val="accent4"/>
          </a:solidFill>
          <a:ln/>
        </p:spPr>
      </p:sp>
      <p:sp>
        <p:nvSpPr>
          <p:cNvPr id="14" name="Text 12"/>
          <p:cNvSpPr txBox="1"/>
          <p:nvPr/>
        </p:nvSpPr>
        <p:spPr>
          <a:xfrm>
            <a:off x="7178040" y="3977640"/>
            <a:ext cx="4114800" cy="274320"/>
          </a:xfrm>
          <a:prstGeom prst="rect">
            <a:avLst/>
          </a:prstGeom>
          <a:noFill/>
          <a:ln/>
        </p:spPr>
        <p:txBody>
          <a:bodyPr wrap="square" lIns="0" tIns="0" rIns="0" bIns="0" rtlCol="0" anchor="ctr"/>
          <a:lstStyle/>
          <a:p>
            <a:pPr indent="0" marL="0">
              <a:buNone/>
            </a:pPr>
            <a:r>
              <a:rPr lang="en-US" sz="1400" b="1" dirty="0">
                <a:solidFill>
                  <a:schemeClr val="tx1"/>
                </a:solidFill>
              </a:rPr>
              <a:t>Mayo de 2026</a:t>
            </a:r>
            <a:pPr indent="0" marL="0">
              <a:buNone/>
            </a:pPr>
            <a:r>
              <a:rPr lang="en-US" sz="1400" dirty="0">
                <a:solidFill>
                  <a:schemeClr val="tx2"/>
                </a:solidFill>
              </a:rPr>
              <a:t>   83,5</a:t>
            </a:r>
            <a:endParaRPr lang="en-US" sz="1400" dirty="0"/>
          </a:p>
        </p:txBody>
      </p:sp>
      <p:sp>
        <p:nvSpPr>
          <p:cNvPr id="15" name="Shape 13"/>
          <p:cNvSpPr/>
          <p:nvPr/>
        </p:nvSpPr>
        <p:spPr>
          <a:xfrm>
            <a:off x="7178040" y="4389120"/>
            <a:ext cx="3435858" cy="548640"/>
          </a:xfrm>
          <a:prstGeom prst="roundRect">
            <a:avLst>
              <a:gd name="adj" fmla="val 50000"/>
            </a:avLst>
          </a:prstGeom>
          <a:solidFill>
            <a:schemeClr val="accent3"/>
          </a:solidFill>
          <a:ln/>
        </p:spPr>
      </p:sp>
      <p:sp>
        <p:nvSpPr>
          <p:cNvPr id="16" name="Caída"/>
          <p:cNvSpPr/>
          <p:nvPr/>
        </p:nvSpPr>
        <p:spPr>
          <a:xfrm>
            <a:off x="10650474" y="4389120"/>
            <a:ext cx="642366" cy="548640"/>
          </a:xfrm>
          <a:prstGeom prst="roundRect">
            <a:avLst>
              <a:gd name="adj" fmla="val 50000"/>
            </a:avLst>
          </a:prstGeom>
          <a:solidFill>
            <a:schemeClr val="bg1"/>
          </a:solidFill>
          <a:ln w="19050">
            <a:solidFill>
              <a:schemeClr val="accent1"/>
            </a:solidFill>
            <a:prstDash val="dash"/>
          </a:ln>
        </p:spPr>
      </p:sp>
      <p:sp>
        <p:nvSpPr>
          <p:cNvPr id="17" name="Text 15"/>
          <p:cNvSpPr txBox="1"/>
          <p:nvPr/>
        </p:nvSpPr>
        <p:spPr>
          <a:xfrm>
            <a:off x="10613898" y="4389120"/>
            <a:ext cx="678942" cy="548640"/>
          </a:xfrm>
          <a:prstGeom prst="rect">
            <a:avLst/>
          </a:prstGeom>
          <a:noFill/>
          <a:ln/>
        </p:spPr>
        <p:txBody>
          <a:bodyPr wrap="square" lIns="0" tIns="0" rIns="0" bIns="0" rtlCol="0" anchor="ctr"/>
          <a:lstStyle/>
          <a:p>
            <a:pPr algn="ctr" indent="0" marL="0">
              <a:buNone/>
            </a:pPr>
            <a:r>
              <a:rPr lang="en-US" sz="1200" b="1" dirty="0">
                <a:solidFill>
                  <a:schemeClr val="accent1"/>
                </a:solidFill>
              </a:rPr>
              <a:t>−16,5%</a:t>
            </a:r>
            <a:endParaRPr lang="en-US" sz="1200" dirty="0"/>
          </a:p>
        </p:txBody>
      </p:sp>
      <p:sp>
        <p:nvSpPr>
          <p:cNvPr id="18" name="Text 16"/>
          <p:cNvSpPr txBox="1"/>
          <p:nvPr/>
        </p:nvSpPr>
        <p:spPr>
          <a:xfrm>
            <a:off x="7178040" y="5212080"/>
            <a:ext cx="4114800" cy="274320"/>
          </a:xfrm>
          <a:prstGeom prst="rect">
            <a:avLst/>
          </a:prstGeom>
          <a:noFill/>
          <a:ln/>
        </p:spPr>
        <p:txBody>
          <a:bodyPr wrap="square" lIns="0" tIns="0" rIns="0" bIns="0" rtlCol="0" anchor="ctr"/>
          <a:lstStyle/>
          <a:p>
            <a:pPr indent="0" marL="0">
              <a:buNone/>
            </a:pPr>
            <a:r>
              <a:rPr lang="en-US" sz="1100" i="1" dirty="0">
                <a:solidFill>
                  <a:schemeClr val="accent5"/>
                </a:solidFill>
              </a:rPr>
              <a:t>Índice, 2023 = 100. Barras a escala.</a:t>
            </a:r>
            <a:endParaRPr lang="en-US" sz="1100" dirty="0"/>
          </a:p>
        </p:txBody>
      </p:sp>
      <p:sp>
        <p:nvSpPr>
          <p:cNvPr id="19" name="Fuente"/>
          <p:cNvSpPr txBox="1"/>
          <p:nvPr/>
        </p:nvSpPr>
        <p:spPr>
          <a:xfrm>
            <a:off x="548640" y="6035040"/>
            <a:ext cx="11094415" cy="237744"/>
          </a:xfrm>
          <a:prstGeom prst="rect">
            <a:avLst/>
          </a:prstGeom>
          <a:noFill/>
          <a:ln/>
        </p:spPr>
        <p:txBody>
          <a:bodyPr wrap="square" lIns="0" tIns="0" rIns="0" bIns="0" rtlCol="0" anchor="ctr"/>
          <a:lstStyle/>
          <a:p>
            <a:pPr indent="0" marL="0">
              <a:buNone/>
            </a:pPr>
            <a:r>
              <a:rPr lang="en-US" sz="1000" dirty="0">
                <a:solidFill>
                  <a:schemeClr val="accent5"/>
                </a:solidFill>
              </a:rPr>
              <a:t>Fuente: Equilibra, citado por Infobae (22 de julio de 2026). Ingreso disponible = ingresos menos gastos fijos de los hogares.</a:t>
            </a:r>
            <a:endParaRPr lang="en-US" sz="10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1463040" y="457200"/>
            <a:ext cx="9144000" cy="274320"/>
          </a:xfrm>
          <a:prstGeom prst="rect">
            <a:avLst/>
          </a:prstGeom>
          <a:noFill/>
          <a:ln/>
        </p:spPr>
        <p:txBody>
          <a:bodyPr wrap="square" lIns="0" tIns="0" rIns="0" bIns="0" rtlCol="0" anchor="ctr"/>
          <a:lstStyle/>
          <a:p>
            <a:pPr algn="l" indent="0" marL="0">
              <a:buNone/>
            </a:pPr>
            <a:r>
              <a:rPr lang="en-US" sz="1200" b="1" spc="150" kern="0" dirty="0">
                <a:solidFill>
                  <a:schemeClr val="accent3"/>
                </a:solidFill>
              </a:rPr>
              <a:t>PASO 2 DE 4 · CRÉDITO</a:t>
            </a:r>
            <a:endParaRPr lang="en-US" sz="1200" dirty="0"/>
          </a:p>
        </p:txBody>
      </p:sp>
      <p:sp>
        <p:nvSpPr>
          <p:cNvPr id="3" name="Text 1"/>
          <p:cNvSpPr/>
          <p:nvPr>
            <p:ph idx="102" type="title" hasCustomPrompt="1"/>
          </p:nvPr>
        </p:nvSpPr>
        <p:spPr>
          <a:xfrm>
            <a:off x="1463040" y="749808"/>
            <a:ext cx="10180015" cy="685800"/>
          </a:xfrm>
          <a:prstGeom prst="rect">
            <a:avLst/>
          </a:prstGeom>
          <a:noFill/>
          <a:ln/>
        </p:spPr>
        <p:txBody>
          <a:bodyPr wrap="square" lIns="0" tIns="0" rIns="0" bIns="0" rtlCol="0" anchor="t"/>
          <a:lstStyle/>
          <a:p>
            <a:pPr algn="l" indent="0" marL="0">
              <a:buNone/>
            </a:pPr>
            <a:r>
              <a:rPr lang="en-US" sz="3200" b="1" dirty="0">
                <a:solidFill>
                  <a:schemeClr val="tx1"/>
                </a:solidFill>
              </a:rPr>
              <a:t>El crédito tapó el agujero</a:t>
            </a:r>
            <a:endParaRPr lang="en-US" sz="3200" dirty="0"/>
          </a:p>
        </p:txBody>
      </p:sp>
      <p:sp>
        <p:nvSpPr>
          <p:cNvPr id="4" name="Paso 2"/>
          <p:cNvSpPr/>
          <p:nvPr/>
        </p:nvSpPr>
        <p:spPr>
          <a:xfrm>
            <a:off x="548640" y="502920"/>
            <a:ext cx="713232" cy="713232"/>
          </a:xfrm>
          <a:prstGeom prst="ellipse">
            <a:avLst/>
          </a:prstGeom>
          <a:solidFill>
            <a:schemeClr val="accent3"/>
          </a:solidFill>
          <a:ln/>
        </p:spPr>
      </p:sp>
      <p:sp>
        <p:nvSpPr>
          <p:cNvPr id="5" name="Text 3"/>
          <p:cNvSpPr txBox="1"/>
          <p:nvPr/>
        </p:nvSpPr>
        <p:spPr>
          <a:xfrm>
            <a:off x="548640" y="502920"/>
            <a:ext cx="713232" cy="713232"/>
          </a:xfrm>
          <a:prstGeom prst="rect">
            <a:avLst/>
          </a:prstGeom>
          <a:noFill/>
          <a:ln/>
        </p:spPr>
        <p:txBody>
          <a:bodyPr wrap="square" lIns="0" tIns="0" rIns="0" bIns="0" rtlCol="0" anchor="ctr"/>
          <a:lstStyle/>
          <a:p>
            <a:pPr algn="ctr" indent="0" marL="0">
              <a:buNone/>
            </a:pPr>
            <a:r>
              <a:rPr lang="en-US" sz="2600" b="1" dirty="0">
                <a:solidFill>
                  <a:schemeClr val="bg1"/>
                </a:solidFill>
              </a:rPr>
              <a:t>2</a:t>
            </a:r>
            <a:endParaRPr lang="en-US" sz="2600" dirty="0"/>
          </a:p>
        </p:txBody>
      </p:sp>
      <p:sp>
        <p:nvSpPr>
          <p:cNvPr id="6" name="Panel gráfico"/>
          <p:cNvSpPr/>
          <p:nvPr/>
        </p:nvSpPr>
        <p:spPr>
          <a:xfrm>
            <a:off x="548640" y="1783080"/>
            <a:ext cx="6858000" cy="4069080"/>
          </a:xfrm>
          <a:prstGeom prst="roundRect">
            <a:avLst>
              <a:gd name="adj" fmla="val 3596"/>
            </a:avLst>
          </a:prstGeom>
          <a:solidFill>
            <a:schemeClr val="bg1"/>
          </a:solidFill>
          <a:ln w="12700">
            <a:solidFill>
              <a:schemeClr val="accent6"/>
            </a:solidFill>
            <a:prstDash val="solid"/>
          </a:ln>
        </p:spPr>
      </p:sp>
      <p:graphicFrame>
        <p:nvGraphicFramePr>
          <p:cNvPr id="7" name="Chart 0" descr=""/>
          <p:cNvGraphicFramePr/>
          <p:nvPr/>
        </p:nvGraphicFramePr>
        <p:xfrm>
          <a:off x="731520" y="1920240"/>
          <a:ext cx="6492240" cy="3794760"/>
        </p:xfrm>
        <a:graphic xmlns:a="http://schemas.openxmlformats.org/drawingml/2006/main">
          <a:graphicData uri="http://schemas.openxmlformats.org/drawingml/2006/chart">
            <c:chart xmlns:c="http://schemas.openxmlformats.org/drawingml/2006/chart" r:id="rId1"/>
          </a:graphicData>
        </a:graphic>
      </p:graphicFrame>
      <p:sp>
        <p:nvSpPr>
          <p:cNvPr id="8" name="Panel lectura"/>
          <p:cNvSpPr/>
          <p:nvPr/>
        </p:nvSpPr>
        <p:spPr>
          <a:xfrm>
            <a:off x="7680960" y="1783080"/>
            <a:ext cx="3962095" cy="4069080"/>
          </a:xfrm>
          <a:prstGeom prst="roundRect">
            <a:avLst>
              <a:gd name="adj" fmla="val 3693"/>
            </a:avLst>
          </a:prstGeom>
          <a:solidFill>
            <a:schemeClr val="bg1"/>
          </a:solidFill>
          <a:ln w="12700">
            <a:solidFill>
              <a:schemeClr val="accent6"/>
            </a:solidFill>
            <a:prstDash val="solid"/>
          </a:ln>
        </p:spPr>
      </p:sp>
      <p:sp>
        <p:nvSpPr>
          <p:cNvPr id="9" name="Text 6"/>
          <p:cNvSpPr txBox="1"/>
          <p:nvPr/>
        </p:nvSpPr>
        <p:spPr>
          <a:xfrm>
            <a:off x="7955280" y="2057400"/>
            <a:ext cx="3413455" cy="1737360"/>
          </a:xfrm>
          <a:prstGeom prst="rect">
            <a:avLst/>
          </a:prstGeom>
          <a:noFill/>
          <a:ln/>
        </p:spPr>
        <p:txBody>
          <a:bodyPr wrap="square" lIns="0" tIns="0" rIns="0" bIns="0" rtlCol="0" anchor="t"/>
          <a:lstStyle/>
          <a:p>
            <a:pPr indent="0" marL="0">
              <a:buNone/>
            </a:pPr>
            <a:r>
              <a:rPr lang="en-US" sz="1700" dirty="0">
                <a:solidFill>
                  <a:schemeClr val="tx2"/>
                </a:solidFill>
              </a:rPr>
              <a:t>En 2024 el crédito a las familias creció </a:t>
            </a:r>
            <a:pPr indent="0" marL="0">
              <a:buNone/>
            </a:pPr>
            <a:r>
              <a:rPr lang="en-US" sz="1700" b="1" dirty="0">
                <a:solidFill>
                  <a:schemeClr val="tx1"/>
                </a:solidFill>
              </a:rPr>
              <a:t>58%</a:t>
            </a:r>
            <a:pPr indent="0" marL="0">
              <a:buNone/>
            </a:pPr>
            <a:r>
              <a:rPr lang="en-US" sz="1700" dirty="0">
                <a:solidFill>
                  <a:schemeClr val="tx2"/>
                </a:solidFill>
              </a:rPr>
              <a:t> por encima de la inflación. Los préstamos personales, </a:t>
            </a:r>
            <a:pPr indent="0" marL="0">
              <a:buNone/>
            </a:pPr>
            <a:r>
              <a:rPr lang="en-US" sz="1700" b="1" dirty="0">
                <a:solidFill>
                  <a:schemeClr val="tx1"/>
                </a:solidFill>
              </a:rPr>
              <a:t>134%</a:t>
            </a:r>
            <a:pPr indent="0" marL="0">
              <a:buNone/>
            </a:pPr>
            <a:r>
              <a:rPr lang="en-US" sz="1700" dirty="0">
                <a:solidFill>
                  <a:schemeClr val="tx2"/>
                </a:solidFill>
              </a:rPr>
              <a:t>. En 2025 siguió creciendo, más despacio.</a:t>
            </a:r>
            <a:endParaRPr lang="en-US" sz="1700" dirty="0"/>
          </a:p>
        </p:txBody>
      </p:sp>
      <p:sp>
        <p:nvSpPr>
          <p:cNvPr id="10" name="Ejemplo"/>
          <p:cNvSpPr/>
          <p:nvPr/>
        </p:nvSpPr>
        <p:spPr>
          <a:xfrm>
            <a:off x="7955280" y="3977640"/>
            <a:ext cx="3413455" cy="1600200"/>
          </a:xfrm>
          <a:prstGeom prst="roundRect">
            <a:avLst>
              <a:gd name="adj" fmla="val 5714"/>
            </a:avLst>
          </a:prstGeom>
          <a:solidFill>
            <a:schemeClr val="bg2"/>
          </a:solidFill>
          <a:ln/>
        </p:spPr>
      </p:sp>
      <p:sp>
        <p:nvSpPr>
          <p:cNvPr id="11" name="Text 8"/>
          <p:cNvSpPr txBox="1"/>
          <p:nvPr/>
        </p:nvSpPr>
        <p:spPr>
          <a:xfrm>
            <a:off x="8138160" y="4087368"/>
            <a:ext cx="3047695" cy="1380744"/>
          </a:xfrm>
          <a:prstGeom prst="rect">
            <a:avLst/>
          </a:prstGeom>
          <a:noFill/>
          <a:ln/>
        </p:spPr>
        <p:txBody>
          <a:bodyPr wrap="square" lIns="0" tIns="0" rIns="0" bIns="0" rtlCol="0" anchor="ctr"/>
          <a:lstStyle/>
          <a:p>
            <a:pPr indent="0" marL="0">
              <a:buNone/>
            </a:pPr>
            <a:r>
              <a:rPr lang="en-US" sz="1500" b="1" dirty="0">
                <a:solidFill>
                  <a:schemeClr val="tx1"/>
                </a:solidFill>
              </a:rPr>
              <a:t>Como pagar el súper con tarjeta: </a:t>
            </a:r>
            <a:pPr indent="0" marL="0">
              <a:buNone/>
            </a:pPr>
            <a:r>
              <a:rPr lang="en-US" sz="1500" dirty="0">
                <a:solidFill>
                  <a:schemeClr val="tx2"/>
                </a:solidFill>
              </a:rPr>
              <a:t>resuelve este mes, pero le suma una cuota al que viene.</a:t>
            </a:r>
            <a:endParaRPr lang="en-US" sz="1500" dirty="0"/>
          </a:p>
        </p:txBody>
      </p:sp>
      <p:sp>
        <p:nvSpPr>
          <p:cNvPr id="12" name="Fuente"/>
          <p:cNvSpPr txBox="1"/>
          <p:nvPr/>
        </p:nvSpPr>
        <p:spPr>
          <a:xfrm>
            <a:off x="548640" y="6035040"/>
            <a:ext cx="11094415" cy="237744"/>
          </a:xfrm>
          <a:prstGeom prst="rect">
            <a:avLst/>
          </a:prstGeom>
          <a:noFill/>
          <a:ln/>
        </p:spPr>
        <p:txBody>
          <a:bodyPr wrap="square" lIns="0" tIns="0" rIns="0" bIns="0" rtlCol="0" anchor="ctr"/>
          <a:lstStyle/>
          <a:p>
            <a:pPr indent="0" marL="0">
              <a:buNone/>
            </a:pPr>
            <a:r>
              <a:rPr lang="en-US" sz="1000" dirty="0">
                <a:solidFill>
                  <a:schemeClr val="accent5"/>
                </a:solidFill>
              </a:rPr>
              <a:t>Fuente: First Capital Group en base a BCRA e INDEC. Variación real, diciembre contra diciembre.</a:t>
            </a:r>
            <a:endParaRPr lang="en-US" sz="10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1463040" y="457200"/>
            <a:ext cx="9144000" cy="274320"/>
          </a:xfrm>
          <a:prstGeom prst="rect">
            <a:avLst/>
          </a:prstGeom>
          <a:noFill/>
          <a:ln/>
        </p:spPr>
        <p:txBody>
          <a:bodyPr wrap="square" lIns="0" tIns="0" rIns="0" bIns="0" rtlCol="0" anchor="ctr"/>
          <a:lstStyle/>
          <a:p>
            <a:pPr algn="l" indent="0" marL="0">
              <a:buNone/>
            </a:pPr>
            <a:r>
              <a:rPr lang="en-US" sz="1200" b="1" spc="150" kern="0" dirty="0">
                <a:solidFill>
                  <a:schemeClr val="accent3"/>
                </a:solidFill>
              </a:rPr>
              <a:t>PASO 3 DE 4 · TASAS</a:t>
            </a:r>
            <a:endParaRPr lang="en-US" sz="1200" dirty="0"/>
          </a:p>
        </p:txBody>
      </p:sp>
      <p:sp>
        <p:nvSpPr>
          <p:cNvPr id="3" name="Text 1"/>
          <p:cNvSpPr/>
          <p:nvPr>
            <p:ph idx="102" type="title" hasCustomPrompt="1"/>
          </p:nvPr>
        </p:nvSpPr>
        <p:spPr>
          <a:xfrm>
            <a:off x="1463040" y="749808"/>
            <a:ext cx="10180015" cy="685800"/>
          </a:xfrm>
          <a:prstGeom prst="rect">
            <a:avLst/>
          </a:prstGeom>
          <a:noFill/>
          <a:ln/>
        </p:spPr>
        <p:txBody>
          <a:bodyPr wrap="square" lIns="0" tIns="0" rIns="0" bIns="0" rtlCol="0" anchor="t"/>
          <a:lstStyle/>
          <a:p>
            <a:pPr algn="l" indent="0" marL="0">
              <a:buNone/>
            </a:pPr>
            <a:r>
              <a:rPr lang="en-US" sz="3200" b="1" dirty="0">
                <a:solidFill>
                  <a:schemeClr val="tx1"/>
                </a:solidFill>
              </a:rPr>
              <a:t>La deuda se volvió cara de golpe</a:t>
            </a:r>
            <a:endParaRPr lang="en-US" sz="3200" dirty="0"/>
          </a:p>
        </p:txBody>
      </p:sp>
      <p:sp>
        <p:nvSpPr>
          <p:cNvPr id="4" name="Paso 3"/>
          <p:cNvSpPr/>
          <p:nvPr/>
        </p:nvSpPr>
        <p:spPr>
          <a:xfrm>
            <a:off x="548640" y="502920"/>
            <a:ext cx="713232" cy="713232"/>
          </a:xfrm>
          <a:prstGeom prst="ellipse">
            <a:avLst/>
          </a:prstGeom>
          <a:solidFill>
            <a:schemeClr val="accent3"/>
          </a:solidFill>
          <a:ln/>
        </p:spPr>
      </p:sp>
      <p:sp>
        <p:nvSpPr>
          <p:cNvPr id="5" name="Text 3"/>
          <p:cNvSpPr txBox="1"/>
          <p:nvPr/>
        </p:nvSpPr>
        <p:spPr>
          <a:xfrm>
            <a:off x="548640" y="502920"/>
            <a:ext cx="713232" cy="713232"/>
          </a:xfrm>
          <a:prstGeom prst="rect">
            <a:avLst/>
          </a:prstGeom>
          <a:noFill/>
          <a:ln/>
        </p:spPr>
        <p:txBody>
          <a:bodyPr wrap="square" lIns="0" tIns="0" rIns="0" bIns="0" rtlCol="0" anchor="ctr"/>
          <a:lstStyle/>
          <a:p>
            <a:pPr algn="ctr" indent="0" marL="0">
              <a:buNone/>
            </a:pPr>
            <a:r>
              <a:rPr lang="en-US" sz="2600" b="1" dirty="0">
                <a:solidFill>
                  <a:schemeClr val="bg1"/>
                </a:solidFill>
              </a:rPr>
              <a:t>3</a:t>
            </a:r>
            <a:endParaRPr lang="en-US" sz="2600" dirty="0"/>
          </a:p>
        </p:txBody>
      </p:sp>
      <p:sp>
        <p:nvSpPr>
          <p:cNvPr id="6" name="Panel gráfico"/>
          <p:cNvSpPr/>
          <p:nvPr/>
        </p:nvSpPr>
        <p:spPr>
          <a:xfrm>
            <a:off x="548640" y="1783080"/>
            <a:ext cx="7086600" cy="4069080"/>
          </a:xfrm>
          <a:prstGeom prst="roundRect">
            <a:avLst>
              <a:gd name="adj" fmla="val 3596"/>
            </a:avLst>
          </a:prstGeom>
          <a:solidFill>
            <a:schemeClr val="bg1"/>
          </a:solidFill>
          <a:ln w="12700">
            <a:solidFill>
              <a:schemeClr val="accent6"/>
            </a:solidFill>
            <a:prstDash val="solid"/>
          </a:ln>
        </p:spPr>
      </p:sp>
      <p:sp>
        <p:nvSpPr>
          <p:cNvPr id="7" name="Text 5"/>
          <p:cNvSpPr txBox="1"/>
          <p:nvPr/>
        </p:nvSpPr>
        <p:spPr>
          <a:xfrm>
            <a:off x="822960" y="1901952"/>
            <a:ext cx="6583680" cy="274320"/>
          </a:xfrm>
          <a:prstGeom prst="rect">
            <a:avLst/>
          </a:prstGeom>
          <a:noFill/>
          <a:ln/>
        </p:spPr>
        <p:txBody>
          <a:bodyPr wrap="square" lIns="0" tIns="0" rIns="0" bIns="0" rtlCol="0" anchor="ctr"/>
          <a:lstStyle/>
          <a:p>
            <a:pPr indent="0" marL="0">
              <a:buNone/>
            </a:pPr>
            <a:r>
              <a:rPr lang="en-US" sz="1400" b="1" dirty="0">
                <a:solidFill>
                  <a:schemeClr val="tx1"/>
                </a:solidFill>
              </a:rPr>
              <a:t>Tasa BADLAR real (por encima de la inflación), % anual</a:t>
            </a:r>
            <a:endParaRPr lang="en-US" sz="1400" dirty="0"/>
          </a:p>
        </p:txBody>
      </p:sp>
      <p:sp>
        <p:nvSpPr>
          <p:cNvPr id="8" name="Período tasas altas"/>
          <p:cNvSpPr/>
          <p:nvPr/>
        </p:nvSpPr>
        <p:spPr>
          <a:xfrm>
            <a:off x="3084440" y="2487168"/>
            <a:ext cx="1046940" cy="2706624"/>
          </a:xfrm>
          <a:prstGeom prst="rect">
            <a:avLst/>
          </a:prstGeom>
          <a:solidFill>
            <a:srgbClr val="FBE7E5"/>
          </a:solidFill>
          <a:ln/>
        </p:spPr>
      </p:sp>
      <p:graphicFrame>
        <p:nvGraphicFramePr>
          <p:cNvPr id="9" name="Chart 0" descr=""/>
          <p:cNvGraphicFramePr/>
          <p:nvPr/>
        </p:nvGraphicFramePr>
        <p:xfrm>
          <a:off x="685800" y="2148840"/>
          <a:ext cx="6812280" cy="3383280"/>
        </p:xfrm>
        <a:graphic xmlns:a="http://schemas.openxmlformats.org/drawingml/2006/main">
          <a:graphicData uri="http://schemas.openxmlformats.org/drawingml/2006/chart">
            <c:chart xmlns:c="http://schemas.openxmlformats.org/drawingml/2006/chart" r:id="rId1"/>
          </a:graphicData>
        </a:graphic>
      </p:graphicFrame>
      <p:sp>
        <p:nvSpPr>
          <p:cNvPr id="10" name="Eje x ene-25"/>
          <p:cNvSpPr txBox="1"/>
          <p:nvPr/>
        </p:nvSpPr>
        <p:spPr>
          <a:xfrm>
            <a:off x="940316" y="5248656"/>
            <a:ext cx="731520" cy="228600"/>
          </a:xfrm>
          <a:prstGeom prst="rect">
            <a:avLst/>
          </a:prstGeom>
          <a:noFill/>
          <a:ln/>
        </p:spPr>
        <p:txBody>
          <a:bodyPr wrap="square" lIns="0" tIns="0" rIns="0" bIns="0" rtlCol="0" anchor="ctr"/>
          <a:lstStyle/>
          <a:p>
            <a:pPr algn="ctr" indent="0" marL="0">
              <a:buNone/>
            </a:pPr>
            <a:r>
              <a:rPr lang="en-US" sz="1100" dirty="0">
                <a:solidFill>
                  <a:schemeClr val="tx2"/>
                </a:solidFill>
              </a:rPr>
              <a:t>ene-25</a:t>
            </a:r>
            <a:endParaRPr lang="en-US" sz="1100" dirty="0"/>
          </a:p>
        </p:txBody>
      </p:sp>
      <p:sp>
        <p:nvSpPr>
          <p:cNvPr id="11" name="Eje x mar-25"/>
          <p:cNvSpPr txBox="1"/>
          <p:nvPr/>
        </p:nvSpPr>
        <p:spPr>
          <a:xfrm>
            <a:off x="1542665" y="5248656"/>
            <a:ext cx="731520" cy="228600"/>
          </a:xfrm>
          <a:prstGeom prst="rect">
            <a:avLst/>
          </a:prstGeom>
          <a:noFill/>
          <a:ln/>
        </p:spPr>
        <p:txBody>
          <a:bodyPr wrap="square" lIns="0" tIns="0" rIns="0" bIns="0" rtlCol="0" anchor="ctr"/>
          <a:lstStyle/>
          <a:p>
            <a:pPr algn="ctr" indent="0" marL="0">
              <a:buNone/>
            </a:pPr>
            <a:r>
              <a:rPr lang="en-US" sz="1100" dirty="0">
                <a:solidFill>
                  <a:schemeClr val="tx2"/>
                </a:solidFill>
              </a:rPr>
              <a:t>mar-25</a:t>
            </a:r>
            <a:endParaRPr lang="en-US" sz="1100" dirty="0"/>
          </a:p>
        </p:txBody>
      </p:sp>
      <p:sp>
        <p:nvSpPr>
          <p:cNvPr id="12" name="Eje x may-25"/>
          <p:cNvSpPr txBox="1"/>
          <p:nvPr/>
        </p:nvSpPr>
        <p:spPr>
          <a:xfrm>
            <a:off x="2073306" y="5248656"/>
            <a:ext cx="731520" cy="228600"/>
          </a:xfrm>
          <a:prstGeom prst="rect">
            <a:avLst/>
          </a:prstGeom>
          <a:noFill/>
          <a:ln/>
        </p:spPr>
        <p:txBody>
          <a:bodyPr wrap="square" lIns="0" tIns="0" rIns="0" bIns="0" rtlCol="0" anchor="ctr"/>
          <a:lstStyle/>
          <a:p>
            <a:pPr algn="ctr" indent="0" marL="0">
              <a:buNone/>
            </a:pPr>
            <a:r>
              <a:rPr lang="en-US" sz="1100" dirty="0">
                <a:solidFill>
                  <a:schemeClr val="tx2"/>
                </a:solidFill>
              </a:rPr>
              <a:t>may-25</a:t>
            </a:r>
            <a:endParaRPr lang="en-US" sz="1100" dirty="0"/>
          </a:p>
        </p:txBody>
      </p:sp>
      <p:sp>
        <p:nvSpPr>
          <p:cNvPr id="13" name="Eje x jul-25"/>
          <p:cNvSpPr txBox="1"/>
          <p:nvPr/>
        </p:nvSpPr>
        <p:spPr>
          <a:xfrm>
            <a:off x="2632630" y="5248656"/>
            <a:ext cx="731520" cy="228600"/>
          </a:xfrm>
          <a:prstGeom prst="rect">
            <a:avLst/>
          </a:prstGeom>
          <a:noFill/>
          <a:ln/>
        </p:spPr>
        <p:txBody>
          <a:bodyPr wrap="square" lIns="0" tIns="0" rIns="0" bIns="0" rtlCol="0" anchor="ctr"/>
          <a:lstStyle/>
          <a:p>
            <a:pPr algn="ctr" indent="0" marL="0">
              <a:buNone/>
            </a:pPr>
            <a:r>
              <a:rPr lang="en-US" sz="1100" dirty="0">
                <a:solidFill>
                  <a:schemeClr val="tx2"/>
                </a:solidFill>
              </a:rPr>
              <a:t>jul-25</a:t>
            </a:r>
            <a:endParaRPr lang="en-US" sz="1100" dirty="0"/>
          </a:p>
        </p:txBody>
      </p:sp>
      <p:sp>
        <p:nvSpPr>
          <p:cNvPr id="14" name="Eje x sep-25"/>
          <p:cNvSpPr txBox="1"/>
          <p:nvPr/>
        </p:nvSpPr>
        <p:spPr>
          <a:xfrm>
            <a:off x="3234979" y="5248656"/>
            <a:ext cx="731520" cy="228600"/>
          </a:xfrm>
          <a:prstGeom prst="rect">
            <a:avLst/>
          </a:prstGeom>
          <a:noFill/>
          <a:ln/>
        </p:spPr>
        <p:txBody>
          <a:bodyPr wrap="square" lIns="0" tIns="0" rIns="0" bIns="0" rtlCol="0" anchor="ctr"/>
          <a:lstStyle/>
          <a:p>
            <a:pPr algn="ctr" indent="0" marL="0">
              <a:buNone/>
            </a:pPr>
            <a:r>
              <a:rPr lang="en-US" sz="1100" dirty="0">
                <a:solidFill>
                  <a:schemeClr val="tx2"/>
                </a:solidFill>
              </a:rPr>
              <a:t>sep-25</a:t>
            </a:r>
            <a:endParaRPr lang="en-US" sz="1100" dirty="0"/>
          </a:p>
        </p:txBody>
      </p:sp>
      <p:sp>
        <p:nvSpPr>
          <p:cNvPr id="15" name="Eje x nov-25"/>
          <p:cNvSpPr txBox="1"/>
          <p:nvPr/>
        </p:nvSpPr>
        <p:spPr>
          <a:xfrm>
            <a:off x="3866011" y="5248656"/>
            <a:ext cx="731520" cy="228600"/>
          </a:xfrm>
          <a:prstGeom prst="rect">
            <a:avLst/>
          </a:prstGeom>
          <a:noFill/>
          <a:ln/>
        </p:spPr>
        <p:txBody>
          <a:bodyPr wrap="square" lIns="0" tIns="0" rIns="0" bIns="0" rtlCol="0" anchor="ctr"/>
          <a:lstStyle/>
          <a:p>
            <a:pPr algn="ctr" indent="0" marL="0">
              <a:buNone/>
            </a:pPr>
            <a:r>
              <a:rPr lang="en-US" sz="1100" dirty="0">
                <a:solidFill>
                  <a:schemeClr val="tx2"/>
                </a:solidFill>
              </a:rPr>
              <a:t>nov-25</a:t>
            </a:r>
            <a:endParaRPr lang="en-US" sz="1100" dirty="0"/>
          </a:p>
        </p:txBody>
      </p:sp>
      <p:sp>
        <p:nvSpPr>
          <p:cNvPr id="16" name="Eje x ene-26"/>
          <p:cNvSpPr txBox="1"/>
          <p:nvPr/>
        </p:nvSpPr>
        <p:spPr>
          <a:xfrm>
            <a:off x="4382310" y="5248656"/>
            <a:ext cx="731520" cy="228600"/>
          </a:xfrm>
          <a:prstGeom prst="rect">
            <a:avLst/>
          </a:prstGeom>
          <a:noFill/>
          <a:ln/>
        </p:spPr>
        <p:txBody>
          <a:bodyPr wrap="square" lIns="0" tIns="0" rIns="0" bIns="0" rtlCol="0" anchor="ctr"/>
          <a:lstStyle/>
          <a:p>
            <a:pPr algn="ctr" indent="0" marL="0">
              <a:buNone/>
            </a:pPr>
            <a:r>
              <a:rPr lang="en-US" sz="1100" dirty="0">
                <a:solidFill>
                  <a:schemeClr val="tx2"/>
                </a:solidFill>
              </a:rPr>
              <a:t>ene-26</a:t>
            </a:r>
            <a:endParaRPr lang="en-US" sz="1100" dirty="0"/>
          </a:p>
        </p:txBody>
      </p:sp>
      <p:sp>
        <p:nvSpPr>
          <p:cNvPr id="17" name="Eje x mar-26"/>
          <p:cNvSpPr txBox="1"/>
          <p:nvPr/>
        </p:nvSpPr>
        <p:spPr>
          <a:xfrm>
            <a:off x="4941634" y="5248656"/>
            <a:ext cx="731520" cy="228600"/>
          </a:xfrm>
          <a:prstGeom prst="rect">
            <a:avLst/>
          </a:prstGeom>
          <a:noFill/>
          <a:ln/>
        </p:spPr>
        <p:txBody>
          <a:bodyPr wrap="square" lIns="0" tIns="0" rIns="0" bIns="0" rtlCol="0" anchor="ctr"/>
          <a:lstStyle/>
          <a:p>
            <a:pPr algn="ctr" indent="0" marL="0">
              <a:buNone/>
            </a:pPr>
            <a:r>
              <a:rPr lang="en-US" sz="1100" dirty="0">
                <a:solidFill>
                  <a:schemeClr val="tx2"/>
                </a:solidFill>
              </a:rPr>
              <a:t>mar-26</a:t>
            </a:r>
            <a:endParaRPr lang="en-US" sz="1100" dirty="0"/>
          </a:p>
        </p:txBody>
      </p:sp>
      <p:sp>
        <p:nvSpPr>
          <p:cNvPr id="18" name="Eje x may-26"/>
          <p:cNvSpPr txBox="1"/>
          <p:nvPr/>
        </p:nvSpPr>
        <p:spPr>
          <a:xfrm>
            <a:off x="5515300" y="5248656"/>
            <a:ext cx="731520" cy="228600"/>
          </a:xfrm>
          <a:prstGeom prst="rect">
            <a:avLst/>
          </a:prstGeom>
          <a:noFill/>
          <a:ln/>
        </p:spPr>
        <p:txBody>
          <a:bodyPr wrap="square" lIns="0" tIns="0" rIns="0" bIns="0" rtlCol="0" anchor="ctr"/>
          <a:lstStyle/>
          <a:p>
            <a:pPr algn="ctr" indent="0" marL="0">
              <a:buNone/>
            </a:pPr>
            <a:r>
              <a:rPr lang="en-US" sz="1100" dirty="0">
                <a:solidFill>
                  <a:schemeClr val="tx2"/>
                </a:solidFill>
              </a:rPr>
              <a:t>may-26</a:t>
            </a:r>
            <a:endParaRPr lang="en-US" sz="1100" dirty="0"/>
          </a:p>
        </p:txBody>
      </p:sp>
      <p:sp>
        <p:nvSpPr>
          <p:cNvPr id="19" name="Eje x jul-26"/>
          <p:cNvSpPr txBox="1"/>
          <p:nvPr/>
        </p:nvSpPr>
        <p:spPr>
          <a:xfrm>
            <a:off x="6088966" y="5248656"/>
            <a:ext cx="731520" cy="228600"/>
          </a:xfrm>
          <a:prstGeom prst="rect">
            <a:avLst/>
          </a:prstGeom>
          <a:noFill/>
          <a:ln/>
        </p:spPr>
        <p:txBody>
          <a:bodyPr wrap="square" lIns="0" tIns="0" rIns="0" bIns="0" rtlCol="0" anchor="ctr"/>
          <a:lstStyle/>
          <a:p>
            <a:pPr algn="ctr" indent="0" marL="0">
              <a:buNone/>
            </a:pPr>
            <a:r>
              <a:rPr lang="en-US" sz="1100" dirty="0">
                <a:solidFill>
                  <a:schemeClr val="tx2"/>
                </a:solidFill>
              </a:rPr>
              <a:t>jul-26</a:t>
            </a:r>
            <a:endParaRPr lang="en-US" sz="1100" dirty="0"/>
          </a:p>
        </p:txBody>
      </p:sp>
      <p:sp>
        <p:nvSpPr>
          <p:cNvPr id="20" name="Eje x sep-26"/>
          <p:cNvSpPr txBox="1"/>
          <p:nvPr/>
        </p:nvSpPr>
        <p:spPr>
          <a:xfrm>
            <a:off x="6676973" y="5248656"/>
            <a:ext cx="731520" cy="228600"/>
          </a:xfrm>
          <a:prstGeom prst="rect">
            <a:avLst/>
          </a:prstGeom>
          <a:noFill/>
          <a:ln/>
        </p:spPr>
        <p:txBody>
          <a:bodyPr wrap="square" lIns="0" tIns="0" rIns="0" bIns="0" rtlCol="0" anchor="ctr"/>
          <a:lstStyle/>
          <a:p>
            <a:pPr algn="ctr" indent="0" marL="0">
              <a:buNone/>
            </a:pPr>
            <a:r>
              <a:rPr lang="en-US" sz="1100" dirty="0">
                <a:solidFill>
                  <a:schemeClr val="tx2"/>
                </a:solidFill>
              </a:rPr>
              <a:t>sep-26</a:t>
            </a:r>
            <a:endParaRPr lang="en-US" sz="1100" dirty="0"/>
          </a:p>
        </p:txBody>
      </p:sp>
      <p:sp>
        <p:nvSpPr>
          <p:cNvPr id="21" name="Evento 1"/>
          <p:cNvSpPr/>
          <p:nvPr/>
        </p:nvSpPr>
        <p:spPr>
          <a:xfrm>
            <a:off x="2266966" y="2670048"/>
            <a:ext cx="0" cy="2523744"/>
          </a:xfrm>
          <a:prstGeom prst="line">
            <a:avLst/>
          </a:prstGeom>
          <a:noFill/>
          <a:ln w="12700">
            <a:solidFill>
              <a:srgbClr val="1D2B4F"/>
            </a:solidFill>
            <a:prstDash val="dash"/>
          </a:ln>
        </p:spPr>
      </p:sp>
      <p:sp>
        <p:nvSpPr>
          <p:cNvPr id="22" name="Shape 19"/>
          <p:cNvSpPr/>
          <p:nvPr/>
        </p:nvSpPr>
        <p:spPr>
          <a:xfrm>
            <a:off x="2138950" y="2395728"/>
            <a:ext cx="256032" cy="256032"/>
          </a:xfrm>
          <a:prstGeom prst="ellipse">
            <a:avLst/>
          </a:prstGeom>
          <a:solidFill>
            <a:schemeClr val="bg1"/>
          </a:solidFill>
          <a:ln w="19050">
            <a:solidFill>
              <a:schemeClr val="tx1"/>
            </a:solidFill>
            <a:prstDash val="solid"/>
          </a:ln>
        </p:spPr>
      </p:sp>
      <p:sp>
        <p:nvSpPr>
          <p:cNvPr id="23" name="Text 20"/>
          <p:cNvSpPr txBox="1"/>
          <p:nvPr/>
        </p:nvSpPr>
        <p:spPr>
          <a:xfrm>
            <a:off x="2138950" y="2395728"/>
            <a:ext cx="256032" cy="256032"/>
          </a:xfrm>
          <a:prstGeom prst="rect">
            <a:avLst/>
          </a:prstGeom>
          <a:noFill/>
          <a:ln/>
        </p:spPr>
        <p:txBody>
          <a:bodyPr wrap="square" lIns="0" tIns="0" rIns="0" bIns="0" rtlCol="0" anchor="ctr"/>
          <a:lstStyle/>
          <a:p>
            <a:pPr algn="ctr" indent="0" marL="0">
              <a:buNone/>
            </a:pPr>
            <a:r>
              <a:rPr lang="en-US" sz="1000" b="1" dirty="0">
                <a:solidFill>
                  <a:schemeClr val="tx1"/>
                </a:solidFill>
              </a:rPr>
              <a:t>1</a:t>
            </a:r>
            <a:endParaRPr lang="en-US" sz="1000" dirty="0"/>
          </a:p>
        </p:txBody>
      </p:sp>
      <p:sp>
        <p:nvSpPr>
          <p:cNvPr id="24" name="Evento 2"/>
          <p:cNvSpPr/>
          <p:nvPr/>
        </p:nvSpPr>
        <p:spPr>
          <a:xfrm>
            <a:off x="3084440" y="2670048"/>
            <a:ext cx="0" cy="2523744"/>
          </a:xfrm>
          <a:prstGeom prst="line">
            <a:avLst/>
          </a:prstGeom>
          <a:noFill/>
          <a:ln w="12700">
            <a:solidFill>
              <a:srgbClr val="1D2B4F"/>
            </a:solidFill>
            <a:prstDash val="dash"/>
          </a:ln>
        </p:spPr>
      </p:sp>
      <p:sp>
        <p:nvSpPr>
          <p:cNvPr id="25" name="Shape 22"/>
          <p:cNvSpPr/>
          <p:nvPr/>
        </p:nvSpPr>
        <p:spPr>
          <a:xfrm>
            <a:off x="2956424" y="2395728"/>
            <a:ext cx="256032" cy="256032"/>
          </a:xfrm>
          <a:prstGeom prst="ellipse">
            <a:avLst/>
          </a:prstGeom>
          <a:solidFill>
            <a:schemeClr val="bg1"/>
          </a:solidFill>
          <a:ln w="19050">
            <a:solidFill>
              <a:schemeClr val="tx1"/>
            </a:solidFill>
            <a:prstDash val="solid"/>
          </a:ln>
        </p:spPr>
      </p:sp>
      <p:sp>
        <p:nvSpPr>
          <p:cNvPr id="26" name="Text 23"/>
          <p:cNvSpPr txBox="1"/>
          <p:nvPr/>
        </p:nvSpPr>
        <p:spPr>
          <a:xfrm>
            <a:off x="2956424" y="2395728"/>
            <a:ext cx="256032" cy="256032"/>
          </a:xfrm>
          <a:prstGeom prst="rect">
            <a:avLst/>
          </a:prstGeom>
          <a:noFill/>
          <a:ln/>
        </p:spPr>
        <p:txBody>
          <a:bodyPr wrap="square" lIns="0" tIns="0" rIns="0" bIns="0" rtlCol="0" anchor="ctr"/>
          <a:lstStyle/>
          <a:p>
            <a:pPr algn="ctr" indent="0" marL="0">
              <a:buNone/>
            </a:pPr>
            <a:r>
              <a:rPr lang="en-US" sz="1000" b="1" dirty="0">
                <a:solidFill>
                  <a:schemeClr val="tx1"/>
                </a:solidFill>
              </a:rPr>
              <a:t>2</a:t>
            </a:r>
            <a:endParaRPr lang="en-US" sz="1000" dirty="0"/>
          </a:p>
        </p:txBody>
      </p:sp>
      <p:sp>
        <p:nvSpPr>
          <p:cNvPr id="27" name="Evento 3"/>
          <p:cNvSpPr/>
          <p:nvPr/>
        </p:nvSpPr>
        <p:spPr>
          <a:xfrm>
            <a:off x="3672447" y="2670048"/>
            <a:ext cx="0" cy="2523744"/>
          </a:xfrm>
          <a:prstGeom prst="line">
            <a:avLst/>
          </a:prstGeom>
          <a:noFill/>
          <a:ln w="12700">
            <a:solidFill>
              <a:srgbClr val="1D2B4F"/>
            </a:solidFill>
            <a:prstDash val="dash"/>
          </a:ln>
        </p:spPr>
      </p:sp>
      <p:sp>
        <p:nvSpPr>
          <p:cNvPr id="28" name="Shape 25"/>
          <p:cNvSpPr/>
          <p:nvPr/>
        </p:nvSpPr>
        <p:spPr>
          <a:xfrm>
            <a:off x="3544431" y="2395728"/>
            <a:ext cx="256032" cy="256032"/>
          </a:xfrm>
          <a:prstGeom prst="ellipse">
            <a:avLst/>
          </a:prstGeom>
          <a:solidFill>
            <a:schemeClr val="bg1"/>
          </a:solidFill>
          <a:ln w="19050">
            <a:solidFill>
              <a:schemeClr val="tx1"/>
            </a:solidFill>
            <a:prstDash val="solid"/>
          </a:ln>
        </p:spPr>
      </p:sp>
      <p:sp>
        <p:nvSpPr>
          <p:cNvPr id="29" name="Text 26"/>
          <p:cNvSpPr txBox="1"/>
          <p:nvPr/>
        </p:nvSpPr>
        <p:spPr>
          <a:xfrm>
            <a:off x="3544431" y="2395728"/>
            <a:ext cx="256032" cy="256032"/>
          </a:xfrm>
          <a:prstGeom prst="rect">
            <a:avLst/>
          </a:prstGeom>
          <a:noFill/>
          <a:ln/>
        </p:spPr>
        <p:txBody>
          <a:bodyPr wrap="square" lIns="0" tIns="0" rIns="0" bIns="0" rtlCol="0" anchor="ctr"/>
          <a:lstStyle/>
          <a:p>
            <a:pPr algn="ctr" indent="0" marL="0">
              <a:buNone/>
            </a:pPr>
            <a:r>
              <a:rPr lang="en-US" sz="1000" b="1" dirty="0">
                <a:solidFill>
                  <a:schemeClr val="tx1"/>
                </a:solidFill>
              </a:rPr>
              <a:t>3</a:t>
            </a:r>
            <a:endParaRPr lang="en-US" sz="1000" dirty="0"/>
          </a:p>
        </p:txBody>
      </p:sp>
      <p:sp>
        <p:nvSpPr>
          <p:cNvPr id="30" name="Evento 4"/>
          <p:cNvSpPr/>
          <p:nvPr/>
        </p:nvSpPr>
        <p:spPr>
          <a:xfrm>
            <a:off x="4131380" y="2670048"/>
            <a:ext cx="0" cy="2523744"/>
          </a:xfrm>
          <a:prstGeom prst="line">
            <a:avLst/>
          </a:prstGeom>
          <a:noFill/>
          <a:ln w="12700">
            <a:solidFill>
              <a:srgbClr val="1D2B4F"/>
            </a:solidFill>
            <a:prstDash val="dash"/>
          </a:ln>
        </p:spPr>
      </p:sp>
      <p:sp>
        <p:nvSpPr>
          <p:cNvPr id="31" name="Shape 28"/>
          <p:cNvSpPr/>
          <p:nvPr/>
        </p:nvSpPr>
        <p:spPr>
          <a:xfrm>
            <a:off x="4003364" y="2395728"/>
            <a:ext cx="256032" cy="256032"/>
          </a:xfrm>
          <a:prstGeom prst="ellipse">
            <a:avLst/>
          </a:prstGeom>
          <a:solidFill>
            <a:schemeClr val="bg1"/>
          </a:solidFill>
          <a:ln w="19050">
            <a:solidFill>
              <a:schemeClr val="tx1"/>
            </a:solidFill>
            <a:prstDash val="solid"/>
          </a:ln>
        </p:spPr>
      </p:sp>
      <p:sp>
        <p:nvSpPr>
          <p:cNvPr id="32" name="Text 29"/>
          <p:cNvSpPr txBox="1"/>
          <p:nvPr/>
        </p:nvSpPr>
        <p:spPr>
          <a:xfrm>
            <a:off x="4003364" y="2395728"/>
            <a:ext cx="256032" cy="256032"/>
          </a:xfrm>
          <a:prstGeom prst="rect">
            <a:avLst/>
          </a:prstGeom>
          <a:noFill/>
          <a:ln/>
        </p:spPr>
        <p:txBody>
          <a:bodyPr wrap="square" lIns="0" tIns="0" rIns="0" bIns="0" rtlCol="0" anchor="ctr"/>
          <a:lstStyle/>
          <a:p>
            <a:pPr algn="ctr" indent="0" marL="0">
              <a:buNone/>
            </a:pPr>
            <a:r>
              <a:rPr lang="en-US" sz="1000" b="1" dirty="0">
                <a:solidFill>
                  <a:schemeClr val="tx1"/>
                </a:solidFill>
              </a:rPr>
              <a:t>4</a:t>
            </a:r>
            <a:endParaRPr lang="en-US" sz="1000" dirty="0"/>
          </a:p>
        </p:txBody>
      </p:sp>
      <p:sp>
        <p:nvSpPr>
          <p:cNvPr id="33" name="Panel hitos"/>
          <p:cNvSpPr/>
          <p:nvPr/>
        </p:nvSpPr>
        <p:spPr>
          <a:xfrm>
            <a:off x="7909560" y="1783080"/>
            <a:ext cx="3733495" cy="4069080"/>
          </a:xfrm>
          <a:prstGeom prst="roundRect">
            <a:avLst>
              <a:gd name="adj" fmla="val 3919"/>
            </a:avLst>
          </a:prstGeom>
          <a:solidFill>
            <a:schemeClr val="bg1"/>
          </a:solidFill>
          <a:ln w="12700">
            <a:solidFill>
              <a:schemeClr val="accent6"/>
            </a:solidFill>
            <a:prstDash val="solid"/>
          </a:ln>
        </p:spPr>
      </p:sp>
      <p:sp>
        <p:nvSpPr>
          <p:cNvPr id="34" name="Text 31"/>
          <p:cNvSpPr txBox="1"/>
          <p:nvPr/>
        </p:nvSpPr>
        <p:spPr>
          <a:xfrm>
            <a:off x="8183880" y="1965960"/>
            <a:ext cx="3184855" cy="320040"/>
          </a:xfrm>
          <a:prstGeom prst="rect">
            <a:avLst/>
          </a:prstGeom>
          <a:noFill/>
          <a:ln/>
        </p:spPr>
        <p:txBody>
          <a:bodyPr wrap="square" lIns="0" tIns="0" rIns="0" bIns="0" rtlCol="0" anchor="ctr"/>
          <a:lstStyle/>
          <a:p>
            <a:pPr indent="0" marL="0">
              <a:buNone/>
            </a:pPr>
            <a:r>
              <a:rPr lang="en-US" sz="1500" b="1" dirty="0">
                <a:solidFill>
                  <a:schemeClr val="tx1"/>
                </a:solidFill>
              </a:rPr>
              <a:t>2025, mes a mes</a:t>
            </a:r>
            <a:endParaRPr lang="en-US" sz="1500" dirty="0"/>
          </a:p>
        </p:txBody>
      </p:sp>
      <p:sp>
        <p:nvSpPr>
          <p:cNvPr id="35" name="Shape 32"/>
          <p:cNvSpPr/>
          <p:nvPr/>
        </p:nvSpPr>
        <p:spPr>
          <a:xfrm>
            <a:off x="8183880" y="2377440"/>
            <a:ext cx="274320" cy="274320"/>
          </a:xfrm>
          <a:prstGeom prst="ellipse">
            <a:avLst/>
          </a:prstGeom>
          <a:solidFill>
            <a:schemeClr val="bg1"/>
          </a:solidFill>
          <a:ln w="19050">
            <a:solidFill>
              <a:schemeClr val="tx1"/>
            </a:solidFill>
            <a:prstDash val="solid"/>
          </a:ln>
        </p:spPr>
      </p:sp>
      <p:sp>
        <p:nvSpPr>
          <p:cNvPr id="36" name="Text 33"/>
          <p:cNvSpPr txBox="1"/>
          <p:nvPr/>
        </p:nvSpPr>
        <p:spPr>
          <a:xfrm>
            <a:off x="8183880" y="2377440"/>
            <a:ext cx="274320" cy="274320"/>
          </a:xfrm>
          <a:prstGeom prst="rect">
            <a:avLst/>
          </a:prstGeom>
          <a:noFill/>
          <a:ln/>
        </p:spPr>
        <p:txBody>
          <a:bodyPr wrap="square" lIns="0" tIns="0" rIns="0" bIns="0" rtlCol="0" anchor="ctr"/>
          <a:lstStyle/>
          <a:p>
            <a:pPr algn="ctr" indent="0" marL="0">
              <a:buNone/>
            </a:pPr>
            <a:r>
              <a:rPr lang="en-US" sz="1100" b="1" dirty="0">
                <a:solidFill>
                  <a:schemeClr val="tx1"/>
                </a:solidFill>
              </a:rPr>
              <a:t>1</a:t>
            </a:r>
            <a:endParaRPr lang="en-US" sz="1100" dirty="0"/>
          </a:p>
        </p:txBody>
      </p:sp>
      <p:sp>
        <p:nvSpPr>
          <p:cNvPr id="37" name="Text 34"/>
          <p:cNvSpPr txBox="1"/>
          <p:nvPr/>
        </p:nvSpPr>
        <p:spPr>
          <a:xfrm>
            <a:off x="8595360" y="2340864"/>
            <a:ext cx="2819095" cy="512064"/>
          </a:xfrm>
          <a:prstGeom prst="rect">
            <a:avLst/>
          </a:prstGeom>
          <a:noFill/>
          <a:ln/>
        </p:spPr>
        <p:txBody>
          <a:bodyPr wrap="square" lIns="0" tIns="0" rIns="0" bIns="0" rtlCol="0" anchor="t"/>
          <a:lstStyle/>
          <a:p>
            <a:pPr indent="0" marL="0">
              <a:buNone/>
            </a:pPr>
            <a:r>
              <a:rPr lang="en-US" sz="1300" b="1" dirty="0">
                <a:solidFill>
                  <a:schemeClr val="tx1"/>
                </a:solidFill>
              </a:rPr>
              <a:t>Abril. </a:t>
            </a:r>
            <a:pPr indent="0" marL="0">
              <a:buNone/>
            </a:pPr>
            <a:r>
              <a:rPr lang="en-US" sz="1300" dirty="0">
                <a:solidFill>
                  <a:schemeClr val="tx2"/>
                </a:solidFill>
              </a:rPr>
              <a:t>Acuerdo con el FMI y salida del cepo.</a:t>
            </a:r>
            <a:endParaRPr lang="en-US" sz="1300" dirty="0"/>
          </a:p>
        </p:txBody>
      </p:sp>
      <p:sp>
        <p:nvSpPr>
          <p:cNvPr id="38" name="Shape 35"/>
          <p:cNvSpPr/>
          <p:nvPr/>
        </p:nvSpPr>
        <p:spPr>
          <a:xfrm>
            <a:off x="8183880" y="2999232"/>
            <a:ext cx="274320" cy="274320"/>
          </a:xfrm>
          <a:prstGeom prst="ellipse">
            <a:avLst/>
          </a:prstGeom>
          <a:solidFill>
            <a:schemeClr val="bg1"/>
          </a:solidFill>
          <a:ln w="19050">
            <a:solidFill>
              <a:schemeClr val="tx1"/>
            </a:solidFill>
            <a:prstDash val="solid"/>
          </a:ln>
        </p:spPr>
      </p:sp>
      <p:sp>
        <p:nvSpPr>
          <p:cNvPr id="39" name="Text 36"/>
          <p:cNvSpPr txBox="1"/>
          <p:nvPr/>
        </p:nvSpPr>
        <p:spPr>
          <a:xfrm>
            <a:off x="8183880" y="2999232"/>
            <a:ext cx="274320" cy="274320"/>
          </a:xfrm>
          <a:prstGeom prst="rect">
            <a:avLst/>
          </a:prstGeom>
          <a:noFill/>
          <a:ln/>
        </p:spPr>
        <p:txBody>
          <a:bodyPr wrap="square" lIns="0" tIns="0" rIns="0" bIns="0" rtlCol="0" anchor="ctr"/>
          <a:lstStyle/>
          <a:p>
            <a:pPr algn="ctr" indent="0" marL="0">
              <a:buNone/>
            </a:pPr>
            <a:r>
              <a:rPr lang="en-US" sz="1100" b="1" dirty="0">
                <a:solidFill>
                  <a:schemeClr val="tx1"/>
                </a:solidFill>
              </a:rPr>
              <a:t>2</a:t>
            </a:r>
            <a:endParaRPr lang="en-US" sz="1100" dirty="0"/>
          </a:p>
        </p:txBody>
      </p:sp>
      <p:sp>
        <p:nvSpPr>
          <p:cNvPr id="40" name="Text 37"/>
          <p:cNvSpPr txBox="1"/>
          <p:nvPr/>
        </p:nvSpPr>
        <p:spPr>
          <a:xfrm>
            <a:off x="8595360" y="2962656"/>
            <a:ext cx="2819095" cy="512064"/>
          </a:xfrm>
          <a:prstGeom prst="rect">
            <a:avLst/>
          </a:prstGeom>
          <a:noFill/>
          <a:ln/>
        </p:spPr>
        <p:txBody>
          <a:bodyPr wrap="square" lIns="0" tIns="0" rIns="0" bIns="0" rtlCol="0" anchor="t"/>
          <a:lstStyle/>
          <a:p>
            <a:pPr indent="0" marL="0">
              <a:buNone/>
            </a:pPr>
            <a:r>
              <a:rPr lang="en-US" sz="1300" b="1" dirty="0">
                <a:solidFill>
                  <a:schemeClr val="tx1"/>
                </a:solidFill>
              </a:rPr>
              <a:t>Julio. </a:t>
            </a:r>
            <a:pPr indent="0" marL="0">
              <a:buNone/>
            </a:pPr>
            <a:r>
              <a:rPr lang="en-US" sz="1300" dirty="0">
                <a:solidFill>
                  <a:schemeClr val="tx2"/>
                </a:solidFill>
              </a:rPr>
              <a:t>Fin de las LEFIs: el Gobierno deja de fijar la tasa.</a:t>
            </a:r>
            <a:endParaRPr lang="en-US" sz="1300" dirty="0"/>
          </a:p>
        </p:txBody>
      </p:sp>
      <p:sp>
        <p:nvSpPr>
          <p:cNvPr id="41" name="Shape 38"/>
          <p:cNvSpPr/>
          <p:nvPr/>
        </p:nvSpPr>
        <p:spPr>
          <a:xfrm>
            <a:off x="8183880" y="3621024"/>
            <a:ext cx="274320" cy="274320"/>
          </a:xfrm>
          <a:prstGeom prst="ellipse">
            <a:avLst/>
          </a:prstGeom>
          <a:solidFill>
            <a:schemeClr val="bg1"/>
          </a:solidFill>
          <a:ln w="19050">
            <a:solidFill>
              <a:schemeClr val="tx1"/>
            </a:solidFill>
            <a:prstDash val="solid"/>
          </a:ln>
        </p:spPr>
      </p:sp>
      <p:sp>
        <p:nvSpPr>
          <p:cNvPr id="42" name="Text 39"/>
          <p:cNvSpPr txBox="1"/>
          <p:nvPr/>
        </p:nvSpPr>
        <p:spPr>
          <a:xfrm>
            <a:off x="8183880" y="3621024"/>
            <a:ext cx="274320" cy="274320"/>
          </a:xfrm>
          <a:prstGeom prst="rect">
            <a:avLst/>
          </a:prstGeom>
          <a:noFill/>
          <a:ln/>
        </p:spPr>
        <p:txBody>
          <a:bodyPr wrap="square" lIns="0" tIns="0" rIns="0" bIns="0" rtlCol="0" anchor="ctr"/>
          <a:lstStyle/>
          <a:p>
            <a:pPr algn="ctr" indent="0" marL="0">
              <a:buNone/>
            </a:pPr>
            <a:r>
              <a:rPr lang="en-US" sz="1100" b="1" dirty="0">
                <a:solidFill>
                  <a:schemeClr val="tx1"/>
                </a:solidFill>
              </a:rPr>
              <a:t>3</a:t>
            </a:r>
            <a:endParaRPr lang="en-US" sz="1100" dirty="0"/>
          </a:p>
        </p:txBody>
      </p:sp>
      <p:sp>
        <p:nvSpPr>
          <p:cNvPr id="43" name="Text 40"/>
          <p:cNvSpPr txBox="1"/>
          <p:nvPr/>
        </p:nvSpPr>
        <p:spPr>
          <a:xfrm>
            <a:off x="8595360" y="3584448"/>
            <a:ext cx="2819095" cy="512064"/>
          </a:xfrm>
          <a:prstGeom prst="rect">
            <a:avLst/>
          </a:prstGeom>
          <a:noFill/>
          <a:ln/>
        </p:spPr>
        <p:txBody>
          <a:bodyPr wrap="square" lIns="0" tIns="0" rIns="0" bIns="0" rtlCol="0" anchor="t"/>
          <a:lstStyle/>
          <a:p>
            <a:pPr indent="0" marL="0">
              <a:buNone/>
            </a:pPr>
            <a:r>
              <a:rPr lang="en-US" sz="1300" b="1" dirty="0">
                <a:solidFill>
                  <a:schemeClr val="tx1"/>
                </a:solidFill>
              </a:rPr>
              <a:t>Septiembre. </a:t>
            </a:r>
            <a:pPr indent="0" marL="0">
              <a:buNone/>
            </a:pPr>
            <a:r>
              <a:rPr lang="en-US" sz="1300" dirty="0">
                <a:solidFill>
                  <a:schemeClr val="tx2"/>
                </a:solidFill>
              </a:rPr>
              <a:t>Elecciones bonaerenses: tasa real de casi 40%.</a:t>
            </a:r>
            <a:endParaRPr lang="en-US" sz="1300" dirty="0"/>
          </a:p>
        </p:txBody>
      </p:sp>
      <p:sp>
        <p:nvSpPr>
          <p:cNvPr id="44" name="Shape 41"/>
          <p:cNvSpPr/>
          <p:nvPr/>
        </p:nvSpPr>
        <p:spPr>
          <a:xfrm>
            <a:off x="8183880" y="4242816"/>
            <a:ext cx="274320" cy="274320"/>
          </a:xfrm>
          <a:prstGeom prst="ellipse">
            <a:avLst/>
          </a:prstGeom>
          <a:solidFill>
            <a:schemeClr val="bg1"/>
          </a:solidFill>
          <a:ln w="19050">
            <a:solidFill>
              <a:schemeClr val="tx1"/>
            </a:solidFill>
            <a:prstDash val="solid"/>
          </a:ln>
        </p:spPr>
      </p:sp>
      <p:sp>
        <p:nvSpPr>
          <p:cNvPr id="45" name="Text 42"/>
          <p:cNvSpPr txBox="1"/>
          <p:nvPr/>
        </p:nvSpPr>
        <p:spPr>
          <a:xfrm>
            <a:off x="8183880" y="4242816"/>
            <a:ext cx="274320" cy="274320"/>
          </a:xfrm>
          <a:prstGeom prst="rect">
            <a:avLst/>
          </a:prstGeom>
          <a:noFill/>
          <a:ln/>
        </p:spPr>
        <p:txBody>
          <a:bodyPr wrap="square" lIns="0" tIns="0" rIns="0" bIns="0" rtlCol="0" anchor="ctr"/>
          <a:lstStyle/>
          <a:p>
            <a:pPr algn="ctr" indent="0" marL="0">
              <a:buNone/>
            </a:pPr>
            <a:r>
              <a:rPr lang="en-US" sz="1100" b="1" dirty="0">
                <a:solidFill>
                  <a:schemeClr val="tx1"/>
                </a:solidFill>
              </a:rPr>
              <a:t>4</a:t>
            </a:r>
            <a:endParaRPr lang="en-US" sz="1100" dirty="0"/>
          </a:p>
        </p:txBody>
      </p:sp>
      <p:sp>
        <p:nvSpPr>
          <p:cNvPr id="46" name="Text 43"/>
          <p:cNvSpPr txBox="1"/>
          <p:nvPr/>
        </p:nvSpPr>
        <p:spPr>
          <a:xfrm>
            <a:off x="8595360" y="4206240"/>
            <a:ext cx="2819095" cy="512064"/>
          </a:xfrm>
          <a:prstGeom prst="rect">
            <a:avLst/>
          </a:prstGeom>
          <a:noFill/>
          <a:ln/>
        </p:spPr>
        <p:txBody>
          <a:bodyPr wrap="square" lIns="0" tIns="0" rIns="0" bIns="0" rtlCol="0" anchor="t"/>
          <a:lstStyle/>
          <a:p>
            <a:pPr indent="0" marL="0">
              <a:buNone/>
            </a:pPr>
            <a:r>
              <a:rPr lang="en-US" sz="1300" b="1" dirty="0">
                <a:solidFill>
                  <a:schemeClr val="tx1"/>
                </a:solidFill>
              </a:rPr>
              <a:t>Octubre. </a:t>
            </a:r>
            <a:pPr indent="0" marL="0">
              <a:buNone/>
            </a:pPr>
            <a:r>
              <a:rPr lang="en-US" sz="1300" dirty="0">
                <a:solidFill>
                  <a:schemeClr val="tx2"/>
                </a:solidFill>
              </a:rPr>
              <a:t>Swap con EE.UU. y legislativas: las tasas bajan.</a:t>
            </a:r>
            <a:endParaRPr lang="en-US" sz="1300" dirty="0"/>
          </a:p>
        </p:txBody>
      </p:sp>
      <p:sp>
        <p:nvSpPr>
          <p:cNvPr id="47" name="Ejemplo"/>
          <p:cNvSpPr/>
          <p:nvPr/>
        </p:nvSpPr>
        <p:spPr>
          <a:xfrm>
            <a:off x="8183880" y="4937760"/>
            <a:ext cx="3184855" cy="777240"/>
          </a:xfrm>
          <a:prstGeom prst="roundRect">
            <a:avLst>
              <a:gd name="adj" fmla="val 11765"/>
            </a:avLst>
          </a:prstGeom>
          <a:solidFill>
            <a:schemeClr val="bg2"/>
          </a:solidFill>
          <a:ln/>
        </p:spPr>
      </p:sp>
      <p:sp>
        <p:nvSpPr>
          <p:cNvPr id="48" name="Text 45"/>
          <p:cNvSpPr txBox="1"/>
          <p:nvPr/>
        </p:nvSpPr>
        <p:spPr>
          <a:xfrm>
            <a:off x="8366760" y="5047488"/>
            <a:ext cx="2819095" cy="557784"/>
          </a:xfrm>
          <a:prstGeom prst="rect">
            <a:avLst/>
          </a:prstGeom>
          <a:noFill/>
          <a:ln/>
        </p:spPr>
        <p:txBody>
          <a:bodyPr wrap="square" lIns="0" tIns="0" rIns="0" bIns="0" rtlCol="0" anchor="ctr"/>
          <a:lstStyle/>
          <a:p>
            <a:pPr indent="0" marL="0">
              <a:buNone/>
            </a:pPr>
            <a:r>
              <a:rPr lang="en-US" sz="1300" b="1" dirty="0">
                <a:solidFill>
                  <a:schemeClr val="tx1"/>
                </a:solidFill>
              </a:rPr>
              <a:t>Tasa real: </a:t>
            </a:r>
            <a:pPr indent="0" marL="0">
              <a:buNone/>
            </a:pPr>
            <a:r>
              <a:rPr lang="en-US" sz="1300" dirty="0">
                <a:solidFill>
                  <a:schemeClr val="tx2"/>
                </a:solidFill>
              </a:rPr>
              <a:t>si es negativa, la inflación achica la deuda; si es positiva, la agranda.</a:t>
            </a:r>
            <a:endParaRPr lang="en-US" sz="1300" dirty="0"/>
          </a:p>
        </p:txBody>
      </p:sp>
      <p:sp>
        <p:nvSpPr>
          <p:cNvPr id="49" name="Fuente"/>
          <p:cNvSpPr txBox="1"/>
          <p:nvPr/>
        </p:nvSpPr>
        <p:spPr>
          <a:xfrm>
            <a:off x="548640" y="6035040"/>
            <a:ext cx="11094415" cy="237744"/>
          </a:xfrm>
          <a:prstGeom prst="rect">
            <a:avLst/>
          </a:prstGeom>
          <a:noFill/>
          <a:ln/>
        </p:spPr>
        <p:txBody>
          <a:bodyPr wrap="square" lIns="0" tIns="0" rIns="0" bIns="0" rtlCol="0" anchor="ctr"/>
          <a:lstStyle/>
          <a:p>
            <a:pPr indent="0" marL="0">
              <a:buNone/>
            </a:pPr>
            <a:r>
              <a:rPr lang="en-US" sz="1000" dirty="0">
                <a:solidFill>
                  <a:schemeClr val="accent5"/>
                </a:solidFill>
              </a:rPr>
              <a:t>Fuente: BCRA (BADLAR bancos privados) e INDEC. Sombreado: tasas altas, del fin de las LEFIs a las legislativas. La BADLAR nominal pasó de 32% en julio a casi 60% en agosto.</a:t>
            </a:r>
            <a:endParaRPr lang="en-US" sz="10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1463040" y="457200"/>
            <a:ext cx="9144000" cy="274320"/>
          </a:xfrm>
          <a:prstGeom prst="rect">
            <a:avLst/>
          </a:prstGeom>
          <a:noFill/>
          <a:ln/>
        </p:spPr>
        <p:txBody>
          <a:bodyPr wrap="square" lIns="0" tIns="0" rIns="0" bIns="0" rtlCol="0" anchor="ctr"/>
          <a:lstStyle/>
          <a:p>
            <a:pPr algn="l" indent="0" marL="0">
              <a:buNone/>
            </a:pPr>
            <a:r>
              <a:rPr lang="en-US" sz="1200" b="1" spc="150" kern="0" dirty="0">
                <a:solidFill>
                  <a:schemeClr val="accent3"/>
                </a:solidFill>
              </a:rPr>
              <a:t>PASO 4 DE 4 · MORA</a:t>
            </a:r>
            <a:endParaRPr lang="en-US" sz="1200" dirty="0"/>
          </a:p>
        </p:txBody>
      </p:sp>
      <p:sp>
        <p:nvSpPr>
          <p:cNvPr id="3" name="Text 1"/>
          <p:cNvSpPr/>
          <p:nvPr>
            <p:ph idx="102" type="title" hasCustomPrompt="1"/>
          </p:nvPr>
        </p:nvSpPr>
        <p:spPr>
          <a:xfrm>
            <a:off x="1463040" y="749808"/>
            <a:ext cx="10180015" cy="685800"/>
          </a:xfrm>
          <a:prstGeom prst="rect">
            <a:avLst/>
          </a:prstGeom>
          <a:noFill/>
          <a:ln/>
        </p:spPr>
        <p:txBody>
          <a:bodyPr wrap="square" lIns="0" tIns="0" rIns="0" bIns="0" rtlCol="0" anchor="t"/>
          <a:lstStyle/>
          <a:p>
            <a:pPr algn="l" indent="0" marL="0">
              <a:buNone/>
            </a:pPr>
            <a:r>
              <a:rPr lang="en-US" sz="3200" b="1" dirty="0">
                <a:solidFill>
                  <a:schemeClr val="tx1"/>
                </a:solidFill>
              </a:rPr>
              <a:t>Y la deuda dejó de pagarse</a:t>
            </a:r>
            <a:endParaRPr lang="en-US" sz="3200" dirty="0"/>
          </a:p>
        </p:txBody>
      </p:sp>
      <p:sp>
        <p:nvSpPr>
          <p:cNvPr id="4" name="Paso 4"/>
          <p:cNvSpPr/>
          <p:nvPr/>
        </p:nvSpPr>
        <p:spPr>
          <a:xfrm>
            <a:off x="548640" y="502920"/>
            <a:ext cx="713232" cy="713232"/>
          </a:xfrm>
          <a:prstGeom prst="ellipse">
            <a:avLst/>
          </a:prstGeom>
          <a:solidFill>
            <a:schemeClr val="accent3"/>
          </a:solidFill>
          <a:ln/>
        </p:spPr>
      </p:sp>
      <p:sp>
        <p:nvSpPr>
          <p:cNvPr id="5" name="Text 3"/>
          <p:cNvSpPr txBox="1"/>
          <p:nvPr/>
        </p:nvSpPr>
        <p:spPr>
          <a:xfrm>
            <a:off x="548640" y="502920"/>
            <a:ext cx="713232" cy="713232"/>
          </a:xfrm>
          <a:prstGeom prst="rect">
            <a:avLst/>
          </a:prstGeom>
          <a:noFill/>
          <a:ln/>
        </p:spPr>
        <p:txBody>
          <a:bodyPr wrap="square" lIns="0" tIns="0" rIns="0" bIns="0" rtlCol="0" anchor="ctr"/>
          <a:lstStyle/>
          <a:p>
            <a:pPr algn="ctr" indent="0" marL="0">
              <a:buNone/>
            </a:pPr>
            <a:r>
              <a:rPr lang="en-US" sz="2600" b="1" dirty="0">
                <a:solidFill>
                  <a:schemeClr val="bg1"/>
                </a:solidFill>
              </a:rPr>
              <a:t>4</a:t>
            </a:r>
            <a:endParaRPr lang="en-US" sz="2600" dirty="0"/>
          </a:p>
        </p:txBody>
      </p:sp>
      <p:sp>
        <p:nvSpPr>
          <p:cNvPr id="6" name="Panel mora evolución"/>
          <p:cNvSpPr/>
          <p:nvPr/>
        </p:nvSpPr>
        <p:spPr>
          <a:xfrm>
            <a:off x="548640" y="1783080"/>
            <a:ext cx="5410048" cy="3383280"/>
          </a:xfrm>
          <a:prstGeom prst="roundRect">
            <a:avLst>
              <a:gd name="adj" fmla="val 4324"/>
            </a:avLst>
          </a:prstGeom>
          <a:solidFill>
            <a:schemeClr val="bg1"/>
          </a:solidFill>
          <a:ln w="12700">
            <a:solidFill>
              <a:schemeClr val="accent6"/>
            </a:solidFill>
            <a:prstDash val="solid"/>
          </a:ln>
        </p:spPr>
      </p:sp>
      <p:graphicFrame>
        <p:nvGraphicFramePr>
          <p:cNvPr id="7" name="Chart 0" descr=""/>
          <p:cNvGraphicFramePr/>
          <p:nvPr/>
        </p:nvGraphicFramePr>
        <p:xfrm>
          <a:off x="685800" y="1874520"/>
          <a:ext cx="5135728" cy="3200400"/>
        </p:xfrm>
        <a:graphic xmlns:a="http://schemas.openxmlformats.org/drawingml/2006/main">
          <a:graphicData uri="http://schemas.openxmlformats.org/drawingml/2006/chart">
            <c:chart xmlns:c="http://schemas.openxmlformats.org/drawingml/2006/chart" r:id="rId1"/>
          </a:graphicData>
        </a:graphic>
      </p:graphicFrame>
      <p:sp>
        <p:nvSpPr>
          <p:cNvPr id="8" name="Panel mora por línea"/>
          <p:cNvSpPr/>
          <p:nvPr/>
        </p:nvSpPr>
        <p:spPr>
          <a:xfrm>
            <a:off x="6233008" y="1783080"/>
            <a:ext cx="5410048" cy="3383280"/>
          </a:xfrm>
          <a:prstGeom prst="roundRect">
            <a:avLst>
              <a:gd name="adj" fmla="val 4324"/>
            </a:avLst>
          </a:prstGeom>
          <a:solidFill>
            <a:schemeClr val="bg1"/>
          </a:solidFill>
          <a:ln w="12700">
            <a:solidFill>
              <a:schemeClr val="accent6"/>
            </a:solidFill>
            <a:prstDash val="solid"/>
          </a:ln>
        </p:spPr>
      </p:sp>
      <p:graphicFrame>
        <p:nvGraphicFramePr>
          <p:cNvPr id="9" name="Chart 1" descr=""/>
          <p:cNvGraphicFramePr/>
          <p:nvPr/>
        </p:nvGraphicFramePr>
        <p:xfrm>
          <a:off x="6370168" y="1874520"/>
          <a:ext cx="5135728" cy="3200400"/>
        </p:xfrm>
        <a:graphic xmlns:a="http://schemas.openxmlformats.org/drawingml/2006/main">
          <a:graphicData uri="http://schemas.openxmlformats.org/drawingml/2006/chart">
            <c:chart xmlns:c="http://schemas.openxmlformats.org/drawingml/2006/chart" r:id="rId2"/>
          </a:graphicData>
        </a:graphic>
      </p:graphicFrame>
      <p:sp>
        <p:nvSpPr>
          <p:cNvPr id="10" name="Ejemplo"/>
          <p:cNvSpPr/>
          <p:nvPr/>
        </p:nvSpPr>
        <p:spPr>
          <a:xfrm>
            <a:off x="548640" y="5321808"/>
            <a:ext cx="11094415" cy="594360"/>
          </a:xfrm>
          <a:prstGeom prst="roundRect">
            <a:avLst>
              <a:gd name="adj" fmla="val 15385"/>
            </a:avLst>
          </a:prstGeom>
          <a:solidFill>
            <a:schemeClr val="bg1"/>
          </a:solidFill>
          <a:ln w="12700">
            <a:solidFill>
              <a:schemeClr val="accent6"/>
            </a:solidFill>
            <a:prstDash val="solid"/>
          </a:ln>
        </p:spPr>
      </p:sp>
      <p:sp>
        <p:nvSpPr>
          <p:cNvPr id="11" name="Text 7"/>
          <p:cNvSpPr txBox="1"/>
          <p:nvPr/>
        </p:nvSpPr>
        <p:spPr>
          <a:xfrm>
            <a:off x="731520" y="5431536"/>
            <a:ext cx="10728655" cy="374904"/>
          </a:xfrm>
          <a:prstGeom prst="rect">
            <a:avLst/>
          </a:prstGeom>
          <a:noFill/>
          <a:ln/>
        </p:spPr>
        <p:txBody>
          <a:bodyPr wrap="square" lIns="0" tIns="0" rIns="0" bIns="0" rtlCol="0" anchor="ctr"/>
          <a:lstStyle/>
          <a:p>
            <a:pPr indent="0" marL="0">
              <a:buNone/>
            </a:pPr>
            <a:r>
              <a:rPr lang="en-US" sz="1500" b="1" dirty="0">
                <a:solidFill>
                  <a:schemeClr val="tx1"/>
                </a:solidFill>
              </a:rPr>
              <a:t>Fallan más los préstamos que más crecieron: </a:t>
            </a:r>
            <a:pPr indent="0" marL="0">
              <a:buNone/>
            </a:pPr>
            <a:r>
              <a:rPr lang="en-US" sz="1500" dirty="0">
                <a:solidFill>
                  <a:schemeClr val="tx2"/>
                </a:solidFill>
              </a:rPr>
              <a:t>personales y tarjetas. La mora hipotecaria sigue baja.</a:t>
            </a:r>
            <a:endParaRPr lang="en-US" sz="1500" dirty="0"/>
          </a:p>
        </p:txBody>
      </p:sp>
      <p:sp>
        <p:nvSpPr>
          <p:cNvPr id="12" name="Fuente"/>
          <p:cNvSpPr txBox="1"/>
          <p:nvPr/>
        </p:nvSpPr>
        <p:spPr>
          <a:xfrm>
            <a:off x="548640" y="6053328"/>
            <a:ext cx="11094415" cy="237744"/>
          </a:xfrm>
          <a:prstGeom prst="rect">
            <a:avLst/>
          </a:prstGeom>
          <a:noFill/>
          <a:ln/>
        </p:spPr>
        <p:txBody>
          <a:bodyPr wrap="square" lIns="0" tIns="0" rIns="0" bIns="0" rtlCol="0" anchor="ctr"/>
          <a:lstStyle/>
          <a:p>
            <a:pPr indent="0" marL="0">
              <a:buNone/>
            </a:pPr>
            <a:r>
              <a:rPr lang="en-US" sz="1000" dirty="0">
                <a:solidFill>
                  <a:schemeClr val="accent5"/>
                </a:solidFill>
              </a:rPr>
              <a:t>Fuente: BCRA, Informe sobre Bancos; Max Capital.</a:t>
            </a:r>
            <a:endParaRPr lang="en-US" sz="10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9144000" cy="274320"/>
          </a:xfrm>
          <a:prstGeom prst="rect">
            <a:avLst/>
          </a:prstGeom>
          <a:noFill/>
          <a:ln/>
        </p:spPr>
        <p:txBody>
          <a:bodyPr wrap="square" lIns="0" tIns="0" rIns="0" bIns="0" rtlCol="0" anchor="ctr"/>
          <a:lstStyle/>
          <a:p>
            <a:pPr algn="l" indent="0" marL="0">
              <a:buNone/>
            </a:pPr>
            <a:r>
              <a:rPr lang="en-US" sz="1200" b="1" spc="150" kern="0" dirty="0">
                <a:solidFill>
                  <a:schemeClr val="accent3"/>
                </a:solidFill>
              </a:rPr>
              <a:t>QUÉ HACER</a:t>
            </a:r>
            <a:endParaRPr lang="en-US" sz="1200" dirty="0"/>
          </a:p>
        </p:txBody>
      </p:sp>
      <p:sp>
        <p:nvSpPr>
          <p:cNvPr id="3" name="Text 1"/>
          <p:cNvSpPr/>
          <p:nvPr>
            <p:ph idx="102" type="title" hasCustomPrompt="1"/>
          </p:nvPr>
        </p:nvSpPr>
        <p:spPr>
          <a:xfrm>
            <a:off x="548640" y="749808"/>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Cuatro propuestas para sacar a las familias de la deuda</a:t>
            </a:r>
            <a:endParaRPr lang="en-US" sz="3200" dirty="0"/>
          </a:p>
        </p:txBody>
      </p:sp>
      <p:sp>
        <p:nvSpPr>
          <p:cNvPr id="4" name="Propuesta 1"/>
          <p:cNvSpPr/>
          <p:nvPr/>
        </p:nvSpPr>
        <p:spPr>
          <a:xfrm>
            <a:off x="548640" y="1783080"/>
            <a:ext cx="5410048" cy="1920240"/>
          </a:xfrm>
          <a:prstGeom prst="roundRect">
            <a:avLst>
              <a:gd name="adj" fmla="val 7619"/>
            </a:avLst>
          </a:prstGeom>
          <a:solidFill>
            <a:schemeClr val="bg1"/>
          </a:solidFill>
          <a:ln w="12700">
            <a:solidFill>
              <a:schemeClr val="accent6"/>
            </a:solidFill>
            <a:prstDash val="solid"/>
          </a:ln>
        </p:spPr>
      </p:sp>
      <p:sp>
        <p:nvSpPr>
          <p:cNvPr id="5" name="Shape 3"/>
          <p:cNvSpPr/>
          <p:nvPr/>
        </p:nvSpPr>
        <p:spPr>
          <a:xfrm>
            <a:off x="886968" y="2093976"/>
            <a:ext cx="274320" cy="274320"/>
          </a:xfrm>
          <a:prstGeom prst="ellipse">
            <a:avLst/>
          </a:prstGeom>
          <a:solidFill>
            <a:schemeClr val="accent3"/>
          </a:solidFill>
          <a:ln/>
        </p:spPr>
      </p:sp>
      <p:sp>
        <p:nvSpPr>
          <p:cNvPr id="6" name="Text 4"/>
          <p:cNvSpPr txBox="1"/>
          <p:nvPr/>
        </p:nvSpPr>
        <p:spPr>
          <a:xfrm>
            <a:off x="1280160" y="2039112"/>
            <a:ext cx="3215488" cy="384048"/>
          </a:xfrm>
          <a:prstGeom prst="rect">
            <a:avLst/>
          </a:prstGeom>
          <a:noFill/>
          <a:ln/>
        </p:spPr>
        <p:txBody>
          <a:bodyPr wrap="square" lIns="0" tIns="0" rIns="0" bIns="0" rtlCol="0" anchor="ctr"/>
          <a:lstStyle/>
          <a:p>
            <a:pPr indent="0" marL="0">
              <a:buNone/>
            </a:pPr>
            <a:r>
              <a:rPr lang="en-US" sz="1900" b="1" dirty="0">
                <a:solidFill>
                  <a:schemeClr val="tx1"/>
                </a:solidFill>
              </a:rPr>
              <a:t>Ponerle techo al precio</a:t>
            </a:r>
            <a:endParaRPr lang="en-US" sz="1900" dirty="0"/>
          </a:p>
        </p:txBody>
      </p:sp>
      <p:sp>
        <p:nvSpPr>
          <p:cNvPr id="7" name="Text 5"/>
          <p:cNvSpPr txBox="1"/>
          <p:nvPr/>
        </p:nvSpPr>
        <p:spPr>
          <a:xfrm>
            <a:off x="4495648" y="2057400"/>
            <a:ext cx="1188720" cy="347472"/>
          </a:xfrm>
          <a:prstGeom prst="rect">
            <a:avLst/>
          </a:prstGeom>
          <a:noFill/>
          <a:ln/>
        </p:spPr>
        <p:txBody>
          <a:bodyPr wrap="square" lIns="0" tIns="0" rIns="0" bIns="0" rtlCol="0" anchor="ctr"/>
          <a:lstStyle/>
          <a:p>
            <a:pPr algn="r" indent="0" marL="0">
              <a:buNone/>
            </a:pPr>
            <a:r>
              <a:rPr lang="en-US" sz="1100" b="1" spc="150" kern="0" dirty="0">
                <a:solidFill>
                  <a:schemeClr val="accent5"/>
                </a:solidFill>
              </a:rPr>
              <a:t>NACIÓN</a:t>
            </a:r>
            <a:endParaRPr lang="en-US" sz="1100" dirty="0"/>
          </a:p>
        </p:txBody>
      </p:sp>
      <p:sp>
        <p:nvSpPr>
          <p:cNvPr id="8" name="Text 6"/>
          <p:cNvSpPr txBox="1"/>
          <p:nvPr/>
        </p:nvSpPr>
        <p:spPr>
          <a:xfrm>
            <a:off x="822960" y="2560320"/>
            <a:ext cx="4861408" cy="960120"/>
          </a:xfrm>
          <a:prstGeom prst="rect">
            <a:avLst/>
          </a:prstGeom>
          <a:noFill/>
          <a:ln/>
        </p:spPr>
        <p:txBody>
          <a:bodyPr wrap="square" lIns="0" tIns="0" rIns="0" bIns="0" rtlCol="0" anchor="t"/>
          <a:lstStyle/>
          <a:p>
            <a:pPr indent="0" marL="0">
              <a:buNone/>
            </a:pPr>
            <a:r>
              <a:rPr lang="en-US" sz="1500" dirty="0">
                <a:solidFill>
                  <a:schemeClr val="tx2"/>
                </a:solidFill>
              </a:rPr>
              <a:t>Volver a poner topes a las tasas y a los punitorios, también en billeteras virtuales y proveedores no financieros.</a:t>
            </a:r>
            <a:endParaRPr lang="en-US" sz="1500" dirty="0"/>
          </a:p>
        </p:txBody>
      </p:sp>
      <p:sp>
        <p:nvSpPr>
          <p:cNvPr id="9" name="Propuesta 2"/>
          <p:cNvSpPr/>
          <p:nvPr/>
        </p:nvSpPr>
        <p:spPr>
          <a:xfrm>
            <a:off x="6233008" y="1783080"/>
            <a:ext cx="5410048" cy="1920240"/>
          </a:xfrm>
          <a:prstGeom prst="roundRect">
            <a:avLst>
              <a:gd name="adj" fmla="val 7619"/>
            </a:avLst>
          </a:prstGeom>
          <a:solidFill>
            <a:schemeClr val="bg1"/>
          </a:solidFill>
          <a:ln w="12700">
            <a:solidFill>
              <a:schemeClr val="accent6"/>
            </a:solidFill>
            <a:prstDash val="solid"/>
          </a:ln>
        </p:spPr>
      </p:sp>
      <p:sp>
        <p:nvSpPr>
          <p:cNvPr id="10" name="Shape 8"/>
          <p:cNvSpPr/>
          <p:nvPr/>
        </p:nvSpPr>
        <p:spPr>
          <a:xfrm>
            <a:off x="6571336" y="2093976"/>
            <a:ext cx="274320" cy="274320"/>
          </a:xfrm>
          <a:prstGeom prst="ellipse">
            <a:avLst/>
          </a:prstGeom>
          <a:solidFill>
            <a:schemeClr val="accent3"/>
          </a:solidFill>
          <a:ln/>
        </p:spPr>
      </p:sp>
      <p:sp>
        <p:nvSpPr>
          <p:cNvPr id="11" name="Text 9"/>
          <p:cNvSpPr txBox="1"/>
          <p:nvPr/>
        </p:nvSpPr>
        <p:spPr>
          <a:xfrm>
            <a:off x="6964528" y="2039112"/>
            <a:ext cx="3215488" cy="384048"/>
          </a:xfrm>
          <a:prstGeom prst="rect">
            <a:avLst/>
          </a:prstGeom>
          <a:noFill/>
          <a:ln/>
        </p:spPr>
        <p:txBody>
          <a:bodyPr wrap="square" lIns="0" tIns="0" rIns="0" bIns="0" rtlCol="0" anchor="ctr"/>
          <a:lstStyle/>
          <a:p>
            <a:pPr indent="0" marL="0">
              <a:buNone/>
            </a:pPr>
            <a:r>
              <a:rPr lang="en-US" sz="1900" b="1" dirty="0">
                <a:solidFill>
                  <a:schemeClr val="tx1"/>
                </a:solidFill>
              </a:rPr>
              <a:t>Que se vea todo</a:t>
            </a:r>
            <a:endParaRPr lang="en-US" sz="1900" dirty="0"/>
          </a:p>
        </p:txBody>
      </p:sp>
      <p:sp>
        <p:nvSpPr>
          <p:cNvPr id="12" name="Text 10"/>
          <p:cNvSpPr txBox="1"/>
          <p:nvPr/>
        </p:nvSpPr>
        <p:spPr>
          <a:xfrm>
            <a:off x="10180015" y="2057400"/>
            <a:ext cx="1188720" cy="347472"/>
          </a:xfrm>
          <a:prstGeom prst="rect">
            <a:avLst/>
          </a:prstGeom>
          <a:noFill/>
          <a:ln/>
        </p:spPr>
        <p:txBody>
          <a:bodyPr wrap="square" lIns="0" tIns="0" rIns="0" bIns="0" rtlCol="0" anchor="ctr"/>
          <a:lstStyle/>
          <a:p>
            <a:pPr algn="r" indent="0" marL="0">
              <a:buNone/>
            </a:pPr>
            <a:r>
              <a:rPr lang="en-US" sz="1100" b="1" spc="150" kern="0" dirty="0">
                <a:solidFill>
                  <a:schemeClr val="accent5"/>
                </a:solidFill>
              </a:rPr>
              <a:t>NACIÓN</a:t>
            </a:r>
            <a:endParaRPr lang="en-US" sz="1100" dirty="0"/>
          </a:p>
        </p:txBody>
      </p:sp>
      <p:sp>
        <p:nvSpPr>
          <p:cNvPr id="13" name="Text 11"/>
          <p:cNvSpPr txBox="1"/>
          <p:nvPr/>
        </p:nvSpPr>
        <p:spPr>
          <a:xfrm>
            <a:off x="6507328" y="2560320"/>
            <a:ext cx="4861408" cy="960120"/>
          </a:xfrm>
          <a:prstGeom prst="rect">
            <a:avLst/>
          </a:prstGeom>
          <a:noFill/>
          <a:ln/>
        </p:spPr>
        <p:txBody>
          <a:bodyPr wrap="square" lIns="0" tIns="0" rIns="0" bIns="0" rtlCol="0" anchor="t"/>
          <a:lstStyle/>
          <a:p>
            <a:pPr indent="0" marL="0">
              <a:buNone/>
            </a:pPr>
            <a:r>
              <a:rPr lang="en-US" sz="1500" dirty="0">
                <a:solidFill>
                  <a:schemeClr val="tx2"/>
                </a:solidFill>
              </a:rPr>
              <a:t>Que las fintechs informen a la Central de Deudores y que todas las entidades muestren costos y condiciones con la máxima claridad.</a:t>
            </a:r>
            <a:endParaRPr lang="en-US" sz="1500" dirty="0"/>
          </a:p>
        </p:txBody>
      </p:sp>
      <p:sp>
        <p:nvSpPr>
          <p:cNvPr id="14" name="Propuesta 3"/>
          <p:cNvSpPr/>
          <p:nvPr/>
        </p:nvSpPr>
        <p:spPr>
          <a:xfrm>
            <a:off x="548640" y="3977640"/>
            <a:ext cx="5410048" cy="1920240"/>
          </a:xfrm>
          <a:prstGeom prst="roundRect">
            <a:avLst>
              <a:gd name="adj" fmla="val 7619"/>
            </a:avLst>
          </a:prstGeom>
          <a:solidFill>
            <a:schemeClr val="bg1"/>
          </a:solidFill>
          <a:ln w="12700">
            <a:solidFill>
              <a:schemeClr val="accent6"/>
            </a:solidFill>
            <a:prstDash val="solid"/>
          </a:ln>
        </p:spPr>
      </p:sp>
      <p:sp>
        <p:nvSpPr>
          <p:cNvPr id="15" name="Shape 13"/>
          <p:cNvSpPr/>
          <p:nvPr/>
        </p:nvSpPr>
        <p:spPr>
          <a:xfrm>
            <a:off x="886968" y="4288536"/>
            <a:ext cx="274320" cy="274320"/>
          </a:xfrm>
          <a:prstGeom prst="ellipse">
            <a:avLst/>
          </a:prstGeom>
          <a:solidFill>
            <a:schemeClr val="accent3"/>
          </a:solidFill>
          <a:ln/>
        </p:spPr>
      </p:sp>
      <p:sp>
        <p:nvSpPr>
          <p:cNvPr id="16" name="Text 14"/>
          <p:cNvSpPr txBox="1"/>
          <p:nvPr/>
        </p:nvSpPr>
        <p:spPr>
          <a:xfrm>
            <a:off x="1280160" y="4233672"/>
            <a:ext cx="3215488" cy="384048"/>
          </a:xfrm>
          <a:prstGeom prst="rect">
            <a:avLst/>
          </a:prstGeom>
          <a:noFill/>
          <a:ln/>
        </p:spPr>
        <p:txBody>
          <a:bodyPr wrap="square" lIns="0" tIns="0" rIns="0" bIns="0" rtlCol="0" anchor="ctr"/>
          <a:lstStyle/>
          <a:p>
            <a:pPr indent="0" marL="0">
              <a:buNone/>
            </a:pPr>
            <a:r>
              <a:rPr lang="en-US" sz="1900" b="1" dirty="0">
                <a:solidFill>
                  <a:schemeClr val="tx1"/>
                </a:solidFill>
              </a:rPr>
              <a:t>Alivio a los deudores</a:t>
            </a:r>
            <a:endParaRPr lang="en-US" sz="1900" dirty="0"/>
          </a:p>
        </p:txBody>
      </p:sp>
      <p:sp>
        <p:nvSpPr>
          <p:cNvPr id="17" name="Text 15"/>
          <p:cNvSpPr txBox="1"/>
          <p:nvPr/>
        </p:nvSpPr>
        <p:spPr>
          <a:xfrm>
            <a:off x="4495648" y="4251960"/>
            <a:ext cx="1188720" cy="347472"/>
          </a:xfrm>
          <a:prstGeom prst="rect">
            <a:avLst/>
          </a:prstGeom>
          <a:noFill/>
          <a:ln/>
        </p:spPr>
        <p:txBody>
          <a:bodyPr wrap="square" lIns="0" tIns="0" rIns="0" bIns="0" rtlCol="0" anchor="ctr"/>
          <a:lstStyle/>
          <a:p>
            <a:pPr algn="r" indent="0" marL="0">
              <a:buNone/>
            </a:pPr>
            <a:r>
              <a:rPr lang="en-US" sz="1100" b="1" spc="150" kern="0" dirty="0">
                <a:solidFill>
                  <a:schemeClr val="accent5"/>
                </a:solidFill>
              </a:rPr>
              <a:t>NACIÓN</a:t>
            </a:r>
            <a:endParaRPr lang="en-US" sz="1100" dirty="0"/>
          </a:p>
        </p:txBody>
      </p:sp>
      <p:sp>
        <p:nvSpPr>
          <p:cNvPr id="18" name="Text 16"/>
          <p:cNvSpPr txBox="1"/>
          <p:nvPr/>
        </p:nvSpPr>
        <p:spPr>
          <a:xfrm>
            <a:off x="822960" y="4754880"/>
            <a:ext cx="4861408" cy="960120"/>
          </a:xfrm>
          <a:prstGeom prst="rect">
            <a:avLst/>
          </a:prstGeom>
          <a:noFill/>
          <a:ln/>
        </p:spPr>
        <p:txBody>
          <a:bodyPr wrap="square" lIns="0" tIns="0" rIns="0" bIns="0" rtlCol="0" anchor="t"/>
          <a:lstStyle/>
          <a:p>
            <a:pPr indent="0" marL="0">
              <a:buNone/>
            </a:pPr>
            <a:r>
              <a:rPr lang="en-US" sz="1500" dirty="0">
                <a:solidFill>
                  <a:schemeClr val="tx2"/>
                </a:solidFill>
              </a:rPr>
              <a:t>Un régimen para reestructurar deudas de hogares sobreendeudados y una reclasificación temporal de deudores, como en la pandemia.</a:t>
            </a:r>
            <a:endParaRPr lang="en-US" sz="1500" dirty="0"/>
          </a:p>
        </p:txBody>
      </p:sp>
      <p:sp>
        <p:nvSpPr>
          <p:cNvPr id="19" name="Propuesta 4"/>
          <p:cNvSpPr/>
          <p:nvPr/>
        </p:nvSpPr>
        <p:spPr>
          <a:xfrm>
            <a:off x="6233008" y="3977640"/>
            <a:ext cx="5410048" cy="1920240"/>
          </a:xfrm>
          <a:prstGeom prst="roundRect">
            <a:avLst>
              <a:gd name="adj" fmla="val 7619"/>
            </a:avLst>
          </a:prstGeom>
          <a:solidFill>
            <a:schemeClr val="bg1"/>
          </a:solidFill>
          <a:ln w="12700">
            <a:solidFill>
              <a:schemeClr val="accent6"/>
            </a:solidFill>
            <a:prstDash val="solid"/>
          </a:ln>
        </p:spPr>
      </p:sp>
      <p:sp>
        <p:nvSpPr>
          <p:cNvPr id="20" name="Shape 18"/>
          <p:cNvSpPr/>
          <p:nvPr/>
        </p:nvSpPr>
        <p:spPr>
          <a:xfrm>
            <a:off x="6571336" y="4288536"/>
            <a:ext cx="274320" cy="274320"/>
          </a:xfrm>
          <a:prstGeom prst="ellipse">
            <a:avLst/>
          </a:prstGeom>
          <a:solidFill>
            <a:schemeClr val="accent2"/>
          </a:solidFill>
          <a:ln/>
        </p:spPr>
      </p:sp>
      <p:sp>
        <p:nvSpPr>
          <p:cNvPr id="21" name="Text 19"/>
          <p:cNvSpPr txBox="1"/>
          <p:nvPr/>
        </p:nvSpPr>
        <p:spPr>
          <a:xfrm>
            <a:off x="6964528" y="4233672"/>
            <a:ext cx="3215488" cy="384048"/>
          </a:xfrm>
          <a:prstGeom prst="rect">
            <a:avLst/>
          </a:prstGeom>
          <a:noFill/>
          <a:ln/>
        </p:spPr>
        <p:txBody>
          <a:bodyPr wrap="square" lIns="0" tIns="0" rIns="0" bIns="0" rtlCol="0" anchor="ctr"/>
          <a:lstStyle/>
          <a:p>
            <a:pPr indent="0" marL="0">
              <a:buNone/>
            </a:pPr>
            <a:r>
              <a:rPr lang="en-US" sz="1900" b="1" dirty="0">
                <a:solidFill>
                  <a:schemeClr val="tx1"/>
                </a:solidFill>
              </a:rPr>
              <a:t>Defender al que se endeuda</a:t>
            </a:r>
            <a:endParaRPr lang="en-US" sz="1900" dirty="0"/>
          </a:p>
        </p:txBody>
      </p:sp>
      <p:sp>
        <p:nvSpPr>
          <p:cNvPr id="22" name="Text 20"/>
          <p:cNvSpPr txBox="1"/>
          <p:nvPr/>
        </p:nvSpPr>
        <p:spPr>
          <a:xfrm>
            <a:off x="10180015" y="4251960"/>
            <a:ext cx="1188720" cy="347472"/>
          </a:xfrm>
          <a:prstGeom prst="rect">
            <a:avLst/>
          </a:prstGeom>
          <a:noFill/>
          <a:ln/>
        </p:spPr>
        <p:txBody>
          <a:bodyPr wrap="square" lIns="0" tIns="0" rIns="0" bIns="0" rtlCol="0" anchor="ctr"/>
          <a:lstStyle/>
          <a:p>
            <a:pPr algn="r" indent="0" marL="0">
              <a:buNone/>
            </a:pPr>
            <a:r>
              <a:rPr lang="en-US" sz="1100" b="1" spc="150" kern="0" dirty="0">
                <a:solidFill>
                  <a:schemeClr val="accent5"/>
                </a:solidFill>
              </a:rPr>
              <a:t>PROVINCIA</a:t>
            </a:r>
            <a:endParaRPr lang="en-US" sz="1100" dirty="0"/>
          </a:p>
        </p:txBody>
      </p:sp>
      <p:sp>
        <p:nvSpPr>
          <p:cNvPr id="23" name="Text 21"/>
          <p:cNvSpPr txBox="1"/>
          <p:nvPr/>
        </p:nvSpPr>
        <p:spPr>
          <a:xfrm>
            <a:off x="6507328" y="4754880"/>
            <a:ext cx="4861408" cy="960120"/>
          </a:xfrm>
          <a:prstGeom prst="rect">
            <a:avLst/>
          </a:prstGeom>
          <a:noFill/>
          <a:ln/>
        </p:spPr>
        <p:txBody>
          <a:bodyPr wrap="square" lIns="0" tIns="0" rIns="0" bIns="0" rtlCol="0" anchor="t"/>
          <a:lstStyle/>
          <a:p>
            <a:pPr indent="0" marL="0">
              <a:buNone/>
            </a:pPr>
            <a:r>
              <a:rPr lang="en-US" sz="1500" dirty="0">
                <a:solidFill>
                  <a:schemeClr val="tx2"/>
                </a:solidFill>
              </a:rPr>
              <a:t>Defensa del consumidor financiero que pueda mediar y sancionar, y una campaña sobre lo que de verdad cuesta endeudarse.</a:t>
            </a:r>
            <a:endParaRPr lang="en-US" sz="15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9144000" cy="274320"/>
          </a:xfrm>
          <a:prstGeom prst="rect">
            <a:avLst/>
          </a:prstGeom>
          <a:noFill/>
          <a:ln/>
        </p:spPr>
        <p:txBody>
          <a:bodyPr wrap="square" lIns="0" tIns="0" rIns="0" bIns="0" rtlCol="0" anchor="ctr"/>
          <a:lstStyle/>
          <a:p>
            <a:pPr algn="l" indent="0" marL="0">
              <a:buNone/>
            </a:pPr>
            <a:r>
              <a:rPr lang="en-US" sz="1200" b="1" spc="150" kern="0" dirty="0">
                <a:solidFill>
                  <a:schemeClr val="accent3"/>
                </a:solidFill>
              </a:rPr>
              <a:t>FINANZAS SOSTENIBLES · PARA LA CONVERSACIÓN</a:t>
            </a:r>
            <a:endParaRPr lang="en-US" sz="1200" dirty="0"/>
          </a:p>
        </p:txBody>
      </p:sp>
      <p:sp>
        <p:nvSpPr>
          <p:cNvPr id="3" name="Text 1"/>
          <p:cNvSpPr/>
          <p:nvPr>
            <p:ph idx="102" type="title" hasCustomPrompt="1"/>
          </p:nvPr>
        </p:nvSpPr>
        <p:spPr>
          <a:xfrm>
            <a:off x="548640" y="749808"/>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¿Qué significa esto para las microfinanzas?</a:t>
            </a:r>
            <a:endParaRPr lang="en-US" sz="3200" dirty="0"/>
          </a:p>
        </p:txBody>
      </p:sp>
      <p:sp>
        <p:nvSpPr>
          <p:cNvPr id="4" name="Text 2"/>
          <p:cNvSpPr txBox="1"/>
          <p:nvPr/>
        </p:nvSpPr>
        <p:spPr>
          <a:xfrm>
            <a:off x="6766560" y="1463040"/>
            <a:ext cx="4510735" cy="274320"/>
          </a:xfrm>
          <a:prstGeom prst="rect">
            <a:avLst/>
          </a:prstGeom>
          <a:noFill/>
          <a:ln/>
        </p:spPr>
        <p:txBody>
          <a:bodyPr wrap="square" lIns="0" tIns="0" rIns="0" bIns="0" rtlCol="0" anchor="ctr"/>
          <a:lstStyle/>
          <a:p>
            <a:pPr algn="ctr" indent="0" marL="0">
              <a:buNone/>
            </a:pPr>
            <a:r>
              <a:rPr lang="en-US" sz="1100" b="1" spc="150" kern="0" dirty="0">
                <a:solidFill>
                  <a:schemeClr val="accent5"/>
                </a:solidFill>
              </a:rPr>
              <a:t>UN DILEMA EN CADA FRENTE</a:t>
            </a:r>
            <a:endParaRPr lang="en-US" sz="1100" dirty="0"/>
          </a:p>
        </p:txBody>
      </p:sp>
      <p:sp>
        <p:nvSpPr>
          <p:cNvPr id="5" name="Dilema 1"/>
          <p:cNvSpPr/>
          <p:nvPr/>
        </p:nvSpPr>
        <p:spPr>
          <a:xfrm>
            <a:off x="548640" y="1783080"/>
            <a:ext cx="11094415" cy="1024128"/>
          </a:xfrm>
          <a:prstGeom prst="roundRect">
            <a:avLst>
              <a:gd name="adj" fmla="val 14286"/>
            </a:avLst>
          </a:prstGeom>
          <a:solidFill>
            <a:schemeClr val="bg1"/>
          </a:solidFill>
          <a:ln w="12700">
            <a:solidFill>
              <a:schemeClr val="accent6"/>
            </a:solidFill>
            <a:prstDash val="solid"/>
          </a:ln>
        </p:spPr>
      </p:sp>
      <p:sp>
        <p:nvSpPr>
          <p:cNvPr id="6" name="Shape 4"/>
          <p:cNvSpPr/>
          <p:nvPr/>
        </p:nvSpPr>
        <p:spPr>
          <a:xfrm>
            <a:off x="548640" y="1947672"/>
            <a:ext cx="73152" cy="694944"/>
          </a:xfrm>
          <a:prstGeom prst="rect">
            <a:avLst/>
          </a:prstGeom>
          <a:solidFill>
            <a:schemeClr val="accent3"/>
          </a:solidFill>
          <a:ln/>
        </p:spPr>
      </p:sp>
      <p:sp>
        <p:nvSpPr>
          <p:cNvPr id="7" name="Text 5"/>
          <p:cNvSpPr txBox="1"/>
          <p:nvPr/>
        </p:nvSpPr>
        <p:spPr>
          <a:xfrm>
            <a:off x="822960" y="1892808"/>
            <a:ext cx="731520" cy="457200"/>
          </a:xfrm>
          <a:prstGeom prst="rect">
            <a:avLst/>
          </a:prstGeom>
          <a:noFill/>
          <a:ln/>
        </p:spPr>
        <p:txBody>
          <a:bodyPr wrap="square" lIns="0" tIns="0" rIns="0" bIns="0" rtlCol="0" anchor="ctr"/>
          <a:lstStyle/>
          <a:p>
            <a:pPr indent="0" marL="0">
              <a:buNone/>
            </a:pPr>
            <a:r>
              <a:rPr lang="en-US" sz="2400" b="1" dirty="0">
                <a:solidFill>
                  <a:schemeClr val="accent3"/>
                </a:solidFill>
              </a:rPr>
              <a:t>01</a:t>
            </a:r>
            <a:endParaRPr lang="en-US" sz="2400" dirty="0"/>
          </a:p>
        </p:txBody>
      </p:sp>
      <p:sp>
        <p:nvSpPr>
          <p:cNvPr id="8" name="Text 6"/>
          <p:cNvSpPr txBox="1"/>
          <p:nvPr/>
        </p:nvSpPr>
        <p:spPr>
          <a:xfrm>
            <a:off x="1554480" y="1892808"/>
            <a:ext cx="4754880" cy="384048"/>
          </a:xfrm>
          <a:prstGeom prst="rect">
            <a:avLst/>
          </a:prstGeom>
          <a:noFill/>
          <a:ln/>
        </p:spPr>
        <p:txBody>
          <a:bodyPr wrap="square" lIns="0" tIns="0" rIns="0" bIns="0" rtlCol="0" anchor="ctr"/>
          <a:lstStyle/>
          <a:p>
            <a:pPr indent="0" marL="0">
              <a:buNone/>
            </a:pPr>
            <a:r>
              <a:rPr lang="en-US" sz="1800" b="1" dirty="0">
                <a:solidFill>
                  <a:schemeClr val="tx1"/>
                </a:solidFill>
              </a:rPr>
              <a:t>Prestar con responsabilidad</a:t>
            </a:r>
            <a:endParaRPr lang="en-US" sz="1800" dirty="0"/>
          </a:p>
        </p:txBody>
      </p:sp>
      <p:sp>
        <p:nvSpPr>
          <p:cNvPr id="9" name="Text 7"/>
          <p:cNvSpPr txBox="1"/>
          <p:nvPr/>
        </p:nvSpPr>
        <p:spPr>
          <a:xfrm>
            <a:off x="1554480" y="2276856"/>
            <a:ext cx="4754880" cy="457200"/>
          </a:xfrm>
          <a:prstGeom prst="rect">
            <a:avLst/>
          </a:prstGeom>
          <a:noFill/>
          <a:ln/>
        </p:spPr>
        <p:txBody>
          <a:bodyPr wrap="square" lIns="0" tIns="0" rIns="0" bIns="0" rtlCol="0" anchor="t"/>
          <a:lstStyle/>
          <a:p>
            <a:pPr indent="0" marL="0">
              <a:buNone/>
            </a:pPr>
            <a:r>
              <a:rPr lang="en-US" sz="1300" dirty="0">
                <a:solidFill>
                  <a:schemeClr val="tx2"/>
                </a:solidFill>
              </a:rPr>
              <a:t>¿Cómo medir la capacidad de pago si el ingreso cae y los gastos fijos suben?</a:t>
            </a:r>
            <a:endParaRPr lang="en-US" sz="1300" dirty="0"/>
          </a:p>
        </p:txBody>
      </p:sp>
      <p:sp>
        <p:nvSpPr>
          <p:cNvPr id="10" name="Shape 8"/>
          <p:cNvSpPr/>
          <p:nvPr/>
        </p:nvSpPr>
        <p:spPr>
          <a:xfrm>
            <a:off x="6766560" y="2404872"/>
            <a:ext cx="4510735" cy="0"/>
          </a:xfrm>
          <a:prstGeom prst="line">
            <a:avLst/>
          </a:prstGeom>
          <a:noFill/>
          <a:ln w="31750">
            <a:solidFill>
              <a:schemeClr val="accent6"/>
            </a:solidFill>
            <a:prstDash val="solid"/>
          </a:ln>
        </p:spPr>
      </p:sp>
      <p:sp>
        <p:nvSpPr>
          <p:cNvPr id="11" name="Shape 9"/>
          <p:cNvSpPr/>
          <p:nvPr/>
        </p:nvSpPr>
        <p:spPr>
          <a:xfrm>
            <a:off x="6766560" y="2340864"/>
            <a:ext cx="128016" cy="128016"/>
          </a:xfrm>
          <a:prstGeom prst="ellipse">
            <a:avLst/>
          </a:prstGeom>
          <a:solidFill>
            <a:schemeClr val="accent4"/>
          </a:solidFill>
          <a:ln/>
        </p:spPr>
      </p:sp>
      <p:sp>
        <p:nvSpPr>
          <p:cNvPr id="12" name="Shape 10"/>
          <p:cNvSpPr/>
          <p:nvPr/>
        </p:nvSpPr>
        <p:spPr>
          <a:xfrm>
            <a:off x="11149279" y="2340864"/>
            <a:ext cx="128016" cy="128016"/>
          </a:xfrm>
          <a:prstGeom prst="ellipse">
            <a:avLst/>
          </a:prstGeom>
          <a:solidFill>
            <a:schemeClr val="accent4"/>
          </a:solidFill>
          <a:ln/>
        </p:spPr>
      </p:sp>
      <p:sp>
        <p:nvSpPr>
          <p:cNvPr id="13" name="Shape 11"/>
          <p:cNvSpPr/>
          <p:nvPr/>
        </p:nvSpPr>
        <p:spPr>
          <a:xfrm>
            <a:off x="8820760" y="2203704"/>
            <a:ext cx="402336" cy="402336"/>
          </a:xfrm>
          <a:prstGeom prst="ellipse">
            <a:avLst/>
          </a:prstGeom>
          <a:solidFill>
            <a:schemeClr val="accent3"/>
          </a:solidFill>
          <a:ln/>
        </p:spPr>
      </p:sp>
      <p:sp>
        <p:nvSpPr>
          <p:cNvPr id="14" name="Shape 12"/>
          <p:cNvSpPr/>
          <p:nvPr/>
        </p:nvSpPr>
        <p:spPr>
          <a:xfrm>
            <a:off x="8885133" y="2268078"/>
            <a:ext cx="273588" cy="273588"/>
          </a:xfrm>
          <a:prstGeom prst="ellipse">
            <a:avLst/>
          </a:prstGeom>
          <a:ln w="16764">
            <a:solidFill>
              <a:srgbClr val="006E7A"/>
            </a:solidFill>
            <a:prstDash val="solid"/>
          </a:ln>
        </p:spPr>
      </p:sp>
      <p:sp>
        <p:nvSpPr>
          <p:cNvPr id="15" name="Text 13"/>
          <p:cNvSpPr txBox="1"/>
          <p:nvPr/>
        </p:nvSpPr>
        <p:spPr>
          <a:xfrm>
            <a:off x="6766560" y="1947672"/>
            <a:ext cx="1935328" cy="292608"/>
          </a:xfrm>
          <a:prstGeom prst="rect">
            <a:avLst/>
          </a:prstGeom>
          <a:noFill/>
          <a:ln/>
        </p:spPr>
        <p:txBody>
          <a:bodyPr wrap="square" lIns="0" tIns="0" rIns="0" bIns="0" rtlCol="0" anchor="b"/>
          <a:lstStyle/>
          <a:p>
            <a:pPr algn="l" indent="0" marL="0">
              <a:buNone/>
            </a:pPr>
            <a:r>
              <a:rPr lang="en-US" sz="1300" b="1" dirty="0">
                <a:solidFill>
                  <a:schemeClr val="tx1"/>
                </a:solidFill>
              </a:rPr>
              <a:t>Llegar a más gente</a:t>
            </a:r>
            <a:endParaRPr lang="en-US" sz="1300" dirty="0"/>
          </a:p>
        </p:txBody>
      </p:sp>
      <p:sp>
        <p:nvSpPr>
          <p:cNvPr id="16" name="Text 14"/>
          <p:cNvSpPr txBox="1"/>
          <p:nvPr/>
        </p:nvSpPr>
        <p:spPr>
          <a:xfrm>
            <a:off x="9341968" y="1947672"/>
            <a:ext cx="1935328" cy="292608"/>
          </a:xfrm>
          <a:prstGeom prst="rect">
            <a:avLst/>
          </a:prstGeom>
          <a:noFill/>
          <a:ln/>
        </p:spPr>
        <p:txBody>
          <a:bodyPr wrap="square" lIns="0" tIns="0" rIns="0" bIns="0" rtlCol="0" anchor="b"/>
          <a:lstStyle/>
          <a:p>
            <a:pPr algn="r" indent="0" marL="0">
              <a:buNone/>
            </a:pPr>
            <a:r>
              <a:rPr lang="en-US" sz="1300" b="1" dirty="0">
                <a:solidFill>
                  <a:schemeClr val="tx1"/>
                </a:solidFill>
              </a:rPr>
              <a:t>Asegurar el repago</a:t>
            </a:r>
            <a:endParaRPr lang="en-US" sz="1300" dirty="0"/>
          </a:p>
        </p:txBody>
      </p:sp>
      <p:sp>
        <p:nvSpPr>
          <p:cNvPr id="17" name="Dilema 2"/>
          <p:cNvSpPr/>
          <p:nvPr/>
        </p:nvSpPr>
        <p:spPr>
          <a:xfrm>
            <a:off x="548640" y="2898648"/>
            <a:ext cx="11094415" cy="1024128"/>
          </a:xfrm>
          <a:prstGeom prst="roundRect">
            <a:avLst>
              <a:gd name="adj" fmla="val 14286"/>
            </a:avLst>
          </a:prstGeom>
          <a:solidFill>
            <a:schemeClr val="bg1"/>
          </a:solidFill>
          <a:ln w="12700">
            <a:solidFill>
              <a:schemeClr val="accent6"/>
            </a:solidFill>
            <a:prstDash val="solid"/>
          </a:ln>
        </p:spPr>
      </p:sp>
      <p:sp>
        <p:nvSpPr>
          <p:cNvPr id="18" name="Shape 16"/>
          <p:cNvSpPr/>
          <p:nvPr/>
        </p:nvSpPr>
        <p:spPr>
          <a:xfrm>
            <a:off x="548640" y="3063240"/>
            <a:ext cx="73152" cy="694944"/>
          </a:xfrm>
          <a:prstGeom prst="rect">
            <a:avLst/>
          </a:prstGeom>
          <a:solidFill>
            <a:schemeClr val="accent1"/>
          </a:solidFill>
          <a:ln/>
        </p:spPr>
      </p:sp>
      <p:sp>
        <p:nvSpPr>
          <p:cNvPr id="19" name="Text 17"/>
          <p:cNvSpPr txBox="1"/>
          <p:nvPr/>
        </p:nvSpPr>
        <p:spPr>
          <a:xfrm>
            <a:off x="822960" y="3008376"/>
            <a:ext cx="731520" cy="457200"/>
          </a:xfrm>
          <a:prstGeom prst="rect">
            <a:avLst/>
          </a:prstGeom>
          <a:noFill/>
          <a:ln/>
        </p:spPr>
        <p:txBody>
          <a:bodyPr wrap="square" lIns="0" tIns="0" rIns="0" bIns="0" rtlCol="0" anchor="ctr"/>
          <a:lstStyle/>
          <a:p>
            <a:pPr indent="0" marL="0">
              <a:buNone/>
            </a:pPr>
            <a:r>
              <a:rPr lang="en-US" sz="2400" b="1" dirty="0">
                <a:solidFill>
                  <a:schemeClr val="accent1"/>
                </a:solidFill>
              </a:rPr>
              <a:t>02</a:t>
            </a:r>
            <a:endParaRPr lang="en-US" sz="2400" dirty="0"/>
          </a:p>
        </p:txBody>
      </p:sp>
      <p:sp>
        <p:nvSpPr>
          <p:cNvPr id="20" name="Text 18"/>
          <p:cNvSpPr txBox="1"/>
          <p:nvPr/>
        </p:nvSpPr>
        <p:spPr>
          <a:xfrm>
            <a:off x="1554480" y="3008376"/>
            <a:ext cx="4754880" cy="384048"/>
          </a:xfrm>
          <a:prstGeom prst="rect">
            <a:avLst/>
          </a:prstGeom>
          <a:noFill/>
          <a:ln/>
        </p:spPr>
        <p:txBody>
          <a:bodyPr wrap="square" lIns="0" tIns="0" rIns="0" bIns="0" rtlCol="0" anchor="ctr"/>
          <a:lstStyle/>
          <a:p>
            <a:pPr indent="0" marL="0">
              <a:buNone/>
            </a:pPr>
            <a:r>
              <a:rPr lang="en-US" sz="1800" b="1" dirty="0">
                <a:solidFill>
                  <a:schemeClr val="tx1"/>
                </a:solidFill>
              </a:rPr>
              <a:t>Cobrar sin hundir</a:t>
            </a:r>
            <a:endParaRPr lang="en-US" sz="1800" dirty="0"/>
          </a:p>
        </p:txBody>
      </p:sp>
      <p:sp>
        <p:nvSpPr>
          <p:cNvPr id="21" name="Text 19"/>
          <p:cNvSpPr txBox="1"/>
          <p:nvPr/>
        </p:nvSpPr>
        <p:spPr>
          <a:xfrm>
            <a:off x="1554480" y="3392424"/>
            <a:ext cx="4754880" cy="457200"/>
          </a:xfrm>
          <a:prstGeom prst="rect">
            <a:avLst/>
          </a:prstGeom>
          <a:noFill/>
          <a:ln/>
        </p:spPr>
        <p:txBody>
          <a:bodyPr wrap="square" lIns="0" tIns="0" rIns="0" bIns="0" rtlCol="0" anchor="t"/>
          <a:lstStyle/>
          <a:p>
            <a:pPr indent="0" marL="0">
              <a:buNone/>
            </a:pPr>
            <a:r>
              <a:rPr lang="en-US" sz="1300" dirty="0">
                <a:solidFill>
                  <a:schemeClr val="tx2"/>
                </a:solidFill>
              </a:rPr>
              <a:t>¿Qué cobranza y qué reestructuración sostienen al cliente y a la cartera?</a:t>
            </a:r>
            <a:endParaRPr lang="en-US" sz="1300" dirty="0"/>
          </a:p>
        </p:txBody>
      </p:sp>
      <p:sp>
        <p:nvSpPr>
          <p:cNvPr id="22" name="Shape 20"/>
          <p:cNvSpPr/>
          <p:nvPr/>
        </p:nvSpPr>
        <p:spPr>
          <a:xfrm>
            <a:off x="6766560" y="3520440"/>
            <a:ext cx="4510735" cy="0"/>
          </a:xfrm>
          <a:prstGeom prst="line">
            <a:avLst/>
          </a:prstGeom>
          <a:noFill/>
          <a:ln w="31750">
            <a:solidFill>
              <a:schemeClr val="accent6"/>
            </a:solidFill>
            <a:prstDash val="solid"/>
          </a:ln>
        </p:spPr>
      </p:sp>
      <p:sp>
        <p:nvSpPr>
          <p:cNvPr id="23" name="Shape 21"/>
          <p:cNvSpPr/>
          <p:nvPr/>
        </p:nvSpPr>
        <p:spPr>
          <a:xfrm>
            <a:off x="6766560" y="3456432"/>
            <a:ext cx="128016" cy="128016"/>
          </a:xfrm>
          <a:prstGeom prst="ellipse">
            <a:avLst/>
          </a:prstGeom>
          <a:solidFill>
            <a:schemeClr val="accent4"/>
          </a:solidFill>
          <a:ln/>
        </p:spPr>
      </p:sp>
      <p:sp>
        <p:nvSpPr>
          <p:cNvPr id="24" name="Shape 22"/>
          <p:cNvSpPr/>
          <p:nvPr/>
        </p:nvSpPr>
        <p:spPr>
          <a:xfrm>
            <a:off x="11149279" y="3456432"/>
            <a:ext cx="128016" cy="128016"/>
          </a:xfrm>
          <a:prstGeom prst="ellipse">
            <a:avLst/>
          </a:prstGeom>
          <a:solidFill>
            <a:schemeClr val="accent4"/>
          </a:solidFill>
          <a:ln/>
        </p:spPr>
      </p:sp>
      <p:sp>
        <p:nvSpPr>
          <p:cNvPr id="25" name="Shape 23"/>
          <p:cNvSpPr/>
          <p:nvPr/>
        </p:nvSpPr>
        <p:spPr>
          <a:xfrm>
            <a:off x="8820760" y="3319272"/>
            <a:ext cx="402336" cy="402336"/>
          </a:xfrm>
          <a:prstGeom prst="ellipse">
            <a:avLst/>
          </a:prstGeom>
          <a:solidFill>
            <a:schemeClr val="accent1"/>
          </a:solidFill>
          <a:ln/>
        </p:spPr>
      </p:sp>
      <p:sp>
        <p:nvSpPr>
          <p:cNvPr id="26" name="Shape 24"/>
          <p:cNvSpPr/>
          <p:nvPr/>
        </p:nvSpPr>
        <p:spPr>
          <a:xfrm>
            <a:off x="8885133" y="3383646"/>
            <a:ext cx="273588" cy="273588"/>
          </a:xfrm>
          <a:prstGeom prst="ellipse">
            <a:avLst/>
          </a:prstGeom>
          <a:ln w="16764">
            <a:solidFill>
              <a:srgbClr val="B8432F"/>
            </a:solidFill>
            <a:prstDash val="solid"/>
          </a:ln>
        </p:spPr>
      </p:sp>
      <p:sp>
        <p:nvSpPr>
          <p:cNvPr id="27" name="Text 25"/>
          <p:cNvSpPr txBox="1"/>
          <p:nvPr/>
        </p:nvSpPr>
        <p:spPr>
          <a:xfrm>
            <a:off x="6766560" y="3063240"/>
            <a:ext cx="1935328" cy="292608"/>
          </a:xfrm>
          <a:prstGeom prst="rect">
            <a:avLst/>
          </a:prstGeom>
          <a:noFill/>
          <a:ln/>
        </p:spPr>
        <p:txBody>
          <a:bodyPr wrap="square" lIns="0" tIns="0" rIns="0" bIns="0" rtlCol="0" anchor="b"/>
          <a:lstStyle/>
          <a:p>
            <a:pPr algn="l" indent="0" marL="0">
              <a:buNone/>
            </a:pPr>
            <a:r>
              <a:rPr lang="en-US" sz="1300" b="1" dirty="0">
                <a:solidFill>
                  <a:schemeClr val="tx1"/>
                </a:solidFill>
              </a:rPr>
              <a:t>Recuperar la cartera</a:t>
            </a:r>
            <a:endParaRPr lang="en-US" sz="1300" dirty="0"/>
          </a:p>
        </p:txBody>
      </p:sp>
      <p:sp>
        <p:nvSpPr>
          <p:cNvPr id="28" name="Text 26"/>
          <p:cNvSpPr txBox="1"/>
          <p:nvPr/>
        </p:nvSpPr>
        <p:spPr>
          <a:xfrm>
            <a:off x="9341968" y="3063240"/>
            <a:ext cx="1935328" cy="292608"/>
          </a:xfrm>
          <a:prstGeom prst="rect">
            <a:avLst/>
          </a:prstGeom>
          <a:noFill/>
          <a:ln/>
        </p:spPr>
        <p:txBody>
          <a:bodyPr wrap="square" lIns="0" tIns="0" rIns="0" bIns="0" rtlCol="0" anchor="b"/>
          <a:lstStyle/>
          <a:p>
            <a:pPr algn="r" indent="0" marL="0">
              <a:buNone/>
            </a:pPr>
            <a:r>
              <a:rPr lang="en-US" sz="1300" b="1" dirty="0">
                <a:solidFill>
                  <a:schemeClr val="tx1"/>
                </a:solidFill>
              </a:rPr>
              <a:t>Sostener al cliente</a:t>
            </a:r>
            <a:endParaRPr lang="en-US" sz="1300" dirty="0"/>
          </a:p>
        </p:txBody>
      </p:sp>
      <p:sp>
        <p:nvSpPr>
          <p:cNvPr id="29" name="Dilema 3"/>
          <p:cNvSpPr/>
          <p:nvPr/>
        </p:nvSpPr>
        <p:spPr>
          <a:xfrm>
            <a:off x="548640" y="4014216"/>
            <a:ext cx="11094415" cy="1024128"/>
          </a:xfrm>
          <a:prstGeom prst="roundRect">
            <a:avLst>
              <a:gd name="adj" fmla="val 14286"/>
            </a:avLst>
          </a:prstGeom>
          <a:solidFill>
            <a:schemeClr val="bg1"/>
          </a:solidFill>
          <a:ln w="12700">
            <a:solidFill>
              <a:schemeClr val="accent6"/>
            </a:solidFill>
            <a:prstDash val="solid"/>
          </a:ln>
        </p:spPr>
      </p:sp>
      <p:sp>
        <p:nvSpPr>
          <p:cNvPr id="30" name="Shape 28"/>
          <p:cNvSpPr/>
          <p:nvPr/>
        </p:nvSpPr>
        <p:spPr>
          <a:xfrm>
            <a:off x="548640" y="4178808"/>
            <a:ext cx="73152" cy="694944"/>
          </a:xfrm>
          <a:prstGeom prst="rect">
            <a:avLst/>
          </a:prstGeom>
          <a:solidFill>
            <a:schemeClr val="accent2"/>
          </a:solidFill>
          <a:ln/>
        </p:spPr>
      </p:sp>
      <p:sp>
        <p:nvSpPr>
          <p:cNvPr id="31" name="Text 29"/>
          <p:cNvSpPr txBox="1"/>
          <p:nvPr/>
        </p:nvSpPr>
        <p:spPr>
          <a:xfrm>
            <a:off x="822960" y="4123944"/>
            <a:ext cx="731520" cy="457200"/>
          </a:xfrm>
          <a:prstGeom prst="rect">
            <a:avLst/>
          </a:prstGeom>
          <a:noFill/>
          <a:ln/>
        </p:spPr>
        <p:txBody>
          <a:bodyPr wrap="square" lIns="0" tIns="0" rIns="0" bIns="0" rtlCol="0" anchor="ctr"/>
          <a:lstStyle/>
          <a:p>
            <a:pPr indent="0" marL="0">
              <a:buNone/>
            </a:pPr>
            <a:r>
              <a:rPr lang="en-US" sz="2400" b="1" dirty="0">
                <a:solidFill>
                  <a:schemeClr val="accent2"/>
                </a:solidFill>
              </a:rPr>
              <a:t>03</a:t>
            </a:r>
            <a:endParaRPr lang="en-US" sz="2400" dirty="0"/>
          </a:p>
        </p:txBody>
      </p:sp>
      <p:sp>
        <p:nvSpPr>
          <p:cNvPr id="32" name="Text 30"/>
          <p:cNvSpPr txBox="1"/>
          <p:nvPr/>
        </p:nvSpPr>
        <p:spPr>
          <a:xfrm>
            <a:off x="1554480" y="4123944"/>
            <a:ext cx="4754880" cy="384048"/>
          </a:xfrm>
          <a:prstGeom prst="rect">
            <a:avLst/>
          </a:prstGeom>
          <a:noFill/>
          <a:ln/>
        </p:spPr>
        <p:txBody>
          <a:bodyPr wrap="square" lIns="0" tIns="0" rIns="0" bIns="0" rtlCol="0" anchor="ctr"/>
          <a:lstStyle/>
          <a:p>
            <a:pPr indent="0" marL="0">
              <a:buNone/>
            </a:pPr>
            <a:r>
              <a:rPr lang="en-US" sz="1800" b="1" dirty="0">
                <a:solidFill>
                  <a:schemeClr val="tx1"/>
                </a:solidFill>
              </a:rPr>
              <a:t>Competir con el crédito de un clic</a:t>
            </a:r>
            <a:endParaRPr lang="en-US" sz="1800" dirty="0"/>
          </a:p>
        </p:txBody>
      </p:sp>
      <p:sp>
        <p:nvSpPr>
          <p:cNvPr id="33" name="Text 31"/>
          <p:cNvSpPr txBox="1"/>
          <p:nvPr/>
        </p:nvSpPr>
        <p:spPr>
          <a:xfrm>
            <a:off x="1554480" y="4507992"/>
            <a:ext cx="4754880" cy="457200"/>
          </a:xfrm>
          <a:prstGeom prst="rect">
            <a:avLst/>
          </a:prstGeom>
          <a:noFill/>
          <a:ln/>
        </p:spPr>
        <p:txBody>
          <a:bodyPr wrap="square" lIns="0" tIns="0" rIns="0" bIns="0" rtlCol="0" anchor="t"/>
          <a:lstStyle/>
          <a:p>
            <a:pPr indent="0" marL="0">
              <a:buNone/>
            </a:pPr>
            <a:r>
              <a:rPr lang="en-US" sz="1300" dirty="0">
                <a:solidFill>
                  <a:schemeClr val="tx2"/>
                </a:solidFill>
              </a:rPr>
              <a:t>¿Qué ventaja da el vínculo cercano frente a billeteras con mora de más del 30%?</a:t>
            </a:r>
            <a:endParaRPr lang="en-US" sz="1300" dirty="0"/>
          </a:p>
        </p:txBody>
      </p:sp>
      <p:sp>
        <p:nvSpPr>
          <p:cNvPr id="34" name="Shape 32"/>
          <p:cNvSpPr/>
          <p:nvPr/>
        </p:nvSpPr>
        <p:spPr>
          <a:xfrm>
            <a:off x="6766560" y="4636008"/>
            <a:ext cx="4510735" cy="0"/>
          </a:xfrm>
          <a:prstGeom prst="line">
            <a:avLst/>
          </a:prstGeom>
          <a:noFill/>
          <a:ln w="31750">
            <a:solidFill>
              <a:schemeClr val="accent6"/>
            </a:solidFill>
            <a:prstDash val="solid"/>
          </a:ln>
        </p:spPr>
      </p:sp>
      <p:sp>
        <p:nvSpPr>
          <p:cNvPr id="35" name="Shape 33"/>
          <p:cNvSpPr/>
          <p:nvPr/>
        </p:nvSpPr>
        <p:spPr>
          <a:xfrm>
            <a:off x="6766560" y="4572000"/>
            <a:ext cx="128016" cy="128016"/>
          </a:xfrm>
          <a:prstGeom prst="ellipse">
            <a:avLst/>
          </a:prstGeom>
          <a:solidFill>
            <a:schemeClr val="accent4"/>
          </a:solidFill>
          <a:ln/>
        </p:spPr>
      </p:sp>
      <p:sp>
        <p:nvSpPr>
          <p:cNvPr id="36" name="Shape 34"/>
          <p:cNvSpPr/>
          <p:nvPr/>
        </p:nvSpPr>
        <p:spPr>
          <a:xfrm>
            <a:off x="11149279" y="4572000"/>
            <a:ext cx="128016" cy="128016"/>
          </a:xfrm>
          <a:prstGeom prst="ellipse">
            <a:avLst/>
          </a:prstGeom>
          <a:solidFill>
            <a:schemeClr val="accent4"/>
          </a:solidFill>
          <a:ln/>
        </p:spPr>
      </p:sp>
      <p:sp>
        <p:nvSpPr>
          <p:cNvPr id="37" name="Shape 35"/>
          <p:cNvSpPr/>
          <p:nvPr/>
        </p:nvSpPr>
        <p:spPr>
          <a:xfrm>
            <a:off x="8820760" y="4434840"/>
            <a:ext cx="402336" cy="402336"/>
          </a:xfrm>
          <a:prstGeom prst="ellipse">
            <a:avLst/>
          </a:prstGeom>
          <a:solidFill>
            <a:schemeClr val="accent2"/>
          </a:solidFill>
          <a:ln/>
        </p:spPr>
      </p:sp>
      <p:sp>
        <p:nvSpPr>
          <p:cNvPr id="38" name="Shape 36"/>
          <p:cNvSpPr/>
          <p:nvPr/>
        </p:nvSpPr>
        <p:spPr>
          <a:xfrm>
            <a:off x="8885133" y="4499214"/>
            <a:ext cx="273588" cy="273588"/>
          </a:xfrm>
          <a:prstGeom prst="ellipse">
            <a:avLst/>
          </a:prstGeom>
          <a:ln w="16764">
            <a:solidFill>
              <a:srgbClr val="C98A12"/>
            </a:solidFill>
            <a:prstDash val="solid"/>
          </a:ln>
        </p:spPr>
      </p:sp>
      <p:sp>
        <p:nvSpPr>
          <p:cNvPr id="39" name="Text 37"/>
          <p:cNvSpPr txBox="1"/>
          <p:nvPr/>
        </p:nvSpPr>
        <p:spPr>
          <a:xfrm>
            <a:off x="6766560" y="4178808"/>
            <a:ext cx="1935328" cy="292608"/>
          </a:xfrm>
          <a:prstGeom prst="rect">
            <a:avLst/>
          </a:prstGeom>
          <a:noFill/>
          <a:ln/>
        </p:spPr>
        <p:txBody>
          <a:bodyPr wrap="square" lIns="0" tIns="0" rIns="0" bIns="0" rtlCol="0" anchor="b"/>
          <a:lstStyle/>
          <a:p>
            <a:pPr algn="l" indent="0" marL="0">
              <a:buNone/>
            </a:pPr>
            <a:r>
              <a:rPr lang="en-US" sz="1300" b="1" dirty="0">
                <a:solidFill>
                  <a:schemeClr val="tx1"/>
                </a:solidFill>
              </a:rPr>
              <a:t>La velocidad del clic</a:t>
            </a:r>
            <a:endParaRPr lang="en-US" sz="1300" dirty="0"/>
          </a:p>
        </p:txBody>
      </p:sp>
      <p:sp>
        <p:nvSpPr>
          <p:cNvPr id="40" name="Text 38"/>
          <p:cNvSpPr txBox="1"/>
          <p:nvPr/>
        </p:nvSpPr>
        <p:spPr>
          <a:xfrm>
            <a:off x="9341968" y="4178808"/>
            <a:ext cx="1935328" cy="292608"/>
          </a:xfrm>
          <a:prstGeom prst="rect">
            <a:avLst/>
          </a:prstGeom>
          <a:noFill/>
          <a:ln/>
        </p:spPr>
        <p:txBody>
          <a:bodyPr wrap="square" lIns="0" tIns="0" rIns="0" bIns="0" rtlCol="0" anchor="b"/>
          <a:lstStyle/>
          <a:p>
            <a:pPr algn="r" indent="0" marL="0">
              <a:buNone/>
            </a:pPr>
            <a:r>
              <a:rPr lang="en-US" sz="1300" b="1" dirty="0">
                <a:solidFill>
                  <a:schemeClr val="tx1"/>
                </a:solidFill>
              </a:rPr>
              <a:t>El vínculo cercano</a:t>
            </a:r>
            <a:endParaRPr lang="en-US" sz="1300" dirty="0"/>
          </a:p>
        </p:txBody>
      </p:sp>
      <p:sp>
        <p:nvSpPr>
          <p:cNvPr id="41" name="Dilema 4"/>
          <p:cNvSpPr/>
          <p:nvPr/>
        </p:nvSpPr>
        <p:spPr>
          <a:xfrm>
            <a:off x="548640" y="5129784"/>
            <a:ext cx="11094415" cy="1024128"/>
          </a:xfrm>
          <a:prstGeom prst="roundRect">
            <a:avLst>
              <a:gd name="adj" fmla="val 14286"/>
            </a:avLst>
          </a:prstGeom>
          <a:solidFill>
            <a:schemeClr val="bg1"/>
          </a:solidFill>
          <a:ln w="12700">
            <a:solidFill>
              <a:schemeClr val="accent6"/>
            </a:solidFill>
            <a:prstDash val="solid"/>
          </a:ln>
        </p:spPr>
      </p:sp>
      <p:sp>
        <p:nvSpPr>
          <p:cNvPr id="42" name="Shape 40"/>
          <p:cNvSpPr/>
          <p:nvPr/>
        </p:nvSpPr>
        <p:spPr>
          <a:xfrm>
            <a:off x="548640" y="5294376"/>
            <a:ext cx="73152" cy="694944"/>
          </a:xfrm>
          <a:prstGeom prst="rect">
            <a:avLst/>
          </a:prstGeom>
          <a:solidFill>
            <a:schemeClr val="tx1"/>
          </a:solidFill>
          <a:ln/>
        </p:spPr>
      </p:sp>
      <p:sp>
        <p:nvSpPr>
          <p:cNvPr id="43" name="Text 41"/>
          <p:cNvSpPr txBox="1"/>
          <p:nvPr/>
        </p:nvSpPr>
        <p:spPr>
          <a:xfrm>
            <a:off x="822960" y="5239512"/>
            <a:ext cx="731520" cy="457200"/>
          </a:xfrm>
          <a:prstGeom prst="rect">
            <a:avLst/>
          </a:prstGeom>
          <a:noFill/>
          <a:ln/>
        </p:spPr>
        <p:txBody>
          <a:bodyPr wrap="square" lIns="0" tIns="0" rIns="0" bIns="0" rtlCol="0" anchor="ctr"/>
          <a:lstStyle/>
          <a:p>
            <a:pPr indent="0" marL="0">
              <a:buNone/>
            </a:pPr>
            <a:r>
              <a:rPr lang="en-US" sz="2400" b="1" dirty="0">
                <a:solidFill>
                  <a:schemeClr val="tx1"/>
                </a:solidFill>
              </a:rPr>
              <a:t>04</a:t>
            </a:r>
            <a:endParaRPr lang="en-US" sz="2400" dirty="0"/>
          </a:p>
        </p:txBody>
      </p:sp>
      <p:sp>
        <p:nvSpPr>
          <p:cNvPr id="44" name="Text 42"/>
          <p:cNvSpPr txBox="1"/>
          <p:nvPr/>
        </p:nvSpPr>
        <p:spPr>
          <a:xfrm>
            <a:off x="1554480" y="5239512"/>
            <a:ext cx="4754880" cy="384048"/>
          </a:xfrm>
          <a:prstGeom prst="rect">
            <a:avLst/>
          </a:prstGeom>
          <a:noFill/>
          <a:ln/>
        </p:spPr>
        <p:txBody>
          <a:bodyPr wrap="square" lIns="0" tIns="0" rIns="0" bIns="0" rtlCol="0" anchor="ctr"/>
          <a:lstStyle/>
          <a:p>
            <a:pPr indent="0" marL="0">
              <a:buNone/>
            </a:pPr>
            <a:r>
              <a:rPr lang="en-US" sz="1800" b="1" dirty="0">
                <a:solidFill>
                  <a:schemeClr val="tx1"/>
                </a:solidFill>
              </a:rPr>
              <a:t>Cuidar la cartera sin excluir</a:t>
            </a:r>
            <a:endParaRPr lang="en-US" sz="1800" dirty="0"/>
          </a:p>
        </p:txBody>
      </p:sp>
      <p:sp>
        <p:nvSpPr>
          <p:cNvPr id="45" name="Text 43"/>
          <p:cNvSpPr txBox="1"/>
          <p:nvPr/>
        </p:nvSpPr>
        <p:spPr>
          <a:xfrm>
            <a:off x="1554480" y="5623560"/>
            <a:ext cx="4754880" cy="457200"/>
          </a:xfrm>
          <a:prstGeom prst="rect">
            <a:avLst/>
          </a:prstGeom>
          <a:noFill/>
          <a:ln/>
        </p:spPr>
        <p:txBody>
          <a:bodyPr wrap="square" lIns="0" tIns="0" rIns="0" bIns="0" rtlCol="0" anchor="t"/>
          <a:lstStyle/>
          <a:p>
            <a:pPr indent="0" marL="0">
              <a:buNone/>
            </a:pPr>
            <a:r>
              <a:rPr lang="en-US" sz="1300" dirty="0">
                <a:solidFill>
                  <a:schemeClr val="tx2"/>
                </a:solidFill>
              </a:rPr>
              <a:t>¿Cómo bajar la mora sin dejar afuera a quienes más necesitan crédito?</a:t>
            </a:r>
            <a:endParaRPr lang="en-US" sz="1300" dirty="0"/>
          </a:p>
        </p:txBody>
      </p:sp>
      <p:sp>
        <p:nvSpPr>
          <p:cNvPr id="46" name="Shape 44"/>
          <p:cNvSpPr/>
          <p:nvPr/>
        </p:nvSpPr>
        <p:spPr>
          <a:xfrm>
            <a:off x="6766560" y="5751576"/>
            <a:ext cx="4510735" cy="0"/>
          </a:xfrm>
          <a:prstGeom prst="line">
            <a:avLst/>
          </a:prstGeom>
          <a:noFill/>
          <a:ln w="31750">
            <a:solidFill>
              <a:schemeClr val="accent6"/>
            </a:solidFill>
            <a:prstDash val="solid"/>
          </a:ln>
        </p:spPr>
      </p:sp>
      <p:sp>
        <p:nvSpPr>
          <p:cNvPr id="47" name="Shape 45"/>
          <p:cNvSpPr/>
          <p:nvPr/>
        </p:nvSpPr>
        <p:spPr>
          <a:xfrm>
            <a:off x="6766560" y="5687568"/>
            <a:ext cx="128016" cy="128016"/>
          </a:xfrm>
          <a:prstGeom prst="ellipse">
            <a:avLst/>
          </a:prstGeom>
          <a:solidFill>
            <a:schemeClr val="accent4"/>
          </a:solidFill>
          <a:ln/>
        </p:spPr>
      </p:sp>
      <p:sp>
        <p:nvSpPr>
          <p:cNvPr id="48" name="Shape 46"/>
          <p:cNvSpPr/>
          <p:nvPr/>
        </p:nvSpPr>
        <p:spPr>
          <a:xfrm>
            <a:off x="11149279" y="5687568"/>
            <a:ext cx="128016" cy="128016"/>
          </a:xfrm>
          <a:prstGeom prst="ellipse">
            <a:avLst/>
          </a:prstGeom>
          <a:solidFill>
            <a:schemeClr val="accent4"/>
          </a:solidFill>
          <a:ln/>
        </p:spPr>
      </p:sp>
      <p:sp>
        <p:nvSpPr>
          <p:cNvPr id="49" name="Shape 47"/>
          <p:cNvSpPr/>
          <p:nvPr/>
        </p:nvSpPr>
        <p:spPr>
          <a:xfrm>
            <a:off x="8820760" y="5550408"/>
            <a:ext cx="402336" cy="402336"/>
          </a:xfrm>
          <a:prstGeom prst="ellipse">
            <a:avLst/>
          </a:prstGeom>
          <a:solidFill>
            <a:schemeClr val="tx1"/>
          </a:solidFill>
          <a:ln/>
        </p:spPr>
      </p:sp>
      <p:sp>
        <p:nvSpPr>
          <p:cNvPr id="50" name="Shape 48"/>
          <p:cNvSpPr/>
          <p:nvPr/>
        </p:nvSpPr>
        <p:spPr>
          <a:xfrm>
            <a:off x="8885133" y="5614782"/>
            <a:ext cx="273588" cy="273588"/>
          </a:xfrm>
          <a:prstGeom prst="ellipse">
            <a:avLst/>
          </a:prstGeom>
          <a:ln w="16764">
            <a:solidFill>
              <a:srgbClr val="FFFFFF"/>
            </a:solidFill>
            <a:prstDash val="solid"/>
          </a:ln>
        </p:spPr>
      </p:sp>
      <p:sp>
        <p:nvSpPr>
          <p:cNvPr id="51" name="Text 49"/>
          <p:cNvSpPr txBox="1"/>
          <p:nvPr/>
        </p:nvSpPr>
        <p:spPr>
          <a:xfrm>
            <a:off x="6766560" y="5294376"/>
            <a:ext cx="1935328" cy="292608"/>
          </a:xfrm>
          <a:prstGeom prst="rect">
            <a:avLst/>
          </a:prstGeom>
          <a:noFill/>
          <a:ln/>
        </p:spPr>
        <p:txBody>
          <a:bodyPr wrap="square" lIns="0" tIns="0" rIns="0" bIns="0" rtlCol="0" anchor="b"/>
          <a:lstStyle/>
          <a:p>
            <a:pPr algn="l" indent="0" marL="0">
              <a:buNone/>
            </a:pPr>
            <a:r>
              <a:rPr lang="en-US" sz="1300" b="1" dirty="0">
                <a:solidFill>
                  <a:schemeClr val="tx1"/>
                </a:solidFill>
              </a:rPr>
              <a:t>Bajar la mora</a:t>
            </a:r>
            <a:endParaRPr lang="en-US" sz="1300" dirty="0"/>
          </a:p>
        </p:txBody>
      </p:sp>
      <p:sp>
        <p:nvSpPr>
          <p:cNvPr id="52" name="Text 50"/>
          <p:cNvSpPr txBox="1"/>
          <p:nvPr/>
        </p:nvSpPr>
        <p:spPr>
          <a:xfrm>
            <a:off x="9341968" y="5294376"/>
            <a:ext cx="1935328" cy="292608"/>
          </a:xfrm>
          <a:prstGeom prst="rect">
            <a:avLst/>
          </a:prstGeom>
          <a:noFill/>
          <a:ln/>
        </p:spPr>
        <p:txBody>
          <a:bodyPr wrap="square" lIns="0" tIns="0" rIns="0" bIns="0" rtlCol="0" anchor="b"/>
          <a:lstStyle/>
          <a:p>
            <a:pPr algn="r" indent="0" marL="0">
              <a:buNone/>
            </a:pPr>
            <a:r>
              <a:rPr lang="en-US" sz="1300" b="1" dirty="0">
                <a:solidFill>
                  <a:schemeClr val="tx1"/>
                </a:solidFill>
              </a:rPr>
              <a:t>No dejar a nadie afuera</a:t>
            </a:r>
            <a:endParaRPr lang="en-US" sz="13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9144000" cy="274320"/>
          </a:xfrm>
          <a:prstGeom prst="rect">
            <a:avLst/>
          </a:prstGeom>
          <a:noFill/>
          <a:ln/>
        </p:spPr>
        <p:txBody>
          <a:bodyPr wrap="square" lIns="0" tIns="0" rIns="0" bIns="0" rtlCol="0" anchor="ctr"/>
          <a:lstStyle/>
          <a:p>
            <a:pPr algn="l" indent="0" marL="0">
              <a:buNone/>
            </a:pPr>
            <a:r>
              <a:rPr lang="en-US" sz="1200" b="1" spc="150" kern="0" dirty="0">
                <a:solidFill>
                  <a:schemeClr val="accent3"/>
                </a:solidFill>
              </a:rPr>
              <a:t>LO QUE NO HAY QUE OLVIDAR</a:t>
            </a:r>
            <a:endParaRPr lang="en-US" sz="1200" dirty="0"/>
          </a:p>
        </p:txBody>
      </p:sp>
      <p:sp>
        <p:nvSpPr>
          <p:cNvPr id="3" name="Text 1"/>
          <p:cNvSpPr/>
          <p:nvPr>
            <p:ph idx="102" type="title" hasCustomPrompt="1"/>
          </p:nvPr>
        </p:nvSpPr>
        <p:spPr>
          <a:xfrm>
            <a:off x="548640" y="749808"/>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Ninguna propuesta reemplaza al ingreso</a:t>
            </a:r>
            <a:endParaRPr lang="en-US" sz="3200" dirty="0"/>
          </a:p>
        </p:txBody>
      </p:sp>
      <p:sp>
        <p:nvSpPr>
          <p:cNvPr id="4" name="Panel advertencia"/>
          <p:cNvSpPr/>
          <p:nvPr/>
        </p:nvSpPr>
        <p:spPr>
          <a:xfrm>
            <a:off x="548640" y="1783080"/>
            <a:ext cx="11094415" cy="2377440"/>
          </a:xfrm>
          <a:prstGeom prst="roundRect">
            <a:avLst>
              <a:gd name="adj" fmla="val 6154"/>
            </a:avLst>
          </a:prstGeom>
          <a:solidFill>
            <a:schemeClr val="bg1"/>
          </a:solidFill>
          <a:ln w="12700">
            <a:solidFill>
              <a:schemeClr val="accent6"/>
            </a:solidFill>
            <a:prstDash val="solid"/>
          </a:ln>
        </p:spPr>
      </p:sp>
      <p:sp>
        <p:nvSpPr>
          <p:cNvPr id="5" name="Shape 3"/>
          <p:cNvSpPr/>
          <p:nvPr/>
        </p:nvSpPr>
        <p:spPr>
          <a:xfrm>
            <a:off x="1005840" y="2240280"/>
            <a:ext cx="1280160" cy="1280160"/>
          </a:xfrm>
          <a:prstGeom prst="ellipse">
            <a:avLst/>
          </a:prstGeom>
          <a:solidFill>
            <a:schemeClr val="accent3"/>
          </a:solidFill>
          <a:ln/>
        </p:spPr>
      </p:sp>
      <p:sp>
        <p:nvSpPr>
          <p:cNvPr id="6" name="Shape 4"/>
          <p:cNvSpPr/>
          <p:nvPr/>
        </p:nvSpPr>
        <p:spPr>
          <a:xfrm>
            <a:off x="1210666" y="2445106"/>
            <a:ext cx="870509" cy="870509"/>
          </a:xfrm>
          <a:prstGeom prst="ellipse">
            <a:avLst/>
          </a:prstGeom>
          <a:ln w="53340">
            <a:solidFill>
              <a:srgbClr val="006E7A"/>
            </a:solidFill>
            <a:prstDash val="solid"/>
          </a:ln>
        </p:spPr>
      </p:sp>
      <p:sp>
        <p:nvSpPr>
          <p:cNvPr id="7" name="Text 5"/>
          <p:cNvSpPr txBox="1"/>
          <p:nvPr/>
        </p:nvSpPr>
        <p:spPr>
          <a:xfrm>
            <a:off x="2834640" y="2011680"/>
            <a:ext cx="8442655" cy="1188720"/>
          </a:xfrm>
          <a:prstGeom prst="rect">
            <a:avLst/>
          </a:prstGeom>
          <a:noFill/>
          <a:ln/>
        </p:spPr>
        <p:txBody>
          <a:bodyPr wrap="square" lIns="0" tIns="0" rIns="0" bIns="0" rtlCol="0" anchor="ctr"/>
          <a:lstStyle/>
          <a:p>
            <a:pPr indent="0" marL="0">
              <a:buNone/>
            </a:pPr>
            <a:r>
              <a:rPr lang="en-US" sz="2800" b="1" dirty="0">
                <a:solidFill>
                  <a:schemeClr val="tx1"/>
                </a:solidFill>
              </a:rPr>
              <a:t>Sin recuperación del ingreso real, ninguna solución financiera alcanza.</a:t>
            </a:r>
            <a:endParaRPr lang="en-US" sz="2800" dirty="0"/>
          </a:p>
        </p:txBody>
      </p:sp>
      <p:sp>
        <p:nvSpPr>
          <p:cNvPr id="8" name="Text 6"/>
          <p:cNvSpPr txBox="1"/>
          <p:nvPr/>
        </p:nvSpPr>
        <p:spPr>
          <a:xfrm>
            <a:off x="2834640" y="3246120"/>
            <a:ext cx="8442655" cy="731520"/>
          </a:xfrm>
          <a:prstGeom prst="rect">
            <a:avLst/>
          </a:prstGeom>
          <a:noFill/>
          <a:ln/>
        </p:spPr>
        <p:txBody>
          <a:bodyPr wrap="square" lIns="0" tIns="0" rIns="0" bIns="0" rtlCol="0" anchor="t"/>
          <a:lstStyle/>
          <a:p>
            <a:pPr indent="0" marL="0">
              <a:buNone/>
            </a:pPr>
            <a:r>
              <a:rPr lang="en-US" sz="1700" dirty="0">
                <a:solidFill>
                  <a:schemeClr val="tx2"/>
                </a:solidFill>
              </a:rPr>
              <a:t>Las medidas alivian a quien ya debe y ordenan el crédito. Pero si lo que entra no alcanza, el agujero se vuelve a abrir.</a:t>
            </a:r>
            <a:endParaRPr lang="en-US" sz="1700" dirty="0"/>
          </a:p>
        </p:txBody>
      </p:sp>
      <p:sp>
        <p:nvSpPr>
          <p:cNvPr id="9" name="Text 7"/>
          <p:cNvSpPr txBox="1"/>
          <p:nvPr/>
        </p:nvSpPr>
        <p:spPr>
          <a:xfrm>
            <a:off x="548640" y="4526280"/>
            <a:ext cx="11094415" cy="365760"/>
          </a:xfrm>
          <a:prstGeom prst="rect">
            <a:avLst/>
          </a:prstGeom>
          <a:noFill/>
          <a:ln/>
        </p:spPr>
        <p:txBody>
          <a:bodyPr wrap="square" lIns="0" tIns="0" rIns="0" bIns="0" rtlCol="0" anchor="ctr"/>
          <a:lstStyle/>
          <a:p>
            <a:pPr indent="0" marL="0">
              <a:buNone/>
            </a:pPr>
            <a:r>
              <a:rPr lang="en-US" sz="1200" b="1" dirty="0">
                <a:solidFill>
                  <a:schemeClr val="accent5"/>
                </a:solidFill>
              </a:rPr>
              <a:t>Fuentes: </a:t>
            </a:r>
            <a:pPr indent="0" marL="0">
              <a:buNone/>
            </a:pPr>
            <a:r>
              <a:rPr lang="en-US" sz="1200" dirty="0">
                <a:solidFill>
                  <a:schemeClr val="accent5"/>
                </a:solidFill>
              </a:rPr>
              <a:t>BCRA (Informe sobre Bancos; BADLAR bancos privados; Central de Deudores, procesada por Mati Fernández), INDEC (Censo 2022), CEPA, Equilibra, EcoGo-Universidad Austral, IPYPP, UCA, First Capital Group y Max Capital.</a:t>
            </a:r>
            <a:endParaRPr lang="en-US" sz="12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502920"/>
            <a:ext cx="8229600" cy="274320"/>
          </a:xfrm>
          <a:prstGeom prst="rect">
            <a:avLst/>
          </a:prstGeom>
          <a:noFill/>
          <a:ln/>
        </p:spPr>
        <p:txBody>
          <a:bodyPr wrap="square" lIns="0" tIns="0" rIns="0" bIns="0" rtlCol="0" anchor="ctr"/>
          <a:lstStyle/>
          <a:p>
            <a:pPr indent="0" marL="0">
              <a:buNone/>
            </a:pPr>
            <a:r>
              <a:rPr lang="en-US" sz="1300" b="1" spc="150" kern="0" dirty="0">
                <a:solidFill>
                  <a:srgbClr val="CDEFF2"/>
                </a:solidFill>
              </a:rPr>
              <a:t>BONUS TRACK · FINANZAS INCLUSIVAS</a:t>
            </a:r>
            <a:endParaRPr lang="en-US" sz="1300" dirty="0"/>
          </a:p>
        </p:txBody>
      </p:sp>
      <p:sp>
        <p:nvSpPr>
          <p:cNvPr id="3" name="Text 1"/>
          <p:cNvSpPr txBox="1"/>
          <p:nvPr/>
        </p:nvSpPr>
        <p:spPr>
          <a:xfrm>
            <a:off x="548640" y="822960"/>
            <a:ext cx="11094415" cy="640080"/>
          </a:xfrm>
          <a:prstGeom prst="rect">
            <a:avLst/>
          </a:prstGeom>
          <a:noFill/>
          <a:ln/>
        </p:spPr>
        <p:txBody>
          <a:bodyPr wrap="square" lIns="0" tIns="0" rIns="0" bIns="0" rtlCol="0" anchor="ctr">
            <a:normAutofit/>
          </a:bodyPr>
          <a:lstStyle/>
          <a:p>
            <a:pPr indent="0" marL="0">
              <a:buNone/>
            </a:pPr>
            <a:r>
              <a:rPr lang="en-US" sz="2800" b="1" dirty="0">
                <a:solidFill>
                  <a:schemeClr val="bg1"/>
                </a:solidFill>
              </a:rPr>
              <a:t>De la propuesta a la inversión: un fideicomiso de impacto</a:t>
            </a:r>
            <a:endParaRPr lang="en-US" sz="2800" dirty="0"/>
          </a:p>
        </p:txBody>
      </p:sp>
      <p:sp>
        <p:nvSpPr>
          <p:cNvPr id="4" name="Bonus 1"/>
          <p:cNvSpPr/>
          <p:nvPr/>
        </p:nvSpPr>
        <p:spPr>
          <a:xfrm>
            <a:off x="548640" y="1874520"/>
            <a:ext cx="3362858" cy="3886200"/>
          </a:xfrm>
          <a:prstGeom prst="roundRect">
            <a:avLst>
              <a:gd name="adj" fmla="val 4351"/>
            </a:avLst>
          </a:prstGeom>
          <a:solidFill>
            <a:schemeClr val="bg1"/>
          </a:solidFill>
          <a:ln/>
        </p:spPr>
      </p:sp>
      <p:sp>
        <p:nvSpPr>
          <p:cNvPr id="5" name="Shape 3"/>
          <p:cNvSpPr/>
          <p:nvPr/>
        </p:nvSpPr>
        <p:spPr>
          <a:xfrm>
            <a:off x="822960" y="2148840"/>
            <a:ext cx="502920" cy="502920"/>
          </a:xfrm>
          <a:prstGeom prst="ellipse">
            <a:avLst/>
          </a:prstGeom>
          <a:solidFill>
            <a:schemeClr val="accent1"/>
          </a:solidFill>
          <a:ln/>
        </p:spPr>
      </p:sp>
      <p:sp>
        <p:nvSpPr>
          <p:cNvPr id="6" name="Shape 4"/>
          <p:cNvSpPr/>
          <p:nvPr/>
        </p:nvSpPr>
        <p:spPr>
          <a:xfrm>
            <a:off x="903427" y="2229307"/>
            <a:ext cx="341986" cy="341986"/>
          </a:xfrm>
          <a:prstGeom prst="ellipse">
            <a:avLst/>
          </a:prstGeom>
          <a:ln w="20955">
            <a:solidFill>
              <a:srgbClr val="B8432F"/>
            </a:solidFill>
            <a:prstDash val="solid"/>
          </a:ln>
        </p:spPr>
      </p:sp>
      <p:sp>
        <p:nvSpPr>
          <p:cNvPr id="7" name="Text 5"/>
          <p:cNvSpPr txBox="1"/>
          <p:nvPr/>
        </p:nvSpPr>
        <p:spPr>
          <a:xfrm>
            <a:off x="1463040" y="2194560"/>
            <a:ext cx="2265578" cy="411480"/>
          </a:xfrm>
          <a:prstGeom prst="rect">
            <a:avLst/>
          </a:prstGeom>
          <a:noFill/>
          <a:ln/>
        </p:spPr>
        <p:txBody>
          <a:bodyPr wrap="square" lIns="0" tIns="0" rIns="0" bIns="0" rtlCol="0" anchor="ctr"/>
          <a:lstStyle/>
          <a:p>
            <a:pPr indent="0" marL="0">
              <a:buNone/>
            </a:pPr>
            <a:r>
              <a:rPr lang="en-US" sz="1100" b="1" spc="150" kern="0" dirty="0">
                <a:solidFill>
                  <a:schemeClr val="tx2"/>
                </a:solidFill>
              </a:rPr>
              <a:t>EL PROBLEMA</a:t>
            </a:r>
            <a:endParaRPr lang="en-US" sz="1100" dirty="0"/>
          </a:p>
        </p:txBody>
      </p:sp>
      <p:sp>
        <p:nvSpPr>
          <p:cNvPr id="8" name="Text 6"/>
          <p:cNvSpPr txBox="1"/>
          <p:nvPr/>
        </p:nvSpPr>
        <p:spPr>
          <a:xfrm>
            <a:off x="822960" y="2834640"/>
            <a:ext cx="2814218" cy="548640"/>
          </a:xfrm>
          <a:prstGeom prst="rect">
            <a:avLst/>
          </a:prstGeom>
          <a:noFill/>
          <a:ln/>
        </p:spPr>
        <p:txBody>
          <a:bodyPr wrap="square" lIns="0" tIns="0" rIns="0" bIns="0" rtlCol="0" anchor="ctr">
            <a:normAutofit/>
          </a:bodyPr>
          <a:lstStyle/>
          <a:p>
            <a:pPr indent="0" marL="0">
              <a:buNone/>
            </a:pPr>
            <a:r>
              <a:rPr lang="en-US" sz="2600" b="1" dirty="0">
                <a:solidFill>
                  <a:schemeClr val="tx1"/>
                </a:solidFill>
              </a:rPr>
              <a:t>USD 27.000 M</a:t>
            </a:r>
            <a:endParaRPr lang="en-US" sz="2600" dirty="0"/>
          </a:p>
        </p:txBody>
      </p:sp>
      <p:sp>
        <p:nvSpPr>
          <p:cNvPr id="9" name="Text 7"/>
          <p:cNvSpPr txBox="1"/>
          <p:nvPr/>
        </p:nvSpPr>
        <p:spPr>
          <a:xfrm>
            <a:off x="822960" y="3429000"/>
            <a:ext cx="2814218" cy="731520"/>
          </a:xfrm>
          <a:prstGeom prst="rect">
            <a:avLst/>
          </a:prstGeom>
          <a:noFill/>
          <a:ln/>
        </p:spPr>
        <p:txBody>
          <a:bodyPr wrap="square" lIns="0" tIns="0" rIns="0" bIns="0" rtlCol="0" anchor="t"/>
          <a:lstStyle/>
          <a:p>
            <a:pPr indent="0" marL="0">
              <a:buNone/>
            </a:pPr>
            <a:r>
              <a:rPr lang="en-US" sz="1500" b="1" dirty="0">
                <a:solidFill>
                  <a:schemeClr val="accent3"/>
                </a:solidFill>
              </a:rPr>
              <a:t>de brecha de infraestructura en los barrios populares</a:t>
            </a:r>
            <a:endParaRPr lang="en-US" sz="1500" dirty="0"/>
          </a:p>
        </p:txBody>
      </p:sp>
      <p:sp>
        <p:nvSpPr>
          <p:cNvPr id="10" name="Text 8"/>
          <p:cNvSpPr txBox="1"/>
          <p:nvPr/>
        </p:nvSpPr>
        <p:spPr>
          <a:xfrm>
            <a:off x="822960" y="4251960"/>
            <a:ext cx="2814218" cy="1005840"/>
          </a:xfrm>
          <a:prstGeom prst="rect">
            <a:avLst/>
          </a:prstGeom>
          <a:noFill/>
          <a:ln/>
        </p:spPr>
        <p:txBody>
          <a:bodyPr wrap="square" lIns="0" tIns="0" rIns="0" bIns="0" rtlCol="0" anchor="t"/>
          <a:lstStyle/>
          <a:p>
            <a:pPr indent="0" marL="0">
              <a:buNone/>
            </a:pPr>
            <a:r>
              <a:rPr lang="en-US" sz="1400" dirty="0">
                <a:solidFill>
                  <a:schemeClr val="tx2"/>
                </a:solidFill>
              </a:rPr>
              <a:t>Unos USD 2.250 M por año durante 12 años. El FISU, que financiaba la integración sociourbana, fue disuelto en 2025.</a:t>
            </a:r>
            <a:endParaRPr lang="en-US" sz="1400" dirty="0"/>
          </a:p>
        </p:txBody>
      </p:sp>
      <p:sp>
        <p:nvSpPr>
          <p:cNvPr id="11" name="Text 9"/>
          <p:cNvSpPr txBox="1"/>
          <p:nvPr/>
        </p:nvSpPr>
        <p:spPr>
          <a:xfrm>
            <a:off x="3957218" y="3337560"/>
            <a:ext cx="411480" cy="548640"/>
          </a:xfrm>
          <a:prstGeom prst="rect">
            <a:avLst/>
          </a:prstGeom>
          <a:noFill/>
          <a:ln/>
        </p:spPr>
        <p:txBody>
          <a:bodyPr wrap="square" lIns="0" tIns="0" rIns="0" bIns="0" rtlCol="0" anchor="ctr"/>
          <a:lstStyle/>
          <a:p>
            <a:pPr algn="ctr" indent="0" marL="0">
              <a:buNone/>
            </a:pPr>
            <a:r>
              <a:rPr lang="en-US" sz="3000" b="1" dirty="0">
                <a:solidFill>
                  <a:schemeClr val="accent2"/>
                </a:solidFill>
              </a:rPr>
              <a:t>→</a:t>
            </a:r>
            <a:endParaRPr lang="en-US" sz="3000" dirty="0"/>
          </a:p>
        </p:txBody>
      </p:sp>
      <p:sp>
        <p:nvSpPr>
          <p:cNvPr id="12" name="Bonus 2"/>
          <p:cNvSpPr/>
          <p:nvPr/>
        </p:nvSpPr>
        <p:spPr>
          <a:xfrm>
            <a:off x="4414418" y="1874520"/>
            <a:ext cx="3362858" cy="3886200"/>
          </a:xfrm>
          <a:prstGeom prst="roundRect">
            <a:avLst>
              <a:gd name="adj" fmla="val 4351"/>
            </a:avLst>
          </a:prstGeom>
          <a:solidFill>
            <a:schemeClr val="bg1"/>
          </a:solidFill>
          <a:ln/>
        </p:spPr>
      </p:sp>
      <p:sp>
        <p:nvSpPr>
          <p:cNvPr id="13" name="Shape 11"/>
          <p:cNvSpPr/>
          <p:nvPr/>
        </p:nvSpPr>
        <p:spPr>
          <a:xfrm>
            <a:off x="4688738" y="2148840"/>
            <a:ext cx="502920" cy="502920"/>
          </a:xfrm>
          <a:prstGeom prst="ellipse">
            <a:avLst/>
          </a:prstGeom>
          <a:solidFill>
            <a:schemeClr val="accent2"/>
          </a:solidFill>
          <a:ln/>
        </p:spPr>
      </p:sp>
      <p:sp>
        <p:nvSpPr>
          <p:cNvPr id="14" name="Shape 12"/>
          <p:cNvSpPr/>
          <p:nvPr/>
        </p:nvSpPr>
        <p:spPr>
          <a:xfrm>
            <a:off x="4769206" y="2229307"/>
            <a:ext cx="341986" cy="341986"/>
          </a:xfrm>
          <a:prstGeom prst="ellipse">
            <a:avLst/>
          </a:prstGeom>
          <a:ln w="20955">
            <a:solidFill>
              <a:srgbClr val="C98A12"/>
            </a:solidFill>
            <a:prstDash val="solid"/>
          </a:ln>
        </p:spPr>
      </p:sp>
      <p:sp>
        <p:nvSpPr>
          <p:cNvPr id="15" name="Text 13"/>
          <p:cNvSpPr txBox="1"/>
          <p:nvPr/>
        </p:nvSpPr>
        <p:spPr>
          <a:xfrm>
            <a:off x="5328818" y="2194560"/>
            <a:ext cx="2265578" cy="411480"/>
          </a:xfrm>
          <a:prstGeom prst="rect">
            <a:avLst/>
          </a:prstGeom>
          <a:noFill/>
          <a:ln/>
        </p:spPr>
        <p:txBody>
          <a:bodyPr wrap="square" lIns="0" tIns="0" rIns="0" bIns="0" rtlCol="0" anchor="ctr"/>
          <a:lstStyle/>
          <a:p>
            <a:pPr indent="0" marL="0">
              <a:buNone/>
            </a:pPr>
            <a:r>
              <a:rPr lang="en-US" sz="1100" b="1" spc="150" kern="0" dirty="0">
                <a:solidFill>
                  <a:schemeClr val="tx2"/>
                </a:solidFill>
              </a:rPr>
              <a:t>LA PROPUESTA DE FUNDAR</a:t>
            </a:r>
            <a:endParaRPr lang="en-US" sz="1100" dirty="0"/>
          </a:p>
        </p:txBody>
      </p:sp>
      <p:sp>
        <p:nvSpPr>
          <p:cNvPr id="16" name="Text 14"/>
          <p:cNvSpPr txBox="1"/>
          <p:nvPr/>
        </p:nvSpPr>
        <p:spPr>
          <a:xfrm>
            <a:off x="4688738" y="2834640"/>
            <a:ext cx="2814218" cy="548640"/>
          </a:xfrm>
          <a:prstGeom prst="rect">
            <a:avLst/>
          </a:prstGeom>
          <a:noFill/>
          <a:ln/>
        </p:spPr>
        <p:txBody>
          <a:bodyPr wrap="square" lIns="0" tIns="0" rIns="0" bIns="0" rtlCol="0" anchor="ctr">
            <a:normAutofit/>
          </a:bodyPr>
          <a:lstStyle/>
          <a:p>
            <a:pPr indent="0" marL="0">
              <a:buNone/>
            </a:pPr>
            <a:r>
              <a:rPr lang="en-US" sz="2600" b="1" dirty="0">
                <a:solidFill>
                  <a:schemeClr val="tx1"/>
                </a:solidFill>
              </a:rPr>
              <a:t>Fondo de impacto</a:t>
            </a:r>
            <a:endParaRPr lang="en-US" sz="2600" dirty="0"/>
          </a:p>
        </p:txBody>
      </p:sp>
      <p:sp>
        <p:nvSpPr>
          <p:cNvPr id="17" name="Text 15"/>
          <p:cNvSpPr txBox="1"/>
          <p:nvPr/>
        </p:nvSpPr>
        <p:spPr>
          <a:xfrm>
            <a:off x="4688738" y="3429000"/>
            <a:ext cx="2814218" cy="731520"/>
          </a:xfrm>
          <a:prstGeom prst="rect">
            <a:avLst/>
          </a:prstGeom>
          <a:noFill/>
          <a:ln/>
        </p:spPr>
        <p:txBody>
          <a:bodyPr wrap="square" lIns="0" tIns="0" rIns="0" bIns="0" rtlCol="0" anchor="t"/>
          <a:lstStyle/>
          <a:p>
            <a:pPr indent="0" marL="0">
              <a:buNone/>
            </a:pPr>
            <a:r>
              <a:rPr lang="en-US" sz="1500" b="1" dirty="0">
                <a:solidFill>
                  <a:schemeClr val="accent3"/>
                </a:solidFill>
              </a:rPr>
              <a:t>para canalizar inversión de impacto</a:t>
            </a:r>
            <a:endParaRPr lang="en-US" sz="1500" dirty="0"/>
          </a:p>
        </p:txBody>
      </p:sp>
      <p:sp>
        <p:nvSpPr>
          <p:cNvPr id="18" name="Text 16"/>
          <p:cNvSpPr txBox="1"/>
          <p:nvPr/>
        </p:nvSpPr>
        <p:spPr>
          <a:xfrm>
            <a:off x="4688738" y="4251960"/>
            <a:ext cx="2814218" cy="1005840"/>
          </a:xfrm>
          <a:prstGeom prst="rect">
            <a:avLst/>
          </a:prstGeom>
          <a:noFill/>
          <a:ln/>
        </p:spPr>
        <p:txBody>
          <a:bodyPr wrap="square" lIns="0" tIns="0" rIns="0" bIns="0" rtlCol="0" anchor="t"/>
          <a:lstStyle/>
          <a:p>
            <a:pPr indent="0" marL="0">
              <a:buNone/>
            </a:pPr>
            <a:r>
              <a:rPr lang="en-US" sz="1400" dirty="0">
                <a:solidFill>
                  <a:schemeClr val="tx2"/>
                </a:solidFill>
              </a:rPr>
              <a:t>Combinar aportes con fondos de mercado para ganar escala y velocidad en las intervenciones.</a:t>
            </a:r>
            <a:endParaRPr lang="en-US" sz="1400" dirty="0"/>
          </a:p>
        </p:txBody>
      </p:sp>
      <p:sp>
        <p:nvSpPr>
          <p:cNvPr id="19" name="Text 17"/>
          <p:cNvSpPr txBox="1"/>
          <p:nvPr/>
        </p:nvSpPr>
        <p:spPr>
          <a:xfrm>
            <a:off x="7822997" y="3337560"/>
            <a:ext cx="411480" cy="548640"/>
          </a:xfrm>
          <a:prstGeom prst="rect">
            <a:avLst/>
          </a:prstGeom>
          <a:noFill/>
          <a:ln/>
        </p:spPr>
        <p:txBody>
          <a:bodyPr wrap="square" lIns="0" tIns="0" rIns="0" bIns="0" rtlCol="0" anchor="ctr"/>
          <a:lstStyle/>
          <a:p>
            <a:pPr algn="ctr" indent="0" marL="0">
              <a:buNone/>
            </a:pPr>
            <a:r>
              <a:rPr lang="en-US" sz="3000" b="1" dirty="0">
                <a:solidFill>
                  <a:schemeClr val="accent2"/>
                </a:solidFill>
              </a:rPr>
              <a:t>→</a:t>
            </a:r>
            <a:endParaRPr lang="en-US" sz="3000" dirty="0"/>
          </a:p>
        </p:txBody>
      </p:sp>
      <p:sp>
        <p:nvSpPr>
          <p:cNvPr id="20" name="Bonus 3"/>
          <p:cNvSpPr/>
          <p:nvPr/>
        </p:nvSpPr>
        <p:spPr>
          <a:xfrm>
            <a:off x="8280197" y="1874520"/>
            <a:ext cx="3362858" cy="3886200"/>
          </a:xfrm>
          <a:prstGeom prst="roundRect">
            <a:avLst>
              <a:gd name="adj" fmla="val 4351"/>
            </a:avLst>
          </a:prstGeom>
          <a:solidFill>
            <a:schemeClr val="bg1"/>
          </a:solidFill>
          <a:ln/>
        </p:spPr>
      </p:sp>
      <p:sp>
        <p:nvSpPr>
          <p:cNvPr id="21" name="Shape 19"/>
          <p:cNvSpPr/>
          <p:nvPr/>
        </p:nvSpPr>
        <p:spPr>
          <a:xfrm>
            <a:off x="8554517" y="2148840"/>
            <a:ext cx="502920" cy="502920"/>
          </a:xfrm>
          <a:prstGeom prst="ellipse">
            <a:avLst/>
          </a:prstGeom>
          <a:solidFill>
            <a:schemeClr val="accent3"/>
          </a:solidFill>
          <a:ln/>
        </p:spPr>
      </p:sp>
      <p:sp>
        <p:nvSpPr>
          <p:cNvPr id="22" name="Shape 20"/>
          <p:cNvSpPr/>
          <p:nvPr/>
        </p:nvSpPr>
        <p:spPr>
          <a:xfrm>
            <a:off x="8634984" y="2229307"/>
            <a:ext cx="341986" cy="341986"/>
          </a:xfrm>
          <a:prstGeom prst="ellipse">
            <a:avLst/>
          </a:prstGeom>
          <a:ln w="20955">
            <a:solidFill>
              <a:srgbClr val="006E7A"/>
            </a:solidFill>
            <a:prstDash val="solid"/>
          </a:ln>
        </p:spPr>
      </p:sp>
      <p:sp>
        <p:nvSpPr>
          <p:cNvPr id="23" name="Text 21"/>
          <p:cNvSpPr txBox="1"/>
          <p:nvPr/>
        </p:nvSpPr>
        <p:spPr>
          <a:xfrm>
            <a:off x="9194597" y="2194560"/>
            <a:ext cx="2265578" cy="411480"/>
          </a:xfrm>
          <a:prstGeom prst="rect">
            <a:avLst/>
          </a:prstGeom>
          <a:noFill/>
          <a:ln/>
        </p:spPr>
        <p:txBody>
          <a:bodyPr wrap="square" lIns="0" tIns="0" rIns="0" bIns="0" rtlCol="0" anchor="ctr"/>
          <a:lstStyle/>
          <a:p>
            <a:pPr indent="0" marL="0">
              <a:buNone/>
            </a:pPr>
            <a:r>
              <a:rPr lang="en-US" sz="1100" b="1" spc="150" kern="0" dirty="0">
                <a:solidFill>
                  <a:schemeClr val="tx2"/>
                </a:solidFill>
              </a:rPr>
              <a:t>EN QUÉ ESTAMOS</a:t>
            </a:r>
            <a:endParaRPr lang="en-US" sz="1100" dirty="0"/>
          </a:p>
        </p:txBody>
      </p:sp>
      <p:sp>
        <p:nvSpPr>
          <p:cNvPr id="24" name="Text 22"/>
          <p:cNvSpPr txBox="1"/>
          <p:nvPr/>
        </p:nvSpPr>
        <p:spPr>
          <a:xfrm>
            <a:off x="8554517" y="2834640"/>
            <a:ext cx="2814218" cy="548640"/>
          </a:xfrm>
          <a:prstGeom prst="rect">
            <a:avLst/>
          </a:prstGeom>
          <a:noFill/>
          <a:ln/>
        </p:spPr>
        <p:txBody>
          <a:bodyPr wrap="square" lIns="0" tIns="0" rIns="0" bIns="0" rtlCol="0" anchor="ctr">
            <a:normAutofit/>
          </a:bodyPr>
          <a:lstStyle/>
          <a:p>
            <a:pPr indent="0" marL="0">
              <a:buNone/>
            </a:pPr>
            <a:r>
              <a:rPr lang="en-US" sz="2600" b="1" dirty="0">
                <a:solidFill>
                  <a:schemeClr val="tx1"/>
                </a:solidFill>
              </a:rPr>
              <a:t>Un fideicomiso</a:t>
            </a:r>
            <a:endParaRPr lang="en-US" sz="2600" dirty="0"/>
          </a:p>
        </p:txBody>
      </p:sp>
      <p:sp>
        <p:nvSpPr>
          <p:cNvPr id="25" name="Text 23"/>
          <p:cNvSpPr txBox="1"/>
          <p:nvPr/>
        </p:nvSpPr>
        <p:spPr>
          <a:xfrm>
            <a:off x="8554517" y="3429000"/>
            <a:ext cx="2814218" cy="731520"/>
          </a:xfrm>
          <a:prstGeom prst="rect">
            <a:avLst/>
          </a:prstGeom>
          <a:noFill/>
          <a:ln/>
        </p:spPr>
        <p:txBody>
          <a:bodyPr wrap="square" lIns="0" tIns="0" rIns="0" bIns="0" rtlCol="0" anchor="t"/>
          <a:lstStyle/>
          <a:p>
            <a:pPr indent="0" marL="0">
              <a:buNone/>
            </a:pPr>
            <a:r>
              <a:rPr lang="en-US" sz="1500" b="1" dirty="0">
                <a:solidFill>
                  <a:schemeClr val="accent3"/>
                </a:solidFill>
              </a:rPr>
              <a:t>con inversores de impacto, como primer paso</a:t>
            </a:r>
            <a:endParaRPr lang="en-US" sz="1500" dirty="0"/>
          </a:p>
        </p:txBody>
      </p:sp>
      <p:sp>
        <p:nvSpPr>
          <p:cNvPr id="26" name="Text 24"/>
          <p:cNvSpPr txBox="1"/>
          <p:nvPr/>
        </p:nvSpPr>
        <p:spPr>
          <a:xfrm>
            <a:off x="8554517" y="4251960"/>
            <a:ext cx="2814218" cy="1005840"/>
          </a:xfrm>
          <a:prstGeom prst="rect">
            <a:avLst/>
          </a:prstGeom>
          <a:noFill/>
          <a:ln/>
        </p:spPr>
        <p:txBody>
          <a:bodyPr wrap="square" lIns="0" tIns="0" rIns="0" bIns="0" rtlCol="0" anchor="t"/>
          <a:lstStyle/>
          <a:p>
            <a:pPr indent="0" marL="0">
              <a:buNone/>
            </a:pPr>
            <a:r>
              <a:rPr lang="en-US" sz="1400" dirty="0">
                <a:solidFill>
                  <a:schemeClr val="tx2"/>
                </a:solidFill>
              </a:rPr>
              <a:t>Lo estamos armando: es el primer paso para probar el esquema antes de sumar fondos de mercado.</a:t>
            </a:r>
            <a:endParaRPr lang="en-US" sz="1400" dirty="0"/>
          </a:p>
        </p:txBody>
      </p:sp>
      <p:sp>
        <p:nvSpPr>
          <p:cNvPr id="27" name="Shape 25"/>
          <p:cNvSpPr/>
          <p:nvPr/>
        </p:nvSpPr>
        <p:spPr>
          <a:xfrm>
            <a:off x="8554517" y="5303520"/>
            <a:ext cx="1600200" cy="329184"/>
          </a:xfrm>
          <a:prstGeom prst="roundRect">
            <a:avLst>
              <a:gd name="adj" fmla="val 50000"/>
            </a:avLst>
          </a:prstGeom>
          <a:solidFill>
            <a:schemeClr val="accent2"/>
          </a:solidFill>
          <a:ln/>
        </p:spPr>
      </p:sp>
      <p:sp>
        <p:nvSpPr>
          <p:cNvPr id="28" name="Text 26"/>
          <p:cNvSpPr txBox="1"/>
          <p:nvPr/>
        </p:nvSpPr>
        <p:spPr>
          <a:xfrm>
            <a:off x="8554517" y="5303520"/>
            <a:ext cx="1600200" cy="329184"/>
          </a:xfrm>
          <a:prstGeom prst="rect">
            <a:avLst/>
          </a:prstGeom>
          <a:noFill/>
          <a:ln/>
        </p:spPr>
        <p:txBody>
          <a:bodyPr wrap="square" lIns="0" tIns="0" rIns="0" bIns="0" rtlCol="0" anchor="ctr"/>
          <a:lstStyle/>
          <a:p>
            <a:pPr algn="ctr" indent="0" marL="0">
              <a:buNone/>
            </a:pPr>
            <a:r>
              <a:rPr lang="en-US" sz="1100" b="1" spc="150" kern="0" dirty="0">
                <a:solidFill>
                  <a:schemeClr val="tx1"/>
                </a:solidFill>
              </a:rPr>
              <a:t>EN ARMADO</a:t>
            </a:r>
            <a:endParaRPr lang="en-US" sz="1100" dirty="0"/>
          </a:p>
        </p:txBody>
      </p:sp>
      <p:sp>
        <p:nvSpPr>
          <p:cNvPr id="29" name="Text 27"/>
          <p:cNvSpPr txBox="1"/>
          <p:nvPr/>
        </p:nvSpPr>
        <p:spPr>
          <a:xfrm>
            <a:off x="1554480" y="6053328"/>
            <a:ext cx="7315200" cy="256032"/>
          </a:xfrm>
          <a:prstGeom prst="rect">
            <a:avLst/>
          </a:prstGeom>
          <a:noFill/>
          <a:ln/>
        </p:spPr>
        <p:txBody>
          <a:bodyPr wrap="square" lIns="0" tIns="0" rIns="0" bIns="0" rtlCol="0" anchor="ctr"/>
          <a:lstStyle/>
          <a:p>
            <a:pPr indent="0" marL="0">
              <a:buNone/>
            </a:pPr>
            <a:r>
              <a:rPr lang="en-US" sz="1000" dirty="0">
                <a:solidFill>
                  <a:srgbClr val="E6F6F7"/>
                </a:solidFill>
              </a:rPr>
              <a:t>Fuente: Fundar, De los barrios populares a la ciudad formal. Aportes para un plan (2025).</a:t>
            </a:r>
            <a:endParaRPr lang="en-US" sz="1000" dirty="0"/>
          </a:p>
        </p:txBody>
      </p:sp>
    </p:spTree>
  </p:cSld>
  <p:clrMapOvr>
    <a:masterClrMapping/>
  </p:clrMapOvr>
</p:sld>
</file>

<file path=ppt/theme/theme1.xml><?xml version="1.0" encoding="utf-8"?>
<a:theme xmlns:a="http://schemas.openxmlformats.org/drawingml/2006/main" name="Fundar RADIM">
  <a:themeElements>
    <a:clrScheme name="Fundar RADIM">
      <a:dk1>
        <a:srgbClr val="1D2B4F"/>
      </a:dk1>
      <a:lt1>
        <a:srgbClr val="FFFFFF"/>
      </a:lt1>
      <a:dk2>
        <a:srgbClr val="4A5568"/>
      </a:dk2>
      <a:lt2>
        <a:srgbClr val="F2F7F8"/>
      </a:lt2>
      <a:accent1>
        <a:srgbClr val="E8604C"/>
      </a:accent1>
      <a:accent2>
        <a:srgbClr val="F2B134"/>
      </a:accent2>
      <a:accent3>
        <a:srgbClr val="0097A7"/>
      </a:accent3>
      <a:accent4>
        <a:srgbClr val="A9B4C2"/>
      </a:accent4>
      <a:accent5>
        <a:srgbClr val="6B7785"/>
      </a:accent5>
      <a:accent6>
        <a:srgbClr val="DCE3EA"/>
      </a:accent6>
      <a:hlink>
        <a:srgbClr val="0097A7"/>
      </a:hlink>
      <a:folHlink>
        <a:srgbClr val="6B7785"/>
      </a:folHlink>
    </a:clrScheme>
    <a:fontScheme name="Fundar RADIM">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 crisis de endeudamiento de los hogares</dc:title>
  <dc:subject>PptxGenJS Presentation</dc:subject>
  <dc:creator>Fundar</dc:creator>
  <cp:lastModifiedBy>Fundar</cp:lastModifiedBy>
  <cp:revision>1</cp:revision>
  <dcterms:created xsi:type="dcterms:W3CDTF">2026-10-28T10:13:55Z</dcterms:created>
  <dcterms:modified xsi:type="dcterms:W3CDTF">2026-10-28T10:13:55Z</dcterms:modified>
</cp:coreProperties>
</file>