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EMR (% blastos)</c:v>
                </c:pt>
              </c:strCache>
            </c:strRef>
          </c:tx>
          <c:spPr>
            <a:solidFill>
              <a:srgbClr val="1F6FB5"/>
            </a:solidFill>
            <a:ln w="38100" cap="flat">
              <a:solidFill>
                <a:srgbClr val="1F6FB5"/>
              </a:solidFill>
              <a:prstDash val="solid"/>
              <a:round/>
            </a:ln>
            <a:effectLst/>
          </c:spPr>
          <c:invertIfNegative val="0"/>
          <c:dLbls>
            <c:numFmt formatCode="[&lt;0.001]&quot;indetectable&quot;;0.0##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1F6FB5"/>
              </a:solidFill>
              <a:ln w="9525" cap="flat">
                <a:solidFill>
                  <a:srgbClr val="1F6F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D+15</c:v>
                  </c:pt>
                  <c:pt idx="1">
                    <c:v>D+33</c:v>
                  </c:pt>
                  <c:pt idx="2">
                    <c:v>D+78</c:v>
                  </c:pt>
                  <c:pt idx="3">
                    <c:v>Bloque AR</c:v>
                  </c:pt>
                  <c:pt idx="4">
                    <c:v>FLAG-IDA</c:v>
                  </c:pt>
                  <c:pt idx="5">
                    <c:v>Blinatumomab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9.3</c:v>
                </c:pt>
                <c:pt idx="1">
                  <c:v>0.206</c:v>
                </c:pt>
                <c:pt idx="2">
                  <c:v>0.021</c:v>
                </c:pt>
                <c:pt idx="3">
                  <c:v>0.18</c:v>
                </c:pt>
                <c:pt idx="4">
                  <c:v>0.02</c:v>
                </c:pt>
                <c:pt idx="5">
                  <c:v>0.0008</c:v>
                </c:pt>
              </c:numCache>
            </c:numRef>
          </c:val>
          <c:smooth val="0"/>
        </c:ser>
        <c:dLbls>
          <c:numFmt formatCode="[&lt;0.001]&quot;indetectable&quot;;0.0##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0B2545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Umbral 0,1%</c:v>
                </c:pt>
              </c:strCache>
            </c:strRef>
          </c:tx>
          <c:spPr>
            <a:solidFill>
              <a:srgbClr val="D7182A"/>
            </a:solidFill>
            <a:ln w="25400" cap="flat">
              <a:solidFill>
                <a:srgbClr val="D7182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7182A"/>
              </a:solidFill>
              <a:ln w="9525" cap="flat">
                <a:solidFill>
                  <a:srgbClr val="D718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D+15</c:v>
                  </c:pt>
                  <c:pt idx="1">
                    <c:v>D+33</c:v>
                  </c:pt>
                  <c:pt idx="2">
                    <c:v>D+78</c:v>
                  </c:pt>
                  <c:pt idx="3">
                    <c:v>Bloque AR</c:v>
                  </c:pt>
                  <c:pt idx="4">
                    <c:v>FLAG-IDA</c:v>
                  </c:pt>
                  <c:pt idx="5">
                    <c:v>Blinatumomab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"/>
          <c:min val="0.0001"/>
        </c:scaling>
        <c:delete val="0"/>
        <c:axPos val="l"/>
        <c:majorGridlines>
          <c:spPr>
            <a:ln w="9525" cap="flat">
              <a:solidFill>
                <a:srgbClr val="E3E7EC"/>
              </a:solidFill>
              <a:prstDash val="solid"/>
              <a:round/>
            </a:ln>
          </c:spPr>
        </c:majorGridlines>
        <c:numFmt formatCode="0.####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IDO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rgbClr val="D7182A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2545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7182A"/>
                </a:solidFill>
              </a:rPr>
              <a:t>CASO CLÍNICO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2545"/>
                </a:solidFill>
              </a:rPr>
              <a:t>LLA Ph negativa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B5"/>
                </a:solidFill>
              </a:rPr>
              <a:t>Leucemia linfoblástica aguda B en un adulto joven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822960" cy="0"/>
          </a:xfrm>
          <a:prstGeom prst="line">
            <a:avLst/>
          </a:prstGeom>
          <a:noFill/>
          <a:ln w="38100">
            <a:solidFill>
              <a:srgbClr val="D718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160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Dra. Luciana Galelli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Hospital General de Agudos Carlos G. Durand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DECLARACIÓN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Conflictos de interés</a:t>
            </a:r>
            <a:endParaRPr lang="en-US" sz="3000" dirty="0"/>
          </a:p>
        </p:txBody>
      </p:sp>
      <p:sp>
        <p:nvSpPr>
          <p:cNvPr id="4" name="Conflicto Empleado"/>
          <p:cNvSpPr/>
          <p:nvPr/>
        </p:nvSpPr>
        <p:spPr>
          <a:xfrm>
            <a:off x="548640" y="1600200"/>
            <a:ext cx="536432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353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</a:rPr>
              <a:t>Empleado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78528" y="186537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78528" y="1865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NO</a:t>
            </a:r>
            <a:endParaRPr lang="en-US" sz="1100" dirty="0"/>
          </a:p>
        </p:txBody>
      </p:sp>
      <p:sp>
        <p:nvSpPr>
          <p:cNvPr id="8" name="Conflicto Consultor"/>
          <p:cNvSpPr/>
          <p:nvPr/>
        </p:nvSpPr>
        <p:spPr>
          <a:xfrm>
            <a:off x="6278728" y="1600200"/>
            <a:ext cx="536432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98768" y="1600200"/>
            <a:ext cx="353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</a:rPr>
              <a:t>Consultor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08615" y="186537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408615" y="1865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NO</a:t>
            </a:r>
            <a:endParaRPr lang="en-US" sz="1100" dirty="0"/>
          </a:p>
        </p:txBody>
      </p:sp>
      <p:sp>
        <p:nvSpPr>
          <p:cNvPr id="12" name="Conflicto Propiedad accionaria"/>
          <p:cNvSpPr/>
          <p:nvPr/>
        </p:nvSpPr>
        <p:spPr>
          <a:xfrm>
            <a:off x="548640" y="2651760"/>
            <a:ext cx="536432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2651760"/>
            <a:ext cx="353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</a:rPr>
              <a:t>Propiedad accionaria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78528" y="29169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78528" y="29169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NO</a:t>
            </a:r>
            <a:endParaRPr lang="en-US" sz="1100" dirty="0"/>
          </a:p>
        </p:txBody>
      </p:sp>
      <p:sp>
        <p:nvSpPr>
          <p:cNvPr id="16" name="Conflicto Fondos de investigación"/>
          <p:cNvSpPr/>
          <p:nvPr/>
        </p:nvSpPr>
        <p:spPr>
          <a:xfrm>
            <a:off x="6278728" y="2651760"/>
            <a:ext cx="536432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98768" y="2651760"/>
            <a:ext cx="353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</a:rPr>
              <a:t>Fondos de investigación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08615" y="29169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408615" y="29169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NO</a:t>
            </a:r>
            <a:endParaRPr lang="en-US" sz="1100" dirty="0"/>
          </a:p>
        </p:txBody>
      </p:sp>
      <p:sp>
        <p:nvSpPr>
          <p:cNvPr id="20" name="Conflicto Honorarios por conferencias"/>
          <p:cNvSpPr/>
          <p:nvPr/>
        </p:nvSpPr>
        <p:spPr>
          <a:xfrm>
            <a:off x="548640" y="3703320"/>
            <a:ext cx="536432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3703320"/>
            <a:ext cx="353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</a:rPr>
              <a:t>Honorarios por conferencias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78528" y="396849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78528" y="39684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NO</a:t>
            </a:r>
            <a:endParaRPr lang="en-US" sz="1100" dirty="0"/>
          </a:p>
        </p:txBody>
      </p:sp>
      <p:sp>
        <p:nvSpPr>
          <p:cNvPr id="24" name="Conflicto Formar parte de grupo de oradores"/>
          <p:cNvSpPr/>
          <p:nvPr/>
        </p:nvSpPr>
        <p:spPr>
          <a:xfrm>
            <a:off x="6278728" y="3703320"/>
            <a:ext cx="536432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98768" y="3703320"/>
            <a:ext cx="353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</a:rPr>
              <a:t>Formar parte de grupo de oradores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08615" y="396849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408615" y="39684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NO</a:t>
            </a:r>
            <a:endParaRPr lang="en-US" sz="1100" dirty="0"/>
          </a:p>
        </p:txBody>
      </p:sp>
      <p:sp>
        <p:nvSpPr>
          <p:cNvPr id="28" name="Conflicto Formar parte de comité asesor"/>
          <p:cNvSpPr/>
          <p:nvPr/>
        </p:nvSpPr>
        <p:spPr>
          <a:xfrm>
            <a:off x="548640" y="4754880"/>
            <a:ext cx="536432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68680" y="4754880"/>
            <a:ext cx="353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</a:rPr>
              <a:t>Formar parte de comité asesor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678528" y="502005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678528" y="50200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NO</a:t>
            </a:r>
            <a:endParaRPr lang="en-US" sz="1100" dirty="0"/>
          </a:p>
        </p:txBody>
      </p:sp>
      <p:sp>
        <p:nvSpPr>
          <p:cNvPr id="32" name="Conflicto Otros"/>
          <p:cNvSpPr/>
          <p:nvPr/>
        </p:nvSpPr>
        <p:spPr>
          <a:xfrm>
            <a:off x="6278728" y="4754880"/>
            <a:ext cx="536432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598768" y="4754880"/>
            <a:ext cx="353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</a:rPr>
              <a:t>Otros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408615" y="502005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408615" y="50200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NO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</a:rPr>
              <a:t>La autora declara no tener conflictos de interés.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PRESENTACIÓN DEL CASO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Matías, 24 años</a:t>
            </a:r>
            <a:endParaRPr lang="en-US" sz="3000" dirty="0"/>
          </a:p>
        </p:txBody>
      </p:sp>
      <p:pic>
        <p:nvPicPr>
          <p:cNvPr id="4" name="Image 0" descr="Imagen ilustrativa de un hombre jov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17320"/>
            <a:ext cx="3794760" cy="29992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818120" y="44622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777"/>
                </a:solidFill>
              </a:rPr>
              <a:t>Imagen ilustrativa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1F6F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885950"/>
            <a:ext cx="388620" cy="3886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6459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</a:rPr>
              <a:t>Sin antecedentes de relevancia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5B6777"/>
                </a:solidFill>
              </a:rPr>
              <a:t>Adulto joven, previamente sano.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548640" y="2834640"/>
            <a:ext cx="777240" cy="777240"/>
          </a:xfrm>
          <a:prstGeom prst="ellipse">
            <a:avLst/>
          </a:prstGeom>
          <a:solidFill>
            <a:srgbClr val="4BA6D9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028950"/>
            <a:ext cx="388620" cy="3886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7889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</a:rPr>
              <a:t>2 semanas de evolución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5B6777"/>
                </a:solidFill>
              </a:rPr>
              <a:t>Cuadro clínico de inicio subagudo.</a:t>
            </a:r>
            <a:endParaRPr lang="en-US" sz="2200" dirty="0"/>
          </a:p>
        </p:txBody>
      </p:sp>
      <p:sp>
        <p:nvSpPr>
          <p:cNvPr id="12" name="Shape 7"/>
          <p:cNvSpPr/>
          <p:nvPr/>
        </p:nvSpPr>
        <p:spPr>
          <a:xfrm>
            <a:off x="548640" y="3977640"/>
            <a:ext cx="777240" cy="777240"/>
          </a:xfrm>
          <a:prstGeom prst="ellipse">
            <a:avLst/>
          </a:prstGeom>
          <a:solidFill>
            <a:srgbClr val="D7182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171950"/>
            <a:ext cx="388620" cy="3886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0020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</a:rPr>
              <a:t>Motivo de consulta</a:t>
            </a:r>
            <a:endParaRPr lang="en-US" sz="2200" dirty="0"/>
          </a:p>
        </p:txBody>
      </p:sp>
      <p:sp>
        <p:nvSpPr>
          <p:cNvPr id="15" name="Shape 9"/>
          <p:cNvSpPr/>
          <p:nvPr/>
        </p:nvSpPr>
        <p:spPr>
          <a:xfrm>
            <a:off x="1600200" y="44348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D7182A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600200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7182A"/>
                </a:solidFill>
              </a:rPr>
              <a:t>Cefalea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3108960" y="44348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D7182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310896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7182A"/>
                </a:solidFill>
              </a:rPr>
              <a:t>Hematomas espontáneos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989320" y="44348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D7182A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989320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7182A"/>
                </a:solidFill>
              </a:rPr>
              <a:t>Proctorragia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PERFIL DE INGRESO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Serie hematológica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Pancitopenia con 91% de blastos en sangre periférica</a:t>
            </a:r>
            <a:endParaRPr lang="en-US" sz="1400" dirty="0"/>
          </a:p>
        </p:txBody>
      </p:sp>
      <p:sp>
        <p:nvSpPr>
          <p:cNvPr id="5" name="Indicador Hemoglobina"/>
          <p:cNvSpPr/>
          <p:nvPr/>
        </p:nvSpPr>
        <p:spPr>
          <a:xfrm>
            <a:off x="548640" y="1783080"/>
            <a:ext cx="2567864" cy="1874520"/>
          </a:xfrm>
          <a:prstGeom prst="roundRect">
            <a:avLst>
              <a:gd name="adj" fmla="val 5854"/>
            </a:avLst>
          </a:prstGeom>
          <a:solidFill>
            <a:srgbClr val="FDECEE"/>
          </a:solidFill>
          <a:ln w="12700">
            <a:solidFill>
              <a:srgbClr val="F4B9B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7182A"/>
                </a:solidFill>
              </a:rPr>
              <a:t>HEMOGLOBINA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7182A"/>
                </a:solidFill>
              </a:rPr>
              <a:t>5,3</a:t>
            </a:r>
            <a:pPr indent="0" marL="0">
              <a:buNone/>
            </a:pPr>
            <a:r>
              <a:rPr lang="en-US" sz="1500" dirty="0">
                <a:solidFill>
                  <a:srgbClr val="5B6777"/>
                </a:solidFill>
              </a:rPr>
              <a:t> g/dL</a:t>
            </a:r>
            <a:endParaRPr lang="en-US" sz="3800" dirty="0"/>
          </a:p>
        </p:txBody>
      </p:sp>
      <p:sp>
        <p:nvSpPr>
          <p:cNvPr id="8" name="Indicador Hematocrito"/>
          <p:cNvSpPr/>
          <p:nvPr/>
        </p:nvSpPr>
        <p:spPr>
          <a:xfrm>
            <a:off x="3390824" y="1783080"/>
            <a:ext cx="2567864" cy="1874520"/>
          </a:xfrm>
          <a:prstGeom prst="roundRect">
            <a:avLst>
              <a:gd name="adj" fmla="val 5854"/>
            </a:avLst>
          </a:prstGeom>
          <a:solidFill>
            <a:srgbClr val="FDECEE"/>
          </a:solidFill>
          <a:ln w="12700">
            <a:solidFill>
              <a:srgbClr val="F4B9B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65144" y="201168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7182A"/>
                </a:solidFill>
              </a:rPr>
              <a:t>HEMATOCRITO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65144" y="242316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7182A"/>
                </a:solidFill>
              </a:rPr>
              <a:t>15</a:t>
            </a:r>
            <a:pPr indent="0" marL="0">
              <a:buNone/>
            </a:pPr>
            <a:r>
              <a:rPr lang="en-US" sz="1500" dirty="0">
                <a:solidFill>
                  <a:srgbClr val="5B6777"/>
                </a:solidFill>
              </a:rPr>
              <a:t> %</a:t>
            </a:r>
            <a:endParaRPr lang="en-US" sz="3800" dirty="0"/>
          </a:p>
        </p:txBody>
      </p:sp>
      <p:sp>
        <p:nvSpPr>
          <p:cNvPr id="11" name="Indicador Plaquetas"/>
          <p:cNvSpPr/>
          <p:nvPr/>
        </p:nvSpPr>
        <p:spPr>
          <a:xfrm>
            <a:off x="6233008" y="1783080"/>
            <a:ext cx="2567864" cy="1874520"/>
          </a:xfrm>
          <a:prstGeom prst="roundRect">
            <a:avLst>
              <a:gd name="adj" fmla="val 5854"/>
            </a:avLst>
          </a:prstGeom>
          <a:solidFill>
            <a:srgbClr val="FDECEE"/>
          </a:solidFill>
          <a:ln w="12700">
            <a:solidFill>
              <a:srgbClr val="F4B9B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07328" y="201168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7182A"/>
                </a:solidFill>
              </a:rPr>
              <a:t>PLAQUETAS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242316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7182A"/>
                </a:solidFill>
              </a:rPr>
              <a:t>19.000</a:t>
            </a:r>
            <a:pPr indent="0" marL="0">
              <a:buNone/>
            </a:pPr>
            <a:r>
              <a:rPr lang="en-US" sz="1500" dirty="0">
                <a:solidFill>
                  <a:srgbClr val="5B6777"/>
                </a:solidFill>
              </a:rPr>
              <a:t> /mm³</a:t>
            </a:r>
            <a:endParaRPr lang="en-US" sz="3800" dirty="0"/>
          </a:p>
        </p:txBody>
      </p:sp>
      <p:sp>
        <p:nvSpPr>
          <p:cNvPr id="14" name="Indicador Glóbulos blancos"/>
          <p:cNvSpPr/>
          <p:nvPr/>
        </p:nvSpPr>
        <p:spPr>
          <a:xfrm>
            <a:off x="9075191" y="1783080"/>
            <a:ext cx="256786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49511" y="201168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777"/>
                </a:solidFill>
              </a:rPr>
              <a:t>GLÓBULOS BLANCOS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349511" y="242316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</a:rPr>
              <a:t>2.300</a:t>
            </a:r>
            <a:pPr indent="0" marL="0">
              <a:buNone/>
            </a:pPr>
            <a:r>
              <a:rPr lang="en-US" sz="1500" dirty="0">
                <a:solidFill>
                  <a:srgbClr val="5B6777"/>
                </a:solidFill>
              </a:rPr>
              <a:t> /mm³</a:t>
            </a:r>
            <a:endParaRPr lang="en-US" sz="3800" dirty="0"/>
          </a:p>
        </p:txBody>
      </p:sp>
      <p:sp>
        <p:nvSpPr>
          <p:cNvPr id="17" name="Fórmula leucocitaria"/>
          <p:cNvSpPr/>
          <p:nvPr/>
        </p:nvSpPr>
        <p:spPr>
          <a:xfrm>
            <a:off x="548640" y="3931920"/>
            <a:ext cx="11094415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Fórmula leucocitaria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4617720"/>
            <a:ext cx="9513445" cy="548640"/>
          </a:xfrm>
          <a:prstGeom prst="rect">
            <a:avLst/>
          </a:prstGeom>
          <a:solidFill>
            <a:srgbClr val="D718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82125" y="4617720"/>
            <a:ext cx="627260" cy="548640"/>
          </a:xfrm>
          <a:prstGeom prst="rect">
            <a:avLst/>
          </a:prstGeom>
          <a:solidFill>
            <a:srgbClr val="1F6F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09385" y="4617720"/>
            <a:ext cx="313630" cy="548640"/>
          </a:xfrm>
          <a:prstGeom prst="rect">
            <a:avLst/>
          </a:prstGeom>
          <a:solidFill>
            <a:srgbClr val="4BA6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4617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Blastos 91%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303520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6FB5"/>
                </a:solidFill>
              </a:rPr>
              <a:t>■ </a:t>
            </a:r>
            <a:pPr algn="r"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Neutrófilos 6%     </a:t>
            </a:r>
            <a:pPr algn="r" indent="0" marL="0">
              <a:buNone/>
            </a:pPr>
            <a:r>
              <a:rPr lang="en-US" sz="1400" dirty="0">
                <a:solidFill>
                  <a:srgbClr val="4BA6D9"/>
                </a:solidFill>
              </a:rPr>
              <a:t>■ </a:t>
            </a:r>
            <a:pPr algn="r"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Linfocitos 3%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PERFIL DE INGRESO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Bioquímica y marcadores críticos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Monitoreo metabólico y compromiso orgánico · marcadores de lisis y recambio celular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7432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Parámetro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del paciente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LDH (lactato deshidrogenasa)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7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1249 U/L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Ácido úrico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7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 mg/dL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Ferritina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7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2300 µg/L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Bilirrubina total / directa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7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 / 3,00 mg/dL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TGO / TGP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7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 / 164 U/L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Eritrosedimentación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7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 mm/1 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Potasio (K⁺)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 mEq/L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Fibrinógeno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 mg/dL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Glucosa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 mg/dL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Urea / Creatinina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/ 0,76 mg/dL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Calcio / Fósforo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 / 2,6 mg/dL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Vitamina B12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621 pg/mL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Lisis y recambio celular"/>
          <p:cNvSpPr/>
          <p:nvPr/>
        </p:nvSpPr>
        <p:spPr>
          <a:xfrm>
            <a:off x="7680960" y="1691640"/>
            <a:ext cx="3962095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0" y="1965960"/>
            <a:ext cx="640080" cy="640080"/>
          </a:xfrm>
          <a:prstGeom prst="ellipse">
            <a:avLst/>
          </a:prstGeom>
          <a:solidFill>
            <a:srgbClr val="D718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0" y="21259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32520" y="1965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Lisis y recambio celular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2651760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7182A"/>
                </a:solidFill>
              </a:rPr>
              <a:t>LDH 1249 U/L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955280" y="306324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7"/>
                </a:solidFill>
              </a:rPr>
              <a:t>Ácido úrico 7,5 mg/dL · ferritina 2300 µg/L</a:t>
            </a:r>
            <a:endParaRPr lang="en-US" sz="1200" dirty="0"/>
          </a:p>
        </p:txBody>
      </p:sp>
      <p:sp>
        <p:nvSpPr>
          <p:cNvPr id="12" name="Compromiso hepático"/>
          <p:cNvSpPr/>
          <p:nvPr/>
        </p:nvSpPr>
        <p:spPr>
          <a:xfrm>
            <a:off x="7680960" y="3703320"/>
            <a:ext cx="3962095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55280" y="3977640"/>
            <a:ext cx="640080" cy="640080"/>
          </a:xfrm>
          <a:prstGeom prst="ellipse">
            <a:avLst/>
          </a:prstGeom>
          <a:solidFill>
            <a:srgbClr val="D7182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41376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732520" y="3977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Compromiso hepático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955280" y="4663440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7182A"/>
                </a:solidFill>
              </a:rPr>
              <a:t>TGO/TGP 383/164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7955280" y="50749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7"/>
                </a:solidFill>
              </a:rPr>
              <a:t>Bilirrubina total 4,3 mg/dL (directa 3,00)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EVALUACIÓN DIAGNÓSTICA ESPECIALIZADA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Perfil biológico y factores de riesgo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Paciente adulto joven (24 años)</a:t>
            </a:r>
            <a:endParaRPr lang="en-US" sz="1400" dirty="0"/>
          </a:p>
        </p:txBody>
      </p:sp>
      <p:sp>
        <p:nvSpPr>
          <p:cNvPr id="5" name="Citometría de flujo"/>
          <p:cNvSpPr/>
          <p:nvPr/>
        </p:nvSpPr>
        <p:spPr>
          <a:xfrm>
            <a:off x="548640" y="173736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1F6FB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1831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2280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1. Citometría de flujo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5B6777"/>
                </a:solidFill>
              </a:rPr>
              <a:t>Inmunofenotipo LLA-B · blastos 61,7%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B5"/>
                </a:solidFill>
              </a:rPr>
              <a:t>LINAJE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LLA-B común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033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B5"/>
                </a:solidFill>
              </a:rPr>
              <a:t>POSITIVOS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CD19+, CD10+/−, CD20+/−, CD22+, TdT+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4348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B5"/>
                </a:solidFill>
              </a:rPr>
              <a:t>NEGATIVOS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CD3− (T), CD13−, CD33− (mieloide)</a:t>
            </a:r>
            <a:endParaRPr lang="en-US" sz="1000" dirty="0"/>
          </a:p>
        </p:txBody>
      </p:sp>
      <p:sp>
        <p:nvSpPr>
          <p:cNvPr id="12" name="Citogenética"/>
          <p:cNvSpPr/>
          <p:nvPr/>
        </p:nvSpPr>
        <p:spPr>
          <a:xfrm>
            <a:off x="4338218" y="173736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2538" y="2011680"/>
            <a:ext cx="685800" cy="685800"/>
          </a:xfrm>
          <a:prstGeom prst="ellipse">
            <a:avLst/>
          </a:prstGeom>
          <a:solidFill>
            <a:srgbClr val="4BA6D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988" y="218313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35498" y="1920240"/>
            <a:ext cx="2280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2. Citogenética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5B6777"/>
                </a:solidFill>
              </a:rPr>
              <a:t>Cariotipo en médula ósea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29718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B5"/>
                </a:solidFill>
              </a:rPr>
              <a:t>HALLAZGO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Hiperdiploidía alta 40% (55–70,XY[12]/46,XY[8])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612538" y="37033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B5"/>
                </a:solidFill>
              </a:rPr>
              <a:t>PRONÓSTICO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Bueno: mayor sensibilidad a quimioterapia estándar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612538" y="44348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B5"/>
                </a:solidFill>
              </a:rPr>
              <a:t>ESTRUCTURA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Sin translocaciones adversas</a:t>
            </a:r>
            <a:endParaRPr lang="en-US" sz="1000" dirty="0"/>
          </a:p>
        </p:txBody>
      </p:sp>
      <p:sp>
        <p:nvSpPr>
          <p:cNvPr id="19" name="Biología molecular"/>
          <p:cNvSpPr/>
          <p:nvPr/>
        </p:nvSpPr>
        <p:spPr>
          <a:xfrm>
            <a:off x="8127797" y="173736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02117" y="2011680"/>
            <a:ext cx="685800" cy="6858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567" y="218313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25077" y="1920240"/>
            <a:ext cx="2280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3. Biología molecular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5B6777"/>
                </a:solidFill>
              </a:rPr>
              <a:t>Estudios de fusión (PCR/FISH)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402117" y="29718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B5"/>
                </a:solidFill>
              </a:rPr>
              <a:t>PH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BCR::ABL1 negativo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8402117" y="37033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B5"/>
                </a:solidFill>
              </a:rPr>
              <a:t>OTROS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KMT2A (MLL-AF4) y ETV6::RUNX1 no detectados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402117" y="44348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B5"/>
                </a:solidFill>
              </a:rPr>
              <a:t>CONDUCTA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Quimioterapia intensiva Ph negativo · EMR por CMF</a:t>
            </a:r>
            <a:endParaRPr lang="en-US" sz="1000" dirty="0"/>
          </a:p>
        </p:txBody>
      </p:sp>
      <p:sp>
        <p:nvSpPr>
          <p:cNvPr id="26" name="Síntesis"/>
          <p:cNvSpPr/>
          <p:nvPr/>
        </p:nvSpPr>
        <p:spPr>
          <a:xfrm>
            <a:off x="548640" y="544068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7F5EE"/>
          </a:solidFill>
          <a:ln w="12700">
            <a:solidFill>
              <a:srgbClr val="BFE3C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822960" y="544068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5A"/>
                </a:solidFill>
              </a:rPr>
              <a:t>Síntesis: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LLA-B común, hiperdiploidía alta, Ph negativo → riesgo estándar al diagnóstico.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ESTRATIFICACIÓN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Riesgo citogenético y molecular: NCCN 2025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Grupo de riesgo estándar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7782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28016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Alteración citogenética / molecular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Linaje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Adultos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Niños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7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Hiperdiploidía alta (51–65 cromosomas)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t(12;21)(p13;q22) / ETV6::RUNX1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Rearreglos del gen TAL1 / del(1)(p32)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t(1;19)(q23;p13.3) / TCF3::PBX1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(pre-B)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t(9;22)(q34.1;q11.2) (Ph+) / BCR::ABL1 sin IKZF1plus ni antecedente de LMC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(raro 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Rearreglos del gen DUX4 (no disponible en Argentina)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PAX5 P80R (no disponible en Argentina)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93776" y="2057400"/>
            <a:ext cx="8887968" cy="539496"/>
          </a:xfrm>
          <a:prstGeom prst="roundRect">
            <a:avLst>
              <a:gd name="adj" fmla="val 10169"/>
            </a:avLst>
          </a:prstGeom>
          <a:ln w="31750">
            <a:solidFill>
              <a:srgbClr val="D7182A"/>
            </a:solidFill>
            <a:prstDash val="solid"/>
          </a:ln>
        </p:spPr>
      </p:sp>
      <p:sp>
        <p:nvSpPr>
          <p:cNvPr id="7" name="Nuestro paciente"/>
          <p:cNvSpPr/>
          <p:nvPr/>
        </p:nvSpPr>
        <p:spPr>
          <a:xfrm>
            <a:off x="9646920" y="1965960"/>
            <a:ext cx="1996135" cy="2194560"/>
          </a:xfrm>
          <a:prstGeom prst="roundRect">
            <a:avLst>
              <a:gd name="adj" fmla="val 549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87552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7182A"/>
                </a:solidFill>
              </a:rPr>
              <a:t>NUESTRO PACIENTE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875520" y="24688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Hiperdiploidía alta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875520" y="3154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7"/>
                </a:solidFill>
              </a:rPr>
              <a:t>55–70 cromosomas en el 40% de las metafases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715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7"/>
                </a:solidFill>
              </a:rPr>
              <a:t>Frecuencia: porcentaje de pacientes con LLA. Fuente: NCCN Guidelines, Acute Lymphoblastic Leukemia,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FACTORES PRONÓSTICOS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LLA-B: factores clínicos tradicionales de alto riesgo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Criterios clínicos de mal pronóstico al diagnóstico en adultos</a:t>
            </a:r>
            <a:endParaRPr lang="en-US" sz="1400" dirty="0"/>
          </a:p>
        </p:txBody>
      </p:sp>
      <p:sp>
        <p:nvSpPr>
          <p:cNvPr id="5" name="Edad"/>
          <p:cNvSpPr/>
          <p:nvPr/>
        </p:nvSpPr>
        <p:spPr>
          <a:xfrm>
            <a:off x="548640" y="1737360"/>
            <a:ext cx="351525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4789" y="2011680"/>
            <a:ext cx="822960" cy="822960"/>
          </a:xfrm>
          <a:prstGeom prst="ellipse">
            <a:avLst/>
          </a:prstGeom>
          <a:solidFill>
            <a:srgbClr val="D718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0529" y="22174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97180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5B6777"/>
                </a:solidFill>
              </a:rPr>
              <a:t>EDAD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918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7182A"/>
                </a:solidFill>
              </a:rPr>
              <a:t>&gt; 35–40 años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88620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Menor tolerancia a quimioterapia intensiva (esquemas pediátricos modificados) y más complicaciones.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5166360"/>
            <a:ext cx="2875178" cy="45720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 w="12700">
            <a:solidFill>
              <a:srgbClr val="BFE3C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51663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E5A"/>
                </a:solidFill>
              </a:rPr>
              <a:t>Matías: </a:t>
            </a:r>
            <a:pPr algn="ctr" indent="0" marL="0">
              <a:buNone/>
            </a:pPr>
            <a:r>
              <a:rPr lang="en-US" sz="1400" dirty="0">
                <a:solidFill>
                  <a:srgbClr val="1E8E5A"/>
                </a:solidFill>
              </a:rPr>
              <a:t>24 años  ✓</a:t>
            </a:r>
            <a:endParaRPr lang="en-US" sz="1400" dirty="0"/>
          </a:p>
        </p:txBody>
      </p:sp>
      <p:sp>
        <p:nvSpPr>
          <p:cNvPr id="13" name="Hiperleucocitosis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84368" y="2011680"/>
            <a:ext cx="822960" cy="822960"/>
          </a:xfrm>
          <a:prstGeom prst="ellipse">
            <a:avLst/>
          </a:prstGeom>
          <a:solidFill>
            <a:srgbClr val="D7182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08" y="22174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21098" y="297180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5B6777"/>
                </a:solidFill>
              </a:rPr>
              <a:t>HIPERLEUCOCITOSIS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21098" y="32918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7182A"/>
                </a:solidFill>
              </a:rPr>
              <a:t>&gt; 30.000 /µL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4658258" y="388620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Glóbulos blancos &gt; 30 × 10⁹/L al debut: alta carga tumoral y riesgo cinético.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658258" y="5166360"/>
            <a:ext cx="2875178" cy="45720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 w="12700">
            <a:solidFill>
              <a:srgbClr val="BFE3C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658258" y="51663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E5A"/>
                </a:solidFill>
              </a:rPr>
              <a:t>Matías: </a:t>
            </a:r>
            <a:pPr algn="ctr" indent="0" marL="0">
              <a:buNone/>
            </a:pPr>
            <a:r>
              <a:rPr lang="en-US" sz="1400" dirty="0">
                <a:solidFill>
                  <a:srgbClr val="1E8E5A"/>
                </a:solidFill>
              </a:rPr>
              <a:t>2.300 /mm³  ✓</a:t>
            </a:r>
            <a:endParaRPr lang="en-US" sz="1400" dirty="0"/>
          </a:p>
        </p:txBody>
      </p:sp>
      <p:sp>
        <p:nvSpPr>
          <p:cNvPr id="21" name="Infiltración del SNC"/>
          <p:cNvSpPr/>
          <p:nvPr/>
        </p:nvSpPr>
        <p:spPr>
          <a:xfrm>
            <a:off x="8127797" y="1737360"/>
            <a:ext cx="351525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473946" y="2011680"/>
            <a:ext cx="822960" cy="822960"/>
          </a:xfrm>
          <a:prstGeom prst="ellipse">
            <a:avLst/>
          </a:prstGeom>
          <a:solidFill>
            <a:srgbClr val="D7182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686" y="221742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310677" y="297180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5B6777"/>
                </a:solidFill>
              </a:rPr>
              <a:t>INFILTRACIÓN DEL SNC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8310677" y="32918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7182A"/>
                </a:solidFill>
              </a:rPr>
              <a:t>Blastos en LCR</a:t>
            </a:r>
            <a:endParaRPr lang="en-US" sz="2600" dirty="0"/>
          </a:p>
        </p:txBody>
      </p:sp>
      <p:sp>
        <p:nvSpPr>
          <p:cNvPr id="26" name="Text 21"/>
          <p:cNvSpPr txBox="1"/>
          <p:nvPr/>
        </p:nvSpPr>
        <p:spPr>
          <a:xfrm>
            <a:off x="8447837" y="388620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Células leucémicas en el SNC confirmadas por punción lumbar o síntomas neurológicos.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447837" y="5166360"/>
            <a:ext cx="2875178" cy="45720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 w="12700">
            <a:solidFill>
              <a:srgbClr val="BFE3C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447837" y="51663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E5A"/>
                </a:solidFill>
              </a:rPr>
              <a:t>Matías: </a:t>
            </a:r>
            <a:pPr algn="ctr" indent="0" marL="0">
              <a:buNone/>
            </a:pPr>
            <a:r>
              <a:rPr lang="en-US" sz="1400" dirty="0">
                <a:solidFill>
                  <a:srgbClr val="1E8E5A"/>
                </a:solidFill>
              </a:rPr>
              <a:t>SNC negativo  ✓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5760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Ningún factor clínico de alto riesgo al diagnóstico.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CRONOLOGÍA CLÍNICA · 1/3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Diagnóstico e inducción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Secuencia diagnóstica y terapéutica del paciente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10545775" cy="0"/>
          </a:xfrm>
          <a:prstGeom prst="line">
            <a:avLst/>
          </a:prstGeom>
          <a:noFill/>
          <a:ln w="381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1182" y="3429000"/>
            <a:ext cx="0" cy="320040"/>
          </a:xfrm>
          <a:prstGeom prst="line">
            <a:avLst/>
          </a:prstGeom>
          <a:noFill/>
          <a:ln w="19050">
            <a:solidFill>
              <a:srgbClr val="1F6FB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37260" y="1508760"/>
            <a:ext cx="2407844" cy="1920240"/>
          </a:xfrm>
          <a:prstGeom prst="roundRect">
            <a:avLst>
              <a:gd name="adj" fmla="val 4762"/>
            </a:avLst>
          </a:prstGeom>
          <a:solidFill>
            <a:srgbClr val="EAF4FB"/>
          </a:solidFill>
          <a:ln w="12700">
            <a:solidFill>
              <a:srgbClr val="BFDC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120140" y="1618488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B5"/>
                </a:solidFill>
              </a:rPr>
              <a:t>18/05/2025 · DIAGNÓSTICO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0140" y="2057400"/>
            <a:ext cx="204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CMF: LLA-B común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Status SNC: negativo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21726" y="3529584"/>
            <a:ext cx="438912" cy="43891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1726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77626" y="3749040"/>
            <a:ext cx="0" cy="320040"/>
          </a:xfrm>
          <a:prstGeom prst="line">
            <a:avLst/>
          </a:prstGeom>
          <a:noFill/>
          <a:ln w="19050">
            <a:solidFill>
              <a:srgbClr val="C7770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573704" y="4069080"/>
            <a:ext cx="2407844" cy="1920240"/>
          </a:xfrm>
          <a:prstGeom prst="roundRect">
            <a:avLst>
              <a:gd name="adj" fmla="val 4762"/>
            </a:avLst>
          </a:prstGeom>
          <a:solidFill>
            <a:srgbClr val="FFF4E0"/>
          </a:solidFill>
          <a:ln w="12700">
            <a:solidFill>
              <a:srgbClr val="F2D29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756584" y="4178808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7700"/>
                </a:solidFill>
              </a:rPr>
              <a:t>INDUCCIÓN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56584" y="4617720"/>
            <a:ext cx="204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GATLA 2020 AYA Ph negativo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Hepatotoxicidad grado IV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58170" y="3529584"/>
            <a:ext cx="438912" cy="43891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8170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14069" y="3429000"/>
            <a:ext cx="0" cy="320040"/>
          </a:xfrm>
          <a:prstGeom prst="line">
            <a:avLst/>
          </a:prstGeom>
          <a:noFill/>
          <a:ln w="19050">
            <a:solidFill>
              <a:srgbClr val="1E8E5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10148" y="1508760"/>
            <a:ext cx="2407844" cy="1920240"/>
          </a:xfrm>
          <a:prstGeom prst="roundRect">
            <a:avLst>
              <a:gd name="adj" fmla="val 4762"/>
            </a:avLst>
          </a:prstGeom>
          <a:solidFill>
            <a:srgbClr val="E7F5EE"/>
          </a:solidFill>
          <a:ln w="12700">
            <a:solidFill>
              <a:srgbClr val="BFE3C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93028" y="1618488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8E5A"/>
                </a:solidFill>
              </a:rPr>
              <a:t>RESPUESTA TEMPRANA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93028" y="2057400"/>
            <a:ext cx="204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Día +8: &lt; 1.000 blastos/µL en SP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CMF día +15: 9,3% blastos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7182A"/>
                </a:solidFill>
              </a:rPr>
              <a:t>CMF día +33: 0,206% blastos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94613" y="3529584"/>
            <a:ext cx="438912" cy="43891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94613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050513" y="3749040"/>
            <a:ext cx="0" cy="320040"/>
          </a:xfrm>
          <a:prstGeom prst="line">
            <a:avLst/>
          </a:prstGeom>
          <a:noFill/>
          <a:ln w="19050">
            <a:solidFill>
              <a:srgbClr val="D7182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846591" y="4069080"/>
            <a:ext cx="2407844" cy="1920240"/>
          </a:xfrm>
          <a:prstGeom prst="roundRect">
            <a:avLst>
              <a:gd name="adj" fmla="val 4762"/>
            </a:avLst>
          </a:prstGeom>
          <a:solidFill>
            <a:srgbClr val="FDECEE"/>
          </a:solidFill>
          <a:ln w="12700">
            <a:solidFill>
              <a:srgbClr val="F4B9B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029471" y="4178808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7182A"/>
                </a:solidFill>
              </a:rPr>
              <a:t>PUNTO DE QUIEBRE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029471" y="4617720"/>
            <a:ext cx="204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7182A"/>
                </a:solidFill>
              </a:rPr>
              <a:t>EMR día +33 &gt; 0,1%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Reclasifica el riesgo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31057" y="3529584"/>
            <a:ext cx="438912" cy="43891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31057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ENFERMEDAD RESIDUAL MEDIBLE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La EMR reclasifica el pronóstico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Impacto del factor dinámico en el riesgo de la LLA-B del adulto</a:t>
            </a:r>
            <a:endParaRPr lang="en-US" sz="1400" dirty="0"/>
          </a:p>
        </p:txBody>
      </p:sp>
      <p:sp>
        <p:nvSpPr>
          <p:cNvPr id="5" name="Estado inicial"/>
          <p:cNvSpPr/>
          <p:nvPr/>
        </p:nvSpPr>
        <p:spPr>
          <a:xfrm>
            <a:off x="548640" y="1783080"/>
            <a:ext cx="3291840" cy="3931920"/>
          </a:xfrm>
          <a:prstGeom prst="roundRect">
            <a:avLst>
              <a:gd name="adj" fmla="val 3333"/>
            </a:avLst>
          </a:prstGeom>
          <a:solidFill>
            <a:srgbClr val="E7F5EE"/>
          </a:solidFill>
          <a:ln w="12700">
            <a:solidFill>
              <a:srgbClr val="BFE3C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E5A"/>
                </a:solidFill>
              </a:rPr>
              <a:t>ESTADO INICIAL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8E5A"/>
                </a:solidFill>
              </a:rPr>
              <a:t>Riesgo favorable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Hiperdiploidía alta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Genética de bajo riesgo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Sin factores clínicos adversos al debut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429000"/>
            <a:ext cx="640080" cy="640080"/>
          </a:xfrm>
          <a:prstGeom prst="rect">
            <a:avLst/>
          </a:prstGeom>
        </p:spPr>
      </p:pic>
      <p:sp>
        <p:nvSpPr>
          <p:cNvPr id="10" name="Factor dinámico"/>
          <p:cNvSpPr/>
          <p:nvPr/>
        </p:nvSpPr>
        <p:spPr>
          <a:xfrm>
            <a:off x="4846320" y="1783080"/>
            <a:ext cx="3291840" cy="3931920"/>
          </a:xfrm>
          <a:prstGeom prst="roundRect">
            <a:avLst>
              <a:gd name="adj" fmla="val 3333"/>
            </a:avLst>
          </a:prstGeom>
          <a:solidFill>
            <a:srgbClr val="FDECEE"/>
          </a:solidFill>
          <a:ln w="12700">
            <a:solidFill>
              <a:srgbClr val="F4B9B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12064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7182A"/>
                </a:solidFill>
              </a:rPr>
              <a:t>FACTOR DINÁMICO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2286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7182A"/>
                </a:solidFill>
              </a:rPr>
              <a:t>EMR ≥ 0,1% = alto riesgo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32004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Si la EMR es ≥ 0,1% tras la inducción (día +33), el pronóstico favorable inicial queda anulado por resistencia tumoral a la quimioterapia.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48920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182A"/>
                </a:solidFill>
              </a:rPr>
              <a:t>Matías: </a:t>
            </a:r>
            <a:pPr indent="0" marL="0">
              <a:buNone/>
            </a:pPr>
            <a:r>
              <a:rPr lang="en-US" sz="1500" dirty="0">
                <a:solidFill>
                  <a:srgbClr val="D7182A"/>
                </a:solidFill>
              </a:rPr>
              <a:t>0,206% en día +33</a:t>
            </a:r>
            <a:endParaRPr lang="en-US" sz="15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429000"/>
            <a:ext cx="640080" cy="640080"/>
          </a:xfrm>
          <a:prstGeom prst="rect">
            <a:avLst/>
          </a:prstGeom>
        </p:spPr>
      </p:pic>
      <p:sp>
        <p:nvSpPr>
          <p:cNvPr id="16" name="Conducta"/>
          <p:cNvSpPr/>
          <p:nvPr/>
        </p:nvSpPr>
        <p:spPr>
          <a:xfrm>
            <a:off x="9144000" y="1783080"/>
            <a:ext cx="2499055" cy="3931920"/>
          </a:xfrm>
          <a:prstGeom prst="roundRect">
            <a:avLst>
              <a:gd name="adj" fmla="val 439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941832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A6D9"/>
                </a:solidFill>
              </a:rPr>
              <a:t>CONDUCTA CLÍNICA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9418320" y="2331720"/>
            <a:ext cx="1950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Candidato directo a trasplante alogénico (alo-TCPH) en primera remisión completa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SEGUIMIENTO POR CMF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Cinética de la EMR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Blastos (%) por CMF después de cada fase · escala logarítmica</a:t>
            </a:r>
            <a:endParaRPr lang="en-US" sz="1400" dirty="0"/>
          </a:p>
        </p:txBody>
      </p:sp>
      <p:sp>
        <p:nvSpPr>
          <p:cNvPr id="5" name="Panel gráfico"/>
          <p:cNvSpPr/>
          <p:nvPr/>
        </p:nvSpPr>
        <p:spPr>
          <a:xfrm>
            <a:off x="548640" y="1691640"/>
            <a:ext cx="78638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731520" y="182880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Lectura"/>
          <p:cNvSpPr/>
          <p:nvPr/>
        </p:nvSpPr>
        <p:spPr>
          <a:xfrm>
            <a:off x="8686800" y="1691640"/>
            <a:ext cx="2956255" cy="2057400"/>
          </a:xfrm>
          <a:prstGeom prst="roundRect">
            <a:avLst>
              <a:gd name="adj" fmla="val 5333"/>
            </a:avLst>
          </a:prstGeom>
          <a:solidFill>
            <a:srgbClr val="FDECEE"/>
          </a:solidFill>
          <a:ln w="12700">
            <a:solidFill>
              <a:srgbClr val="F4B9B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915400" y="1828800"/>
            <a:ext cx="2499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7182A"/>
                </a:solidFill>
              </a:rPr>
              <a:t>Nunca se negativizó con quimioterapia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Por encima del umbral en día +33 y tras el 1er bloque de RA; persistente post FLAG-IDA.</a:t>
            </a:r>
            <a:endParaRPr lang="en-US" sz="1600" dirty="0"/>
          </a:p>
        </p:txBody>
      </p:sp>
      <p:sp>
        <p:nvSpPr>
          <p:cNvPr id="9" name="Blinatumomab"/>
          <p:cNvSpPr/>
          <p:nvPr/>
        </p:nvSpPr>
        <p:spPr>
          <a:xfrm>
            <a:off x="8686800" y="3931920"/>
            <a:ext cx="2956255" cy="2103120"/>
          </a:xfrm>
          <a:prstGeom prst="roundRect">
            <a:avLst>
              <a:gd name="adj" fmla="val 5217"/>
            </a:avLst>
          </a:prstGeom>
          <a:solidFill>
            <a:srgbClr val="E7F5EE"/>
          </a:solidFill>
          <a:ln w="12700">
            <a:solidFill>
              <a:srgbClr val="BFE3C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915400" y="4069080"/>
            <a:ext cx="249905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8E5A"/>
                </a:solidFill>
              </a:rPr>
              <a:t>Indetectable tras blinatumomab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09/06/2026 · LOD 0,0008% · LOQ 0,002%. Luego, recaída con 79% de blastos mieloides.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CRONOLOGÍA CLÍNICA · 2/3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Alto riesgo y EMR persistente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Secuencia diagnóstica y terapéutica del paciente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10545775" cy="0"/>
          </a:xfrm>
          <a:prstGeom prst="line">
            <a:avLst/>
          </a:prstGeom>
          <a:noFill/>
          <a:ln w="381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1182" y="3429000"/>
            <a:ext cx="0" cy="320040"/>
          </a:xfrm>
          <a:prstGeom prst="line">
            <a:avLst/>
          </a:prstGeom>
          <a:noFill/>
          <a:ln w="19050">
            <a:solidFill>
              <a:srgbClr val="C7770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37260" y="1508760"/>
            <a:ext cx="2407844" cy="1920240"/>
          </a:xfrm>
          <a:prstGeom prst="roundRect">
            <a:avLst>
              <a:gd name="adj" fmla="val 4762"/>
            </a:avLst>
          </a:prstGeom>
          <a:solidFill>
            <a:srgbClr val="FFF4E0"/>
          </a:solidFill>
          <a:ln w="12700">
            <a:solidFill>
              <a:srgbClr val="F2D29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120140" y="1618488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7700"/>
                </a:solidFill>
              </a:rPr>
              <a:t>RE-ESTADIFICACIÓN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0140" y="2057400"/>
            <a:ext cx="204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Pasa a alto riesgo (AR)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Continúa protocolo; reevaluación día +78 (post fase IB)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21726" y="3529584"/>
            <a:ext cx="438912" cy="43891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1726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77626" y="3749040"/>
            <a:ext cx="0" cy="320040"/>
          </a:xfrm>
          <a:prstGeom prst="line">
            <a:avLst/>
          </a:prstGeom>
          <a:noFill/>
          <a:ln w="19050">
            <a:solidFill>
              <a:srgbClr val="1E8E5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573704" y="4069080"/>
            <a:ext cx="2407844" cy="1920240"/>
          </a:xfrm>
          <a:prstGeom prst="roundRect">
            <a:avLst>
              <a:gd name="adj" fmla="val 4762"/>
            </a:avLst>
          </a:prstGeom>
          <a:solidFill>
            <a:srgbClr val="E7F5EE"/>
          </a:solidFill>
          <a:ln w="12700">
            <a:solidFill>
              <a:srgbClr val="BFE3C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756584" y="4178808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8E5A"/>
                </a:solidFill>
              </a:rPr>
              <a:t>26/11/2025 · DÍA +78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56584" y="4617720"/>
            <a:ext cx="204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EMR por CMF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0,021% blastos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58170" y="3529584"/>
            <a:ext cx="438912" cy="43891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8170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14069" y="3429000"/>
            <a:ext cx="0" cy="320040"/>
          </a:xfrm>
          <a:prstGeom prst="line">
            <a:avLst/>
          </a:prstGeom>
          <a:noFill/>
          <a:ln w="19050">
            <a:solidFill>
              <a:srgbClr val="D7182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10148" y="1508760"/>
            <a:ext cx="2407844" cy="1920240"/>
          </a:xfrm>
          <a:prstGeom prst="roundRect">
            <a:avLst>
              <a:gd name="adj" fmla="val 4762"/>
            </a:avLst>
          </a:prstGeom>
          <a:solidFill>
            <a:srgbClr val="FDECEE"/>
          </a:solidFill>
          <a:ln w="12700">
            <a:solidFill>
              <a:srgbClr val="F4B9B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93028" y="1618488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7182A"/>
                </a:solidFill>
              </a:rPr>
              <a:t>BLOQUES DE 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93028" y="2057400"/>
            <a:ext cx="204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7182A"/>
                </a:solidFill>
              </a:rPr>
              <a:t>EMR post 1er bloque: 0,18%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Sale de protocolo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94613" y="3529584"/>
            <a:ext cx="438912" cy="43891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94613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050513" y="3749040"/>
            <a:ext cx="0" cy="320040"/>
          </a:xfrm>
          <a:prstGeom prst="line">
            <a:avLst/>
          </a:prstGeom>
          <a:noFill/>
          <a:ln w="19050">
            <a:solidFill>
              <a:srgbClr val="D7182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846591" y="4069080"/>
            <a:ext cx="2407844" cy="1920240"/>
          </a:xfrm>
          <a:prstGeom prst="roundRect">
            <a:avLst>
              <a:gd name="adj" fmla="val 4762"/>
            </a:avLst>
          </a:prstGeom>
          <a:solidFill>
            <a:srgbClr val="FDECEE"/>
          </a:solidFill>
          <a:ln w="12700">
            <a:solidFill>
              <a:srgbClr val="F4B9B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029471" y="4178808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7182A"/>
                </a:solidFill>
              </a:rPr>
              <a:t>16/01/2026 · FLAG-IDA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029471" y="4617720"/>
            <a:ext cx="204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7182A"/>
                </a:solidFill>
              </a:rPr>
              <a:t>EMR persistente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0,02% blastos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31057" y="3529584"/>
            <a:ext cx="438912" cy="43891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31057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CRONOLOGÍA CLÍNICA · 3/3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Inmunoterapia y desenlace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Secuencia diagnóstica y terapéutica del paciente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10545775" cy="0"/>
          </a:xfrm>
          <a:prstGeom prst="line">
            <a:avLst/>
          </a:prstGeom>
          <a:noFill/>
          <a:ln w="381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1182" y="3429000"/>
            <a:ext cx="0" cy="320040"/>
          </a:xfrm>
          <a:prstGeom prst="line">
            <a:avLst/>
          </a:prstGeom>
          <a:noFill/>
          <a:ln w="19050">
            <a:solidFill>
              <a:srgbClr val="1F6FB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37260" y="1508760"/>
            <a:ext cx="2407844" cy="1920240"/>
          </a:xfrm>
          <a:prstGeom prst="roundRect">
            <a:avLst>
              <a:gd name="adj" fmla="val 4762"/>
            </a:avLst>
          </a:prstGeom>
          <a:solidFill>
            <a:srgbClr val="EAF4FB"/>
          </a:solidFill>
          <a:ln w="12700">
            <a:solidFill>
              <a:srgbClr val="BFDC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120140" y="1618488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B5"/>
                </a:solidFill>
              </a:rPr>
              <a:t>PUENTE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0140" y="2057400"/>
            <a:ext cx="204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Se solicita blinatumomab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Mantenimiento con QMT POMP (MP – VCX – 6MP – MTX)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21726" y="3529584"/>
            <a:ext cx="438912" cy="43891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1726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77626" y="3749040"/>
            <a:ext cx="0" cy="320040"/>
          </a:xfrm>
          <a:prstGeom prst="line">
            <a:avLst/>
          </a:prstGeom>
          <a:noFill/>
          <a:ln w="19050">
            <a:solidFill>
              <a:srgbClr val="1E8E5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573704" y="4069080"/>
            <a:ext cx="2407844" cy="1920240"/>
          </a:xfrm>
          <a:prstGeom prst="roundRect">
            <a:avLst>
              <a:gd name="adj" fmla="val 4762"/>
            </a:avLst>
          </a:prstGeom>
          <a:solidFill>
            <a:srgbClr val="E7F5EE"/>
          </a:solidFill>
          <a:ln w="12700">
            <a:solidFill>
              <a:srgbClr val="BFE3C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756584" y="4178808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8E5A"/>
                </a:solidFill>
              </a:rPr>
              <a:t>09/06/2026 · POST 1er CICLO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56584" y="4617720"/>
            <a:ext cx="204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</a:rPr>
              <a:t>EMR indetectable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LOD 0,0008% · LOQ 0,002%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Status SNC negativo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58170" y="3529584"/>
            <a:ext cx="438912" cy="43891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8170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14069" y="3429000"/>
            <a:ext cx="0" cy="320040"/>
          </a:xfrm>
          <a:prstGeom prst="line">
            <a:avLst/>
          </a:prstGeom>
          <a:noFill/>
          <a:ln w="19050">
            <a:solidFill>
              <a:srgbClr val="C7770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10148" y="1508760"/>
            <a:ext cx="2407844" cy="1920240"/>
          </a:xfrm>
          <a:prstGeom prst="roundRect">
            <a:avLst>
              <a:gd name="adj" fmla="val 4762"/>
            </a:avLst>
          </a:prstGeom>
          <a:solidFill>
            <a:srgbClr val="FFF4E0"/>
          </a:solidFill>
          <a:ln w="12700">
            <a:solidFill>
              <a:srgbClr val="F2D29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93028" y="1618488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7700"/>
                </a:solidFill>
              </a:rPr>
              <a:t>2º CICLO DE BLINATUMOMAB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93028" y="2057400"/>
            <a:ext cx="204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Demora en el acceso al trasplante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Salida: leucocitosis y plaquetopenia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94613" y="3529584"/>
            <a:ext cx="438912" cy="43891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94613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050513" y="3749040"/>
            <a:ext cx="0" cy="320040"/>
          </a:xfrm>
          <a:prstGeom prst="line">
            <a:avLst/>
          </a:prstGeom>
          <a:noFill/>
          <a:ln w="19050">
            <a:solidFill>
              <a:srgbClr val="D7182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846591" y="4069080"/>
            <a:ext cx="2407844" cy="1920240"/>
          </a:xfrm>
          <a:prstGeom prst="roundRect">
            <a:avLst>
              <a:gd name="adj" fmla="val 4762"/>
            </a:avLst>
          </a:prstGeom>
          <a:solidFill>
            <a:srgbClr val="FDECEE"/>
          </a:solidFill>
          <a:ln w="12700">
            <a:solidFill>
              <a:srgbClr val="F4B9B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029471" y="4178808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7182A"/>
                </a:solidFill>
              </a:rPr>
              <a:t>RECAÍDA · PAMO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029471" y="4617720"/>
            <a:ext cx="204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7182A"/>
                </a:solidFill>
              </a:rPr>
              <a:t>79% blastos mieloides: leucemia monocítica aguda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Fallece por insuficiencia respiratoria en UTI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31057" y="3529584"/>
            <a:ext cx="438912" cy="43891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31057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BIOLOGÍA DE LA RECAÍDA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Panel NGS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Hallazgos de relevancia clínica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1143000"/>
                <a:gridCol w="1783080"/>
                <a:gridCol w="731520"/>
                <a:gridCol w="11430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 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 nucleotídico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 aminoacídico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VAF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Profundidad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COSMIC 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NM_000546.6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c.733G&gt;A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p.(Gly245Ser), G245S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71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95,46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COSV52661877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P53"/>
          <p:cNvSpPr/>
          <p:nvPr/>
        </p:nvSpPr>
        <p:spPr>
          <a:xfrm>
            <a:off x="9098280" y="1691640"/>
            <a:ext cx="2544775" cy="2148840"/>
          </a:xfrm>
          <a:prstGeom prst="roundRect">
            <a:avLst>
              <a:gd name="adj" fmla="val 5106"/>
            </a:avLst>
          </a:prstGeom>
          <a:solidFill>
            <a:srgbClr val="FDECEE"/>
          </a:solidFill>
          <a:ln w="12700">
            <a:solidFill>
              <a:srgbClr val="F4B9B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326880" y="1828800"/>
            <a:ext cx="20875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D7182A"/>
                </a:solidFill>
              </a:rPr>
              <a:t>TP53 G245S</a:t>
            </a:r>
            <a:endParaRPr lang="en-US" sz="2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VAF 95,46%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5B6777"/>
                </a:solidFill>
              </a:rPr>
              <a:t>Profundidad 7600 lecturas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777"/>
                </a:solidFill>
              </a:rPr>
              <a:t>NEGATIVOS PERTINENTES INFORMADOS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0632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ABL1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71600" y="306324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71600" y="30632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ANKRD26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94560" y="306324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94560" y="30632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ASXL1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017520" y="306324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17520" y="30632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ATRX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40480" y="306324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40480" y="30632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BCOR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306324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63440" y="30632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BCORL1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0" y="306324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0" y="30632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BRAF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309360" y="306324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09360" y="30632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CALR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32320" y="306324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32320" y="30632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CBL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955280" y="306324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0632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CBLB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3447288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4472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CBLC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371600" y="3447288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371600" y="34472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CDKN2A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194560" y="3447288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194560" y="34472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CEBPA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017520" y="3447288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017520" y="34472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CSF3R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840480" y="3447288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840480" y="34472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CUX1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663440" y="3447288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663440" y="34472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DDX41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86400" y="3447288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486400" y="34472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DNMT3A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309360" y="3447288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309360" y="34472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ETNK1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132320" y="3447288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132320" y="34472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ETV6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7955280" y="3447288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955280" y="34472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EZH2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48640" y="3831336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48640" y="38313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FLT3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371600" y="3831336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371600" y="38313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GATA1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2194560" y="3831336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2194560" y="38313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GATA2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3017520" y="3831336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017520" y="38313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GNAS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3840480" y="3831336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3840480" y="38313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HRAS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4663440" y="3831336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663440" y="38313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IDH1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5486400" y="3831336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486400" y="38313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IDH2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6309360" y="3831336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309360" y="38313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IKZF1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7132320" y="3831336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132320" y="38313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JAK2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7955280" y="3831336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7955280" y="38313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JAK3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548640" y="4215384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48640" y="42153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KDM6A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1371600" y="4215384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371600" y="42153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KIT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2194560" y="4215384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2194560" y="42153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KMT2A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3017520" y="4215384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3017520" y="42153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KRAS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3840480" y="4215384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3840480" y="42153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MPL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4663440" y="4215384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663440" y="42153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NF1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5486400" y="4215384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5486400" y="42153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NPM1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6309360" y="4215384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6309360" y="42153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NRAS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7132320" y="4215384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7132320" y="42153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PDGFRA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7955280" y="4215384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7955280" y="42153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PFH6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548640" y="4599432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548640" y="45994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PIGA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1371600" y="4599432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1371600" y="45994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PPM1D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2194560" y="4599432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194560" y="45994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PTEN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3017520" y="4599432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017520" y="45994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PTPN11</a:t>
            </a:r>
            <a:endParaRPr lang="en-US" sz="1000" dirty="0"/>
          </a:p>
        </p:txBody>
      </p:sp>
      <p:sp>
        <p:nvSpPr>
          <p:cNvPr id="97" name="Shape 94"/>
          <p:cNvSpPr/>
          <p:nvPr/>
        </p:nvSpPr>
        <p:spPr>
          <a:xfrm>
            <a:off x="3840480" y="4599432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3840480" y="45994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RAD21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4663440" y="4599432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4663440" y="45994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RUNX1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>
            <a:off x="5486400" y="4599432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5486400" y="45994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SETBP1</a:t>
            </a:r>
            <a:endParaRPr lang="en-US" sz="1000" dirty="0"/>
          </a:p>
        </p:txBody>
      </p:sp>
      <p:sp>
        <p:nvSpPr>
          <p:cNvPr id="103" name="Shape 100"/>
          <p:cNvSpPr/>
          <p:nvPr/>
        </p:nvSpPr>
        <p:spPr>
          <a:xfrm>
            <a:off x="6309360" y="4599432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6309360" y="45994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SF3B1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7132320" y="4599432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7132320" y="45994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SMC1A</a:t>
            </a:r>
            <a:endParaRPr lang="en-US" sz="1000" dirty="0"/>
          </a:p>
        </p:txBody>
      </p:sp>
      <p:sp>
        <p:nvSpPr>
          <p:cNvPr id="107" name="Shape 104"/>
          <p:cNvSpPr/>
          <p:nvPr/>
        </p:nvSpPr>
        <p:spPr>
          <a:xfrm>
            <a:off x="7955280" y="4599432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7955280" y="45994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SMC3</a:t>
            </a:r>
            <a:endParaRPr lang="en-US" sz="1000" dirty="0"/>
          </a:p>
        </p:txBody>
      </p:sp>
      <p:sp>
        <p:nvSpPr>
          <p:cNvPr id="109" name="Shape 106"/>
          <p:cNvSpPr/>
          <p:nvPr/>
        </p:nvSpPr>
        <p:spPr>
          <a:xfrm>
            <a:off x="548640" y="498348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0" name="Text 107"/>
          <p:cNvSpPr txBox="1"/>
          <p:nvPr/>
        </p:nvSpPr>
        <p:spPr>
          <a:xfrm>
            <a:off x="548640" y="498348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SRSF2</a:t>
            </a:r>
            <a:endParaRPr lang="en-US" sz="1000" dirty="0"/>
          </a:p>
        </p:txBody>
      </p:sp>
      <p:sp>
        <p:nvSpPr>
          <p:cNvPr id="111" name="Shape 108"/>
          <p:cNvSpPr/>
          <p:nvPr/>
        </p:nvSpPr>
        <p:spPr>
          <a:xfrm>
            <a:off x="1371600" y="498348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1371600" y="498348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STAG1</a:t>
            </a:r>
            <a:endParaRPr lang="en-US" sz="1000" dirty="0"/>
          </a:p>
        </p:txBody>
      </p:sp>
      <p:sp>
        <p:nvSpPr>
          <p:cNvPr id="113" name="Shape 110"/>
          <p:cNvSpPr/>
          <p:nvPr/>
        </p:nvSpPr>
        <p:spPr>
          <a:xfrm>
            <a:off x="2194560" y="498348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4" name="Text 111"/>
          <p:cNvSpPr txBox="1"/>
          <p:nvPr/>
        </p:nvSpPr>
        <p:spPr>
          <a:xfrm>
            <a:off x="2194560" y="498348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STAG2</a:t>
            </a:r>
            <a:endParaRPr lang="en-US" sz="1000" dirty="0"/>
          </a:p>
        </p:txBody>
      </p:sp>
      <p:sp>
        <p:nvSpPr>
          <p:cNvPr id="115" name="Shape 112"/>
          <p:cNvSpPr/>
          <p:nvPr/>
        </p:nvSpPr>
        <p:spPr>
          <a:xfrm>
            <a:off x="3017520" y="498348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3017520" y="498348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TET2</a:t>
            </a:r>
            <a:endParaRPr lang="en-US" sz="1000" dirty="0"/>
          </a:p>
        </p:txBody>
      </p:sp>
      <p:sp>
        <p:nvSpPr>
          <p:cNvPr id="117" name="Shape 114"/>
          <p:cNvSpPr/>
          <p:nvPr/>
        </p:nvSpPr>
        <p:spPr>
          <a:xfrm>
            <a:off x="3840480" y="498348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3840480" y="498348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U2AF1</a:t>
            </a:r>
            <a:endParaRPr lang="en-US" sz="1000" dirty="0"/>
          </a:p>
        </p:txBody>
      </p:sp>
      <p:sp>
        <p:nvSpPr>
          <p:cNvPr id="119" name="Shape 116"/>
          <p:cNvSpPr/>
          <p:nvPr/>
        </p:nvSpPr>
        <p:spPr>
          <a:xfrm>
            <a:off x="4663440" y="498348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0" name="Text 117"/>
          <p:cNvSpPr txBox="1"/>
          <p:nvPr/>
        </p:nvSpPr>
        <p:spPr>
          <a:xfrm>
            <a:off x="4663440" y="498348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WT1</a:t>
            </a:r>
            <a:endParaRPr lang="en-US" sz="1000" dirty="0"/>
          </a:p>
        </p:txBody>
      </p:sp>
      <p:sp>
        <p:nvSpPr>
          <p:cNvPr id="121" name="Shape 118"/>
          <p:cNvSpPr/>
          <p:nvPr/>
        </p:nvSpPr>
        <p:spPr>
          <a:xfrm>
            <a:off x="5486400" y="498348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2" name="Text 119"/>
          <p:cNvSpPr txBox="1"/>
          <p:nvPr/>
        </p:nvSpPr>
        <p:spPr>
          <a:xfrm>
            <a:off x="5486400" y="498348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430"/>
                </a:solidFill>
              </a:rPr>
              <a:t>ZRSR2</a:t>
            </a:r>
            <a:endParaRPr lang="en-US" sz="1000" dirty="0"/>
          </a:p>
        </p:txBody>
      </p:sp>
      <p:sp>
        <p:nvSpPr>
          <p:cNvPr id="123" name="Citogenético"/>
          <p:cNvSpPr/>
          <p:nvPr/>
        </p:nvSpPr>
        <p:spPr>
          <a:xfrm>
            <a:off x="9098280" y="4023360"/>
            <a:ext cx="2544775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4" name="Text 121"/>
          <p:cNvSpPr txBox="1"/>
          <p:nvPr/>
        </p:nvSpPr>
        <p:spPr>
          <a:xfrm>
            <a:off x="9326880" y="4114800"/>
            <a:ext cx="20875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Citogenético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No desarrolló metafases.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7182A"/>
                </a:solidFill>
              </a:rPr>
              <a:t>PARA LA DISCUSIÓN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Debate</a:t>
            </a:r>
            <a:endParaRPr lang="en-US" sz="3000" dirty="0"/>
          </a:p>
        </p:txBody>
      </p:sp>
      <p:sp>
        <p:nvSpPr>
          <p:cNvPr id="4" name="EMR detectable temprana: ¿cómo erradicarla?"/>
          <p:cNvSpPr/>
          <p:nvPr/>
        </p:nvSpPr>
        <p:spPr>
          <a:xfrm>
            <a:off x="548640" y="1508760"/>
            <a:ext cx="5364328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rgbClr val="1F6FB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783080"/>
            <a:ext cx="3901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EMR detectable temprana: ¿cómo erradicarla?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871216"/>
            <a:ext cx="384048" cy="384048"/>
          </a:xfrm>
          <a:prstGeom prst="ellipse">
            <a:avLst/>
          </a:prstGeom>
          <a:solidFill>
            <a:srgbClr val="EAF4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B5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834640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¿Es posible pensar en el alo-TCPH para erradicar la EMR?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14400" y="3621024"/>
            <a:ext cx="384048" cy="384048"/>
          </a:xfrm>
          <a:prstGeom prst="ellipse">
            <a:avLst/>
          </a:prstGeom>
          <a:solidFill>
            <a:srgbClr val="EAF4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B5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584448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¿Cuál es el lugar de la inmunoterapia en este escenario? ¿Cuándo: día +33 o día +78?</a:t>
            </a:r>
            <a:endParaRPr lang="en-US" sz="1500" dirty="0"/>
          </a:p>
        </p:txBody>
      </p:sp>
      <p:sp>
        <p:nvSpPr>
          <p:cNvPr id="14" name="Switch de linaje o LMA relacionada con el tratamiento"/>
          <p:cNvSpPr/>
          <p:nvPr/>
        </p:nvSpPr>
        <p:spPr>
          <a:xfrm>
            <a:off x="6278728" y="1508760"/>
            <a:ext cx="5364328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98768" y="1828800"/>
            <a:ext cx="731520" cy="731520"/>
          </a:xfrm>
          <a:prstGeom prst="ellipse">
            <a:avLst/>
          </a:prstGeom>
          <a:solidFill>
            <a:srgbClr val="D7182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648" y="20116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513168" y="1783080"/>
            <a:ext cx="3901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Switch de linaje o LMA relacionada con el tratamiento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644488" y="2871216"/>
            <a:ext cx="384048" cy="384048"/>
          </a:xfrm>
          <a:prstGeom prst="ellipse">
            <a:avLst/>
          </a:prstGeom>
          <a:solidFill>
            <a:srgbClr val="FDECEE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644488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82A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193128" y="2834640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¿Cómo diferenciarlos?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644488" y="3621024"/>
            <a:ext cx="384048" cy="384048"/>
          </a:xfrm>
          <a:prstGeom prst="ellipse">
            <a:avLst/>
          </a:prstGeom>
          <a:solidFill>
            <a:srgbClr val="FDECEE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644488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82A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193128" y="3584448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¿Cómo participa la inmunoterapia en los casos con switch de linaje?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644488" y="4370832"/>
            <a:ext cx="384048" cy="384048"/>
          </a:xfrm>
          <a:prstGeom prst="ellipse">
            <a:avLst/>
          </a:prstGeom>
          <a:solidFill>
            <a:srgbClr val="FDECE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644488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82A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7193128" y="4334256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¿Qué aporta el NGS sobre la biología de la enfermedad?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6644488" y="5120640"/>
            <a:ext cx="384048" cy="384048"/>
          </a:xfrm>
          <a:prstGeom prst="ellipse">
            <a:avLst/>
          </a:prstGeom>
          <a:solidFill>
            <a:srgbClr val="FDECE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644488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82A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193128" y="5084064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¿Qué expectativas hay para un panel NGS linfoide en Argentina?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77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2545"/>
                </a:solidFill>
              </a:rPr>
              <a:t>Muchas gracias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3337560"/>
            <a:ext cx="822960" cy="0"/>
          </a:xfrm>
          <a:prstGeom prst="line">
            <a:avLst/>
          </a:prstGeom>
          <a:noFill/>
          <a:ln w="38100">
            <a:solidFill>
              <a:srgbClr val="D718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520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Dra. Luciana Galelli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6777"/>
                </a:solidFill>
              </a:rPr>
              <a:t>Hospital General de Agudos Carlos G. Durand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rnadas SAH">
  <a:themeElements>
    <a:clrScheme name="Jornadas SAH">
      <a:dk1>
        <a:srgbClr val="1B2430"/>
      </a:dk1>
      <a:lt1>
        <a:srgbClr val="FFFFFF"/>
      </a:lt1>
      <a:dk2>
        <a:srgbClr val="0B2545"/>
      </a:dk2>
      <a:lt2>
        <a:srgbClr val="F4F6F9"/>
      </a:lt2>
      <a:accent1>
        <a:srgbClr val="1F6FB5"/>
      </a:accent1>
      <a:accent2>
        <a:srgbClr val="4BA6D9"/>
      </a:accent2>
      <a:accent3>
        <a:srgbClr val="D7182A"/>
      </a:accent3>
      <a:accent4>
        <a:srgbClr val="1E8E5A"/>
      </a:accent4>
      <a:accent5>
        <a:srgbClr val="C77700"/>
      </a:accent5>
      <a:accent6>
        <a:srgbClr val="5B6777"/>
      </a:accent6>
      <a:hlink>
        <a:srgbClr val="1F6FB5"/>
      </a:hlink>
      <a:folHlink>
        <a:srgbClr val="5B6777"/>
      </a:folHlink>
    </a:clrScheme>
    <a:fontScheme name="Jornadas SA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clínico: LLA Ph negativa</dc:title>
  <dc:subject>PptxGenJS Presentation</dc:subject>
  <dc:creator>Dra. Luciana Galelli</dc:creator>
  <cp:lastModifiedBy>Dra. Luciana Galelli</cp:lastModifiedBy>
  <cp:revision>1</cp:revision>
  <dcterms:created xsi:type="dcterms:W3CDTF">2026-10-25T19:51:24Z</dcterms:created>
  <dcterms:modified xsi:type="dcterms:W3CDTF">2026-10-25T19:51:24Z</dcterms:modified>
</cp:coreProperties>
</file>