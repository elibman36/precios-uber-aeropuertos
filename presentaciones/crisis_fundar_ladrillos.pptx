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3c03eab3-5811-59f9-29bd-cdb10a29fbe9}">
          <p14:sldIdLst>
            <p14:sldId id="256"/>
          </p14:sldIdLst>
        </p14:section>
        <p14:section name="Resumen" id="{f9463ddd-dd69-38a2-3886-a9054dc2bf59}">
          <p14:sldIdLst>
            <p14:sldId id="257"/>
            <p14:sldId id="258"/>
          </p14:sldIdLst>
        </p14:section>
        <p14:section name="Cómo se armó" id="{c9cbe108-0e32-e511-9dd0-5ea58f25980a}">
          <p14:sldIdLst>
            <p14:sldId id="259"/>
            <p14:sldId id="260"/>
            <p14:sldId id="261"/>
            <p14:sldId id="262"/>
          </p14:sldIdLst>
        </p14:section>
        <p14:section name="Qué hacer" id="{efc4231d-378b-4a23-d06e-7465ba8702b7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1D1F24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1D1F24"/>
                </a:solidFill>
                <a:latin typeface="+mn-lt"/>
              </a:rPr>
              <a:t>Cuánto creció el crédito, descontada la inflación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F1B20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Préstamos personales</c:v>
                  </c:pt>
                  <c:pt idx="1">
                    <c:v>Tarjetas de crédito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134</c:v>
                </c:pt>
                <c:pt idx="1">
                  <c:v>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F7D98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Préstamos personales</c:v>
                  </c:pt>
                  <c:pt idx="1">
                    <c:v>Tarjetas de crédito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44.3</c:v>
                </c:pt>
                <c:pt idx="1">
                  <c:v>16.6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D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CDCD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0"/>
        </c:scaling>
        <c:delete val="0"/>
        <c:axPos val="l"/>
        <c:majorGridlines>
          <c:spPr>
            <a:ln w="9525" cap="flat">
              <a:solidFill>
                <a:srgbClr val="DCDCD6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4A4E5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9"/>
          <c:y val="0.1"/>
          <c:w val="0.88"/>
          <c:h val="0.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BADLAR real anualizada</c:v>
                </c:pt>
              </c:strCache>
            </c:strRef>
          </c:tx>
          <c:spPr>
            <a:solidFill>
              <a:srgbClr val="D23A2F"/>
            </a:solidFill>
            <a:ln w="25400" cap="flat">
              <a:solidFill>
                <a:srgbClr val="D23A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23A2F"/>
              </a:solidFill>
              <a:ln w="9525" cap="flat">
                <a:solidFill>
                  <a:srgbClr val="D23A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Sheet1!$A$2:$A$419</c:f>
              <c:multiLvlStrCache>
                <c:ptCount val="418"/>
                <c:lvl>
                  <c:pt idx="0">
                    <c:v>ene-25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>mar-25</c:v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>may-25</c:v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>jul-25</c:v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>sep-25</c:v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/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>nov-25</c:v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/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>ene-26</c:v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  <c:pt idx="260">
                    <c:v/>
                  </c:pt>
                  <c:pt idx="261">
                    <c:v/>
                  </c:pt>
                  <c:pt idx="262">
                    <c:v/>
                  </c:pt>
                  <c:pt idx="263">
                    <c:v/>
                  </c:pt>
                  <c:pt idx="264">
                    <c:v/>
                  </c:pt>
                  <c:pt idx="265">
                    <c:v/>
                  </c:pt>
                  <c:pt idx="266">
                    <c:v/>
                  </c:pt>
                  <c:pt idx="267">
                    <c:v/>
                  </c:pt>
                  <c:pt idx="268">
                    <c:v/>
                  </c:pt>
                  <c:pt idx="269">
                    <c:v/>
                  </c:pt>
                  <c:pt idx="270">
                    <c:v/>
                  </c:pt>
                  <c:pt idx="271">
                    <c:v/>
                  </c:pt>
                  <c:pt idx="272">
                    <c:v/>
                  </c:pt>
                  <c:pt idx="273">
                    <c:v/>
                  </c:pt>
                  <c:pt idx="274">
                    <c:v/>
                  </c:pt>
                  <c:pt idx="275">
                    <c:v/>
                  </c:pt>
                  <c:pt idx="276">
                    <c:v/>
                  </c:pt>
                  <c:pt idx="277">
                    <c:v/>
                  </c:pt>
                  <c:pt idx="278">
                    <c:v/>
                  </c:pt>
                  <c:pt idx="279">
                    <c:v>mar-26</c:v>
                  </c:pt>
                  <c:pt idx="280">
                    <c:v/>
                  </c:pt>
                  <c:pt idx="281">
                    <c:v/>
                  </c:pt>
                  <c:pt idx="282">
                    <c:v/>
                  </c:pt>
                  <c:pt idx="283">
                    <c:v/>
                  </c:pt>
                  <c:pt idx="284">
                    <c:v/>
                  </c:pt>
                  <c:pt idx="285">
                    <c:v/>
                  </c:pt>
                  <c:pt idx="286">
                    <c:v/>
                  </c:pt>
                  <c:pt idx="287">
                    <c:v/>
                  </c:pt>
                  <c:pt idx="288">
                    <c:v/>
                  </c:pt>
                  <c:pt idx="289">
                    <c:v/>
                  </c:pt>
                  <c:pt idx="290">
                    <c:v/>
                  </c:pt>
                  <c:pt idx="291">
                    <c:v/>
                  </c:pt>
                  <c:pt idx="292">
                    <c:v/>
                  </c:pt>
                  <c:pt idx="293">
                    <c:v/>
                  </c:pt>
                  <c:pt idx="294">
                    <c:v/>
                  </c:pt>
                  <c:pt idx="295">
                    <c:v/>
                  </c:pt>
                  <c:pt idx="296">
                    <c:v/>
                  </c:pt>
                  <c:pt idx="297">
                    <c:v/>
                  </c:pt>
                  <c:pt idx="298">
                    <c:v/>
                  </c:pt>
                  <c:pt idx="299">
                    <c:v/>
                  </c:pt>
                  <c:pt idx="300">
                    <c:v/>
                  </c:pt>
                  <c:pt idx="301">
                    <c:v/>
                  </c:pt>
                  <c:pt idx="302">
                    <c:v/>
                  </c:pt>
                  <c:pt idx="303">
                    <c:v/>
                  </c:pt>
                  <c:pt idx="304">
                    <c:v/>
                  </c:pt>
                  <c:pt idx="305">
                    <c:v/>
                  </c:pt>
                  <c:pt idx="306">
                    <c:v/>
                  </c:pt>
                  <c:pt idx="307">
                    <c:v/>
                  </c:pt>
                  <c:pt idx="308">
                    <c:v/>
                  </c:pt>
                  <c:pt idx="309">
                    <c:v/>
                  </c:pt>
                  <c:pt idx="310">
                    <c:v/>
                  </c:pt>
                  <c:pt idx="311">
                    <c:v/>
                  </c:pt>
                  <c:pt idx="312">
                    <c:v/>
                  </c:pt>
                  <c:pt idx="313">
                    <c:v/>
                  </c:pt>
                  <c:pt idx="314">
                    <c:v/>
                  </c:pt>
                  <c:pt idx="315">
                    <c:v/>
                  </c:pt>
                  <c:pt idx="316">
                    <c:v/>
                  </c:pt>
                  <c:pt idx="317">
                    <c:v/>
                  </c:pt>
                  <c:pt idx="318">
                    <c:v/>
                  </c:pt>
                  <c:pt idx="319">
                    <c:v>may-26</c:v>
                  </c:pt>
                  <c:pt idx="320">
                    <c:v/>
                  </c:pt>
                  <c:pt idx="321">
                    <c:v/>
                  </c:pt>
                  <c:pt idx="322">
                    <c:v/>
                  </c:pt>
                  <c:pt idx="323">
                    <c:v/>
                  </c:pt>
                  <c:pt idx="324">
                    <c:v/>
                  </c:pt>
                  <c:pt idx="325">
                    <c:v/>
                  </c:pt>
                  <c:pt idx="326">
                    <c:v/>
                  </c:pt>
                  <c:pt idx="327">
                    <c:v/>
                  </c:pt>
                  <c:pt idx="328">
                    <c:v/>
                  </c:pt>
                  <c:pt idx="329">
                    <c:v/>
                  </c:pt>
                  <c:pt idx="330">
                    <c:v/>
                  </c:pt>
                  <c:pt idx="331">
                    <c:v/>
                  </c:pt>
                  <c:pt idx="332">
                    <c:v/>
                  </c:pt>
                  <c:pt idx="333">
                    <c:v/>
                  </c:pt>
                  <c:pt idx="334">
                    <c:v/>
                  </c:pt>
                  <c:pt idx="335">
                    <c:v/>
                  </c:pt>
                  <c:pt idx="336">
                    <c:v/>
                  </c:pt>
                  <c:pt idx="337">
                    <c:v/>
                  </c:pt>
                  <c:pt idx="338">
                    <c:v/>
                  </c:pt>
                  <c:pt idx="339">
                    <c:v/>
                  </c:pt>
                  <c:pt idx="340">
                    <c:v/>
                  </c:pt>
                  <c:pt idx="341">
                    <c:v/>
                  </c:pt>
                  <c:pt idx="342">
                    <c:v/>
                  </c:pt>
                  <c:pt idx="343">
                    <c:v/>
                  </c:pt>
                  <c:pt idx="344">
                    <c:v/>
                  </c:pt>
                  <c:pt idx="345">
                    <c:v/>
                  </c:pt>
                  <c:pt idx="346">
                    <c:v/>
                  </c:pt>
                  <c:pt idx="347">
                    <c:v/>
                  </c:pt>
                  <c:pt idx="348">
                    <c:v/>
                  </c:pt>
                  <c:pt idx="349">
                    <c:v/>
                  </c:pt>
                  <c:pt idx="350">
                    <c:v/>
                  </c:pt>
                  <c:pt idx="351">
                    <c:v/>
                  </c:pt>
                  <c:pt idx="352">
                    <c:v/>
                  </c:pt>
                  <c:pt idx="353">
                    <c:v/>
                  </c:pt>
                  <c:pt idx="354">
                    <c:v/>
                  </c:pt>
                  <c:pt idx="355">
                    <c:v/>
                  </c:pt>
                  <c:pt idx="356">
                    <c:v/>
                  </c:pt>
                  <c:pt idx="357">
                    <c:v/>
                  </c:pt>
                  <c:pt idx="358">
                    <c:v/>
                  </c:pt>
                  <c:pt idx="359">
                    <c:v>jul-26</c:v>
                  </c:pt>
                  <c:pt idx="360">
                    <c:v/>
                  </c:pt>
                  <c:pt idx="361">
                    <c:v/>
                  </c:pt>
                  <c:pt idx="362">
                    <c:v/>
                  </c:pt>
                  <c:pt idx="363">
                    <c:v/>
                  </c:pt>
                  <c:pt idx="364">
                    <c:v/>
                  </c:pt>
                  <c:pt idx="365">
                    <c:v/>
                  </c:pt>
                  <c:pt idx="366">
                    <c:v/>
                  </c:pt>
                  <c:pt idx="367">
                    <c:v/>
                  </c:pt>
                  <c:pt idx="368">
                    <c:v/>
                  </c:pt>
                  <c:pt idx="369">
                    <c:v/>
                  </c:pt>
                  <c:pt idx="370">
                    <c:v/>
                  </c:pt>
                  <c:pt idx="371">
                    <c:v/>
                  </c:pt>
                  <c:pt idx="372">
                    <c:v/>
                  </c:pt>
                  <c:pt idx="373">
                    <c:v/>
                  </c:pt>
                  <c:pt idx="374">
                    <c:v/>
                  </c:pt>
                  <c:pt idx="375">
                    <c:v/>
                  </c:pt>
                  <c:pt idx="376">
                    <c:v/>
                  </c:pt>
                  <c:pt idx="377">
                    <c:v/>
                  </c:pt>
                  <c:pt idx="378">
                    <c:v/>
                  </c:pt>
                  <c:pt idx="379">
                    <c:v/>
                  </c:pt>
                  <c:pt idx="380">
                    <c:v/>
                  </c:pt>
                  <c:pt idx="381">
                    <c:v/>
                  </c:pt>
                  <c:pt idx="382">
                    <c:v/>
                  </c:pt>
                  <c:pt idx="383">
                    <c:v/>
                  </c:pt>
                  <c:pt idx="384">
                    <c:v/>
                  </c:pt>
                  <c:pt idx="385">
                    <c:v/>
                  </c:pt>
                  <c:pt idx="386">
                    <c:v/>
                  </c:pt>
                  <c:pt idx="387">
                    <c:v/>
                  </c:pt>
                  <c:pt idx="388">
                    <c:v/>
                  </c:pt>
                  <c:pt idx="389">
                    <c:v/>
                  </c:pt>
                  <c:pt idx="390">
                    <c:v/>
                  </c:pt>
                  <c:pt idx="391">
                    <c:v/>
                  </c:pt>
                  <c:pt idx="392">
                    <c:v/>
                  </c:pt>
                  <c:pt idx="393">
                    <c:v/>
                  </c:pt>
                  <c:pt idx="394">
                    <c:v/>
                  </c:pt>
                  <c:pt idx="395">
                    <c:v/>
                  </c:pt>
                  <c:pt idx="396">
                    <c:v/>
                  </c:pt>
                  <c:pt idx="397">
                    <c:v/>
                  </c:pt>
                  <c:pt idx="398">
                    <c:v/>
                  </c:pt>
                  <c:pt idx="399">
                    <c:v/>
                  </c:pt>
                  <c:pt idx="400">
                    <c:v>sep-26</c:v>
                  </c:pt>
                  <c:pt idx="401">
                    <c:v/>
                  </c:pt>
                  <c:pt idx="402">
                    <c:v/>
                  </c:pt>
                  <c:pt idx="403">
                    <c:v/>
                  </c:pt>
                  <c:pt idx="404">
                    <c:v/>
                  </c:pt>
                  <c:pt idx="405">
                    <c:v/>
                  </c:pt>
                  <c:pt idx="406">
                    <c:v/>
                  </c:pt>
                  <c:pt idx="407">
                    <c:v/>
                  </c:pt>
                  <c:pt idx="408">
                    <c:v/>
                  </c:pt>
                  <c:pt idx="409">
                    <c:v/>
                  </c:pt>
                  <c:pt idx="410">
                    <c:v/>
                  </c:pt>
                  <c:pt idx="411">
                    <c:v/>
                  </c:pt>
                  <c:pt idx="412">
                    <c:v/>
                  </c:pt>
                  <c:pt idx="413">
                    <c:v/>
                  </c:pt>
                  <c:pt idx="414">
                    <c:v/>
                  </c:pt>
                  <c:pt idx="415">
                    <c:v/>
                  </c:pt>
                  <c:pt idx="416">
                    <c:v/>
                  </c:pt>
                  <c:pt idx="417">
                    <c:v/>
                  </c:pt>
                </c:lvl>
              </c:multiLvlStrCache>
            </c:multiLvlStrRef>
          </c:cat>
          <c:val>
            <c:numRef>
              <c:f>Sheet1!$B$2:$B$419</c:f>
              <c:numCache>
                <c:formatCode>General</c:formatCode>
                <c:ptCount val="418"/>
                <c:pt idx="0">
                  <c:v>2.2</c:v>
                </c:pt>
                <c:pt idx="1">
                  <c:v>2.9</c:v>
                </c:pt>
                <c:pt idx="2">
                  <c:v>4.1</c:v>
                </c:pt>
                <c:pt idx="3">
                  <c:v>4</c:v>
                </c:pt>
                <c:pt idx="4">
                  <c:v>2.8</c:v>
                </c:pt>
                <c:pt idx="5">
                  <c:v>3.3</c:v>
                </c:pt>
                <c:pt idx="6">
                  <c:v>3.4</c:v>
                </c:pt>
                <c:pt idx="7">
                  <c:v>4.4</c:v>
                </c:pt>
                <c:pt idx="8">
                  <c:v>5.6</c:v>
                </c:pt>
                <c:pt idx="9">
                  <c:v>4.9</c:v>
                </c:pt>
                <c:pt idx="10">
                  <c:v>3.8</c:v>
                </c:pt>
                <c:pt idx="11">
                  <c:v>4.3</c:v>
                </c:pt>
                <c:pt idx="12">
                  <c:v>3.6</c:v>
                </c:pt>
                <c:pt idx="13">
                  <c:v>4.3</c:v>
                </c:pt>
                <c:pt idx="14">
                  <c:v>3.9</c:v>
                </c:pt>
                <c:pt idx="15">
                  <c:v>3.8</c:v>
                </c:pt>
                <c:pt idx="16">
                  <c:v>5.1</c:v>
                </c:pt>
                <c:pt idx="17">
                  <c:v>2.7</c:v>
                </c:pt>
                <c:pt idx="18">
                  <c:v>4.4</c:v>
                </c:pt>
                <c:pt idx="19">
                  <c:v>3.6</c:v>
                </c:pt>
                <c:pt idx="20">
                  <c:v>3.4</c:v>
                </c:pt>
                <c:pt idx="21">
                  <c:v>1.3</c:v>
                </c:pt>
                <c:pt idx="22">
                  <c:v>0.2</c:v>
                </c:pt>
                <c:pt idx="23">
                  <c:v>1.1</c:v>
                </c:pt>
                <c:pt idx="24">
                  <c:v>1.2</c:v>
                </c:pt>
                <c:pt idx="25">
                  <c:v>0.9</c:v>
                </c:pt>
                <c:pt idx="26">
                  <c:v>0.2</c:v>
                </c:pt>
                <c:pt idx="27">
                  <c:v>-0.3</c:v>
                </c:pt>
                <c:pt idx="28">
                  <c:v>0.3</c:v>
                </c:pt>
                <c:pt idx="29">
                  <c:v>-0.3</c:v>
                </c:pt>
                <c:pt idx="30">
                  <c:v>-0.9</c:v>
                </c:pt>
                <c:pt idx="31">
                  <c:v>-0.1</c:v>
                </c:pt>
                <c:pt idx="32">
                  <c:v>-1.8</c:v>
                </c:pt>
                <c:pt idx="33">
                  <c:v>-2.7</c:v>
                </c:pt>
                <c:pt idx="34">
                  <c:v>-3.4</c:v>
                </c:pt>
                <c:pt idx="35">
                  <c:v>-4.3</c:v>
                </c:pt>
                <c:pt idx="36">
                  <c:v>-4.2</c:v>
                </c:pt>
                <c:pt idx="37">
                  <c:v>-5.9</c:v>
                </c:pt>
                <c:pt idx="38">
                  <c:v>-5.9</c:v>
                </c:pt>
                <c:pt idx="39">
                  <c:v>-7.3</c:v>
                </c:pt>
                <c:pt idx="40">
                  <c:v>-7.4</c:v>
                </c:pt>
                <c:pt idx="41">
                  <c:v>-7.7</c:v>
                </c:pt>
                <c:pt idx="42">
                  <c:v>-10.6</c:v>
                </c:pt>
                <c:pt idx="43">
                  <c:v>-10.1</c:v>
                </c:pt>
                <c:pt idx="44">
                  <c:v>-10.6</c:v>
                </c:pt>
                <c:pt idx="45">
                  <c:v>-12.4</c:v>
                </c:pt>
                <c:pt idx="46">
                  <c:v>-12.3</c:v>
                </c:pt>
                <c:pt idx="47">
                  <c:v>-12.9</c:v>
                </c:pt>
                <c:pt idx="48">
                  <c:v>-13.4</c:v>
                </c:pt>
                <c:pt idx="49">
                  <c:v>-13.5</c:v>
                </c:pt>
                <c:pt idx="50">
                  <c:v>-13.4</c:v>
                </c:pt>
                <c:pt idx="51">
                  <c:v>-12.3</c:v>
                </c:pt>
                <c:pt idx="52">
                  <c:v>-11.9</c:v>
                </c:pt>
                <c:pt idx="53">
                  <c:v>-11.4</c:v>
                </c:pt>
                <c:pt idx="54">
                  <c:v>-11.5</c:v>
                </c:pt>
                <c:pt idx="55">
                  <c:v>-10.7</c:v>
                </c:pt>
                <c:pt idx="56">
                  <c:v>-9.7</c:v>
                </c:pt>
                <c:pt idx="57">
                  <c:v>-9.4</c:v>
                </c:pt>
                <c:pt idx="58">
                  <c:v>-9.6</c:v>
                </c:pt>
                <c:pt idx="59">
                  <c:v>-8.4</c:v>
                </c:pt>
                <c:pt idx="60">
                  <c:v>-7.3</c:v>
                </c:pt>
                <c:pt idx="61">
                  <c:v>-6.7</c:v>
                </c:pt>
                <c:pt idx="62">
                  <c:v>-7.3</c:v>
                </c:pt>
                <c:pt idx="63">
                  <c:v>-5.2</c:v>
                </c:pt>
                <c:pt idx="64">
                  <c:v>-4.4</c:v>
                </c:pt>
                <c:pt idx="65">
                  <c:v>-5.2</c:v>
                </c:pt>
                <c:pt idx="66">
                  <c:v>-3.6</c:v>
                </c:pt>
                <c:pt idx="67">
                  <c:v>-3.2</c:v>
                </c:pt>
                <c:pt idx="68">
                  <c:v>1.8</c:v>
                </c:pt>
                <c:pt idx="69">
                  <c:v>1.5</c:v>
                </c:pt>
                <c:pt idx="70">
                  <c:v>3.6</c:v>
                </c:pt>
                <c:pt idx="71">
                  <c:v>4</c:v>
                </c:pt>
                <c:pt idx="72">
                  <c:v>4</c:v>
                </c:pt>
                <c:pt idx="73">
                  <c:v>4.7</c:v>
                </c:pt>
                <c:pt idx="74">
                  <c:v>4.2</c:v>
                </c:pt>
                <c:pt idx="75">
                  <c:v>4.8</c:v>
                </c:pt>
                <c:pt idx="76">
                  <c:v>5.8</c:v>
                </c:pt>
                <c:pt idx="77">
                  <c:v>6.5</c:v>
                </c:pt>
                <c:pt idx="78">
                  <c:v>6.8</c:v>
                </c:pt>
                <c:pt idx="79">
                  <c:v>8.7</c:v>
                </c:pt>
                <c:pt idx="80">
                  <c:v>10.8</c:v>
                </c:pt>
                <c:pt idx="81">
                  <c:v>10.8</c:v>
                </c:pt>
                <c:pt idx="82">
                  <c:v>11.6</c:v>
                </c:pt>
                <c:pt idx="83">
                  <c:v>11.2</c:v>
                </c:pt>
                <c:pt idx="84">
                  <c:v>12.7</c:v>
                </c:pt>
                <c:pt idx="85">
                  <c:v>14.8</c:v>
                </c:pt>
                <c:pt idx="86">
                  <c:v>14.5</c:v>
                </c:pt>
                <c:pt idx="87">
                  <c:v>15.7</c:v>
                </c:pt>
                <c:pt idx="88">
                  <c:v>14</c:v>
                </c:pt>
                <c:pt idx="89">
                  <c:v>15.8</c:v>
                </c:pt>
                <c:pt idx="90">
                  <c:v>15.9</c:v>
                </c:pt>
                <c:pt idx="91">
                  <c:v>14.2</c:v>
                </c:pt>
                <c:pt idx="92">
                  <c:v>14.5</c:v>
                </c:pt>
                <c:pt idx="93">
                  <c:v>15.5</c:v>
                </c:pt>
                <c:pt idx="94">
                  <c:v>13.6</c:v>
                </c:pt>
                <c:pt idx="95">
                  <c:v>14.8</c:v>
                </c:pt>
                <c:pt idx="96">
                  <c:v>13.6</c:v>
                </c:pt>
                <c:pt idx="97">
                  <c:v>13.9</c:v>
                </c:pt>
                <c:pt idx="98">
                  <c:v>13.4</c:v>
                </c:pt>
                <c:pt idx="99">
                  <c:v>14.2</c:v>
                </c:pt>
                <c:pt idx="100">
                  <c:v>13.9</c:v>
                </c:pt>
                <c:pt idx="101">
                  <c:v>12.7</c:v>
                </c:pt>
                <c:pt idx="102">
                  <c:v>13</c:v>
                </c:pt>
                <c:pt idx="103">
                  <c:v>13.2</c:v>
                </c:pt>
                <c:pt idx="104">
                  <c:v>12.4</c:v>
                </c:pt>
                <c:pt idx="105">
                  <c:v>13.2</c:v>
                </c:pt>
                <c:pt idx="106">
                  <c:v>13</c:v>
                </c:pt>
                <c:pt idx="107">
                  <c:v>13.2</c:v>
                </c:pt>
                <c:pt idx="108">
                  <c:v>12.8</c:v>
                </c:pt>
                <c:pt idx="109">
                  <c:v>12.9</c:v>
                </c:pt>
                <c:pt idx="110">
                  <c:v>12.4</c:v>
                </c:pt>
                <c:pt idx="111">
                  <c:v>13.5</c:v>
                </c:pt>
                <c:pt idx="112">
                  <c:v>11.8</c:v>
                </c:pt>
                <c:pt idx="113">
                  <c:v>12.7</c:v>
                </c:pt>
                <c:pt idx="114">
                  <c:v>11.9</c:v>
                </c:pt>
                <c:pt idx="115">
                  <c:v>11.7</c:v>
                </c:pt>
                <c:pt idx="116">
                  <c:v>11.8</c:v>
                </c:pt>
                <c:pt idx="117">
                  <c:v>10.9</c:v>
                </c:pt>
                <c:pt idx="118">
                  <c:v>11.5</c:v>
                </c:pt>
                <c:pt idx="119">
                  <c:v>11.1</c:v>
                </c:pt>
                <c:pt idx="120">
                  <c:v>11</c:v>
                </c:pt>
                <c:pt idx="121">
                  <c:v>10</c:v>
                </c:pt>
                <c:pt idx="122">
                  <c:v>9.7</c:v>
                </c:pt>
                <c:pt idx="123">
                  <c:v>10.3</c:v>
                </c:pt>
                <c:pt idx="124">
                  <c:v>8.9</c:v>
                </c:pt>
                <c:pt idx="125">
                  <c:v>7.8</c:v>
                </c:pt>
                <c:pt idx="126">
                  <c:v>5.8</c:v>
                </c:pt>
                <c:pt idx="127">
                  <c:v>5.6</c:v>
                </c:pt>
                <c:pt idx="128">
                  <c:v>6.9</c:v>
                </c:pt>
                <c:pt idx="129">
                  <c:v>7.1</c:v>
                </c:pt>
                <c:pt idx="130">
                  <c:v>8.4</c:v>
                </c:pt>
                <c:pt idx="131">
                  <c:v>9.1</c:v>
                </c:pt>
                <c:pt idx="132">
                  <c:v>11.5</c:v>
                </c:pt>
                <c:pt idx="133">
                  <c:v>11.7</c:v>
                </c:pt>
                <c:pt idx="134">
                  <c:v>11.8</c:v>
                </c:pt>
                <c:pt idx="135">
                  <c:v>10.9</c:v>
                </c:pt>
                <c:pt idx="136">
                  <c:v>10.2</c:v>
                </c:pt>
                <c:pt idx="137">
                  <c:v>12.6</c:v>
                </c:pt>
                <c:pt idx="138">
                  <c:v>12.5</c:v>
                </c:pt>
                <c:pt idx="139">
                  <c:v>14.1</c:v>
                </c:pt>
                <c:pt idx="140">
                  <c:v>15.4</c:v>
                </c:pt>
                <c:pt idx="141">
                  <c:v>16.3</c:v>
                </c:pt>
                <c:pt idx="142">
                  <c:v>16.9</c:v>
                </c:pt>
                <c:pt idx="143">
                  <c:v>15.6</c:v>
                </c:pt>
                <c:pt idx="144">
                  <c:v>17</c:v>
                </c:pt>
                <c:pt idx="145">
                  <c:v>18.5</c:v>
                </c:pt>
                <c:pt idx="146">
                  <c:v>19.7</c:v>
                </c:pt>
                <c:pt idx="147">
                  <c:v>24.5</c:v>
                </c:pt>
                <c:pt idx="148">
                  <c:v>22.6</c:v>
                </c:pt>
                <c:pt idx="149">
                  <c:v>25.4</c:v>
                </c:pt>
                <c:pt idx="150">
                  <c:v>28.7</c:v>
                </c:pt>
                <c:pt idx="151">
                  <c:v>34.1</c:v>
                </c:pt>
                <c:pt idx="152">
                  <c:v>33.1</c:v>
                </c:pt>
                <c:pt idx="153">
                  <c:v>33.5</c:v>
                </c:pt>
                <c:pt idx="154">
                  <c:v>32.5</c:v>
                </c:pt>
                <c:pt idx="155">
                  <c:v>31.1</c:v>
                </c:pt>
                <c:pt idx="156">
                  <c:v>38.8</c:v>
                </c:pt>
                <c:pt idx="157">
                  <c:v>34.9</c:v>
                </c:pt>
                <c:pt idx="158">
                  <c:v>39.5</c:v>
                </c:pt>
                <c:pt idx="159">
                  <c:v>38</c:v>
                </c:pt>
                <c:pt idx="160">
                  <c:v>38</c:v>
                </c:pt>
                <c:pt idx="161">
                  <c:v>34.7</c:v>
                </c:pt>
                <c:pt idx="162">
                  <c:v>35.7</c:v>
                </c:pt>
                <c:pt idx="163">
                  <c:v>36.4</c:v>
                </c:pt>
                <c:pt idx="164">
                  <c:v>33.8</c:v>
                </c:pt>
                <c:pt idx="165">
                  <c:v>35.1</c:v>
                </c:pt>
                <c:pt idx="166">
                  <c:v>38.2</c:v>
                </c:pt>
                <c:pt idx="167">
                  <c:v>31.3</c:v>
                </c:pt>
                <c:pt idx="168">
                  <c:v>27.9</c:v>
                </c:pt>
                <c:pt idx="169">
                  <c:v>22.1</c:v>
                </c:pt>
                <c:pt idx="170">
                  <c:v>20.1</c:v>
                </c:pt>
                <c:pt idx="171">
                  <c:v>18.6</c:v>
                </c:pt>
                <c:pt idx="172">
                  <c:v>18.3</c:v>
                </c:pt>
                <c:pt idx="173">
                  <c:v>19.4</c:v>
                </c:pt>
                <c:pt idx="174">
                  <c:v>20.4</c:v>
                </c:pt>
                <c:pt idx="175">
                  <c:v>20.3</c:v>
                </c:pt>
                <c:pt idx="176">
                  <c:v>21.4</c:v>
                </c:pt>
                <c:pt idx="177">
                  <c:v>18</c:v>
                </c:pt>
                <c:pt idx="178">
                  <c:v>14.4</c:v>
                </c:pt>
                <c:pt idx="179">
                  <c:v>13.1</c:v>
                </c:pt>
                <c:pt idx="180">
                  <c:v>13.2</c:v>
                </c:pt>
                <c:pt idx="181">
                  <c:v>14.6</c:v>
                </c:pt>
                <c:pt idx="182">
                  <c:v>14.1</c:v>
                </c:pt>
                <c:pt idx="183">
                  <c:v>13.8</c:v>
                </c:pt>
                <c:pt idx="184">
                  <c:v>14.2</c:v>
                </c:pt>
                <c:pt idx="185">
                  <c:v>13.9</c:v>
                </c:pt>
                <c:pt idx="186">
                  <c:v>17.5</c:v>
                </c:pt>
                <c:pt idx="187">
                  <c:v>17.6</c:v>
                </c:pt>
                <c:pt idx="188">
                  <c:v>23.5</c:v>
                </c:pt>
                <c:pt idx="189">
                  <c:v>19.6</c:v>
                </c:pt>
                <c:pt idx="190">
                  <c:v>25.8</c:v>
                </c:pt>
                <c:pt idx="191">
                  <c:v>30.9</c:v>
                </c:pt>
                <c:pt idx="192">
                  <c:v>32.1</c:v>
                </c:pt>
                <c:pt idx="193">
                  <c:v>26.9</c:v>
                </c:pt>
                <c:pt idx="194">
                  <c:v>22.2</c:v>
                </c:pt>
                <c:pt idx="195">
                  <c:v>21.4</c:v>
                </c:pt>
                <c:pt idx="196">
                  <c:v>20.6</c:v>
                </c:pt>
                <c:pt idx="197">
                  <c:v>21.1</c:v>
                </c:pt>
                <c:pt idx="198">
                  <c:v>21.9</c:v>
                </c:pt>
                <c:pt idx="199">
                  <c:v>13.1</c:v>
                </c:pt>
                <c:pt idx="200">
                  <c:v>16</c:v>
                </c:pt>
                <c:pt idx="201">
                  <c:v>12.3</c:v>
                </c:pt>
                <c:pt idx="202">
                  <c:v>12</c:v>
                </c:pt>
                <c:pt idx="203">
                  <c:v>7.9</c:v>
                </c:pt>
                <c:pt idx="204">
                  <c:v>5.2</c:v>
                </c:pt>
                <c:pt idx="205">
                  <c:v>5.4</c:v>
                </c:pt>
                <c:pt idx="206">
                  <c:v>4.4</c:v>
                </c:pt>
                <c:pt idx="207">
                  <c:v>3.1</c:v>
                </c:pt>
                <c:pt idx="208">
                  <c:v>2.4</c:v>
                </c:pt>
                <c:pt idx="209">
                  <c:v>3.2</c:v>
                </c:pt>
                <c:pt idx="210">
                  <c:v>1.1</c:v>
                </c:pt>
                <c:pt idx="211">
                  <c:v>1.3</c:v>
                </c:pt>
                <c:pt idx="212">
                  <c:v>1.7</c:v>
                </c:pt>
                <c:pt idx="213">
                  <c:v>0.4</c:v>
                </c:pt>
                <c:pt idx="214">
                  <c:v>1.6</c:v>
                </c:pt>
                <c:pt idx="215">
                  <c:v>1.2</c:v>
                </c:pt>
                <c:pt idx="216">
                  <c:v>0</c:v>
                </c:pt>
                <c:pt idx="217">
                  <c:v>-1.4</c:v>
                </c:pt>
                <c:pt idx="218">
                  <c:v>-1.9</c:v>
                </c:pt>
                <c:pt idx="219">
                  <c:v>-1.6</c:v>
                </c:pt>
                <c:pt idx="220">
                  <c:v>-2</c:v>
                </c:pt>
                <c:pt idx="221">
                  <c:v>-2.8</c:v>
                </c:pt>
                <c:pt idx="222">
                  <c:v>-3.8</c:v>
                </c:pt>
                <c:pt idx="223">
                  <c:v>-5.7</c:v>
                </c:pt>
                <c:pt idx="224">
                  <c:v>-6.3</c:v>
                </c:pt>
                <c:pt idx="225">
                  <c:v>-6.6</c:v>
                </c:pt>
                <c:pt idx="226">
                  <c:v>-7.5</c:v>
                </c:pt>
                <c:pt idx="227">
                  <c:v>-7.4</c:v>
                </c:pt>
                <c:pt idx="228">
                  <c:v>-7.3</c:v>
                </c:pt>
                <c:pt idx="229">
                  <c:v>-8.1</c:v>
                </c:pt>
                <c:pt idx="230">
                  <c:v>-8.1</c:v>
                </c:pt>
                <c:pt idx="231">
                  <c:v>-7.7</c:v>
                </c:pt>
                <c:pt idx="232">
                  <c:v>-7.7</c:v>
                </c:pt>
                <c:pt idx="233">
                  <c:v>-7.4</c:v>
                </c:pt>
                <c:pt idx="234">
                  <c:v>-6.7</c:v>
                </c:pt>
                <c:pt idx="235">
                  <c:v>-6.9</c:v>
                </c:pt>
                <c:pt idx="236">
                  <c:v>-5.4</c:v>
                </c:pt>
                <c:pt idx="237">
                  <c:v>-7.1</c:v>
                </c:pt>
                <c:pt idx="238">
                  <c:v>-7.9</c:v>
                </c:pt>
                <c:pt idx="239">
                  <c:v>-7.4</c:v>
                </c:pt>
                <c:pt idx="240">
                  <c:v>-7.5</c:v>
                </c:pt>
                <c:pt idx="241">
                  <c:v>-7.4</c:v>
                </c:pt>
                <c:pt idx="242">
                  <c:v>-6.4</c:v>
                </c:pt>
                <c:pt idx="243">
                  <c:v>-4.7</c:v>
                </c:pt>
                <c:pt idx="244">
                  <c:v>-4.5</c:v>
                </c:pt>
                <c:pt idx="245">
                  <c:v>-5.2</c:v>
                </c:pt>
                <c:pt idx="246">
                  <c:v>-7.2</c:v>
                </c:pt>
                <c:pt idx="247">
                  <c:v>-5.6</c:v>
                </c:pt>
                <c:pt idx="248">
                  <c:v>-3.8</c:v>
                </c:pt>
                <c:pt idx="249">
                  <c:v>-3.2</c:v>
                </c:pt>
                <c:pt idx="250">
                  <c:v>-2.3</c:v>
                </c:pt>
                <c:pt idx="251">
                  <c:v>-2.4</c:v>
                </c:pt>
                <c:pt idx="252">
                  <c:v>-0.4</c:v>
                </c:pt>
                <c:pt idx="253">
                  <c:v>-0.6</c:v>
                </c:pt>
                <c:pt idx="254">
                  <c:v>0.3</c:v>
                </c:pt>
                <c:pt idx="255">
                  <c:v>1.1</c:v>
                </c:pt>
                <c:pt idx="256">
                  <c:v>-3.1</c:v>
                </c:pt>
                <c:pt idx="257">
                  <c:v>-2.2</c:v>
                </c:pt>
                <c:pt idx="258">
                  <c:v>-4.3</c:v>
                </c:pt>
                <c:pt idx="259">
                  <c:v>-4.8</c:v>
                </c:pt>
                <c:pt idx="260">
                  <c:v>-3.9</c:v>
                </c:pt>
                <c:pt idx="261">
                  <c:v>-5.5</c:v>
                </c:pt>
                <c:pt idx="262">
                  <c:v>-3.5</c:v>
                </c:pt>
                <c:pt idx="263">
                  <c:v>-4.5</c:v>
                </c:pt>
                <c:pt idx="264">
                  <c:v>-4.7</c:v>
                </c:pt>
                <c:pt idx="265">
                  <c:v>-4.5</c:v>
                </c:pt>
                <c:pt idx="266">
                  <c:v>-5.7</c:v>
                </c:pt>
                <c:pt idx="267">
                  <c:v>-4.9</c:v>
                </c:pt>
                <c:pt idx="268">
                  <c:v>-6.1</c:v>
                </c:pt>
                <c:pt idx="269">
                  <c:v>-5.1</c:v>
                </c:pt>
                <c:pt idx="270">
                  <c:v>-3.7</c:v>
                </c:pt>
                <c:pt idx="271">
                  <c:v>-5.1</c:v>
                </c:pt>
                <c:pt idx="272">
                  <c:v>-4.1</c:v>
                </c:pt>
                <c:pt idx="273">
                  <c:v>-3.5</c:v>
                </c:pt>
                <c:pt idx="274">
                  <c:v>-3.7</c:v>
                </c:pt>
                <c:pt idx="275">
                  <c:v>-2.8</c:v>
                </c:pt>
                <c:pt idx="276">
                  <c:v>-6.2</c:v>
                </c:pt>
                <c:pt idx="277">
                  <c:v>-6.9</c:v>
                </c:pt>
                <c:pt idx="278">
                  <c:v>-7.7</c:v>
                </c:pt>
                <c:pt idx="279">
                  <c:v>-8.8</c:v>
                </c:pt>
                <c:pt idx="280">
                  <c:v>-8.5</c:v>
                </c:pt>
                <c:pt idx="281">
                  <c:v>-9.6</c:v>
                </c:pt>
                <c:pt idx="282">
                  <c:v>-8.9</c:v>
                </c:pt>
                <c:pt idx="283">
                  <c:v>-10.1</c:v>
                </c:pt>
                <c:pt idx="284">
                  <c:v>-10.5</c:v>
                </c:pt>
                <c:pt idx="285">
                  <c:v>-10</c:v>
                </c:pt>
                <c:pt idx="286">
                  <c:v>-10.4</c:v>
                </c:pt>
                <c:pt idx="287">
                  <c:v>-10.3</c:v>
                </c:pt>
                <c:pt idx="288">
                  <c:v>-11.2</c:v>
                </c:pt>
                <c:pt idx="289">
                  <c:v>-11.3</c:v>
                </c:pt>
                <c:pt idx="290">
                  <c:v>-11.3</c:v>
                </c:pt>
                <c:pt idx="291">
                  <c:v>-12.2</c:v>
                </c:pt>
                <c:pt idx="292">
                  <c:v>-12.5</c:v>
                </c:pt>
                <c:pt idx="293">
                  <c:v>-12.7</c:v>
                </c:pt>
                <c:pt idx="294">
                  <c:v>-11.6</c:v>
                </c:pt>
                <c:pt idx="295">
                  <c:v>-11.1</c:v>
                </c:pt>
                <c:pt idx="296">
                  <c:v>-11.6</c:v>
                </c:pt>
                <c:pt idx="297">
                  <c:v>-10.6</c:v>
                </c:pt>
                <c:pt idx="298">
                  <c:v>-10</c:v>
                </c:pt>
                <c:pt idx="299">
                  <c:v>-9.9</c:v>
                </c:pt>
                <c:pt idx="300">
                  <c:v>-9.2</c:v>
                </c:pt>
                <c:pt idx="301">
                  <c:v>-8.2</c:v>
                </c:pt>
                <c:pt idx="302">
                  <c:v>-8.2</c:v>
                </c:pt>
                <c:pt idx="303">
                  <c:v>-9.4</c:v>
                </c:pt>
                <c:pt idx="304">
                  <c:v>-9.9</c:v>
                </c:pt>
                <c:pt idx="305">
                  <c:v>-9.7</c:v>
                </c:pt>
                <c:pt idx="306">
                  <c:v>-8.7</c:v>
                </c:pt>
                <c:pt idx="307">
                  <c:v>-8.8</c:v>
                </c:pt>
                <c:pt idx="308">
                  <c:v>-8.3</c:v>
                </c:pt>
                <c:pt idx="309">
                  <c:v>-8.2</c:v>
                </c:pt>
                <c:pt idx="310">
                  <c:v>-8.6</c:v>
                </c:pt>
                <c:pt idx="311">
                  <c:v>-8</c:v>
                </c:pt>
                <c:pt idx="312">
                  <c:v>-7.6</c:v>
                </c:pt>
                <c:pt idx="313">
                  <c:v>-7.4</c:v>
                </c:pt>
                <c:pt idx="314">
                  <c:v>-7.9</c:v>
                </c:pt>
                <c:pt idx="315">
                  <c:v>-8.2</c:v>
                </c:pt>
                <c:pt idx="316">
                  <c:v>-6.9</c:v>
                </c:pt>
                <c:pt idx="317">
                  <c:v>-7.3</c:v>
                </c:pt>
                <c:pt idx="318">
                  <c:v>-7.2</c:v>
                </c:pt>
                <c:pt idx="319">
                  <c:v>-5.9</c:v>
                </c:pt>
                <c:pt idx="320">
                  <c:v>-5</c:v>
                </c:pt>
                <c:pt idx="321">
                  <c:v>-6</c:v>
                </c:pt>
                <c:pt idx="322">
                  <c:v>-5.5</c:v>
                </c:pt>
                <c:pt idx="323">
                  <c:v>-5.7</c:v>
                </c:pt>
                <c:pt idx="324">
                  <c:v>-5.2</c:v>
                </c:pt>
                <c:pt idx="325">
                  <c:v>-4.3</c:v>
                </c:pt>
                <c:pt idx="326">
                  <c:v>-5.4</c:v>
                </c:pt>
                <c:pt idx="327">
                  <c:v>-4.3</c:v>
                </c:pt>
                <c:pt idx="328">
                  <c:v>-4.2</c:v>
                </c:pt>
                <c:pt idx="329">
                  <c:v>-3.6</c:v>
                </c:pt>
                <c:pt idx="330">
                  <c:v>-3.1</c:v>
                </c:pt>
                <c:pt idx="331">
                  <c:v>-3.7</c:v>
                </c:pt>
                <c:pt idx="332">
                  <c:v>-2.9</c:v>
                </c:pt>
                <c:pt idx="333">
                  <c:v>-2.9</c:v>
                </c:pt>
                <c:pt idx="334">
                  <c:v>-3</c:v>
                </c:pt>
                <c:pt idx="335">
                  <c:v>-3.7</c:v>
                </c:pt>
                <c:pt idx="336">
                  <c:v>-2.5</c:v>
                </c:pt>
                <c:pt idx="337">
                  <c:v>-3.6</c:v>
                </c:pt>
                <c:pt idx="338">
                  <c:v>-3.2</c:v>
                </c:pt>
                <c:pt idx="339">
                  <c:v>-2.3</c:v>
                </c:pt>
                <c:pt idx="340">
                  <c:v>-2.9</c:v>
                </c:pt>
                <c:pt idx="341">
                  <c:v>-2.8</c:v>
                </c:pt>
                <c:pt idx="342">
                  <c:v>-3.9</c:v>
                </c:pt>
                <c:pt idx="343">
                  <c:v>-3.6</c:v>
                </c:pt>
                <c:pt idx="344">
                  <c:v>-3.1</c:v>
                </c:pt>
                <c:pt idx="345">
                  <c:v>-3.6</c:v>
                </c:pt>
                <c:pt idx="346">
                  <c:v>-3.1</c:v>
                </c:pt>
                <c:pt idx="347">
                  <c:v>-3.2</c:v>
                </c:pt>
                <c:pt idx="348">
                  <c:v>-3.1</c:v>
                </c:pt>
                <c:pt idx="349">
                  <c:v>-2.4</c:v>
                </c:pt>
                <c:pt idx="350">
                  <c:v>-2.3</c:v>
                </c:pt>
                <c:pt idx="351">
                  <c:v>-2.6</c:v>
                </c:pt>
                <c:pt idx="352">
                  <c:v>-2.7</c:v>
                </c:pt>
                <c:pt idx="353">
                  <c:v>-2</c:v>
                </c:pt>
                <c:pt idx="354">
                  <c:v>-2.2</c:v>
                </c:pt>
                <c:pt idx="355">
                  <c:v>-2.6</c:v>
                </c:pt>
                <c:pt idx="356">
                  <c:v>-3.6</c:v>
                </c:pt>
                <c:pt idx="357">
                  <c:v>-3.1</c:v>
                </c:pt>
                <c:pt idx="358">
                  <c:v>-3.2</c:v>
                </c:pt>
                <c:pt idx="359">
                  <c:v>-3.3</c:v>
                </c:pt>
                <c:pt idx="360">
                  <c:v>-3</c:v>
                </c:pt>
                <c:pt idx="361">
                  <c:v>-3.6</c:v>
                </c:pt>
                <c:pt idx="362">
                  <c:v>-4.3</c:v>
                </c:pt>
                <c:pt idx="363">
                  <c:v>-3.7</c:v>
                </c:pt>
                <c:pt idx="364">
                  <c:v>-4.2</c:v>
                </c:pt>
                <c:pt idx="365">
                  <c:v>-5.1</c:v>
                </c:pt>
                <c:pt idx="366">
                  <c:v>-3.9</c:v>
                </c:pt>
                <c:pt idx="367">
                  <c:v>-3.5</c:v>
                </c:pt>
                <c:pt idx="368">
                  <c:v>-4.2</c:v>
                </c:pt>
                <c:pt idx="369">
                  <c:v>-3.4</c:v>
                </c:pt>
                <c:pt idx="370">
                  <c:v>-3.5</c:v>
                </c:pt>
                <c:pt idx="371">
                  <c:v>-2.6</c:v>
                </c:pt>
                <c:pt idx="372">
                  <c:v>-2.3</c:v>
                </c:pt>
                <c:pt idx="373">
                  <c:v>-2</c:v>
                </c:pt>
                <c:pt idx="374">
                  <c:v>-2</c:v>
                </c:pt>
                <c:pt idx="375">
                  <c:v>-2.6</c:v>
                </c:pt>
                <c:pt idx="376">
                  <c:v>-1.5</c:v>
                </c:pt>
                <c:pt idx="377">
                  <c:v>-2</c:v>
                </c:pt>
                <c:pt idx="378">
                  <c:v>-1.2</c:v>
                </c:pt>
                <c:pt idx="379">
                  <c:v>-1.4</c:v>
                </c:pt>
                <c:pt idx="380">
                  <c:v>-1.1</c:v>
                </c:pt>
                <c:pt idx="381">
                  <c:v>-0.1</c:v>
                </c:pt>
                <c:pt idx="382">
                  <c:v>-1.3</c:v>
                </c:pt>
                <c:pt idx="383">
                  <c:v>-0.1</c:v>
                </c:pt>
                <c:pt idx="384">
                  <c:v>-0.4</c:v>
                </c:pt>
                <c:pt idx="385">
                  <c:v>0.2</c:v>
                </c:pt>
                <c:pt idx="386">
                  <c:v>1.5</c:v>
                </c:pt>
                <c:pt idx="387">
                  <c:v>-0.1</c:v>
                </c:pt>
                <c:pt idx="388">
                  <c:v>1.5</c:v>
                </c:pt>
                <c:pt idx="389">
                  <c:v>2.4</c:v>
                </c:pt>
                <c:pt idx="390">
                  <c:v>1.5</c:v>
                </c:pt>
                <c:pt idx="391">
                  <c:v>2.3</c:v>
                </c:pt>
                <c:pt idx="392">
                  <c:v>3.6</c:v>
                </c:pt>
                <c:pt idx="393">
                  <c:v>3.4</c:v>
                </c:pt>
                <c:pt idx="394">
                  <c:v>2.9</c:v>
                </c:pt>
                <c:pt idx="395">
                  <c:v>3.6</c:v>
                </c:pt>
                <c:pt idx="396">
                  <c:v>2.5</c:v>
                </c:pt>
                <c:pt idx="397">
                  <c:v>3.2</c:v>
                </c:pt>
                <c:pt idx="398">
                  <c:v>2.5</c:v>
                </c:pt>
                <c:pt idx="399">
                  <c:v>2.3</c:v>
                </c:pt>
                <c:pt idx="400">
                  <c:v>2.3</c:v>
                </c:pt>
                <c:pt idx="401">
                  <c:v>2.4</c:v>
                </c:pt>
                <c:pt idx="402">
                  <c:v>2.5</c:v>
                </c:pt>
                <c:pt idx="403">
                  <c:v>1.3</c:v>
                </c:pt>
                <c:pt idx="404">
                  <c:v>1.4</c:v>
                </c:pt>
                <c:pt idx="405">
                  <c:v>2</c:v>
                </c:pt>
                <c:pt idx="406">
                  <c:v>1.7</c:v>
                </c:pt>
                <c:pt idx="407">
                  <c:v>1.6</c:v>
                </c:pt>
                <c:pt idx="408">
                  <c:v>0.7</c:v>
                </c:pt>
                <c:pt idx="409">
                  <c:v>1.4</c:v>
                </c:pt>
                <c:pt idx="410">
                  <c:v>1.8</c:v>
                </c:pt>
                <c:pt idx="411">
                  <c:v>2</c:v>
                </c:pt>
                <c:pt idx="412">
                  <c:v>1.3</c:v>
                </c:pt>
                <c:pt idx="413">
                  <c:v>1.3</c:v>
                </c:pt>
                <c:pt idx="414">
                  <c:v>1.3</c:v>
                </c:pt>
                <c:pt idx="415">
                  <c:v>1.8</c:v>
                </c:pt>
                <c:pt idx="416">
                  <c:v>1.8</c:v>
                </c:pt>
                <c:pt idx="417">
                  <c:v>2.3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D1F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CDCD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-20"/>
        </c:scaling>
        <c:delete val="0"/>
        <c:axPos val="l"/>
        <c:majorGridlines>
          <c:spPr>
            <a:ln w="9525" cap="flat">
              <a:solidFill>
                <a:srgbClr val="DCDCD6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1D1F24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1D1F24"/>
                </a:solidFill>
                <a:latin typeface="+mn-lt"/>
              </a:rPr>
              <a:t>Mora de las familias (% de la deuda)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Mora de las familias</c:v>
                </c:pt>
              </c:strCache>
            </c:strRef>
          </c:tx>
          <c:spPr>
            <a:solidFill>
              <a:srgbClr val="9A9EA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E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E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23A2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Mayo 2024</c:v>
                  </c:pt>
                  <c:pt idx="1">
                    <c:v>Mayo 2025</c:v>
                  </c:pt>
                  <c:pt idx="2">
                    <c:v>Mayo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2.8</c:v>
                </c:pt>
                <c:pt idx="1">
                  <c:v>4.5</c:v>
                </c:pt>
                <c:pt idx="2">
                  <c:v>12.8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D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CDCD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  <c:min val="0"/>
        </c:scaling>
        <c:delete val="0"/>
        <c:axPos val="l"/>
        <c:majorGridlines>
          <c:spPr>
            <a:ln w="9525" cap="flat">
              <a:solidFill>
                <a:srgbClr val="DCDCD6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1D1F24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1D1F24"/>
                </a:solidFill>
                <a:latin typeface="+mn-lt"/>
              </a:rPr>
              <a:t>Mora por tipo de préstamo, mayo 2026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Mora por línea</c:v>
                </c:pt>
              </c:strCache>
            </c:strRef>
          </c:tx>
          <c:spPr>
            <a:solidFill>
              <a:srgbClr val="9A9EA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E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E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23A2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23A2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Hipotecarios</c:v>
                  </c:pt>
                  <c:pt idx="1">
                    <c:v>Prendarios</c:v>
                  </c:pt>
                  <c:pt idx="2">
                    <c:v>Tarjetas</c:v>
                  </c:pt>
                  <c:pt idx="3">
                    <c:v>Personales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1.6</c:v>
                </c:pt>
                <c:pt idx="1">
                  <c:v>7.7</c:v>
                </c:pt>
                <c:pt idx="2">
                  <c:v>13.1</c:v>
                </c:pt>
                <c:pt idx="3">
                  <c:v>15.9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D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DCDCD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b"/>
        <c:majorGridlines>
          <c:spPr>
            <a:ln w="9525" cap="flat">
              <a:solidFill>
                <a:srgbClr val="DCDCD6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 Fundar sobre el sobreendeudamiento de las familias: cómo se armó, qué tan grave es y qué se puede hacer.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resultado final: en dos años la mora de las familias pasó de 2,8% a 12,8% de la cartera. Antes era uno de cada 36 pesos; hoy, uno de cada ocho. El resto de la presentación muestra cómo se llegó acá.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cuatro piezas de la crisis, en el orden en que se apilaron: ingresos, crédito, tasas y mora.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 de partida: la caída del ingreso real. Cuando el ingreso no alcanza para los gastos fijos, el crédito se vuelve la vía para cerrar el 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2024 el crédito creció 58% real y los préstamos personales más de 130%. En 2025 siguió creciendo, a menor ritmo: 44% en personales y 17% en tarjetas.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2025 el Gobierno liberó las tasas. Con el acuerdo con el FMI salió el cepo (abril) y con el fin de las LEFIs (julio) el BCRA dejó de fijar una tasa de referencia: la BADLAR nominal pasó de 32% a casi 60% en agosto. La incertidumbre electoral (bonaerenses en septiembre, legislativas en octubre) llevó la tasa real a casi 40%; recién bajó con el swap con EE.UU. y después de las legislativas.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mora de las familias pasó de 2,8% en mayo de 2024 a 12,8% en mayo de 2026. Los préstamos personales (15,9%) y las tarjetas (13,1%) concentran el problema; la mora hipotecaria sigue baja.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propuestas de alcance nacional —precio, transparencia y alivio— y una agenda propia para la provincia en defensa del consumidor financiero.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Santa Fe ya tiene un plan en marcha para unificar deudas (Plan de Protección de los Ingresos, con el Banco Santa Fe) y tres proyectos en la Legislatura. El Código de Protección de Consumidores de Mahmud es el que más se parece a nuestra recomendación provincial. Verificar si el plan siguió abierto después del 30 de septiembre.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 de cierre: las medidas financieras alivian, pero el problema de fondo es el ingreso. La pieza azul, la primera, es la que sostiene todo lo demás.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989320"/>
            <a:ext cx="658368" cy="3200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J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Fundar · La crisis de endeudamiento de los hogares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S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Fundar · La crisis de endeudamiento de los hogares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5"/>
                </a:solidFill>
              </a:rPr>
              <a:t>FUNDAR · DIAGNÓSTICO Y PROPUESTAS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tx1"/>
                </a:solidFill>
              </a:rPr>
              <a:t>La crisis de endeudamiento de los hogares, pieza por pieza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Muchas familias deben más de lo que pueden pagar. Acá va cómo se armó el problema, en cuatro pasos, y qué se puede hacer para desarmarlo.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9177528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9445752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9713976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9982200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0250424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0" name="Shape 8"/>
          <p:cNvSpPr/>
          <p:nvPr/>
        </p:nvSpPr>
        <p:spPr>
          <a:xfrm>
            <a:off x="10518648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6872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2" name="Shape 10"/>
          <p:cNvSpPr/>
          <p:nvPr/>
        </p:nvSpPr>
        <p:spPr>
          <a:xfrm>
            <a:off x="11055096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23320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4" name="Shape 12"/>
          <p:cNvSpPr/>
          <p:nvPr/>
        </p:nvSpPr>
        <p:spPr>
          <a:xfrm>
            <a:off x="9052560" y="4160520"/>
            <a:ext cx="2560320" cy="548640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9992" y="4636008"/>
            <a:ext cx="2505456" cy="73152"/>
          </a:xfrm>
          <a:prstGeom prst="rect">
            <a:avLst/>
          </a:prstGeom>
          <a:solidFill>
            <a:srgbClr val="A92E25"/>
          </a:solidFill>
          <a:ln/>
        </p:spPr>
      </p:sp>
      <p:sp>
        <p:nvSpPr>
          <p:cNvPr id="16" name="Shape 14"/>
          <p:cNvSpPr/>
          <p:nvPr/>
        </p:nvSpPr>
        <p:spPr>
          <a:xfrm>
            <a:off x="9179270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0977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18" name="Shape 16"/>
          <p:cNvSpPr/>
          <p:nvPr/>
        </p:nvSpPr>
        <p:spPr>
          <a:xfrm>
            <a:off x="9722685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19" name="Shape 17"/>
          <p:cNvSpPr/>
          <p:nvPr/>
        </p:nvSpPr>
        <p:spPr>
          <a:xfrm>
            <a:off x="9994392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66099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21" name="Shape 19"/>
          <p:cNvSpPr/>
          <p:nvPr/>
        </p:nvSpPr>
        <p:spPr>
          <a:xfrm>
            <a:off x="10537807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22" name="Shape 20"/>
          <p:cNvSpPr/>
          <p:nvPr/>
        </p:nvSpPr>
        <p:spPr>
          <a:xfrm>
            <a:off x="10809514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23" name="Shape 21"/>
          <p:cNvSpPr/>
          <p:nvPr/>
        </p:nvSpPr>
        <p:spPr>
          <a:xfrm>
            <a:off x="9052560" y="3520440"/>
            <a:ext cx="2048256" cy="548640"/>
          </a:xfrm>
          <a:prstGeom prst="roundRect">
            <a:avLst>
              <a:gd name="adj" fmla="val 8333"/>
            </a:avLst>
          </a:prstGeom>
          <a:solidFill>
            <a:schemeClr val="accent2"/>
          </a:solidFill>
          <a:ln/>
        </p:spPr>
      </p:sp>
      <p:sp>
        <p:nvSpPr>
          <p:cNvPr id="24" name="Shape 22"/>
          <p:cNvSpPr/>
          <p:nvPr/>
        </p:nvSpPr>
        <p:spPr>
          <a:xfrm>
            <a:off x="9079992" y="3995928"/>
            <a:ext cx="1993392" cy="73152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25" name="Shape 23"/>
          <p:cNvSpPr/>
          <p:nvPr/>
        </p:nvSpPr>
        <p:spPr>
          <a:xfrm>
            <a:off x="9182405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26" name="Shape 24"/>
          <p:cNvSpPr/>
          <p:nvPr/>
        </p:nvSpPr>
        <p:spPr>
          <a:xfrm>
            <a:off x="9460382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27" name="Shape 25"/>
          <p:cNvSpPr/>
          <p:nvPr/>
        </p:nvSpPr>
        <p:spPr>
          <a:xfrm>
            <a:off x="9738360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28" name="Shape 26"/>
          <p:cNvSpPr/>
          <p:nvPr/>
        </p:nvSpPr>
        <p:spPr>
          <a:xfrm>
            <a:off x="10016338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29" name="Shape 27"/>
          <p:cNvSpPr/>
          <p:nvPr/>
        </p:nvSpPr>
        <p:spPr>
          <a:xfrm>
            <a:off x="10294315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0" name="Shape 28"/>
          <p:cNvSpPr/>
          <p:nvPr/>
        </p:nvSpPr>
        <p:spPr>
          <a:xfrm>
            <a:off x="9052560" y="2880360"/>
            <a:ext cx="1536192" cy="548640"/>
          </a:xfrm>
          <a:prstGeom prst="roundRect">
            <a:avLst>
              <a:gd name="adj" fmla="val 8333"/>
            </a:avLst>
          </a:prstGeom>
          <a:solidFill>
            <a:schemeClr val="accent3"/>
          </a:solidFill>
          <a:ln/>
        </p:spPr>
      </p:sp>
      <p:sp>
        <p:nvSpPr>
          <p:cNvPr id="31" name="Shape 29"/>
          <p:cNvSpPr/>
          <p:nvPr/>
        </p:nvSpPr>
        <p:spPr>
          <a:xfrm>
            <a:off x="9079992" y="3355848"/>
            <a:ext cx="1481328" cy="73152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271455" y="6035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LO QUE SE ARMÓ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Hoy, uno de cada ocho pesos prestados está en mora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La mora es la parte de los préstamos que no se está pagando a tiempo. Cada fila es toda la deuda de las familias; cada ladrillo, una parte igual. El rojo es lo que está en mora.</a:t>
            </a:r>
            <a:endParaRPr lang="en-US" sz="1700" dirty="0"/>
          </a:p>
        </p:txBody>
      </p:sp>
      <p:sp>
        <p:nvSpPr>
          <p:cNvPr id="5" name="Panel filas"/>
          <p:cNvSpPr/>
          <p:nvPr/>
        </p:nvSpPr>
        <p:spPr>
          <a:xfrm>
            <a:off x="548640" y="2514600"/>
            <a:ext cx="11094415" cy="3337560"/>
          </a:xfrm>
          <a:prstGeom prst="roundRect">
            <a:avLst>
              <a:gd name="adj" fmla="val 438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43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Mayo de 2024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   2,8% en mora: uno de cada 36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61609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" y="3625047"/>
            <a:ext cx="195529" cy="69129"/>
          </a:xfrm>
          <a:prstGeom prst="rect">
            <a:avLst/>
          </a:prstGeom>
          <a:solidFill>
            <a:srgbClr val="A92E25"/>
          </a:solidFill>
          <a:ln/>
        </p:spPr>
      </p:sp>
      <p:sp>
        <p:nvSpPr>
          <p:cNvPr id="10" name="Shape 8"/>
          <p:cNvSpPr/>
          <p:nvPr/>
        </p:nvSpPr>
        <p:spPr>
          <a:xfrm>
            <a:off x="1253150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11" name="Shape 9"/>
          <p:cNvSpPr/>
          <p:nvPr/>
        </p:nvSpPr>
        <p:spPr>
          <a:xfrm>
            <a:off x="1160221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7653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3" name="Shape 11"/>
          <p:cNvSpPr/>
          <p:nvPr/>
        </p:nvSpPr>
        <p:spPr>
          <a:xfrm>
            <a:off x="1544691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14" name="Shape 12"/>
          <p:cNvSpPr/>
          <p:nvPr/>
        </p:nvSpPr>
        <p:spPr>
          <a:xfrm>
            <a:off x="1451762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15" name="Shape 13"/>
          <p:cNvSpPr/>
          <p:nvPr/>
        </p:nvSpPr>
        <p:spPr>
          <a:xfrm>
            <a:off x="1479194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6" name="Shape 14"/>
          <p:cNvSpPr/>
          <p:nvPr/>
        </p:nvSpPr>
        <p:spPr>
          <a:xfrm>
            <a:off x="1836233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17" name="Shape 15"/>
          <p:cNvSpPr/>
          <p:nvPr/>
        </p:nvSpPr>
        <p:spPr>
          <a:xfrm>
            <a:off x="1743304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18" name="Shape 16"/>
          <p:cNvSpPr/>
          <p:nvPr/>
        </p:nvSpPr>
        <p:spPr>
          <a:xfrm>
            <a:off x="1770736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9" name="Shape 17"/>
          <p:cNvSpPr/>
          <p:nvPr/>
        </p:nvSpPr>
        <p:spPr>
          <a:xfrm>
            <a:off x="2127774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20" name="Shape 18"/>
          <p:cNvSpPr/>
          <p:nvPr/>
        </p:nvSpPr>
        <p:spPr>
          <a:xfrm>
            <a:off x="2034845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21" name="Shape 19"/>
          <p:cNvSpPr/>
          <p:nvPr/>
        </p:nvSpPr>
        <p:spPr>
          <a:xfrm>
            <a:off x="2062277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2" name="Shape 20"/>
          <p:cNvSpPr/>
          <p:nvPr/>
        </p:nvSpPr>
        <p:spPr>
          <a:xfrm>
            <a:off x="2419315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23" name="Shape 21"/>
          <p:cNvSpPr/>
          <p:nvPr/>
        </p:nvSpPr>
        <p:spPr>
          <a:xfrm>
            <a:off x="2326386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24" name="Shape 22"/>
          <p:cNvSpPr/>
          <p:nvPr/>
        </p:nvSpPr>
        <p:spPr>
          <a:xfrm>
            <a:off x="2353818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5" name="Shape 23"/>
          <p:cNvSpPr/>
          <p:nvPr/>
        </p:nvSpPr>
        <p:spPr>
          <a:xfrm>
            <a:off x="2710856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26" name="Shape 24"/>
          <p:cNvSpPr/>
          <p:nvPr/>
        </p:nvSpPr>
        <p:spPr>
          <a:xfrm>
            <a:off x="2617927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27" name="Shape 25"/>
          <p:cNvSpPr/>
          <p:nvPr/>
        </p:nvSpPr>
        <p:spPr>
          <a:xfrm>
            <a:off x="2645359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8" name="Shape 26"/>
          <p:cNvSpPr/>
          <p:nvPr/>
        </p:nvSpPr>
        <p:spPr>
          <a:xfrm>
            <a:off x="3002397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29" name="Shape 27"/>
          <p:cNvSpPr/>
          <p:nvPr/>
        </p:nvSpPr>
        <p:spPr>
          <a:xfrm>
            <a:off x="2909468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30" name="Shape 28"/>
          <p:cNvSpPr/>
          <p:nvPr/>
        </p:nvSpPr>
        <p:spPr>
          <a:xfrm>
            <a:off x="2936900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31" name="Shape 29"/>
          <p:cNvSpPr/>
          <p:nvPr/>
        </p:nvSpPr>
        <p:spPr>
          <a:xfrm>
            <a:off x="3293939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32" name="Shape 30"/>
          <p:cNvSpPr/>
          <p:nvPr/>
        </p:nvSpPr>
        <p:spPr>
          <a:xfrm>
            <a:off x="3201010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33" name="Shape 31"/>
          <p:cNvSpPr/>
          <p:nvPr/>
        </p:nvSpPr>
        <p:spPr>
          <a:xfrm>
            <a:off x="3228442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34" name="Shape 32"/>
          <p:cNvSpPr/>
          <p:nvPr/>
        </p:nvSpPr>
        <p:spPr>
          <a:xfrm>
            <a:off x="3585480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35" name="Shape 33"/>
          <p:cNvSpPr/>
          <p:nvPr/>
        </p:nvSpPr>
        <p:spPr>
          <a:xfrm>
            <a:off x="3492551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36" name="Shape 34"/>
          <p:cNvSpPr/>
          <p:nvPr/>
        </p:nvSpPr>
        <p:spPr>
          <a:xfrm>
            <a:off x="3519983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37" name="Shape 35"/>
          <p:cNvSpPr/>
          <p:nvPr/>
        </p:nvSpPr>
        <p:spPr>
          <a:xfrm>
            <a:off x="3877021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4092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39" name="Shape 37"/>
          <p:cNvSpPr/>
          <p:nvPr/>
        </p:nvSpPr>
        <p:spPr>
          <a:xfrm>
            <a:off x="3811524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40" name="Shape 38"/>
          <p:cNvSpPr/>
          <p:nvPr/>
        </p:nvSpPr>
        <p:spPr>
          <a:xfrm>
            <a:off x="4168562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41" name="Shape 39"/>
          <p:cNvSpPr/>
          <p:nvPr/>
        </p:nvSpPr>
        <p:spPr>
          <a:xfrm>
            <a:off x="4075633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42" name="Shape 40"/>
          <p:cNvSpPr/>
          <p:nvPr/>
        </p:nvSpPr>
        <p:spPr>
          <a:xfrm>
            <a:off x="4103065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43" name="Shape 41"/>
          <p:cNvSpPr/>
          <p:nvPr/>
        </p:nvSpPr>
        <p:spPr>
          <a:xfrm>
            <a:off x="4460103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44" name="Shape 42"/>
          <p:cNvSpPr/>
          <p:nvPr/>
        </p:nvSpPr>
        <p:spPr>
          <a:xfrm>
            <a:off x="4367174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45" name="Shape 43"/>
          <p:cNvSpPr/>
          <p:nvPr/>
        </p:nvSpPr>
        <p:spPr>
          <a:xfrm>
            <a:off x="4394606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46" name="Shape 44"/>
          <p:cNvSpPr/>
          <p:nvPr/>
        </p:nvSpPr>
        <p:spPr>
          <a:xfrm>
            <a:off x="4751645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47" name="Shape 45"/>
          <p:cNvSpPr/>
          <p:nvPr/>
        </p:nvSpPr>
        <p:spPr>
          <a:xfrm>
            <a:off x="4658716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48" name="Shape 46"/>
          <p:cNvSpPr/>
          <p:nvPr/>
        </p:nvSpPr>
        <p:spPr>
          <a:xfrm>
            <a:off x="4686148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49" name="Shape 47"/>
          <p:cNvSpPr/>
          <p:nvPr/>
        </p:nvSpPr>
        <p:spPr>
          <a:xfrm>
            <a:off x="5043186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50" name="Shape 48"/>
          <p:cNvSpPr/>
          <p:nvPr/>
        </p:nvSpPr>
        <p:spPr>
          <a:xfrm>
            <a:off x="4950257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51" name="Shape 49"/>
          <p:cNvSpPr/>
          <p:nvPr/>
        </p:nvSpPr>
        <p:spPr>
          <a:xfrm>
            <a:off x="4977689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52" name="Shape 50"/>
          <p:cNvSpPr/>
          <p:nvPr/>
        </p:nvSpPr>
        <p:spPr>
          <a:xfrm>
            <a:off x="5334727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41798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54" name="Shape 52"/>
          <p:cNvSpPr/>
          <p:nvPr/>
        </p:nvSpPr>
        <p:spPr>
          <a:xfrm>
            <a:off x="5269230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55" name="Shape 53"/>
          <p:cNvSpPr/>
          <p:nvPr/>
        </p:nvSpPr>
        <p:spPr>
          <a:xfrm>
            <a:off x="5626268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56" name="Shape 54"/>
          <p:cNvSpPr/>
          <p:nvPr/>
        </p:nvSpPr>
        <p:spPr>
          <a:xfrm>
            <a:off x="5533339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57" name="Shape 55"/>
          <p:cNvSpPr/>
          <p:nvPr/>
        </p:nvSpPr>
        <p:spPr>
          <a:xfrm>
            <a:off x="5560771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58" name="Shape 56"/>
          <p:cNvSpPr/>
          <p:nvPr/>
        </p:nvSpPr>
        <p:spPr>
          <a:xfrm>
            <a:off x="5917809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59" name="Shape 57"/>
          <p:cNvSpPr/>
          <p:nvPr/>
        </p:nvSpPr>
        <p:spPr>
          <a:xfrm>
            <a:off x="5824880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60" name="Shape 58"/>
          <p:cNvSpPr/>
          <p:nvPr/>
        </p:nvSpPr>
        <p:spPr>
          <a:xfrm>
            <a:off x="5852312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61" name="Shape 59"/>
          <p:cNvSpPr/>
          <p:nvPr/>
        </p:nvSpPr>
        <p:spPr>
          <a:xfrm>
            <a:off x="6209351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62" name="Shape 60"/>
          <p:cNvSpPr/>
          <p:nvPr/>
        </p:nvSpPr>
        <p:spPr>
          <a:xfrm>
            <a:off x="6116422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63" name="Shape 61"/>
          <p:cNvSpPr/>
          <p:nvPr/>
        </p:nvSpPr>
        <p:spPr>
          <a:xfrm>
            <a:off x="6143854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64" name="Shape 62"/>
          <p:cNvSpPr/>
          <p:nvPr/>
        </p:nvSpPr>
        <p:spPr>
          <a:xfrm>
            <a:off x="6500892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65" name="Shape 63"/>
          <p:cNvSpPr/>
          <p:nvPr/>
        </p:nvSpPr>
        <p:spPr>
          <a:xfrm>
            <a:off x="6407963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66" name="Shape 64"/>
          <p:cNvSpPr/>
          <p:nvPr/>
        </p:nvSpPr>
        <p:spPr>
          <a:xfrm>
            <a:off x="6435395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67" name="Shape 65"/>
          <p:cNvSpPr/>
          <p:nvPr/>
        </p:nvSpPr>
        <p:spPr>
          <a:xfrm>
            <a:off x="6792433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68" name="Shape 66"/>
          <p:cNvSpPr/>
          <p:nvPr/>
        </p:nvSpPr>
        <p:spPr>
          <a:xfrm>
            <a:off x="6699504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69" name="Shape 67"/>
          <p:cNvSpPr/>
          <p:nvPr/>
        </p:nvSpPr>
        <p:spPr>
          <a:xfrm>
            <a:off x="6726936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70" name="Shape 68"/>
          <p:cNvSpPr/>
          <p:nvPr/>
        </p:nvSpPr>
        <p:spPr>
          <a:xfrm>
            <a:off x="7083974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71" name="Shape 69"/>
          <p:cNvSpPr/>
          <p:nvPr/>
        </p:nvSpPr>
        <p:spPr>
          <a:xfrm>
            <a:off x="6991045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72" name="Shape 70"/>
          <p:cNvSpPr/>
          <p:nvPr/>
        </p:nvSpPr>
        <p:spPr>
          <a:xfrm>
            <a:off x="7018477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73" name="Shape 71"/>
          <p:cNvSpPr/>
          <p:nvPr/>
        </p:nvSpPr>
        <p:spPr>
          <a:xfrm>
            <a:off x="7375515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74" name="Shape 72"/>
          <p:cNvSpPr/>
          <p:nvPr/>
        </p:nvSpPr>
        <p:spPr>
          <a:xfrm>
            <a:off x="7282586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75" name="Shape 73"/>
          <p:cNvSpPr/>
          <p:nvPr/>
        </p:nvSpPr>
        <p:spPr>
          <a:xfrm>
            <a:off x="7310018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76" name="Shape 74"/>
          <p:cNvSpPr/>
          <p:nvPr/>
        </p:nvSpPr>
        <p:spPr>
          <a:xfrm>
            <a:off x="7667057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77" name="Shape 75"/>
          <p:cNvSpPr/>
          <p:nvPr/>
        </p:nvSpPr>
        <p:spPr>
          <a:xfrm>
            <a:off x="7574128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78" name="Shape 76"/>
          <p:cNvSpPr/>
          <p:nvPr/>
        </p:nvSpPr>
        <p:spPr>
          <a:xfrm>
            <a:off x="7601560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79" name="Shape 77"/>
          <p:cNvSpPr/>
          <p:nvPr/>
        </p:nvSpPr>
        <p:spPr>
          <a:xfrm>
            <a:off x="7958598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80" name="Shape 78"/>
          <p:cNvSpPr/>
          <p:nvPr/>
        </p:nvSpPr>
        <p:spPr>
          <a:xfrm>
            <a:off x="7865669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81" name="Shape 79"/>
          <p:cNvSpPr/>
          <p:nvPr/>
        </p:nvSpPr>
        <p:spPr>
          <a:xfrm>
            <a:off x="7893101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82" name="Shape 80"/>
          <p:cNvSpPr/>
          <p:nvPr/>
        </p:nvSpPr>
        <p:spPr>
          <a:xfrm>
            <a:off x="8250139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83" name="Shape 81"/>
          <p:cNvSpPr/>
          <p:nvPr/>
        </p:nvSpPr>
        <p:spPr>
          <a:xfrm>
            <a:off x="8157210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84" name="Shape 82"/>
          <p:cNvSpPr/>
          <p:nvPr/>
        </p:nvSpPr>
        <p:spPr>
          <a:xfrm>
            <a:off x="8184642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85" name="Shape 83"/>
          <p:cNvSpPr/>
          <p:nvPr/>
        </p:nvSpPr>
        <p:spPr>
          <a:xfrm>
            <a:off x="8541680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86" name="Shape 84"/>
          <p:cNvSpPr/>
          <p:nvPr/>
        </p:nvSpPr>
        <p:spPr>
          <a:xfrm>
            <a:off x="8448751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87" name="Shape 85"/>
          <p:cNvSpPr/>
          <p:nvPr/>
        </p:nvSpPr>
        <p:spPr>
          <a:xfrm>
            <a:off x="8476183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88" name="Shape 86"/>
          <p:cNvSpPr/>
          <p:nvPr/>
        </p:nvSpPr>
        <p:spPr>
          <a:xfrm>
            <a:off x="8833221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89" name="Shape 87"/>
          <p:cNvSpPr/>
          <p:nvPr/>
        </p:nvSpPr>
        <p:spPr>
          <a:xfrm>
            <a:off x="8740292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90" name="Shape 88"/>
          <p:cNvSpPr/>
          <p:nvPr/>
        </p:nvSpPr>
        <p:spPr>
          <a:xfrm>
            <a:off x="8767724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91" name="Shape 89"/>
          <p:cNvSpPr/>
          <p:nvPr/>
        </p:nvSpPr>
        <p:spPr>
          <a:xfrm>
            <a:off x="9124763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92" name="Shape 90"/>
          <p:cNvSpPr/>
          <p:nvPr/>
        </p:nvSpPr>
        <p:spPr>
          <a:xfrm>
            <a:off x="9031834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93" name="Shape 91"/>
          <p:cNvSpPr/>
          <p:nvPr/>
        </p:nvSpPr>
        <p:spPr>
          <a:xfrm>
            <a:off x="9059266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94" name="Shape 92"/>
          <p:cNvSpPr/>
          <p:nvPr/>
        </p:nvSpPr>
        <p:spPr>
          <a:xfrm>
            <a:off x="9416304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95" name="Shape 93"/>
          <p:cNvSpPr/>
          <p:nvPr/>
        </p:nvSpPr>
        <p:spPr>
          <a:xfrm>
            <a:off x="9323375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96" name="Shape 94"/>
          <p:cNvSpPr/>
          <p:nvPr/>
        </p:nvSpPr>
        <p:spPr>
          <a:xfrm>
            <a:off x="9350807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97" name="Shape 95"/>
          <p:cNvSpPr/>
          <p:nvPr/>
        </p:nvSpPr>
        <p:spPr>
          <a:xfrm>
            <a:off x="9707845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98" name="Shape 96"/>
          <p:cNvSpPr/>
          <p:nvPr/>
        </p:nvSpPr>
        <p:spPr>
          <a:xfrm>
            <a:off x="9614916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99" name="Shape 97"/>
          <p:cNvSpPr/>
          <p:nvPr/>
        </p:nvSpPr>
        <p:spPr>
          <a:xfrm>
            <a:off x="9642348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00" name="Shape 98"/>
          <p:cNvSpPr/>
          <p:nvPr/>
        </p:nvSpPr>
        <p:spPr>
          <a:xfrm>
            <a:off x="9999386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101" name="Shape 99"/>
          <p:cNvSpPr/>
          <p:nvPr/>
        </p:nvSpPr>
        <p:spPr>
          <a:xfrm>
            <a:off x="9906457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9933889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0290927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0197998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0225430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0582469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0489540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0516972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0874010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110" name="Shape 108"/>
          <p:cNvSpPr/>
          <p:nvPr/>
        </p:nvSpPr>
        <p:spPr>
          <a:xfrm>
            <a:off x="10781081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808513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1165551" y="3246120"/>
            <a:ext cx="64535" cy="73152"/>
          </a:xfrm>
          <a:prstGeom prst="roundRect">
            <a:avLst>
              <a:gd name="adj" fmla="val 42507"/>
            </a:avLst>
          </a:prstGeom>
          <a:solidFill>
            <a:schemeClr val="accent4"/>
          </a:solidFill>
          <a:ln/>
        </p:spPr>
      </p:sp>
      <p:sp>
        <p:nvSpPr>
          <p:cNvPr id="113" name="Shape 111"/>
          <p:cNvSpPr/>
          <p:nvPr/>
        </p:nvSpPr>
        <p:spPr>
          <a:xfrm>
            <a:off x="11072622" y="3310128"/>
            <a:ext cx="250393" cy="384048"/>
          </a:xfrm>
          <a:prstGeom prst="roundRect">
            <a:avLst>
              <a:gd name="adj" fmla="val 18259"/>
            </a:avLst>
          </a:prstGeom>
          <a:solidFill>
            <a:schemeClr val="accent4"/>
          </a:solidFill>
          <a:ln/>
        </p:spPr>
      </p:sp>
      <p:sp>
        <p:nvSpPr>
          <p:cNvPr id="114" name="Shape 112"/>
          <p:cNvSpPr/>
          <p:nvPr/>
        </p:nvSpPr>
        <p:spPr>
          <a:xfrm>
            <a:off x="11100054" y="3625047"/>
            <a:ext cx="195529" cy="69129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868680" y="41605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Mayo de 2026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   12,8% en mora: uno de cada ocho</a:t>
            </a:r>
            <a:endParaRPr lang="en-US" sz="1500" dirty="0"/>
          </a:p>
        </p:txBody>
      </p:sp>
      <p:sp>
        <p:nvSpPr>
          <p:cNvPr id="116" name="Shape 114"/>
          <p:cNvSpPr/>
          <p:nvPr/>
        </p:nvSpPr>
        <p:spPr>
          <a:xfrm>
            <a:off x="991635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17" name="Shape 115"/>
          <p:cNvSpPr/>
          <p:nvPr/>
        </p:nvSpPr>
        <p:spPr>
          <a:xfrm>
            <a:off x="1253753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18" name="Shape 116"/>
          <p:cNvSpPr/>
          <p:nvPr/>
        </p:nvSpPr>
        <p:spPr>
          <a:xfrm>
            <a:off x="1515871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19" name="Shape 117"/>
          <p:cNvSpPr/>
          <p:nvPr/>
        </p:nvSpPr>
        <p:spPr>
          <a:xfrm>
            <a:off x="1777990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68680" y="4727448"/>
            <a:ext cx="1194778" cy="502920"/>
          </a:xfrm>
          <a:prstGeom prst="roundRect">
            <a:avLst>
              <a:gd name="adj" fmla="val 9091"/>
            </a:avLst>
          </a:prstGeom>
          <a:solidFill>
            <a:schemeClr val="accent1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96112" y="5157216"/>
            <a:ext cx="1139914" cy="73152"/>
          </a:xfrm>
          <a:prstGeom prst="rect">
            <a:avLst/>
          </a:prstGeom>
          <a:solidFill>
            <a:srgbClr val="A92E25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314428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576547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24" name="Shape 122"/>
          <p:cNvSpPr/>
          <p:nvPr/>
        </p:nvSpPr>
        <p:spPr>
          <a:xfrm>
            <a:off x="2838665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100784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2191474" y="4727448"/>
            <a:ext cx="1194778" cy="502920"/>
          </a:xfrm>
          <a:prstGeom prst="roundRect">
            <a:avLst>
              <a:gd name="adj" fmla="val 9091"/>
            </a:avLst>
          </a:prstGeom>
          <a:solidFill>
            <a:schemeClr val="accent4"/>
          </a:solidFill>
          <a:ln/>
        </p:spPr>
      </p:sp>
      <p:sp>
        <p:nvSpPr>
          <p:cNvPr id="127" name="Shape 125"/>
          <p:cNvSpPr/>
          <p:nvPr/>
        </p:nvSpPr>
        <p:spPr>
          <a:xfrm>
            <a:off x="2218906" y="5157216"/>
            <a:ext cx="1139914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7222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899341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161459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423578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514268" y="4727448"/>
            <a:ext cx="1194778" cy="502920"/>
          </a:xfrm>
          <a:prstGeom prst="roundRect">
            <a:avLst>
              <a:gd name="adj" fmla="val 9091"/>
            </a:avLst>
          </a:prstGeom>
          <a:solidFill>
            <a:schemeClr val="accent4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541700" y="5157216"/>
            <a:ext cx="1139914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60016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222135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484253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746372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837062" y="4727448"/>
            <a:ext cx="1194778" cy="502920"/>
          </a:xfrm>
          <a:prstGeom prst="roundRect">
            <a:avLst>
              <a:gd name="adj" fmla="val 9091"/>
            </a:avLst>
          </a:prstGeom>
          <a:solidFill>
            <a:schemeClr val="accent4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864494" y="5157216"/>
            <a:ext cx="1139914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82810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544929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807047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069166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159856" y="4727448"/>
            <a:ext cx="1194778" cy="502920"/>
          </a:xfrm>
          <a:prstGeom prst="roundRect">
            <a:avLst>
              <a:gd name="adj" fmla="val 9091"/>
            </a:avLst>
          </a:prstGeom>
          <a:solidFill>
            <a:schemeClr val="accent4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187288" y="5157216"/>
            <a:ext cx="1139914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605604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867722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8" name="Shape 146"/>
          <p:cNvSpPr/>
          <p:nvPr/>
        </p:nvSpPr>
        <p:spPr>
          <a:xfrm>
            <a:off x="8129841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9" name="Shape 147"/>
          <p:cNvSpPr/>
          <p:nvPr/>
        </p:nvSpPr>
        <p:spPr>
          <a:xfrm>
            <a:off x="8391959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482650" y="4727448"/>
            <a:ext cx="1194778" cy="502920"/>
          </a:xfrm>
          <a:prstGeom prst="roundRect">
            <a:avLst>
              <a:gd name="adj" fmla="val 9091"/>
            </a:avLst>
          </a:prstGeom>
          <a:solidFill>
            <a:schemeClr val="accent4"/>
          </a:solidFill>
          <a:ln/>
        </p:spPr>
      </p:sp>
      <p:sp>
        <p:nvSpPr>
          <p:cNvPr id="151" name="Shape 149"/>
          <p:cNvSpPr/>
          <p:nvPr/>
        </p:nvSpPr>
        <p:spPr>
          <a:xfrm>
            <a:off x="7510082" y="5157216"/>
            <a:ext cx="1139914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8928398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53" name="Shape 151"/>
          <p:cNvSpPr/>
          <p:nvPr/>
        </p:nvSpPr>
        <p:spPr>
          <a:xfrm>
            <a:off x="9190516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452635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55" name="Shape 153"/>
          <p:cNvSpPr/>
          <p:nvPr/>
        </p:nvSpPr>
        <p:spPr>
          <a:xfrm>
            <a:off x="9714753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56" name="Shape 154"/>
          <p:cNvSpPr/>
          <p:nvPr/>
        </p:nvSpPr>
        <p:spPr>
          <a:xfrm>
            <a:off x="8805443" y="4727448"/>
            <a:ext cx="1194778" cy="502920"/>
          </a:xfrm>
          <a:prstGeom prst="roundRect">
            <a:avLst>
              <a:gd name="adj" fmla="val 9091"/>
            </a:avLst>
          </a:prstGeom>
          <a:solidFill>
            <a:schemeClr val="accent4"/>
          </a:solidFill>
          <a:ln/>
        </p:spPr>
      </p:sp>
      <p:sp>
        <p:nvSpPr>
          <p:cNvPr id="157" name="Shape 155"/>
          <p:cNvSpPr/>
          <p:nvPr/>
        </p:nvSpPr>
        <p:spPr>
          <a:xfrm>
            <a:off x="8832875" y="5157216"/>
            <a:ext cx="1139914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251192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513310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775429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1037547" y="4663440"/>
            <a:ext cx="162513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128237" y="4727448"/>
            <a:ext cx="1194778" cy="502920"/>
          </a:xfrm>
          <a:prstGeom prst="roundRect">
            <a:avLst>
              <a:gd name="adj" fmla="val 9091"/>
            </a:avLst>
          </a:prstGeom>
          <a:solidFill>
            <a:schemeClr val="accent4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0155669" y="5157216"/>
            <a:ext cx="1139914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64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BCRA, Informe sobre Bancos; Max Capital. Ladrillos redondeados: 2,8% ≈ 1/36 y 12,8% ≈ 1/8.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QUÉ HAY EN LA CAJA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Cuatro piezas, una encima de la otra</a:t>
            </a:r>
            <a:endParaRPr lang="en-US" sz="3200" dirty="0"/>
          </a:p>
        </p:txBody>
      </p:sp>
      <p:sp>
        <p:nvSpPr>
          <p:cNvPr id="4" name="Pieza Ingresos"/>
          <p:cNvSpPr/>
          <p:nvPr/>
        </p:nvSpPr>
        <p:spPr>
          <a:xfrm>
            <a:off x="548640" y="1783080"/>
            <a:ext cx="2567864" cy="4023360"/>
          </a:xfrm>
          <a:prstGeom prst="roundRect">
            <a:avLst>
              <a:gd name="adj" fmla="val 56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12264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2029968"/>
            <a:ext cx="165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Ingresos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6032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¿Alcanza la plata a fin de mes?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−16,5%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5196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cayó el ingreso disponible entre 2023 y mayo de 2026.</a:t>
            </a:r>
            <a:endParaRPr lang="en-US" sz="1500" dirty="0"/>
          </a:p>
        </p:txBody>
      </p:sp>
      <p:sp>
        <p:nvSpPr>
          <p:cNvPr id="10" name="Pieza Crédito"/>
          <p:cNvSpPr/>
          <p:nvPr/>
        </p:nvSpPr>
        <p:spPr>
          <a:xfrm>
            <a:off x="3390824" y="1783080"/>
            <a:ext cx="2567864" cy="4023360"/>
          </a:xfrm>
          <a:prstGeom prst="roundRect">
            <a:avLst>
              <a:gd name="adj" fmla="val 56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65144" y="2112264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122344" y="2029968"/>
            <a:ext cx="165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Crédito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665144" y="256032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¿Cómo se tapó el agujero?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65144" y="338328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+58%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65144" y="425196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creció el crédito a las familias en 2024, por encima de la inflación.</a:t>
            </a:r>
            <a:endParaRPr lang="en-US" sz="1500" dirty="0"/>
          </a:p>
        </p:txBody>
      </p:sp>
      <p:sp>
        <p:nvSpPr>
          <p:cNvPr id="16" name="Pieza Tasas"/>
          <p:cNvSpPr/>
          <p:nvPr/>
        </p:nvSpPr>
        <p:spPr>
          <a:xfrm>
            <a:off x="6233008" y="1783080"/>
            <a:ext cx="2567864" cy="4023360"/>
          </a:xfrm>
          <a:prstGeom prst="roundRect">
            <a:avLst>
              <a:gd name="adj" fmla="val 56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7328" y="2112264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64528" y="2029968"/>
            <a:ext cx="165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Tasas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507328" y="256032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¿Por qué se encareció la deuda?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507328" y="338328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32→60%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507328" y="425196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saltó la BADLAR nominal entre julio y agosto de 2025.</a:t>
            </a:r>
            <a:endParaRPr lang="en-US" sz="1500" dirty="0"/>
          </a:p>
        </p:txBody>
      </p:sp>
      <p:sp>
        <p:nvSpPr>
          <p:cNvPr id="22" name="Pieza Mora"/>
          <p:cNvSpPr/>
          <p:nvPr/>
        </p:nvSpPr>
        <p:spPr>
          <a:xfrm>
            <a:off x="9075191" y="1783080"/>
            <a:ext cx="2567864" cy="4023360"/>
          </a:xfrm>
          <a:prstGeom prst="roundRect">
            <a:avLst>
              <a:gd name="adj" fmla="val 56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349511" y="2112264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06711" y="2029968"/>
            <a:ext cx="165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Mora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349511" y="256032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¿Cuántos no pueden pagar?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349511" y="338328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12,8%</a:t>
            </a:r>
            <a:endParaRPr lang="en-US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9349511" y="425196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 la deuda de las familias está en mora (mayo de 2026).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PASO 1 DE 4 · INGRESOS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El ingreso dejó de alcanzar</a:t>
            </a:r>
            <a:endParaRPr lang="en-US" sz="3200" dirty="0"/>
          </a:p>
        </p:txBody>
      </p:sp>
      <p:sp>
        <p:nvSpPr>
          <p:cNvPr id="4" name="Paso 1"/>
          <p:cNvSpPr/>
          <p:nvPr/>
        </p:nvSpPr>
        <p:spPr>
          <a:xfrm>
            <a:off x="548640" y="502920"/>
            <a:ext cx="713232" cy="713232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</a:t>
            </a:r>
            <a:endParaRPr lang="en-US" sz="2600" dirty="0"/>
          </a:p>
        </p:txBody>
      </p:sp>
      <p:sp>
        <p:nvSpPr>
          <p:cNvPr id="6" name="Panel texto"/>
          <p:cNvSpPr/>
          <p:nvPr/>
        </p:nvSpPr>
        <p:spPr>
          <a:xfrm>
            <a:off x="548640" y="1783080"/>
            <a:ext cx="6035040" cy="4069080"/>
          </a:xfrm>
          <a:prstGeom prst="roundRect">
            <a:avLst>
              <a:gd name="adj" fmla="val 359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05740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El ajuste licuó salarios y jubilaciones, y el consumo cayó.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Resultado: </a:t>
            </a:r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en mayo de 2026, lo que le queda a una familia después de pagar los gastos fijos fue 16,5% menor que en 2023.</a:t>
            </a:r>
            <a:endParaRPr lang="en-US" sz="1800" dirty="0"/>
          </a:p>
        </p:txBody>
      </p:sp>
      <p:sp>
        <p:nvSpPr>
          <p:cNvPr id="8" name="Ejemplo"/>
          <p:cNvSpPr/>
          <p:nvPr/>
        </p:nvSpPr>
        <p:spPr>
          <a:xfrm>
            <a:off x="868680" y="4251960"/>
            <a:ext cx="53949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4361688"/>
            <a:ext cx="502920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 fue un mal mes.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No fue un shock transitorio: es un problema estructural. Por eso el agujero se volvió a abrir cada mes.</a:t>
            </a:r>
            <a:endParaRPr lang="en-US" sz="1500" dirty="0"/>
          </a:p>
        </p:txBody>
      </p:sp>
      <p:sp>
        <p:nvSpPr>
          <p:cNvPr id="10" name="Panel esquema"/>
          <p:cNvSpPr/>
          <p:nvPr/>
        </p:nvSpPr>
        <p:spPr>
          <a:xfrm>
            <a:off x="6858000" y="1783080"/>
            <a:ext cx="4785055" cy="4069080"/>
          </a:xfrm>
          <a:prstGeom prst="roundRect">
            <a:avLst>
              <a:gd name="adj" fmla="val 359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78040" y="20116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Ingreso disponible: lo que queda del sueldo después de pagar los gastos fijos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178040" y="2788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2023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 100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0628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" name="Shape 12"/>
          <p:cNvSpPr/>
          <p:nvPr/>
        </p:nvSpPr>
        <p:spPr>
          <a:xfrm>
            <a:off x="7594092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5" name="Shape 13"/>
          <p:cNvSpPr/>
          <p:nvPr/>
        </p:nvSpPr>
        <p:spPr>
          <a:xfrm>
            <a:off x="7877556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6" name="Shape 14"/>
          <p:cNvSpPr/>
          <p:nvPr/>
        </p:nvSpPr>
        <p:spPr>
          <a:xfrm>
            <a:off x="8161020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7" name="Shape 15"/>
          <p:cNvSpPr/>
          <p:nvPr/>
        </p:nvSpPr>
        <p:spPr>
          <a:xfrm>
            <a:off x="8444484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8" name="Shape 16"/>
          <p:cNvSpPr/>
          <p:nvPr/>
        </p:nvSpPr>
        <p:spPr>
          <a:xfrm>
            <a:off x="8727948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9" name="Shape 17"/>
          <p:cNvSpPr/>
          <p:nvPr/>
        </p:nvSpPr>
        <p:spPr>
          <a:xfrm>
            <a:off x="9011412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0" name="Shape 18"/>
          <p:cNvSpPr/>
          <p:nvPr/>
        </p:nvSpPr>
        <p:spPr>
          <a:xfrm>
            <a:off x="9294876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8340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2" name="Shape 20"/>
          <p:cNvSpPr/>
          <p:nvPr/>
        </p:nvSpPr>
        <p:spPr>
          <a:xfrm>
            <a:off x="9861804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3" name="Shape 21"/>
          <p:cNvSpPr/>
          <p:nvPr/>
        </p:nvSpPr>
        <p:spPr>
          <a:xfrm>
            <a:off x="10145268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28732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5" name="Shape 23"/>
          <p:cNvSpPr/>
          <p:nvPr/>
        </p:nvSpPr>
        <p:spPr>
          <a:xfrm>
            <a:off x="10712196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6" name="Shape 24"/>
          <p:cNvSpPr/>
          <p:nvPr/>
        </p:nvSpPr>
        <p:spPr>
          <a:xfrm>
            <a:off x="10995660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7" name="Shape 25"/>
          <p:cNvSpPr/>
          <p:nvPr/>
        </p:nvSpPr>
        <p:spPr>
          <a:xfrm>
            <a:off x="7178040" y="3200400"/>
            <a:ext cx="4114800" cy="548640"/>
          </a:xfrm>
          <a:prstGeom prst="roundRect">
            <a:avLst>
              <a:gd name="adj" fmla="val 8333"/>
            </a:avLst>
          </a:prstGeom>
          <a:solidFill>
            <a:schemeClr val="accent4"/>
          </a:solidFill>
          <a:ln/>
        </p:spPr>
      </p:sp>
      <p:sp>
        <p:nvSpPr>
          <p:cNvPr id="28" name="Shape 26"/>
          <p:cNvSpPr/>
          <p:nvPr/>
        </p:nvSpPr>
        <p:spPr>
          <a:xfrm>
            <a:off x="7205472" y="3675888"/>
            <a:ext cx="4059936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178040" y="39776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Mayo de 2026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 83,5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305961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1" name="Shape 29"/>
          <p:cNvSpPr/>
          <p:nvPr/>
        </p:nvSpPr>
        <p:spPr>
          <a:xfrm>
            <a:off x="7580090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2" name="Shape 30"/>
          <p:cNvSpPr/>
          <p:nvPr/>
        </p:nvSpPr>
        <p:spPr>
          <a:xfrm>
            <a:off x="7854220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3" name="Shape 31"/>
          <p:cNvSpPr/>
          <p:nvPr/>
        </p:nvSpPr>
        <p:spPr>
          <a:xfrm>
            <a:off x="8128349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4" name="Shape 32"/>
          <p:cNvSpPr/>
          <p:nvPr/>
        </p:nvSpPr>
        <p:spPr>
          <a:xfrm>
            <a:off x="8402479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5" name="Shape 33"/>
          <p:cNvSpPr/>
          <p:nvPr/>
        </p:nvSpPr>
        <p:spPr>
          <a:xfrm>
            <a:off x="8676608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6" name="Shape 34"/>
          <p:cNvSpPr/>
          <p:nvPr/>
        </p:nvSpPr>
        <p:spPr>
          <a:xfrm>
            <a:off x="8950738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7" name="Shape 35"/>
          <p:cNvSpPr/>
          <p:nvPr/>
        </p:nvSpPr>
        <p:spPr>
          <a:xfrm>
            <a:off x="9224867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8" name="Shape 36"/>
          <p:cNvSpPr/>
          <p:nvPr/>
        </p:nvSpPr>
        <p:spPr>
          <a:xfrm>
            <a:off x="9498997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9" name="Shape 37"/>
          <p:cNvSpPr/>
          <p:nvPr/>
        </p:nvSpPr>
        <p:spPr>
          <a:xfrm>
            <a:off x="9773126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40" name="Shape 38"/>
          <p:cNvSpPr/>
          <p:nvPr/>
        </p:nvSpPr>
        <p:spPr>
          <a:xfrm>
            <a:off x="10047256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41" name="Shape 39"/>
          <p:cNvSpPr/>
          <p:nvPr/>
        </p:nvSpPr>
        <p:spPr>
          <a:xfrm>
            <a:off x="10321385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42" name="Shape 40"/>
          <p:cNvSpPr/>
          <p:nvPr/>
        </p:nvSpPr>
        <p:spPr>
          <a:xfrm>
            <a:off x="7178040" y="4389120"/>
            <a:ext cx="3435858" cy="548640"/>
          </a:xfrm>
          <a:prstGeom prst="roundRect">
            <a:avLst>
              <a:gd name="adj" fmla="val 8333"/>
            </a:avLst>
          </a:prstGeom>
          <a:solidFill>
            <a:schemeClr val="accent3"/>
          </a:solidFill>
          <a:ln/>
        </p:spPr>
      </p:sp>
      <p:sp>
        <p:nvSpPr>
          <p:cNvPr id="43" name="Shape 41"/>
          <p:cNvSpPr/>
          <p:nvPr/>
        </p:nvSpPr>
        <p:spPr>
          <a:xfrm>
            <a:off x="7205472" y="4864608"/>
            <a:ext cx="3380994" cy="73152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44" name="Caída"/>
          <p:cNvSpPr/>
          <p:nvPr/>
        </p:nvSpPr>
        <p:spPr>
          <a:xfrm>
            <a:off x="10650474" y="4389120"/>
            <a:ext cx="642366" cy="54864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dash"/>
          </a:ln>
        </p:spPr>
      </p:sp>
      <p:sp>
        <p:nvSpPr>
          <p:cNvPr id="45" name="Text 43"/>
          <p:cNvSpPr txBox="1"/>
          <p:nvPr/>
        </p:nvSpPr>
        <p:spPr>
          <a:xfrm>
            <a:off x="10613898" y="4389120"/>
            <a:ext cx="6789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−16,5%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178040" y="5212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Índice, 2023 = 100. Ladrillos a escala.</a:t>
            </a:r>
            <a:endParaRPr lang="en-US" sz="1100" dirty="0"/>
          </a:p>
        </p:txBody>
      </p:sp>
      <p:sp>
        <p:nvSpPr>
          <p:cNvPr id="47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Equilibra, citado por Infobae (22 de julio de 2026). Ingreso disponible = ingresos menos gastos fijos de los hogares.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PASO 2 DE 4 · CRÉDITO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El crédito tapó el agujero</a:t>
            </a:r>
            <a:endParaRPr lang="en-US" sz="3200" dirty="0"/>
          </a:p>
        </p:txBody>
      </p:sp>
      <p:sp>
        <p:nvSpPr>
          <p:cNvPr id="4" name="Paso 2"/>
          <p:cNvSpPr/>
          <p:nvPr/>
        </p:nvSpPr>
        <p:spPr>
          <a:xfrm>
            <a:off x="548640" y="502920"/>
            <a:ext cx="713232" cy="713232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</a:t>
            </a:r>
            <a:endParaRPr lang="en-US" sz="2600" dirty="0"/>
          </a:p>
        </p:txBody>
      </p:sp>
      <p:sp>
        <p:nvSpPr>
          <p:cNvPr id="6" name="Panel gráfico"/>
          <p:cNvSpPr/>
          <p:nvPr/>
        </p:nvSpPr>
        <p:spPr>
          <a:xfrm>
            <a:off x="548640" y="1783080"/>
            <a:ext cx="6858000" cy="4069080"/>
          </a:xfrm>
          <a:prstGeom prst="roundRect">
            <a:avLst>
              <a:gd name="adj" fmla="val 359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731520" y="1920240"/>
          <a:ext cx="64922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Panel lectura"/>
          <p:cNvSpPr/>
          <p:nvPr/>
        </p:nvSpPr>
        <p:spPr>
          <a:xfrm>
            <a:off x="7680960" y="1783080"/>
            <a:ext cx="3962095" cy="4069080"/>
          </a:xfrm>
          <a:prstGeom prst="roundRect">
            <a:avLst>
              <a:gd name="adj" fmla="val 3693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55280" y="2057400"/>
            <a:ext cx="341345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En 2024 el crédito a las familias creció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58%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 por encima de la inflación. Los préstamos personales,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134%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. En 2025 siguió creciendo, más despacio.</a:t>
            </a:r>
            <a:endParaRPr lang="en-US" sz="1700" dirty="0"/>
          </a:p>
        </p:txBody>
      </p:sp>
      <p:sp>
        <p:nvSpPr>
          <p:cNvPr id="10" name="Ejemplo"/>
          <p:cNvSpPr/>
          <p:nvPr/>
        </p:nvSpPr>
        <p:spPr>
          <a:xfrm>
            <a:off x="7955280" y="3977640"/>
            <a:ext cx="3413455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138160" y="4087368"/>
            <a:ext cx="304769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Como pagar el súper con tarjeta: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resuelve este mes, pero le suma una cuota al que viene.</a:t>
            </a:r>
            <a:endParaRPr lang="en-US" sz="1500" dirty="0"/>
          </a:p>
        </p:txBody>
      </p:sp>
      <p:sp>
        <p:nvSpPr>
          <p:cNvPr id="12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First Capital Group en base a BCRA e INDEC. Variación real, diciembre contra diciembre.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PASO 3 DE 4 · TASAS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La deuda se volvió cara de golpe</a:t>
            </a:r>
            <a:endParaRPr lang="en-US" sz="3200" dirty="0"/>
          </a:p>
        </p:txBody>
      </p:sp>
      <p:sp>
        <p:nvSpPr>
          <p:cNvPr id="4" name="Paso 3"/>
          <p:cNvSpPr/>
          <p:nvPr/>
        </p:nvSpPr>
        <p:spPr>
          <a:xfrm>
            <a:off x="548640" y="502920"/>
            <a:ext cx="713232" cy="713232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3</a:t>
            </a:r>
            <a:endParaRPr lang="en-US" sz="2600" dirty="0"/>
          </a:p>
        </p:txBody>
      </p:sp>
      <p:sp>
        <p:nvSpPr>
          <p:cNvPr id="6" name="Panel gráfico"/>
          <p:cNvSpPr/>
          <p:nvPr/>
        </p:nvSpPr>
        <p:spPr>
          <a:xfrm>
            <a:off x="548640" y="1783080"/>
            <a:ext cx="7086600" cy="4069080"/>
          </a:xfrm>
          <a:prstGeom prst="roundRect">
            <a:avLst>
              <a:gd name="adj" fmla="val 359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9019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Tasa BADLAR real (por encima de la inflación), % anual</a:t>
            </a:r>
            <a:endParaRPr lang="en-US" sz="1400" dirty="0"/>
          </a:p>
        </p:txBody>
      </p:sp>
      <p:sp>
        <p:nvSpPr>
          <p:cNvPr id="8" name="Período tasas altas"/>
          <p:cNvSpPr/>
          <p:nvPr/>
        </p:nvSpPr>
        <p:spPr>
          <a:xfrm>
            <a:off x="3084440" y="2487168"/>
            <a:ext cx="1046940" cy="2706624"/>
          </a:xfrm>
          <a:prstGeom prst="rect">
            <a:avLst/>
          </a:prstGeom>
          <a:solidFill>
            <a:srgbClr val="FBE7E5"/>
          </a:solidFill>
          <a:ln/>
        </p:spPr>
      </p:sp>
      <p:graphicFrame>
        <p:nvGraphicFramePr>
          <p:cNvPr id="9" name="Chart 0" descr=""/>
          <p:cNvGraphicFramePr/>
          <p:nvPr/>
        </p:nvGraphicFramePr>
        <p:xfrm>
          <a:off x="685800" y="2148840"/>
          <a:ext cx="68122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Eje x ene-25"/>
          <p:cNvSpPr txBox="1"/>
          <p:nvPr/>
        </p:nvSpPr>
        <p:spPr>
          <a:xfrm>
            <a:off x="940316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ene-25</a:t>
            </a:r>
            <a:endParaRPr lang="en-US" sz="1100" dirty="0"/>
          </a:p>
        </p:txBody>
      </p:sp>
      <p:sp>
        <p:nvSpPr>
          <p:cNvPr id="11" name="Eje x mar-25"/>
          <p:cNvSpPr txBox="1"/>
          <p:nvPr/>
        </p:nvSpPr>
        <p:spPr>
          <a:xfrm>
            <a:off x="1542665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mar-25</a:t>
            </a:r>
            <a:endParaRPr lang="en-US" sz="1100" dirty="0"/>
          </a:p>
        </p:txBody>
      </p:sp>
      <p:sp>
        <p:nvSpPr>
          <p:cNvPr id="12" name="Eje x may-25"/>
          <p:cNvSpPr txBox="1"/>
          <p:nvPr/>
        </p:nvSpPr>
        <p:spPr>
          <a:xfrm>
            <a:off x="2073306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may-25</a:t>
            </a:r>
            <a:endParaRPr lang="en-US" sz="1100" dirty="0"/>
          </a:p>
        </p:txBody>
      </p:sp>
      <p:sp>
        <p:nvSpPr>
          <p:cNvPr id="13" name="Eje x jul-25"/>
          <p:cNvSpPr txBox="1"/>
          <p:nvPr/>
        </p:nvSpPr>
        <p:spPr>
          <a:xfrm>
            <a:off x="2632630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jul-25</a:t>
            </a:r>
            <a:endParaRPr lang="en-US" sz="1100" dirty="0"/>
          </a:p>
        </p:txBody>
      </p:sp>
      <p:sp>
        <p:nvSpPr>
          <p:cNvPr id="14" name="Eje x sep-25"/>
          <p:cNvSpPr txBox="1"/>
          <p:nvPr/>
        </p:nvSpPr>
        <p:spPr>
          <a:xfrm>
            <a:off x="3234979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sep-25</a:t>
            </a:r>
            <a:endParaRPr lang="en-US" sz="1100" dirty="0"/>
          </a:p>
        </p:txBody>
      </p:sp>
      <p:sp>
        <p:nvSpPr>
          <p:cNvPr id="15" name="Eje x nov-25"/>
          <p:cNvSpPr txBox="1"/>
          <p:nvPr/>
        </p:nvSpPr>
        <p:spPr>
          <a:xfrm>
            <a:off x="3866011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nov-25</a:t>
            </a:r>
            <a:endParaRPr lang="en-US" sz="1100" dirty="0"/>
          </a:p>
        </p:txBody>
      </p:sp>
      <p:sp>
        <p:nvSpPr>
          <p:cNvPr id="16" name="Eje x ene-26"/>
          <p:cNvSpPr txBox="1"/>
          <p:nvPr/>
        </p:nvSpPr>
        <p:spPr>
          <a:xfrm>
            <a:off x="4382310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ene-26</a:t>
            </a:r>
            <a:endParaRPr lang="en-US" sz="1100" dirty="0"/>
          </a:p>
        </p:txBody>
      </p:sp>
      <p:sp>
        <p:nvSpPr>
          <p:cNvPr id="17" name="Eje x mar-26"/>
          <p:cNvSpPr txBox="1"/>
          <p:nvPr/>
        </p:nvSpPr>
        <p:spPr>
          <a:xfrm>
            <a:off x="4941634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mar-26</a:t>
            </a:r>
            <a:endParaRPr lang="en-US" sz="1100" dirty="0"/>
          </a:p>
        </p:txBody>
      </p:sp>
      <p:sp>
        <p:nvSpPr>
          <p:cNvPr id="18" name="Eje x may-26"/>
          <p:cNvSpPr txBox="1"/>
          <p:nvPr/>
        </p:nvSpPr>
        <p:spPr>
          <a:xfrm>
            <a:off x="5515300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may-26</a:t>
            </a:r>
            <a:endParaRPr lang="en-US" sz="1100" dirty="0"/>
          </a:p>
        </p:txBody>
      </p:sp>
      <p:sp>
        <p:nvSpPr>
          <p:cNvPr id="19" name="Eje x jul-26"/>
          <p:cNvSpPr txBox="1"/>
          <p:nvPr/>
        </p:nvSpPr>
        <p:spPr>
          <a:xfrm>
            <a:off x="6088966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jul-26</a:t>
            </a:r>
            <a:endParaRPr lang="en-US" sz="1100" dirty="0"/>
          </a:p>
        </p:txBody>
      </p:sp>
      <p:sp>
        <p:nvSpPr>
          <p:cNvPr id="20" name="Eje x sep-26"/>
          <p:cNvSpPr txBox="1"/>
          <p:nvPr/>
        </p:nvSpPr>
        <p:spPr>
          <a:xfrm>
            <a:off x="6676973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sep-26</a:t>
            </a:r>
            <a:endParaRPr lang="en-US" sz="1100" dirty="0"/>
          </a:p>
        </p:txBody>
      </p:sp>
      <p:sp>
        <p:nvSpPr>
          <p:cNvPr id="21" name="Evento 1"/>
          <p:cNvSpPr/>
          <p:nvPr/>
        </p:nvSpPr>
        <p:spPr>
          <a:xfrm>
            <a:off x="2266966" y="2670048"/>
            <a:ext cx="0" cy="2523744"/>
          </a:xfrm>
          <a:prstGeom prst="line">
            <a:avLst/>
          </a:prstGeom>
          <a:noFill/>
          <a:ln w="12700">
            <a:solidFill>
              <a:srgbClr val="1D1F24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>
            <a:off x="2138950" y="2395728"/>
            <a:ext cx="256032" cy="25603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138950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24" name="Evento 2"/>
          <p:cNvSpPr/>
          <p:nvPr/>
        </p:nvSpPr>
        <p:spPr>
          <a:xfrm>
            <a:off x="3084440" y="2670048"/>
            <a:ext cx="0" cy="2523744"/>
          </a:xfrm>
          <a:prstGeom prst="line">
            <a:avLst/>
          </a:prstGeom>
          <a:noFill/>
          <a:ln w="12700">
            <a:solidFill>
              <a:srgbClr val="1D1F24"/>
            </a:solidFill>
            <a:prstDash val="dash"/>
          </a:ln>
        </p:spPr>
      </p:sp>
      <p:sp>
        <p:nvSpPr>
          <p:cNvPr id="25" name="Shape 22"/>
          <p:cNvSpPr/>
          <p:nvPr/>
        </p:nvSpPr>
        <p:spPr>
          <a:xfrm>
            <a:off x="2956424" y="2395728"/>
            <a:ext cx="256032" cy="25603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56424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2</a:t>
            </a:r>
            <a:endParaRPr lang="en-US" sz="1000" dirty="0"/>
          </a:p>
        </p:txBody>
      </p:sp>
      <p:sp>
        <p:nvSpPr>
          <p:cNvPr id="27" name="Evento 3"/>
          <p:cNvSpPr/>
          <p:nvPr/>
        </p:nvSpPr>
        <p:spPr>
          <a:xfrm>
            <a:off x="3672447" y="2670048"/>
            <a:ext cx="0" cy="2523744"/>
          </a:xfrm>
          <a:prstGeom prst="line">
            <a:avLst/>
          </a:prstGeom>
          <a:noFill/>
          <a:ln w="12700">
            <a:solidFill>
              <a:srgbClr val="1D1F24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3544431" y="2395728"/>
            <a:ext cx="256032" cy="25603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544431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3</a:t>
            </a:r>
            <a:endParaRPr lang="en-US" sz="1000" dirty="0"/>
          </a:p>
        </p:txBody>
      </p:sp>
      <p:sp>
        <p:nvSpPr>
          <p:cNvPr id="30" name="Evento 4"/>
          <p:cNvSpPr/>
          <p:nvPr/>
        </p:nvSpPr>
        <p:spPr>
          <a:xfrm>
            <a:off x="4131380" y="2670048"/>
            <a:ext cx="0" cy="2523744"/>
          </a:xfrm>
          <a:prstGeom prst="line">
            <a:avLst/>
          </a:prstGeom>
          <a:noFill/>
          <a:ln w="12700">
            <a:solidFill>
              <a:srgbClr val="1D1F24"/>
            </a:solidFill>
            <a:prstDash val="dash"/>
          </a:ln>
        </p:spPr>
      </p:sp>
      <p:sp>
        <p:nvSpPr>
          <p:cNvPr id="31" name="Shape 28"/>
          <p:cNvSpPr/>
          <p:nvPr/>
        </p:nvSpPr>
        <p:spPr>
          <a:xfrm>
            <a:off x="4003364" y="2395728"/>
            <a:ext cx="256032" cy="25603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003364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4</a:t>
            </a:r>
            <a:endParaRPr lang="en-US" sz="1000" dirty="0"/>
          </a:p>
        </p:txBody>
      </p:sp>
      <p:sp>
        <p:nvSpPr>
          <p:cNvPr id="33" name="Panel hitos"/>
          <p:cNvSpPr/>
          <p:nvPr/>
        </p:nvSpPr>
        <p:spPr>
          <a:xfrm>
            <a:off x="7909560" y="1783080"/>
            <a:ext cx="3733495" cy="4069080"/>
          </a:xfrm>
          <a:prstGeom prst="roundRect">
            <a:avLst>
              <a:gd name="adj" fmla="val 39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183880" y="1965960"/>
            <a:ext cx="3184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2025, mes a mes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8183880" y="2377440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183880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8595360" y="2340864"/>
            <a:ext cx="2819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Abril.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Acuerdo con el FMI y salida del cepo.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183880" y="2999232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183880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8595360" y="2962656"/>
            <a:ext cx="2819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Julio.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Fin de las LEFIs: el Gobierno deja de fijar la tasa.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8183880" y="3621024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183880" y="3621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3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8595360" y="3584448"/>
            <a:ext cx="2819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Septiembre.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Elecciones bonaerenses: tasa real de casi 40%.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8183880" y="4242816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183880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4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8595360" y="4206240"/>
            <a:ext cx="2819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Octubre.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Swap con EE.UU. y legislativas: las tasas bajan.</a:t>
            </a:r>
            <a:endParaRPr lang="en-US" sz="1300" dirty="0"/>
          </a:p>
        </p:txBody>
      </p:sp>
      <p:sp>
        <p:nvSpPr>
          <p:cNvPr id="47" name="Ejemplo"/>
          <p:cNvSpPr/>
          <p:nvPr/>
        </p:nvSpPr>
        <p:spPr>
          <a:xfrm>
            <a:off x="8183880" y="4937760"/>
            <a:ext cx="3184855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8366760" y="5047488"/>
            <a:ext cx="2819095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Tasa real: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si es negativa, la inflación achica la deuda; si es positiva, la agranda.</a:t>
            </a:r>
            <a:endParaRPr lang="en-US" sz="1300" dirty="0"/>
          </a:p>
        </p:txBody>
      </p:sp>
      <p:sp>
        <p:nvSpPr>
          <p:cNvPr id="49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BCRA (BADLAR bancos privados) e INDEC. Sombreado: tasas altas, del fin de las LEFIs a las legislativas. La BADLAR nominal pasó de 32% en julio a casi 60% en agosto.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PASO 4 DE 4 · MORA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 la deuda dejó de pagarse</a:t>
            </a:r>
            <a:endParaRPr lang="en-US" sz="3200" dirty="0"/>
          </a:p>
        </p:txBody>
      </p:sp>
      <p:sp>
        <p:nvSpPr>
          <p:cNvPr id="4" name="Paso 4"/>
          <p:cNvSpPr/>
          <p:nvPr/>
        </p:nvSpPr>
        <p:spPr>
          <a:xfrm>
            <a:off x="548640" y="502920"/>
            <a:ext cx="713232" cy="713232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4</a:t>
            </a:r>
            <a:endParaRPr lang="en-US" sz="2600" dirty="0"/>
          </a:p>
        </p:txBody>
      </p:sp>
      <p:sp>
        <p:nvSpPr>
          <p:cNvPr id="6" name="Panel mora evolución"/>
          <p:cNvSpPr/>
          <p:nvPr/>
        </p:nvSpPr>
        <p:spPr>
          <a:xfrm>
            <a:off x="548640" y="1783080"/>
            <a:ext cx="5410048" cy="338328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685800" y="1874520"/>
          <a:ext cx="5135728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Panel mora por línea"/>
          <p:cNvSpPr/>
          <p:nvPr/>
        </p:nvSpPr>
        <p:spPr>
          <a:xfrm>
            <a:off x="6233008" y="1783080"/>
            <a:ext cx="5410048" cy="338328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graphicFrame>
        <p:nvGraphicFramePr>
          <p:cNvPr id="9" name="Chart 1" descr=""/>
          <p:cNvGraphicFramePr/>
          <p:nvPr/>
        </p:nvGraphicFramePr>
        <p:xfrm>
          <a:off x="6370168" y="1874520"/>
          <a:ext cx="5135728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Ejemplo"/>
          <p:cNvSpPr/>
          <p:nvPr/>
        </p:nvSpPr>
        <p:spPr>
          <a:xfrm>
            <a:off x="548640" y="5321808"/>
            <a:ext cx="11094415" cy="59436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5431536"/>
            <a:ext cx="1072865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Fallan más las piezas que más crecieron: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personales y tarjetas. La mora hipotecaria sigue baja.</a:t>
            </a:r>
            <a:endParaRPr lang="en-US" sz="1500" dirty="0"/>
          </a:p>
        </p:txBody>
      </p:sp>
      <p:sp>
        <p:nvSpPr>
          <p:cNvPr id="12" name="Fuente"/>
          <p:cNvSpPr txBox="1"/>
          <p:nvPr/>
        </p:nvSpPr>
        <p:spPr>
          <a:xfrm>
            <a:off x="548640" y="605332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BCRA, Informe sobre Bancos; Max Capital.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CÓMO DESARMARLA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Cuatro piezas para sacar a las familias de la deuda</a:t>
            </a:r>
            <a:endParaRPr lang="en-US" sz="3200" dirty="0"/>
          </a:p>
        </p:txBody>
      </p:sp>
      <p:sp>
        <p:nvSpPr>
          <p:cNvPr id="4" name="Propuesta 1"/>
          <p:cNvSpPr/>
          <p:nvPr/>
        </p:nvSpPr>
        <p:spPr>
          <a:xfrm>
            <a:off x="548640" y="178308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30552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2039112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Ponerle techo al precio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4495648" y="20574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NACIÓN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6032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Volver a poner topes a las tasas y a los punitorios, también en billeteras virtuales y proveedores no financieros.</a:t>
            </a:r>
            <a:endParaRPr lang="en-US" sz="1500" dirty="0"/>
          </a:p>
        </p:txBody>
      </p:sp>
      <p:sp>
        <p:nvSpPr>
          <p:cNvPr id="9" name="Propuesta 2"/>
          <p:cNvSpPr/>
          <p:nvPr/>
        </p:nvSpPr>
        <p:spPr>
          <a:xfrm>
            <a:off x="6233008" y="178308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130552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64528" y="2039112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Que se vea todo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0180015" y="20574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NACIÓN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07328" y="256032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Que las fintechs informen a la Central de Deudores y que todas las entidades muestren costos y condiciones con la máxima claridad.</a:t>
            </a:r>
            <a:endParaRPr lang="en-US" sz="1500" dirty="0"/>
          </a:p>
        </p:txBody>
      </p:sp>
      <p:sp>
        <p:nvSpPr>
          <p:cNvPr id="14" name="Propuesta 3"/>
          <p:cNvSpPr/>
          <p:nvPr/>
        </p:nvSpPr>
        <p:spPr>
          <a:xfrm>
            <a:off x="548640" y="397764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325112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80160" y="4233672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Alivio a los deudores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4495648" y="42519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NACIÓN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75488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Un régimen para reestructurar deudas de hogares sobreendeudados y una reclasificación temporal de deudores, como en la pandemia.</a:t>
            </a:r>
            <a:endParaRPr lang="en-US" sz="1500" dirty="0"/>
          </a:p>
        </p:txBody>
      </p:sp>
      <p:sp>
        <p:nvSpPr>
          <p:cNvPr id="19" name="Propuesta 4"/>
          <p:cNvSpPr/>
          <p:nvPr/>
        </p:nvSpPr>
        <p:spPr>
          <a:xfrm>
            <a:off x="6233008" y="397764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7328" y="4325112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64528" y="4233672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Defender al que se endeuda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10180015" y="42519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PROVINCIA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507328" y="475488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Defensa del consumidor financiero que pueda mediar y sancionar, y una campaña sobre lo que de verdad cuesta endeudarse.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EJEMPLO REAL · SANTA FE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En Santa Fe ya hay piezas en marcha</a:t>
            </a:r>
            <a:endParaRPr lang="en-US" sz="3200" dirty="0"/>
          </a:p>
        </p:txBody>
      </p:sp>
      <p:sp>
        <p:nvSpPr>
          <p:cNvPr id="4" name="Panel plan vigente"/>
          <p:cNvSpPr/>
          <p:nvPr/>
        </p:nvSpPr>
        <p:spPr>
          <a:xfrm>
            <a:off x="548640" y="1783080"/>
            <a:ext cx="5029200" cy="32004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202996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YA FUNCIONA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688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Plan de Protección de los Ingresos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2608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Gobierno provincial y Banco Santa Fe: varias deudas pasan a un solo préstamo de hasta 60 cuotas, con dos meses de gracia.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8862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+18.500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39319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adhesiones al 11 de agosto de 2026</a:t>
            </a:r>
            <a:endParaRPr lang="en-US" sz="1400" dirty="0"/>
          </a:p>
        </p:txBody>
      </p:sp>
      <p:sp>
        <p:nvSpPr>
          <p:cNvPr id="11" name="Panel proyectos"/>
          <p:cNvSpPr/>
          <p:nvPr/>
        </p:nvSpPr>
        <p:spPr>
          <a:xfrm>
            <a:off x="5852160" y="1783080"/>
            <a:ext cx="5790895" cy="32004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2103120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202996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EN LA LEGISLATURA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514600"/>
            <a:ext cx="5242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Código de Protección de Consumidores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(Gisel Mahmud):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renegociar todas las deudas de la familia juntas, con asesoramiento del Estado.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3291840"/>
            <a:ext cx="5242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Refinanciación de deudas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(Lucila De Ponti):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créditos a tasa fija de hasta 35% anual y 24 meses o más.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4069080"/>
            <a:ext cx="5242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Sistema provincial de asistencia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(Marcos Corach):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asesoramiento gratuito y una mesa de mediación con los acreedores.</a:t>
            </a:r>
            <a:endParaRPr lang="en-US" sz="1400" dirty="0"/>
          </a:p>
        </p:txBody>
      </p:sp>
      <p:sp>
        <p:nvSpPr>
          <p:cNvPr id="17" name="Ejemplo"/>
          <p:cNvSpPr/>
          <p:nvPr/>
        </p:nvSpPr>
        <p:spPr>
          <a:xfrm>
            <a:off x="548640" y="5321808"/>
            <a:ext cx="11094415" cy="59436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431536"/>
            <a:ext cx="1072865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Encaja con la pieza amarilla: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una defensa del consumidor provincial que pueda mediar y sancionar.</a:t>
            </a:r>
            <a:endParaRPr lang="en-US" sz="1500" dirty="0"/>
          </a:p>
        </p:txBody>
      </p:sp>
      <p:sp>
        <p:nvSpPr>
          <p:cNvPr id="19" name="Fuente"/>
          <p:cNvSpPr txBox="1"/>
          <p:nvPr/>
        </p:nvSpPr>
        <p:spPr>
          <a:xfrm>
            <a:off x="548640" y="605332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Fuentes: Gobierno de Santa Fe, La Capital, El Litoral, Infocielo y Parlamentario. Los tres proyectos no tienen aprobación según la prensa (octubre de 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ADVERTENCIA DEL FABRICANTE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Ninguna de estas piezas reemplaza a la primera</a:t>
            </a:r>
            <a:endParaRPr lang="en-US" sz="3200" dirty="0"/>
          </a:p>
        </p:txBody>
      </p:sp>
      <p:sp>
        <p:nvSpPr>
          <p:cNvPr id="4" name="Panel advertencia"/>
          <p:cNvSpPr/>
          <p:nvPr/>
        </p:nvSpPr>
        <p:spPr>
          <a:xfrm>
            <a:off x="548640" y="1783080"/>
            <a:ext cx="11094415" cy="237744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3308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6" name="Shape 4"/>
          <p:cNvSpPr/>
          <p:nvPr/>
        </p:nvSpPr>
        <p:spPr>
          <a:xfrm>
            <a:off x="1346655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7" name="Shape 5"/>
          <p:cNvSpPr/>
          <p:nvPr/>
        </p:nvSpPr>
        <p:spPr>
          <a:xfrm>
            <a:off x="1610002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8" name="Shape 6"/>
          <p:cNvSpPr/>
          <p:nvPr/>
        </p:nvSpPr>
        <p:spPr>
          <a:xfrm>
            <a:off x="1873350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9" name="Shape 7"/>
          <p:cNvSpPr/>
          <p:nvPr/>
        </p:nvSpPr>
        <p:spPr>
          <a:xfrm>
            <a:off x="2136697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10" name="Shape 8"/>
          <p:cNvSpPr/>
          <p:nvPr/>
        </p:nvSpPr>
        <p:spPr>
          <a:xfrm>
            <a:off x="960120" y="2331720"/>
            <a:ext cx="1463040" cy="548640"/>
          </a:xfrm>
          <a:prstGeom prst="roundRect">
            <a:avLst>
              <a:gd name="adj" fmla="val 8333"/>
            </a:avLst>
          </a:prstGeom>
          <a:solidFill>
            <a:schemeClr val="accent3"/>
          </a:solidFill>
          <a:ln/>
        </p:spPr>
      </p:sp>
      <p:sp>
        <p:nvSpPr>
          <p:cNvPr id="11" name="Shape 9"/>
          <p:cNvSpPr/>
          <p:nvPr/>
        </p:nvSpPr>
        <p:spPr>
          <a:xfrm>
            <a:off x="987552" y="2807208"/>
            <a:ext cx="1408176" cy="73152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834640" y="2011680"/>
            <a:ext cx="84426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Sin recuperación del ingreso real, ninguna solución financiera alcanza.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3246120"/>
            <a:ext cx="8442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Las medidas alivian a quien ya debe y ordenan el crédito. Pero si lo que entra no alcanza, el agujero se vuelve a abrir.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5262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Fuentes: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BCRA (Informe sobre Bancos; BADLAR bancos privados), INDEC, Equilibra, First Capital Group y Max Capital.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undar Ladrillos">
  <a:themeElements>
    <a:clrScheme name="Fundar Ladrillos">
      <a:dk1>
        <a:srgbClr val="1D1F24"/>
      </a:dk1>
      <a:lt1>
        <a:srgbClr val="FFFFFF"/>
      </a:lt1>
      <a:dk2>
        <a:srgbClr val="4A4E57"/>
      </a:dk2>
      <a:lt2>
        <a:srgbClr val="F6F6F3"/>
      </a:lt2>
      <a:accent1>
        <a:srgbClr val="D23A2F"/>
      </a:accent1>
      <a:accent2>
        <a:srgbClr val="F1B20C"/>
      </a:accent2>
      <a:accent3>
        <a:srgbClr val="2861C4"/>
      </a:accent3>
      <a:accent4>
        <a:srgbClr val="9A9EA6"/>
      </a:accent4>
      <a:accent5>
        <a:srgbClr val="767A83"/>
      </a:accent5>
      <a:accent6>
        <a:srgbClr val="DCDCD6"/>
      </a:accent6>
      <a:hlink>
        <a:srgbClr val="2861C4"/>
      </a:hlink>
      <a:folHlink>
        <a:srgbClr val="767A83"/>
      </a:folHlink>
    </a:clrScheme>
    <a:fontScheme name="Fundar Ladrillo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crisis de endeudamiento de los hogares</dc:title>
  <dc:subject>PptxGenJS Presentation</dc:subject>
  <dc:creator>Fundar</dc:creator>
  <cp:lastModifiedBy>Fundar</cp:lastModifiedBy>
  <cp:revision>1</cp:revision>
  <dcterms:created xsi:type="dcterms:W3CDTF">2026-10-17T18:57:15Z</dcterms:created>
  <dcterms:modified xsi:type="dcterms:W3CDTF">2026-10-17T18:57:15Z</dcterms:modified>
</cp:coreProperties>
</file>